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Generation (kWh)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833</c:v>
                </c:pt>
                <c:pt idx="8">
                  <c:v>1935</c:v>
                </c:pt>
                <c:pt idx="9">
                  <c:v>3016</c:v>
                </c:pt>
                <c:pt idx="10">
                  <c:v>3910</c:v>
                </c:pt>
                <c:pt idx="11">
                  <c:v>4496</c:v>
                </c:pt>
                <c:pt idx="12">
                  <c:v>4700</c:v>
                </c:pt>
                <c:pt idx="13">
                  <c:v>4496</c:v>
                </c:pt>
                <c:pt idx="14">
                  <c:v>3910</c:v>
                </c:pt>
                <c:pt idx="15">
                  <c:v>3016</c:v>
                </c:pt>
                <c:pt idx="16">
                  <c:v>1935</c:v>
                </c:pt>
                <c:pt idx="17">
                  <c:v>833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Factory Load (kWh)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3000</c:v>
                </c:pt>
                <c:pt idx="5">
                  <c:v>3000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4700</c:v>
                </c:pt>
                <c:pt idx="10">
                  <c:v>4700</c:v>
                </c:pt>
                <c:pt idx="11">
                  <c:v>4700</c:v>
                </c:pt>
                <c:pt idx="12">
                  <c:v>4700</c:v>
                </c:pt>
                <c:pt idx="13">
                  <c:v>4700</c:v>
                </c:pt>
                <c:pt idx="14">
                  <c:v>4700</c:v>
                </c:pt>
                <c:pt idx="15">
                  <c:v>4700</c:v>
                </c:pt>
                <c:pt idx="16">
                  <c:v>3900</c:v>
                </c:pt>
                <c:pt idx="17">
                  <c:v>3900</c:v>
                </c:pt>
                <c:pt idx="18">
                  <c:v>3900</c:v>
                </c:pt>
                <c:pt idx="19">
                  <c:v>3900</c:v>
                </c:pt>
                <c:pt idx="20">
                  <c:v>3200</c:v>
                </c:pt>
                <c:pt idx="21">
                  <c:v>3200</c:v>
                </c:pt>
                <c:pt idx="22">
                  <c:v>3200</c:v>
                </c:pt>
                <c:pt idx="23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kWh per hour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DPPA Settlement Case Study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Matching, Payment Mechanics &amp; FMP Cancellation Effect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DPPA (Decree 57)  |  Vietnam Wholesale Electricity Market  |  May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only. All prices and profiles are illustrative.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Study Inputs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scenarios share these price parameters; only the hourly load and solar profiles differ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475488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2011680"/>
                <a:gridCol w="4937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Strike Price (PPA)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P_strike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2,100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Contracted fixed price; buyer pays to developer via CfD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FMP Midpoint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FMP_mid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Illustrative; hourly FMP varies via shape curve (SMP + CAN)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FMP Range (daily)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1,156 - 2,414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Off-peak low to evening peak high (x0.68 to x1.42 shape)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DPPA System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523.34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C_SSC 360.14 + C_CL 163.20 (2025 approved rates)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coefficient applied to matched volume in EVN billing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Tariff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2,100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Baseline: what buyer pays without DPPA (22 kV, illustrative)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CfD quantity = min(load, generation) per 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Load &amp; Solar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B: Balanced -- 24-Hour Generation vs Load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is sized to closely track daytime demand. Hours 07-17 generate solar; peak at 12:00 = 4,700 kWh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338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Hour-by-Hour Matching  (Scenario B: Balanced)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Q_match = min(Load, Gen)   |   Shortfall = max(Load - Gen, 0)   |   Excess = max(Gen - Load, 0)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493776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1234440"/>
                <a:gridCol w="1234440"/>
                <a:gridCol w="1234440"/>
                <a:gridCol w="960120"/>
                <a:gridCol w="123444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kWh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FMP VND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Strike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Per-Hour Settlement Arithmetic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Settlement Walkthrough -- 07:00 (Shortfall Hour)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| Load 4,000 kWh  |  Solar 833 kWh  |  Shortfall 3,167 kWh  |  FMP 1,496 VND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484632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27432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07:00  Shortfall Hour  (Load &gt; Generation)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= min(4,000, 833) = 833 kWh   |   Shortfall = 3,167 kWh   |   Excess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FMP x K_pp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x 1,496 x 1.027263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1,280,142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C_DPPA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x 523.34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435,942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x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3,167 x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6,650,700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CfD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(Strike - FMP)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 x (2,100 - 1,496)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503,132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 + EVN DPPA + EVN Retail + CfD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8,869,916 VND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(no DPPA)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x Retail = 4,000 x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8,400,000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/ (Saving)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469,916 VND  (5.6%)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Settlement Walkthrough -- 12:00 (Balanced Hour)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| Load 4,700 kWh  |  Solar 4,700 kWh  |  Perfect match  |  FMP 1,836 VND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484632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27432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  Balanced Hour  (Load = Generation)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= min(4,700, 4,700) = 4,700 kWh   |   Shortfall = 0   |   Excess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FMP x K_pp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x 1,836 x 1.027263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8,864,458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C_DPPA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x 523.34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2,459,698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x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x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CfD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(Strike - FMP)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 x (2,100 - 1,836)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1,240,800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 + EVN DPPA + CfD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12,564,956 VND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(no DPPA)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x Retail = 4,700 x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9,870,000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/ (Saving)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2,694,956 VND  (27.3%)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Settlement Walkthrough -- 12:00 (Excess / Overgen Hour)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 (Load &lt; Gen)  |  Load 3,600 kWh  |  Solar 6,200 kWh  |  Excess 2,600 kWh  |  FMP 1,836 VND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493776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2743200"/>
                <a:gridCol w="2286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  Excess Hour  (Generation &gt; Load)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= min(3,600, 6,200) = 3,600 kWh   |   Shortfall = 0   |   Excess = 2,600 kWh (sold to grid at FMP)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FMP x K_pp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x 1,836 x 1.027263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6,789,798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C_DPPA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x 523.34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1,884,024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x 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x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CfD (dev)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x (Strike - FMP)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x (2,100 - 1,836)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950,400 VND  [buyer pays: Strike &gt; FMP]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NOTE: In matched mode, CfD does NOT cover the 2,600 kWh excess. Developer sells excess to grid at FMP independently.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Market + EVN DPPA + CfD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9,624,222 VND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(no DPPA)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x Retail = 3,600 x 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7,560,000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/ (Saving)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2,064,222 VND  (27.3%)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FMP Cancellation 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FMP Mostly Cancels Out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price you pay EVN and the CfD you settle with the developer net to approximately the Strike Price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(per kWh matched, ignoring loss factor):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EVN Market  +  EVN DPPA  +  CfD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3113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(Q x FMP)  +  (Q x C_DPPA)  +  Q x (Strike - FMP)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066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Q x FMP  +  Q x C_DPPA  +  Q x Strike  -  Q x FMP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Q x Strike  +  Q x C_DPPA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FMP terms cancel exactly.  Effective cost = Strike + DPPA charge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124712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loss factor (K_pp = 1.027):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cost per matched kWh  =  Strike  +  C_DPPA  +  FMP x (K_pp - 1)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2,100  +  523.34  +  FMP x 0.027263  ~  2,623 + small FMP residual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midday FMP 1,836: residual = 1,836 x 0.027 = ~50 VND/kWh  =&gt;  effective = ~2,673 VND/kWh vs 2,100 retail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= DPPA charge + loss adj.  The strike/FMP CfD swap is price-neutral; cost is in the system charges.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Comparison -- Daily Totals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Settlement: All Three Scenarios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parameters; different solar capacity and load shape. Matched-mode settlement.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27432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A  Load &gt;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B  Load =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  Load &lt; 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35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Load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Solar Gen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(kWh)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 with DPPA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274,875,485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210,690,815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171,094,487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No DPPA (VND)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258,510,000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191,730,000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152,460,000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(Cost) over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16,365,485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18,960,815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18,634,487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DPPA Price (VND/kWh)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B Highlights  (Load = Gen)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All-day settlement summary for the balanced scenario -- matched-mode, Strike 2,100 VND/kWh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468880" cy="1188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91.3k kWh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factory demand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17520" y="1280160"/>
            <a:ext cx="246888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Matched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33.1k kWh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17520" y="20848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 match rate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2468880" cy="11887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58.2k kWh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0" y="20848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retail grid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321040" y="1280160"/>
            <a:ext cx="246888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Generation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0.0k kWh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20848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to VWEM at FMP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468880" cy="11887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DPPA Price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2308 VND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kWh all-in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17520" y="2651760"/>
            <a:ext cx="2468880" cy="118872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DPPA)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2,100 VND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017520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kWh retail tariff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0" y="2651760"/>
            <a:ext cx="2468880" cy="1188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DPPA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210.69M VND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69280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all-in payment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321040" y="2651760"/>
            <a:ext cx="246888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vs Baseline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2971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+18.96M VND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321040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 above retail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3977640"/>
            <a:ext cx="11430000" cy="777240"/>
          </a:xfrm>
          <a:prstGeom prst="rect">
            <a:avLst/>
          </a:prstGeom>
          <a:solidFill>
            <a:srgbClr val="EAF2FF"/>
          </a:solidFill>
          <a:ln>
            <a:solidFill>
              <a:srgbClr val="AED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At these illustrative parameters (Strike = Retail = 2,100, DPPA charge = 523 VND), DPPA carries a premium vs retail. The strategic value is RE certification, price certainty, and hedging -- not near-term cost reduction unless Strike &lt; Retail.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cost per matched kWh  =  Strike (2,100)  +  DPPA charge (523)  +  loss residual (~46)  =  ~2,669 VND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Strike were negotiated to 1,741 VND (5% below 2,100 retail):   Effective = ~2,310 VND  =&gt;  saving = ~210 VND/kWh on matched hours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DPPA cost range across all three scenarios:  171.09M -- 274.88M VND  (vs baseline 152.46M -- 258.51M VND)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Allotrope VC Research  |  DPPA Settlement Case Study  |  Demo data,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2004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FMP mostly cancels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CfD and EVN market charge nearly offset. Effective cost converges to Strike + DPPA charge -- not FMP. FMP risk is hedged by design.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Match rate drives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that closely tracks daytime load maximises matched kWh and minimises high-cost shortfall hours. Overbuilding creates excess with no buyer benefit in matched mode.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4290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DPPA charge is real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794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 VND/kWh system charge (2025) is unavoidable. Cost advantage requires Strike significantly below retail -- aim for 200+ VND/kWh buffer to break even on matched hours.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45262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Negotiation levers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892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price, solar sizing, and load profile shape are the three variables a buyer can influence. Aggregating multiple meters can improve match rate and bargaining power.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allotropevc.com  |  tah@allotropevc.com  |  DPPA Settlement Case Study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2026-05-21T05:28:47Z</dcterms:created>
  <dcterms:modified xsi:type="dcterms:W3CDTF">2026-05-21T05:28:47Z</dcterms:modified>
</cp:coreProperties>
</file>