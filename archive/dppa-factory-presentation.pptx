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Vietnam's Direct Power Purchase Agreement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factory &amp; industrial buyers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DPPA?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Power Purchase Agreement --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Decree 57 - Vietnam Wholesale Electricity Market (VWEM)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77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DPPA is a bilateral contract that lets large electricity consumers buy renewable energy directly from generators -- bypassing the standard EVN retail tariff arrangement.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1959610"/>
            <a:ext cx="11247120" cy="386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factories: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64486"/>
            <a:ext cx="11247120" cy="36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Lock in a long-term renewable electricity price (the Strike Price) for 15-20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51582"/>
            <a:ext cx="11247120" cy="36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Hedge against rising EVN retail tariffs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38678"/>
            <a:ext cx="11247120" cy="36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Meet corporate RE / ESG commitments (RE100, Science Based Targets)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25774"/>
            <a:ext cx="11247120" cy="36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Attract sustainability-focused export customers and investors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59174"/>
            <a:ext cx="11247120" cy="386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exist: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64050"/>
            <a:ext cx="11247120" cy="36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Model 1: Physical DPPA -- direct private wire from generator to factory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51146"/>
            <a:ext cx="11247120" cy="368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Model 2: Financial DPPA -- generator sells to VWEM grid; factory buys from grid; a Contract for Difference (CfD) bridges the price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DPPA Models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factories will use the Financial DPPA (Model 2) -- connected via the national grid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1 -- Physical DPPA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wire from RE generator directly to factory site.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Factory located near a solar / wind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Simpler settlement (no VWEM)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No capacity limit on generator 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All RE technologies permitted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Requires physical proximity; uncommon for distributed factory clusters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2 -- Financial DPPA (CfD)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5303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sells power into VWEM. Factory buys from EVN PC at market-linked price. A financial CfD fixes the effective price.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Any large factory at 22 kV+ connection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- 200,000+ kWh average monthly consumption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Wind, solar, or biomass plant 10 MW+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Works across distances -- no private wire needed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DPPA system charge (2025): 523.34 VND/kWh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EVN market-linked energy + loss coefficient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Retail tariff for unmatched shortfall hours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You Eligible?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Eligibility Requirements -- Financial DPPA via National Grid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Decree 57 - Ecoplexus CEBA Workshop (Sep 2025)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663440"/>
                <a:gridCol w="36576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200,000+ kWh average over prior 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~300 kW average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connection voltage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kV or higher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medium-large industrial connections qualify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electricity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/ manufacturing purposes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Factory, industrial park, EV charging all eligible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Wind, solar, or biomass 10 MW+, connected to national grid, VWEM participant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generator has VWEM registration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DPPA meter / metering system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PC confirms compatibility at registration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Currently: one buyer per CfD; aggregation proposed but not yet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clusters should monitor regulatory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Does the Payment Actually Work?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Factory Payment Stack -- Financial DPPA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invoices per settlement interval: one to EVN PC, one to the RE generator under the CfD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TWO parties in each trading interval: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21208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Payment to EVN PC (grid operator)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212080" cy="3383280"/>
          </a:xfrm>
          <a:prstGeom prst="rect">
            <a:avLst/>
          </a:prstGeom>
          <a:solidFill>
            <a:srgbClr val="F4F9FF"/>
          </a:solidFill>
          <a:ln w="6350">
            <a:solidFill>
              <a:srgbClr val="D5E8F5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matched DPPA volume (kWh covered by solar/wind):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Qty x FMP x Kpp  +  Qty x DPPA charge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shortfall (your load &gt; renewable output):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Shortfall kWh x EVN retail tariff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FMP = SMP + CAN (wholesale market price)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Kpp = loss coefficient (~1.027)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DPPA charge = 523.34 VND/kWh (2025)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566928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874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CfD Settlement with RE Generator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331720"/>
            <a:ext cx="5669280" cy="3383280"/>
          </a:xfrm>
          <a:prstGeom prst="rect">
            <a:avLst/>
          </a:prstGeom>
          <a:solidFill>
            <a:srgbClr val="F0FBF4"/>
          </a:solidFill>
          <a:ln w="6350">
            <a:solidFill>
              <a:srgbClr val="C3E6CB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for Difference (CfD) formula: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Qty x (Strike Price - FMP)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Strike Price &gt; FMP: factory pays generator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Strike Price &lt; FMP: generator pays factory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cancellation: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FMP in your EVN bill and the FMP in the CfD mostly cancel. What remains is effectively: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Net matched kWh = Strike + DPPA charge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2,100 + 523 = 2,623 VND/kWh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2025 Worked Example -- 5,000 kWh/Hour Factory Load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from reviewed Ecoplexus / CEBA Workshop materials (2025 example inputs)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5394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kWh/hour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Strike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2,100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agreed renewable price (CfD)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FMP / CFMP (wholesale)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1,700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reference price used in settlement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DPPA system charge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523.34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CDPPAdv (360.14) + CCL (163.2)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coefficient (Kpp)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 FMP portion of EVN 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tariff (shortfall)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1,833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EVN retail for unmatched hours (22 kV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2,670 VND/kWh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matched DPPA kWh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 formula result)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370332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2,623 VND/kWh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389120" y="4709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shortcut estimate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(Strike + DPPA charge)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0" y="3703320"/>
            <a:ext cx="3566160" cy="1645920"/>
          </a:xfrm>
          <a:prstGeom prst="roundRect">
            <a:avLst>
              <a:gd name="adj" fmla="val 2778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8C8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1,833 VND/kWh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 unmatched kWh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(retail tariff applies)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Settlement Scenarios Every Factory Must Understand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output varies hour by hour -- your effective kWh cost shifts with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47472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&gt; Solar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474720" cy="329184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Factory: 5,000 kWh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Solar: 2,000 kWh matched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Shortfall: 3,000 kWh (retail)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EVN cost: 4,539,374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shortfall: 4,999,000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CfD payment: 800,000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10,338,374 VND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Blended cost: ~2,068 VND/kWh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 cost: ~2,670 VND/kWh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5321808"/>
            <a:ext cx="3474720" cy="320040"/>
          </a:xfrm>
          <a:prstGeom prst="roundRect">
            <a:avLst>
              <a:gd name="adj" fmla="val 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21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-- partial RE coverage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15968" y="1417320"/>
            <a:ext cx="34747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= Solar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1965960"/>
            <a:ext cx="3474720" cy="329184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0574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Factory: 5,000 kWh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Solar: 5,000 kWh matched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Shortfall: 0 kWh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EVN cost: 11,348,435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CfD payment: 2,000,000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13,348,435 VND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All-in cost: ~2,670 VND/kWh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(near Strike + DPPA charge)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15968" y="5321808"/>
            <a:ext cx="3474720" cy="320040"/>
          </a:xfrm>
          <a:prstGeom prst="roundRect">
            <a:avLst>
              <a:gd name="adj" fmla="val 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5321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-- full RE coverage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74736" y="1417320"/>
            <a:ext cx="347472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1417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&gt; Load (Overgen)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74736" y="1965960"/>
            <a:ext cx="3474720" cy="329184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20574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Factory: 5,000 kWh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Solar: 7,500 kWh generated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Excess: 2,500 kWh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CfD settled on FULL 7,500 kWh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EVN cost: 11,348,435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CfD payment: 3,000,000 VND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14,348,435 VND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 cost: ~2,870 VND/kWh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74736" y="5321808"/>
            <a:ext cx="3474720" cy="320040"/>
          </a:xfrm>
          <a:prstGeom prst="roundRect">
            <a:avLst>
              <a:gd name="adj" fmla="val 8571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5321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-- pay CfD on excess 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Risks &amp; Questions to Ask Before Signing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Commercial Risks &amp; Negotiation Checklist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every factory should resolve before signing a DPPA / CfD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560320"/>
                <a:gridCol w="4206240"/>
                <a:gridCol w="41605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Negotiate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CfD settlement quantity?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Settled on generated vs. consumed vs. allocated volume -- big difference in overgen scenarios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 on min(generation, consumption) to cap overgen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you paying CfD on excess generation?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solar output &gt; your load, you may pay CfD on more kWh than you consumed -- pushing cost to 2,870+ VND/kWh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Negotiate cap on contract quantity matched to your load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included in the DPPA charge?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CDPPAdv and CCL may be invoiced separately; Ecoplexus proposes removing CCL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line-item breakdown; push for fee-cap clause on annual variation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loss coefficient applies to your site?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Kpp varies by connection voltage; affects exact all-in cost per 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Kpp in writing with EVN PC; model 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retail tariff covers your shortfall hours?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net saving vs. BAU depends on the time-of-use tariff you avoid -- night shortfall is cheaper than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hourly savings using your actual load profile against EVN tariff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Get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Registration Process -- Financial DPPA via NSMO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System and Market Operator (NSMO) manages the approval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81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in Principle with Generator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801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and sign a Heads of Terms / MOU with your chosen renewable generator. Agree on Strike Price, contract term, and volume allocation (%).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" y="2029968"/>
            <a:ext cx="0" cy="347472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 to NSMO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715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submits a letter of intent + principle agreement + buyer &amp; seller information to NSMO. NSMO reviews compliance within 5 days.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" y="2944368"/>
            <a:ext cx="0" cy="347472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NSMO Notifies EVN / EVN PC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6301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NSMO sends confirmation docs to EVN PC. EVN PC confirms metering compatibility and customer profile within 5 days.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" y="3858768"/>
            <a:ext cx="0" cy="347472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224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NSMO Issues Expected Timeline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5445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NSMO responds to factory with expected contract signing date between EVN and the RE generator, and the DPPA go-live date.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" y="4773168"/>
            <a:ext cx="0" cy="347472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20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20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5138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CfD Contract &amp; Go Live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54589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contract finalized between factory and generator. DPPA mechanism activated -- settlement begins on the agreed date.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-- For Internal Use by Allotrope &amp; Key Partners --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 for Factories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5156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402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Your effective DPPA kWh cost = Strike Price + 523 VND/kWh (the 2025 regulated adder) -- not just the strike price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5351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The FMP cancellation effect is real: EVN market charge and CfD market reference mostly offset, leaving you close to a fixed renewable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6674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 Over-generation is your biggest financial risk: if solar output exceeds your load, you pay CfD on more kWh than you consumed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79976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 Shape your contract volume to your load profile -- avoid contracting far above your hourly consumption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0932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 Minimum bar: 200,000+ kWh/month average and 22 kV connection -- check with EVN PC before engaging a 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CFO calculator: https://dppa-case.web.app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2026-05-21T03:47:57Z</dcterms:created>
  <dcterms:modified xsi:type="dcterms:W3CDTF">2026-05-21T03:47:57Z</dcterms:modified>
</cp:coreProperties>
</file>