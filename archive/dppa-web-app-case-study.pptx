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ALLOTROPE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DPPA CFO Visual Explainer — Case Study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Matching, Price Mechanics &amp; FMP Cancellation Effect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5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the Web App Shows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1124712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factory-facing teaching tool for Vietnam synthetic DPPA settlement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24-hour profile chart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load vs solar generation overlap with tariff bands (off-peak, standard, peak)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strike price, market price / FMP, DPPA charge, and loss factor sliders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hour to inspect the settlement walkthrough: EVN payment + developer CfD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synthetic scenarios: Load &gt; Gen, Load = Gen, Load &lt; Gen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Mermaid cancellation flow diagram showing how FMP terms cancel out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023360"/>
            <a:ext cx="3566160" cy="1645920"/>
          </a:xfrm>
          <a:prstGeom prst="roundRect">
            <a:avLst>
              <a:gd name="adj" fmla="val 2778"/>
            </a:avLst>
          </a:prstGeom>
          <a:solidFill>
            <a:srgbClr val="EBF5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6177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AE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2,100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5120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 Price (VND/kWh)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89120" y="4023360"/>
            <a:ext cx="3566160" cy="1645920"/>
          </a:xfrm>
          <a:prstGeom prst="roundRect">
            <a:avLst>
              <a:gd name="adj" fmla="val 2778"/>
            </a:avLst>
          </a:prstGeom>
          <a:solidFill>
            <a:srgbClr val="EBF5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46177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AE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1,700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389120" y="5120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Price / FMP (VND/kWh)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229600" y="4023360"/>
            <a:ext cx="3566160" cy="1645920"/>
          </a:xfrm>
          <a:prstGeom prst="roundRect">
            <a:avLst>
              <a:gd name="adj" fmla="val 2778"/>
            </a:avLst>
          </a:prstGeom>
          <a:solidFill>
            <a:srgbClr val="EBF5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46177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AE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523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229600" y="5120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DPPA Charge (VND/kWh)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Use by Allotrope &amp; Key Partners — Not for Further Circulation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7AE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48640" y="29260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Daily Load &amp; Solar Profile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Use by Allotrope &amp; Key Partners — Not for Further Circulation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5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Three Synthetic Scenarios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1124712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price inputs; only the hourly load and solar profiles differ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2743200"/>
                <a:gridCol w="2286000"/>
                <a:gridCol w="25603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Daytime Load 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Solar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Highlight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&gt; Gen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5,200 – 6,100 kWh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4,200 kWh @ 12:00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shortfall → retail tariff exposure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= Gen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3,900 – 4,700 kWh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4,700 kWh @ 12:00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match → minimal shortfall / excess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&lt; Gen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3,100 – 3,600 kWh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6,200 kWh @ 12:00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Overgeneration → settlement quantity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Use by Allotrope &amp; Key Partners — Not for Further Circulation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5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Load vs Solar Overlap — Scenario B (Balanced)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1124712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load (cyan), solar generation (amber), matched volume (white), FMP curve (magenta)</a:t>
            </a:r>
            <a:endParaRPr lang="en-US" sz="1100" dirty="0"/>
          </a:p>
        </p:txBody>
      </p:sp>
      <p:pic>
        <p:nvPicPr>
          <p:cNvPr id="5" name="Image 0" descr="desktop-cur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1124712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Use by Allotrope &amp; Key Partners — Not for Further Circulation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7AE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48640" y="29260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Hour-by-Hour Matching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Use by Allotrope &amp; Key Partners — Not for Further Circulation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5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Matching, Shortfall &amp; Excess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1124712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volume concepts that drive every settlement interval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volume = min(Load, Generation)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Shortfall = max(Load - Generation, 0) → bought at retail tariff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= max(Generation - Load, 0) → not credited to factory under matched-mode settlement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quantity (matched mode) = matched volume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quantity (generation mode) = generation volume → overgeneration risk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023360"/>
            <a:ext cx="3566160" cy="1645920"/>
          </a:xfrm>
          <a:prstGeom prst="roundRect">
            <a:avLst>
              <a:gd name="adj" fmla="val 2778"/>
            </a:avLst>
          </a:prstGeom>
          <a:solidFill>
            <a:srgbClr val="EBF5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6177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AE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33.1k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5120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B — Daily Matched kWh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89120" y="4023360"/>
            <a:ext cx="3566160" cy="1645920"/>
          </a:xfrm>
          <a:prstGeom prst="roundRect">
            <a:avLst>
              <a:gd name="adj" fmla="val 2778"/>
            </a:avLst>
          </a:prstGeom>
          <a:solidFill>
            <a:srgbClr val="EBF5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46177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74C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58.2k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389120" y="5120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B — Daily Shortfall kWh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229600" y="4023360"/>
            <a:ext cx="3566160" cy="1645920"/>
          </a:xfrm>
          <a:prstGeom prst="roundRect">
            <a:avLst>
              <a:gd name="adj" fmla="val 2778"/>
            </a:avLst>
          </a:prstGeom>
          <a:solidFill>
            <a:srgbClr val="EBF5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46177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AE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229600" y="5120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B — Daily Excess kWh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Use by Allotrope &amp; Key Partners — Not for Further Circulation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7AE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48640" y="29260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Per-Hour Settlement Arithmetic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Use by Allotrope &amp; Key Partners — Not for Further Circulation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5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Settlement Walkthrough — 12:00 (Balanced Hour)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1124712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B | Load 4,700 kWh | Solar 4,700 kWh | Perfect match | FMP 1,836 VND/kWh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572000"/>
                <a:gridCol w="3017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 (VND)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EVN Market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4,700 kWh × 1,836 × 1.027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8,866,517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EVN DPPA Charge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4,700 kWh × 523.34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2,459,698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EVN Retail Shortfall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kWh × 2,100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EVN 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+ DPPA + Retail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11,326,215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 CfD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4,700 kWh × (2,100 − 1,836)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1,240,800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DPPA Payment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EVN Total + Developer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12,567,015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BAU Retail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4,700 kWh × 2,100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9,870,000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Savings vs BAU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BAU − DPPA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−2,697,015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Use by Allotrope &amp; Key Partners — Not for Further Circulation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5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Settlement Walkthrough — 07:00 (Shortfall Hour)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1124712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B | Load 4,000 kWh | Solar 833 kWh | Shortfall 3,167 kWh | FMP 1,496 VND/kWh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572000"/>
                <a:gridCol w="3017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 (VND)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EVN Market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833 kWh × 1,496 × 1.027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1,280,293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EVN DPPA Charge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833 kWh × 523.34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435,942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EVN Retail Shortfall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3,167 kWh × 2,100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6,650,700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EVN 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+ DPPA + Retail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8,366,935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 CfD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833 kWh × (2,100 − 1,496)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503,132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DPPA Payment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EVN Total + Developer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8,870,067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BAU Retail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4,000 kWh × 2,100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8,400,000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Savings vs BAU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BAU − DPPA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−470,067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Use by Allotrope &amp; Key Partners — Not for Further Circulation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5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Settlement Walkthrough — 12:00 (Excess / Overgen Hour)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1124712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 | Load 3,600 kWh | Solar 6,200 kWh | Excess 2,600 kWh | FMP 1,836 VND/kWh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572000"/>
                <a:gridCol w="3017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 (VND)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EVN Market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3,600 kWh × 1,836 × 1.027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6,782,251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EVN DPPA Charge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3,600 kWh × 523.34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1,884,024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EVN Retail Shortfall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kWh × 2,100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EVN 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+ DPPA + Retail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8,666,275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 CfD (matched mode)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3,600 kWh × (2,100 − 1,836)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950,400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DPPA Payment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EVN Total + Developer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9,616,675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BAU Retail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3,600 kWh × 2,100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7,560,000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Savings vs BAU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BAU − DPPA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−2,056,675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In generation-mode settlement, contract quantity = 6,200 kWh → CfD rises to 1,636,800 VND. Factory pays more despite excess solar.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Use by Allotrope &amp; Key Partners — Not for Further Circulation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7AE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48640" y="29260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FMP Cancellation Effect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Use by Allotrope &amp; Key Partners — Not for Further Circulation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5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FMP Mostly Cancels Out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1124712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insight for CFOs: effective cost converges to Strike + DPPA charge, not FMP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per matched kWh (ignoring loss factor):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EVN Market  +  EVN DPPA  +  CfD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(Q × FMP)  +  (Q × C_DPPA)  +  Q × (Strike − FMP)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Q × FMP  +  Q × C_DPPA  +  Q × Strike  −  Q × FMP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Q × Strike  +  Q × C_DPPA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FMP terms cancel exactly when contract quantity equals matched volume.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factor adds a tiny residual: FMP × (Kpp − 1)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Shortfall hours break the clean cancellation because retail tariff replaces the strike on unmatched kWh.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Overgeneration breaks it because contract quantity exceeds matched volume.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023360"/>
            <a:ext cx="5394960" cy="1645920"/>
          </a:xfrm>
          <a:prstGeom prst="roundRect">
            <a:avLst>
              <a:gd name="adj" fmla="val 2778"/>
            </a:avLst>
          </a:prstGeom>
          <a:solidFill>
            <a:srgbClr val="EBF5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61772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AE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2,623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51206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Implied Cost / kWh (Strike + DPPA)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89120" y="4023360"/>
            <a:ext cx="5394960" cy="1645920"/>
          </a:xfrm>
          <a:prstGeom prst="roundRect">
            <a:avLst>
              <a:gd name="adj" fmla="val 2778"/>
            </a:avLst>
          </a:prstGeom>
          <a:solidFill>
            <a:srgbClr val="EBF5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461772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AE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2,670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389120" y="51206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Loss Factor @ Avg FMP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Use by Allotrope &amp; Key Partners — Not for Further Circulation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7AE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48640" y="29260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Scenario Comparison — Daily Totals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Use by Allotrope &amp; Key Partners — Not for Further Circulation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5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Daily Settlement: All Three Scenarios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1124712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Matched-mode settlement. Same price parameters; different solar capacity and load shape.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560320"/>
                <a:gridCol w="2560320"/>
                <a:gridCol w="24688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&gt; Gen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= Gen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 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&lt; Gen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Load (kWh)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116,100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91,300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75,100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 Generation (kWh)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43,600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Matched Volume (kWh)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Shortfall (kWh)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Excess (kWh)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DPPA Cost (VND)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232,947,000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180,654,000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149,043,000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BAU Retail Cost (VND)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243,810,000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191,730,000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157,710,000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Savings vs BAU (VND)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10,863,000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11,076,000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8,667,000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Blended Price (VND/kWh)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Use by Allotrope &amp; Key Partners — Not for Further Circulation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5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Takeaways for Factory CFOs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1124712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Decision-oriented conclusions from the DPPA CFO calculator case study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FMP mostly cancels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CfD and EVN market charge nearly offset. Effective cost converges to Strike + DPPA charge — not FMP. FMP risk is hedged by design.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Match rate drives value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that closely tracks daytime load maximises matched kWh and minimises high-cost shortfall hours. Overbuilding creates settlement risk.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Settlement mode matters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Matched-mode is safest. Generation-mode or allocated-mode can expose the factory to paying CfD on unconsumed energy.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Loss factor is small but real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1.027, the loss factor adds ~2.7% to the EVN market component. It is not enough to change the investment decision.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Shortfall is your biggest cost swing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unmatched kWh is charged at the full retail tariff (2,100 VND/kWh). Shape the solar array to your load curve.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Use by Allotrope &amp; Key Partners — Not for Further Circulation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ALLOTROPE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Questions &amp; Next Steps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CFO calculator: https://dppa-case.web.app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Allotrope VC Research | May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2026-05-21T05:38:32Z</dcterms:created>
  <dcterms:modified xsi:type="dcterms:W3CDTF">2026-05-21T05:38:32Z</dcterms:modified>
</cp:coreProperties>
</file>