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Cabin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Montserrat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font" Target="fonts/Roboto-regular.fntdata"/><Relationship Id="rId20" Type="http://schemas.openxmlformats.org/officeDocument/2006/relationships/font" Target="fonts/Roboto-bold.fntdata"/><Relationship Id="rId21" Type="http://schemas.openxmlformats.org/officeDocument/2006/relationships/font" Target="fonts/Roboto-italic.fntdata"/><Relationship Id="rId22" Type="http://schemas.openxmlformats.org/officeDocument/2006/relationships/font" Target="fonts/Roboto-boldItalic.fntdata"/><Relationship Id="rId23" Type="http://schemas.openxmlformats.org/officeDocument/2006/relationships/font" Target="fonts/Montserrat-regular.fntdata"/><Relationship Id="rId24" Type="http://schemas.openxmlformats.org/officeDocument/2006/relationships/font" Target="fonts/Montserrat-bold.fntdata"/><Relationship Id="rId25" Type="http://schemas.openxmlformats.org/officeDocument/2006/relationships/font" Target="fonts/Montserrat-italic.fntdata"/><Relationship Id="rId26" Type="http://schemas.openxmlformats.org/officeDocument/2006/relationships/font" Target="fonts/Montserrat-boldItalic.fntdata"/><Relationship Id="rId27" Type="http://schemas.openxmlformats.org/officeDocument/2006/relationships/font" Target="fonts/Cabin-regular.fntdata"/><Relationship Id="rId28" Type="http://schemas.openxmlformats.org/officeDocument/2006/relationships/font" Target="fonts/Cabin-bold.fntdata"/><Relationship Id="rId29" Type="http://schemas.openxmlformats.org/officeDocument/2006/relationships/font" Target="fonts/Cabin-italic.fntdata"/><Relationship Id="rId30" Type="http://schemas.openxmlformats.org/officeDocument/2006/relationships/font" Target="fonts/Cabin-boldItalic.fntdata"/><Relationship Id="rId31" Type="http://schemas.openxmlformats.org/officeDocument/2006/relationships/font" Target="fonts/MontserratMedium-regular.fntdata"/><Relationship Id="rId32" Type="http://schemas.openxmlformats.org/officeDocument/2006/relationships/font" Target="fonts/MontserratMedium-bold.fntdata"/><Relationship Id="rId33" Type="http://schemas.openxmlformats.org/officeDocument/2006/relationships/font" Target="fonts/MontserratMedium-italic.fntdata"/><Relationship Id="rId34" Type="http://schemas.openxmlformats.org/officeDocument/2006/relationships/font" Target="fonts/MontserratMedium-boldItalic.fntdata"/><Relationship Id="rId35" Type="http://schemas.openxmlformats.org/officeDocument/2006/relationships/font" Target="fonts/MontserratExtraBold-bold.fntdata"/><Relationship Id="rId36" Type="http://schemas.openxmlformats.org/officeDocument/2006/relationships/font" Target="fonts/MontserratExtra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51efc2b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e51efc2b2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51efc2b2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51efc2b2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1efc2b2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1efc2b2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51efc2b2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51efc2b2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51efc2b2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51efc2b2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51efc2b2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51efc2b2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51efc2b2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51efc2b2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51efc2b2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51efc2b2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51efc2b2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51efc2b2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51efc2b2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51efc2b2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03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51efc2b2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51efc2b2d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51efc2b2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51efc2b2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51efc2b2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e51efc2b2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26.png"/><Relationship Id="rId8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50" y="0"/>
            <a:ext cx="249554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5"/>
          <p:cNvPicPr preferRelativeResize="0"/>
          <p:nvPr/>
        </p:nvPicPr>
        <p:blipFill rotWithShape="1">
          <a:blip r:embed="rId4">
            <a:alphaModFix/>
          </a:blip>
          <a:srcRect b="3448" l="20160" r="0" t="3103"/>
          <a:stretch/>
        </p:blipFill>
        <p:spPr>
          <a:xfrm>
            <a:off x="0" y="-9475"/>
            <a:ext cx="66484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3187" y="4888133"/>
            <a:ext cx="690801" cy="24589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/>
          <p:nvPr/>
        </p:nvSpPr>
        <p:spPr>
          <a:xfrm>
            <a:off x="7785000" y="1384625"/>
            <a:ext cx="1359000" cy="2355300"/>
          </a:xfrm>
          <a:prstGeom prst="rect">
            <a:avLst/>
          </a:prstGeom>
          <a:solidFill>
            <a:srgbClr val="1B786E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2419499" y="1738325"/>
            <a:ext cx="6724500" cy="1647900"/>
          </a:xfrm>
          <a:prstGeom prst="rect">
            <a:avLst/>
          </a:prstGeom>
          <a:solidFill>
            <a:srgbClr val="2E3A4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2815950" y="2053625"/>
            <a:ext cx="59316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2100" b="1">
                <a:solidFill>
                  <a:srgbClr val="F7F7F7"/>
                </a:solidFill>
                <a:latin typeface="Montserrat"/>
              </a:rPr>
              <a:t>Session 4.4: Off-Site Solutions:
Addressing DPPA Pricing Concerns</a:t>
            </a:r>
            <a:endParaRPr b="1" sz="2100">
              <a:solidFill>
                <a:srgbClr val="F7F7F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2152475" y="1738325"/>
            <a:ext cx="72300" cy="164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-1961"/>
            <a:ext cx="33867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644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4638419" y="228357"/>
            <a:ext cx="4018500" cy="1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 b="1">
                <a:solidFill>
                  <a:srgbClr val="2E3A49"/>
                </a:solidFill>
                <a:latin typeface="Montserrat"/>
              </a:rPr>
              <a:t>About the 2026 Update</a:t>
            </a:r>
            <a:endParaRPr b="1" sz="3000">
              <a:solidFill>
                <a:srgbClr val="1B78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638426" y="1728850"/>
            <a:ext cx="3929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sz="960" b="0">
                <a:solidFill>
                  <a:srgbClr val="131314"/>
                </a:solidFill>
                <a:latin typeface="Roboto"/>
              </a:rPr>
              <a:t>The reference deck explained why DPPA buyers worry about market price. This update uses the current repository to show the actual settlement mechanics behind that concern.
Updated storyline:
• FMP and CFMP remain visible buyer concerns
• Hourly matched quantity is the cost driver
• The CfD cancels much of the FMP exposure on matched kWh
• Settlement quantity mode determines overgeneration risk
Current app status: 35 tests passing, three synthetic profiles, default matched-mode settlement.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638425" y="809952"/>
            <a:ext cx="3684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1">
                <a:solidFill>
                  <a:srgbClr val="1B786E"/>
                </a:solidFill>
                <a:latin typeface="Montserrat"/>
              </a:rPr>
              <a:t>Current repo: CFO calculator, tested settlement engine, formula docs, and workshop readiness analysis</a:t>
            </a:r>
            <a:endParaRPr b="1">
              <a:solidFill>
                <a:srgbClr val="1B786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273250" y="851225"/>
            <a:ext cx="2113500" cy="30819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32688" y="914400"/>
            <a:ext cx="34290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170432" y="1170432"/>
            <a:ext cx="1234440" cy="786384"/>
          </a:xfrm>
          <a:prstGeom prst="rect">
            <a:avLst/>
          </a:prstGeom>
          <a:solidFill>
            <a:srgbClr val="F7F7F7"/>
          </a:solidFill>
          <a:ln>
            <a:solidFill>
              <a:srgbClr val="D7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243584" y="1280160"/>
            <a:ext cx="108813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B786E"/>
                </a:solidFill>
                <a:latin typeface="Montserrat"/>
              </a:rPr>
              <a:t>35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43584" y="1609344"/>
            <a:ext cx="10881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720" b="0">
                <a:solidFill>
                  <a:srgbClr val="5B646E"/>
                </a:solidFill>
                <a:latin typeface="Roboto"/>
              </a:rPr>
              <a:t>tests passing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1170432"/>
            <a:ext cx="1234440" cy="786384"/>
          </a:xfrm>
          <a:prstGeom prst="rect">
            <a:avLst/>
          </a:prstGeom>
          <a:solidFill>
            <a:srgbClr val="F7F7F7"/>
          </a:solidFill>
          <a:ln>
            <a:solidFill>
              <a:srgbClr val="D7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16352" y="1280160"/>
            <a:ext cx="108813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B786E"/>
                </a:solidFill>
                <a:latin typeface="Montserrat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16352" y="1609344"/>
            <a:ext cx="10881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720" b="0">
                <a:solidFill>
                  <a:srgbClr val="5B646E"/>
                </a:solidFill>
                <a:latin typeface="Roboto"/>
              </a:rPr>
              <a:t>factory profiles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70432" y="2240280"/>
            <a:ext cx="1234440" cy="786384"/>
          </a:xfrm>
          <a:prstGeom prst="rect">
            <a:avLst/>
          </a:prstGeom>
          <a:solidFill>
            <a:srgbClr val="F7F7F7"/>
          </a:solidFill>
          <a:ln>
            <a:solidFill>
              <a:srgbClr val="D7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43584" y="2350008"/>
            <a:ext cx="108813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B786E"/>
                </a:solidFill>
                <a:latin typeface="Montserrat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3584" y="2679192"/>
            <a:ext cx="10881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720" b="0">
                <a:solidFill>
                  <a:srgbClr val="5B646E"/>
                </a:solidFill>
                <a:latin typeface="Roboto"/>
              </a:rPr>
              <a:t>pricing inputs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0" y="2240280"/>
            <a:ext cx="1234440" cy="786384"/>
          </a:xfrm>
          <a:prstGeom prst="rect">
            <a:avLst/>
          </a:prstGeom>
          <a:solidFill>
            <a:srgbClr val="F7F7F7"/>
          </a:solidFill>
          <a:ln>
            <a:solidFill>
              <a:srgbClr val="D7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16352" y="2350008"/>
            <a:ext cx="1088136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1800" b="1">
                <a:solidFill>
                  <a:srgbClr val="1B786E"/>
                </a:solidFill>
                <a:latin typeface="Montserrat"/>
              </a:rPr>
              <a:t>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16352" y="2679192"/>
            <a:ext cx="1088136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720" b="0">
                <a:solidFill>
                  <a:srgbClr val="5B646E"/>
                </a:solidFill>
                <a:latin typeface="Roboto"/>
              </a:rPr>
              <a:t>critical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881950" y="932950"/>
            <a:ext cx="7836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131314"/>
                </a:solidFill>
                <a:latin typeface="Montserrat"/>
              </a:rPr>
              <a:t>Spot market price remains the visible buyer concern, but the current calculator shows where it truly affects cost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type="title"/>
          </p:nvPr>
        </p:nvSpPr>
        <p:spPr>
          <a:xfrm>
            <a:off x="965325" y="111650"/>
            <a:ext cx="6809100" cy="64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Understanding Market Price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Picture 90" descr="balanced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1755648"/>
            <a:ext cx="7754112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933425" y="884100"/>
            <a:ext cx="8991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31314"/>
                </a:solidFill>
                <a:latin typeface="Montserrat"/>
              </a:rPr>
              <a:t>Matched quantity, not headline FMP, drives the buyer's DPPA cost exposure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842575" y="0"/>
            <a:ext cx="8486400" cy="73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Understanding Market Price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1042415" y="1298448"/>
            <a:ext cx="630936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234440" y="1874519"/>
            <a:ext cx="1600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1B786E"/>
                </a:solidFill>
                <a:latin typeface="Montserrat"/>
              </a:rPr>
              <a:t>2,100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34440" y="2240280"/>
            <a:ext cx="1600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B646E"/>
                </a:solidFill>
                <a:latin typeface="Roboto"/>
              </a:rPr>
              <a:t>strike price Pc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46120" y="1874519"/>
            <a:ext cx="1600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1B786E"/>
                </a:solidFill>
                <a:latin typeface="Montserrat"/>
              </a:rPr>
              <a:t>523.34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46120" y="2240280"/>
            <a:ext cx="1600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B646E"/>
                </a:solidFill>
                <a:latin typeface="Roboto"/>
              </a:rPr>
              <a:t>DPPA charge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57800" y="1874519"/>
            <a:ext cx="1600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2000" b="1">
                <a:solidFill>
                  <a:srgbClr val="1B786E"/>
                </a:solidFill>
                <a:latin typeface="Montserrat"/>
              </a:rPr>
              <a:t>1.027263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57800" y="2240280"/>
            <a:ext cx="1600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buNone/>
            </a:pPr>
            <a:r>
              <a:rPr sz="850" b="0">
                <a:solidFill>
                  <a:srgbClr val="5B646E"/>
                </a:solidFill>
                <a:latin typeface="Roboto"/>
              </a:rPr>
              <a:t>Kpp loss factor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34440" y="2907792"/>
            <a:ext cx="5486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FMP remains visible in the EVN market charge and developer CfD.</a:t>
            </a:r>
          </a:p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Matched kWh mostly collapse toward strike price plus DPPA charge.</a:t>
            </a:r>
          </a:p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Shortfall and excess volumes decide whether that clean story holds.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872025" y="0"/>
            <a:ext cx="8486400" cy="73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Understanding Market Price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872025" y="1135975"/>
            <a:ext cx="8091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1">
                <a:solidFill>
                  <a:srgbClr val="131314"/>
                </a:solidFill>
                <a:latin typeface="Montserrat"/>
              </a:rPr>
              <a:t>The repo uses a synthetic daily FMP curve to teach price sensitivity without hiding the settlement logic.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Picture 115" descr="load_gt_gen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1956816"/>
            <a:ext cx="4087368" cy="2331720"/>
          </a:xfrm>
          <a:prstGeom prst="rect">
            <a:avLst/>
          </a:prstGeom>
        </p:spPr>
      </p:pic>
      <p:pic>
        <p:nvPicPr>
          <p:cNvPr id="117" name="Picture 116" descr="gen_gt_load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368" y="1956816"/>
            <a:ext cx="37033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874400" y="944400"/>
            <a:ext cx="8136900" cy="3934200"/>
          </a:xfrm>
          <a:prstGeom prst="rect">
            <a:avLst/>
          </a:prstGeom>
          <a:solidFill>
            <a:srgbClr val="B5D8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787275" y="122550"/>
            <a:ext cx="8188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Payment Mechanisms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8874" y="1032842"/>
            <a:ext cx="1133400" cy="10404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832" y="3690812"/>
            <a:ext cx="1201505" cy="1040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5504" y="1036549"/>
            <a:ext cx="888000" cy="12852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0576" y="3690726"/>
            <a:ext cx="1437900" cy="10407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5922424" y="2668835"/>
            <a:ext cx="2225100" cy="37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1">
                <a:solidFill>
                  <a:srgbClr val="2F645B"/>
                </a:solidFill>
                <a:latin typeface="Montserrat"/>
              </a:rPr>
              <a:t>FMP reference
inside EVN bill</a:t>
            </a:r>
            <a:endParaRPr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7" name="Google Shape;127;p20"/>
          <p:cNvCxnSpPr>
            <a:stCxn id="123" idx="0"/>
            <a:endCxn id="122" idx="1"/>
          </p:cNvCxnSpPr>
          <p:nvPr/>
        </p:nvCxnSpPr>
        <p:spPr>
          <a:xfrm rot="10800000">
            <a:off x="8355585" y="2073212"/>
            <a:ext cx="0" cy="1617600"/>
          </a:xfrm>
          <a:prstGeom prst="straightConnector1">
            <a:avLst/>
          </a:prstGeom>
          <a:noFill/>
          <a:ln cap="flat" cmpd="sng" w="187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" name="Google Shape;128;p20"/>
          <p:cNvCxnSpPr>
            <a:stCxn id="125" idx="3"/>
            <a:endCxn id="124" idx="1"/>
          </p:cNvCxnSpPr>
          <p:nvPr/>
        </p:nvCxnSpPr>
        <p:spPr>
          <a:xfrm rot="10800000">
            <a:off x="4639526" y="2321826"/>
            <a:ext cx="0" cy="1368900"/>
          </a:xfrm>
          <a:prstGeom prst="straightConnector1">
            <a:avLst/>
          </a:prstGeom>
          <a:noFill/>
          <a:ln cap="flat" cmpd="sng" w="187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9" name="Google Shape;129;p20"/>
          <p:cNvSpPr txBox="1"/>
          <p:nvPr/>
        </p:nvSpPr>
        <p:spPr>
          <a:xfrm>
            <a:off x="1345894" y="1155253"/>
            <a:ext cx="2477100" cy="37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2F645B"/>
                </a:solidFill>
                <a:latin typeface="Montserrat"/>
              </a:rPr>
              <a:t>Buyer cost = EVN market + DPPA charge + retail shortfall + developer CfD</a:t>
            </a:r>
            <a:endParaRPr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0" name="Google Shape;130;p20"/>
          <p:cNvCxnSpPr>
            <a:stCxn id="125" idx="0"/>
            <a:endCxn id="123" idx="1"/>
          </p:cNvCxnSpPr>
          <p:nvPr/>
        </p:nvCxnSpPr>
        <p:spPr>
          <a:xfrm>
            <a:off x="5358476" y="4211076"/>
            <a:ext cx="2396400" cy="0"/>
          </a:xfrm>
          <a:prstGeom prst="straightConnector1">
            <a:avLst/>
          </a:prstGeom>
          <a:noFill/>
          <a:ln cap="flat" cmpd="sng" w="18775">
            <a:solidFill>
              <a:schemeClr val="dk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31" name="Google Shape;131;p20"/>
          <p:cNvSpPr txBox="1"/>
          <p:nvPr/>
        </p:nvSpPr>
        <p:spPr>
          <a:xfrm>
            <a:off x="962813" y="1943241"/>
            <a:ext cx="2725200" cy="576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2F645B"/>
                </a:solidFill>
                <a:latin typeface="Roboto"/>
              </a:rPr>
              <a:t>Developer CfD
= Contract quantity × (Strike − FMP)</a:t>
            </a:r>
            <a:endParaRPr b="1"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962813" y="2735946"/>
            <a:ext cx="2725200" cy="77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2F645B"/>
                </a:solidFill>
                <a:latin typeface="Roboto"/>
              </a:rPr>
              <a:t>DPPA service charge
= Matched kWh × C_DPPA</a:t>
            </a:r>
            <a:endParaRPr b="1"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962813" y="3725833"/>
            <a:ext cx="2725200" cy="97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2F645B"/>
                </a:solidFill>
                <a:latin typeface="Roboto"/>
              </a:rPr>
              <a:t>Retail shortfall
= (Load − matched kWh) × retail tariff</a:t>
            </a:r>
            <a:endParaRPr sz="128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5139857" y="1031500"/>
            <a:ext cx="2601300" cy="424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F64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2F645B"/>
                </a:solidFill>
                <a:latin typeface="Roboto"/>
              </a:rPr>
              <a:t>EVN market
= Matched kWh × FMP × Kpp</a:t>
            </a:r>
            <a:endParaRPr sz="128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5465865" y="4260650"/>
            <a:ext cx="23229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31314"/>
                </a:solidFill>
                <a:latin typeface="Montserrat"/>
              </a:rPr>
              <a:t>Strike price − spot market</a:t>
            </a:r>
            <a:endParaRPr sz="128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" name="Google Shape;136;p20"/>
          <p:cNvCxnSpPr>
            <a:stCxn id="122" idx="2"/>
          </p:cNvCxnSpPr>
          <p:nvPr/>
        </p:nvCxnSpPr>
        <p:spPr>
          <a:xfrm rot="10800000">
            <a:off x="5465974" y="1545542"/>
            <a:ext cx="2322900" cy="7500"/>
          </a:xfrm>
          <a:prstGeom prst="straightConnector1">
            <a:avLst/>
          </a:prstGeom>
          <a:noFill/>
          <a:ln cap="flat" cmpd="sng" w="187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37" name="Google Shape;137;p20"/>
          <p:cNvPicPr preferRelativeResize="0"/>
          <p:nvPr/>
        </p:nvPicPr>
        <p:blipFill rotWithShape="1">
          <a:blip r:embed="rId7">
            <a:alphaModFix/>
          </a:blip>
          <a:srcRect b="0" l="0" r="24874" t="5625"/>
          <a:stretch/>
        </p:blipFill>
        <p:spPr>
          <a:xfrm>
            <a:off x="5769001" y="3269957"/>
            <a:ext cx="1716837" cy="891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49" name="Google Shape;149;p21"/>
          <p:cNvSpPr txBox="1"/>
          <p:nvPr/>
        </p:nvSpPr>
        <p:spPr>
          <a:xfrm>
            <a:off x="788725" y="968863"/>
            <a:ext cx="852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131314"/>
                </a:solidFill>
                <a:latin typeface="Montserrat"/>
              </a:rPr>
              <a:t>Accurate allocation of QKHhc is critical for determining DPPA cost settlement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1"/>
          <p:cNvSpPr txBox="1"/>
          <p:nvPr>
            <p:ph type="title"/>
          </p:nvPr>
        </p:nvSpPr>
        <p:spPr>
          <a:xfrm>
            <a:off x="827275" y="114125"/>
            <a:ext cx="8188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Diurnal Profile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 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0" y="7393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Picture 154" descr="balanced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1591056"/>
            <a:ext cx="8028431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803100" y="0"/>
            <a:ext cx="82839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100" b="1">
                <a:solidFill>
                  <a:srgbClr val="2E3A49"/>
                </a:solidFill>
                <a:latin typeface="Montserrat"/>
              </a:rPr>
              <a:t>QKHhc is the key factor in all DPPA cost calculations: buyers must calculate it accurately.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0" name="Google Shape;1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774600" y="952825"/>
            <a:ext cx="8340900" cy="4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131314"/>
                </a:solidFill>
                <a:latin typeface="Roboto"/>
              </a:rP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0" y="82460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960120" y="1234440"/>
            <a:ext cx="2148840" cy="841248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78992" y="1389888"/>
            <a:ext cx="1920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950" b="1">
                <a:solidFill>
                  <a:srgbClr val="2F645B"/>
                </a:solidFill>
                <a:latin typeface="Montserrat"/>
              </a:rPr>
              <a:t>Matched volume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78992" y="1664208"/>
            <a:ext cx="19202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880" b="0">
                <a:solidFill>
                  <a:srgbClr val="131314"/>
                </a:solidFill>
                <a:latin typeface="Roboto"/>
              </a:rPr>
              <a:t>QKHhc(i) = min(QKH(i), Qm(i))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474720" y="1234440"/>
            <a:ext cx="2148840" cy="841248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593591" y="1389888"/>
            <a:ext cx="1920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950" b="1">
                <a:solidFill>
                  <a:srgbClr val="2F645B"/>
                </a:solidFill>
                <a:latin typeface="Montserrat"/>
              </a:rPr>
              <a:t>Shortfall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593591" y="1664208"/>
            <a:ext cx="19202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880" b="0">
                <a:solidFill>
                  <a:srgbClr val="131314"/>
                </a:solidFill>
                <a:latin typeface="Roboto"/>
              </a:rPr>
              <a:t>max(QKH(i) − Qm(i), 0)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989320" y="1234440"/>
            <a:ext cx="2148840" cy="841248"/>
          </a:xfrm>
          <a:prstGeom prst="rect">
            <a:avLst/>
          </a:prstGeom>
          <a:solidFill>
            <a:srgbClr val="F7F7F7"/>
          </a:solidFill>
          <a:ln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108192" y="1389888"/>
            <a:ext cx="19202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950" b="1">
                <a:solidFill>
                  <a:srgbClr val="2F645B"/>
                </a:solidFill>
                <a:latin typeface="Montserrat"/>
              </a:rPr>
              <a:t>Excess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108192" y="1664208"/>
            <a:ext cx="19202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880" b="0">
                <a:solidFill>
                  <a:srgbClr val="131314"/>
                </a:solidFill>
                <a:latin typeface="Roboto"/>
              </a:rPr>
              <a:t>max(Qm(i) − QKH(i), 0)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60120" y="2542032"/>
            <a:ext cx="7223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Matched mode: contract quantity equals matched energy.</a:t>
            </a:r>
          </a:p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Generation mode: contract quantity equals renewable generation, so excess solar can still create CfD exposure.</a:t>
            </a:r>
          </a:p>
          <a:p>
            <a:pPr>
              <a:spcAft>
                <a:spcPts val="500"/>
              </a:spcAft>
              <a:defRPr sz="1000">
                <a:solidFill>
                  <a:srgbClr val="131314"/>
                </a:solidFill>
                <a:latin typeface="Roboto"/>
              </a:defRPr>
            </a:pPr>
            <a:r>
              <a:t>Allocated mode: contract quantity follows the allocation in the contract.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60120" y="4069080"/>
            <a:ext cx="713232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buNone/>
            </a:pPr>
            <a:r>
              <a:rPr sz="1100" b="1">
                <a:solidFill>
                  <a:srgbClr val="2F645B"/>
                </a:solidFill>
                <a:latin typeface="Montserrat"/>
              </a:rPr>
              <a:t>Buyer implication: negotiate the quantity definition before debating a headline strike price.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884400" y="1556950"/>
            <a:ext cx="8259600" cy="29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>
                <a:solidFill>
                  <a:srgbClr val="131314"/>
                </a:solidFill>
                <a:latin typeface="Roboto"/>
              </a:rP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907807" y="856350"/>
            <a:ext cx="784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750" b="1">
                <a:solidFill>
                  <a:srgbClr val="131314"/>
                </a:solidFill>
                <a:latin typeface="Montserrat"/>
              </a:rPr>
              <a:t>Strike price determines financial settlement through CFD, converting market price volatility into predictable financial flows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813400" y="108350"/>
            <a:ext cx="81885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Payment Mechanism under the CFD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0" y="68105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Picture 178" descr="cancellation_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1719072"/>
            <a:ext cx="6217920" cy="1325880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1170432" y="3383280"/>
            <a:ext cx="67665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19">
                <a:solidFill>
                  <a:srgbClr val="131314"/>
                </a:solidFill>
                <a:latin typeface="Roboto"/>
              </a:defRPr>
            </a:pPr>
            <a:r>
              <a:t>Pc(i): committed strike price at cycle i.</a:t>
            </a:r>
          </a:p>
          <a:p>
            <a:pPr>
              <a:spcAft>
                <a:spcPts val="500"/>
              </a:spcAft>
              <a:defRPr sz="919">
                <a:solidFill>
                  <a:srgbClr val="131314"/>
                </a:solidFill>
                <a:latin typeface="Roboto"/>
              </a:defRPr>
            </a:pPr>
            <a:r>
              <a:t>FMP(i): hourly market reference price.</a:t>
            </a:r>
          </a:p>
          <a:p>
            <a:pPr>
              <a:spcAft>
                <a:spcPts val="500"/>
              </a:spcAft>
              <a:defRPr sz="919">
                <a:solidFill>
                  <a:srgbClr val="131314"/>
                </a:solidFill>
                <a:latin typeface="Roboto"/>
              </a:defRPr>
            </a:pPr>
            <a:r>
              <a:t>Qca(i): contract quantity; default app mode equals matched volume.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754275" y="895100"/>
            <a:ext cx="8389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131314"/>
                </a:solidFill>
                <a:latin typeface="Montserrat"/>
              </a:rPr>
              <a:t>Feasibility analysis enables buyers to compare DPPA against traditional procurement with confidence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4"/>
          <p:cNvSpPr txBox="1"/>
          <p:nvPr>
            <p:ph type="title"/>
          </p:nvPr>
        </p:nvSpPr>
        <p:spPr>
          <a:xfrm>
            <a:off x="804975" y="37625"/>
            <a:ext cx="82884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000" b="1">
                <a:solidFill>
                  <a:srgbClr val="2E3A49"/>
                </a:solidFill>
                <a:latin typeface="Montserrat"/>
              </a:rPr>
              <a:t>Quantify DPPA Costs to Assess Feasibility &amp; Negotiate RE Supply</a:t>
            </a:r>
            <a:endParaRPr b="1" sz="2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0" y="824600"/>
            <a:ext cx="69420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Picture 189" descr="scenario_t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" y="1627632"/>
            <a:ext cx="7671816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450" y="0"/>
            <a:ext cx="249554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5"/>
          <p:cNvPicPr preferRelativeResize="0"/>
          <p:nvPr/>
        </p:nvPicPr>
        <p:blipFill rotWithShape="1">
          <a:blip r:embed="rId4">
            <a:alphaModFix/>
          </a:blip>
          <a:srcRect b="2911" l="28801" r="8738" t="2562"/>
          <a:stretch/>
        </p:blipFill>
        <p:spPr>
          <a:xfrm>
            <a:off x="0" y="-9475"/>
            <a:ext cx="6648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3187" y="4888133"/>
            <a:ext cx="690801" cy="24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5"/>
          <p:cNvSpPr/>
          <p:nvPr/>
        </p:nvSpPr>
        <p:spPr>
          <a:xfrm>
            <a:off x="7785000" y="1394088"/>
            <a:ext cx="1359000" cy="2355300"/>
          </a:xfrm>
          <a:prstGeom prst="rect">
            <a:avLst/>
          </a:prstGeom>
          <a:solidFill>
            <a:srgbClr val="1B786E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/>
          <p:nvPr/>
        </p:nvSpPr>
        <p:spPr>
          <a:xfrm>
            <a:off x="1990500" y="1747788"/>
            <a:ext cx="7153500" cy="1647900"/>
          </a:xfrm>
          <a:prstGeom prst="rect">
            <a:avLst/>
          </a:prstGeom>
          <a:solidFill>
            <a:srgbClr val="2E3A4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2026350" y="2188525"/>
            <a:ext cx="70818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7F7F7"/>
                </a:solidFill>
                <a:latin typeface="Montserrat"/>
              </a:rPr>
              <a:t>Session 4.5: Preparing for DPPA Implementation</a:t>
            </a:r>
            <a:endParaRPr b="1" sz="2100">
              <a:solidFill>
                <a:srgbClr val="F7F7F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1757127" y="1747800"/>
            <a:ext cx="74100" cy="164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2673" y="4830726"/>
            <a:ext cx="894924" cy="31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/>
          <p:nvPr/>
        </p:nvSpPr>
        <p:spPr>
          <a:xfrm>
            <a:off x="0" y="613400"/>
            <a:ext cx="9144000" cy="36402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4722" y="0"/>
            <a:ext cx="1239275" cy="42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/>
        </p:nvSpPr>
        <p:spPr>
          <a:xfrm>
            <a:off x="4745737" y="4198999"/>
            <a:ext cx="324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-2" y="1466325"/>
            <a:ext cx="6369600" cy="681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 rot="-5400000">
            <a:off x="8725805" y="110428"/>
            <a:ext cx="362400" cy="20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304801" y="692925"/>
            <a:ext cx="7341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300" b="1">
                <a:solidFill>
                  <a:srgbClr val="F7F7F7"/>
                </a:solidFill>
                <a:latin typeface="Montserrat"/>
              </a:rPr>
              <a:t>Interactive Exercise:
DPPA Scenario Analysis  (~60 minutes)</a:t>
            </a:r>
            <a:endParaRPr b="1" sz="2100">
              <a:solidFill>
                <a:srgbClr val="F7F7F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0" y="1619350"/>
            <a:ext cx="91440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</a:pPr>
            <a:r>
              <a:rPr sz="1200" b="0">
                <a:solidFill>
                  <a:srgbClr val="F7F7F7"/>
                </a:solidFill>
                <a:latin typeface="Roboto"/>
              </a:rPr>
              <a:t>Use the CFO calculator to test one factory load profile against three questions:
• How much load is matched by renewable generation?
• Which hours create retail shortfall exposure?
• Which settlement quantity mode is acceptable before negotiating strike price?
Start with the balanced profile, then compare Load &gt; Gen and Load &lt; Gen.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/>
          <p:nvPr/>
        </p:nvSpPr>
        <p:spPr>
          <a:xfrm>
            <a:off x="0" y="0"/>
            <a:ext cx="743100" cy="5143500"/>
          </a:xfrm>
          <a:prstGeom prst="rect">
            <a:avLst/>
          </a:prstGeom>
          <a:solidFill>
            <a:srgbClr val="2E3A4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115050" y="0"/>
            <a:ext cx="5130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</a:rPr>
              <a:t> 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4158823" y="1061399"/>
            <a:ext cx="43920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E3A49"/>
                </a:solidFill>
                <a:latin typeface="Montserrat"/>
              </a:rPr>
              <a:t>Scenario DPPA Negotiation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0" y="688050"/>
            <a:ext cx="5770500" cy="705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743100" y="841600"/>
            <a:ext cx="27885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</a:pPr>
            <a:r>
              <a:rPr sz="940" b="0">
                <a:solidFill>
                  <a:srgbClr val="131314"/>
                </a:solidFill>
                <a:latin typeface="Roboto"/>
              </a:rPr>
              <a:t>Your factory is located in Northern Vietnam, within an industrial park, and is currently purchasing electricity from an EVN-subsidiary or industrial park electricity retailer. Annual demand is 150 GWh.
Determine the essential conditions for proceeding with an appropriate DPPA arrangement:
• Electricity retailer
• Optimal renewable energy source
• Required capacity and load match
• DPPA contract duration
• Settlement quantity mode
• Risk allocation for shortfall and excess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800" y="4878647"/>
            <a:ext cx="757798" cy="26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7611" y="4878650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28" name="Google Shape;228;p27"/>
          <p:cNvSpPr txBox="1"/>
          <p:nvPr/>
        </p:nvSpPr>
        <p:spPr>
          <a:xfrm>
            <a:off x="836225" y="36750"/>
            <a:ext cx="50151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200" b="1">
                <a:solidFill>
                  <a:srgbClr val="2E3A49"/>
                </a:solidFill>
                <a:latin typeface="Montserrat"/>
              </a:rPr>
              <a:t>Scenario DPPA Negotiation</a:t>
            </a:r>
            <a:endParaRPr sz="24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9" name="Picture 228" descr="balanced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1069848"/>
            <a:ext cx="5522976" cy="2633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