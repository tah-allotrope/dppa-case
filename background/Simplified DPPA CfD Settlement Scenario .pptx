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Cabin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-regular.fntdata"/><Relationship Id="rId11" Type="http://schemas.openxmlformats.org/officeDocument/2006/relationships/slide" Target="slides/slide6.xml"/><Relationship Id="rId22" Type="http://schemas.openxmlformats.org/officeDocument/2006/relationships/font" Target="fonts/Cabin-italic.fntdata"/><Relationship Id="rId10" Type="http://schemas.openxmlformats.org/officeDocument/2006/relationships/slide" Target="slides/slide5.xml"/><Relationship Id="rId21" Type="http://schemas.openxmlformats.org/officeDocument/2006/relationships/font" Target="fonts/Cabin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Cabin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PmjjMhQC2W-JHhjC3HcgbXeJ5Kpfig5D/view?hl=en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PmjjMhQC2W-JHhjC3HcgbXeJ5Kpfig5D/view?hl=en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eeb6dcc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SMP: Spot Market Price: Giao dịch trên nút của khách hàng (Vd 110kV)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FMP: Final Market Price =&gt; SMP + Chi phí vận hành + Tổn thất trên đường dây truyền tải quốc gia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CFMP: nhân với tổn thất từ lưới quốc gia =&gt; phân phối/nút khách hàng mua (500kV -&gt; 110kV)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Tổn thất trên đường </a:t>
            </a:r>
            <a:r>
              <a:rPr lang="en"/>
              <a:t>dây</a:t>
            </a:r>
            <a:r>
              <a:rPr lang="en"/>
              <a:t> quốc gia 500kV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Tổn thất trên đường dây quốc gia =&gt; mua (Từ 500kV -&gt; 110kV)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Tổn thất xuống dưới khách hàng: Hệ số kpp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6eeb6dcc0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eeb6dcc0d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Trường hợp 1: Tải của nhà máy &gt; Sản lượng Solar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Bỏ qua CFMP, giá được NSMO công bố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Phí DPPA?</a:t>
            </a:r>
            <a:endParaRPr>
              <a:solidFill>
                <a:schemeClr val="dk1"/>
              </a:solidFill>
            </a:endParaRPr>
          </a:p>
          <a:p>
            <a:pPr indent="-241300" lvl="1" marL="742950" marR="6661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DPPA Demand x CDPPA: Không nhân Kpp?</a:t>
            </a:r>
            <a:endParaRPr>
              <a:solidFill>
                <a:schemeClr val="dk1"/>
              </a:solidFill>
            </a:endParaRPr>
          </a:p>
          <a:p>
            <a:pPr indent="0" lvl="0" marL="0" marR="66618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" name="Google Shape;68;g36eeb6dcc0d_0_3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eb6dcc0d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Biên độ giao động: Hiện tại không có trend rõ ràng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Strike price: Fixed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most accurately simulate spot market price?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6eeb6dcc0d_0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eeb6dcc0d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6eeb6dcc0d_0_3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14da1f51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14da1f51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eeb6dcc0d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6eeb6dcc0d_0_3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eeb6dcc0d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-NLTT phát toàn bộ sản lượng lên VWEM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Nhu cầu &gt; khả năng phát =&gt; giá bán lẻ EVN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Nhu cầu &lt; khả năng phát =&gt; giá thị trường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-Hoàn toàn theo giá VWEM (không có giá trần)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-EVN/NSMO: Bên đo đếm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TH: Bán một phần &amp; đăng ký bán utility cho EVN?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-Developer</a:t>
            </a:r>
            <a:r>
              <a:rPr lang="en"/>
              <a:t> dispatches its total generation output to the VWEM (Vietnam Wholesale Electricity Market)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Demand &gt; Generation capacity =&gt; EVN retail price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Demand &lt; Generation capacity =&gt; Market price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</a:t>
            </a:r>
            <a:r>
              <a:rPr lang="en"/>
              <a:t>Strictly follows VWEM pricing (no price ceiling/cap)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</a:t>
            </a:r>
            <a:r>
              <a:rPr lang="en"/>
              <a:t>EVN/NSMO: Metering entity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</a:t>
            </a:r>
            <a:r>
              <a:rPr lang="en"/>
              <a:t>Scenario: Selling a portion &amp; registering to sell utility power to EVN?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6eeb6dcc0d_0_3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eeb6dcc0d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6eeb6dcc0d_0_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24b4d21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VLEEP: </a:t>
            </a:r>
            <a:r>
              <a:rPr lang="en" u="sng">
                <a:solidFill>
                  <a:schemeClr val="hlink"/>
                </a:solidFill>
                <a:hlinkClick r:id="rId2"/>
              </a:rPr>
              <a:t>VLEEP DPPA Piloting Direct Power Purchase Agreements in Vietnam: Model Recommendation and Pilot Design.pdf - Google Drive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724b4d21f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24b4d21f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VLEEP: </a:t>
            </a:r>
            <a:r>
              <a:rPr lang="en" u="sng">
                <a:solidFill>
                  <a:schemeClr val="hlink"/>
                </a:solidFill>
                <a:hlinkClick r:id="rId2"/>
              </a:rPr>
              <a:t>VLEEP DPPA Piloting Direct Power Purchase Agreements in Vietnam: Model Recommendation and Pilot Design.pdf - Google Drive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724b4d21f0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67986" y="172594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26715" y="69626"/>
            <a:ext cx="9030000" cy="920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i="0" sz="1500" u="none" cap="none" strike="noStrik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650" y="78982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367850" y="108775"/>
            <a:ext cx="6706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Simplified DPPA Daily Scenario</a:t>
            </a:r>
            <a:endParaRPr b="1" sz="24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3200" y="1282550"/>
            <a:ext cx="6213525" cy="372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4"/>
          <p:cNvCxnSpPr/>
          <p:nvPr/>
        </p:nvCxnSpPr>
        <p:spPr>
          <a:xfrm>
            <a:off x="5580050" y="1522275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2" name="Google Shape;62;p14"/>
          <p:cNvCxnSpPr/>
          <p:nvPr/>
        </p:nvCxnSpPr>
        <p:spPr>
          <a:xfrm>
            <a:off x="6610925" y="1504413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3" name="Google Shape;63;p14"/>
          <p:cNvSpPr txBox="1"/>
          <p:nvPr/>
        </p:nvSpPr>
        <p:spPr>
          <a:xfrm>
            <a:off x="26725" y="1205125"/>
            <a:ext cx="2752500" cy="3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6661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Assumption</a:t>
            </a:r>
            <a:endParaRPr sz="1300" u="sng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60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Hourly Flat Demand: </a:t>
            </a:r>
            <a:r>
              <a:rPr b="1"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5MWh or 5,000kWh</a:t>
            </a:r>
            <a:endParaRPr b="1" sz="1300">
              <a:solidFill>
                <a:srgbClr val="2F645B"/>
              </a:solidFill>
              <a:highlight>
                <a:srgbClr val="FFF2CC"/>
              </a:highlight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Solar Capacity 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~ </a:t>
            </a:r>
            <a:r>
              <a:rPr b="1"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45MWp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Blended Retail Tariff ~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b="1"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2,100 VND/kWh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 for 22kV to below 110kV connection?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DPPA Strike Price: </a:t>
            </a:r>
            <a:r>
              <a:rPr b="1"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2,100 VND/kWh</a:t>
            </a:r>
            <a:endParaRPr b="1" sz="1300">
              <a:solidFill>
                <a:srgbClr val="2F645B"/>
              </a:solidFill>
              <a:highlight>
                <a:srgbClr val="FFF2CC"/>
              </a:highlight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CFMP: </a:t>
            </a:r>
            <a:r>
              <a:rPr b="1"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1,700 VND/kWh</a:t>
            </a:r>
            <a:r>
              <a:rPr b="1"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 on average?</a:t>
            </a:r>
            <a:endParaRPr b="1"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CDPPA = Cssc + Ccl = 360.14 + 163.2 = 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523.34VND/kWh</a:t>
            </a:r>
            <a:endParaRPr sz="1300">
              <a:solidFill>
                <a:srgbClr val="2F645B"/>
              </a:solidFill>
              <a:highlight>
                <a:srgbClr val="FFF2CC"/>
              </a:highlight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972750" y="2226550"/>
            <a:ext cx="94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Zone 1</a:t>
            </a:r>
            <a:endParaRPr b="1" sz="16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622838" y="3448400"/>
            <a:ext cx="94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Zone 2</a:t>
            </a:r>
            <a:endParaRPr b="1" sz="16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26715" y="69626"/>
            <a:ext cx="9030000" cy="920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i="0" sz="1500" u="none" cap="none" strike="noStrik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650" y="78982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367850" y="108775"/>
            <a:ext cx="6706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Zone 1 Buyer Calculation - EVN </a:t>
            </a:r>
            <a:endParaRPr b="1" sz="24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54315" t="0"/>
          <a:stretch/>
        </p:blipFill>
        <p:spPr>
          <a:xfrm>
            <a:off x="6153000" y="1146788"/>
            <a:ext cx="2838700" cy="372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15"/>
          <p:cNvCxnSpPr/>
          <p:nvPr/>
        </p:nvCxnSpPr>
        <p:spPr>
          <a:xfrm>
            <a:off x="8444625" y="1444850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5" name="Google Shape;75;p15"/>
          <p:cNvSpPr txBox="1"/>
          <p:nvPr/>
        </p:nvSpPr>
        <p:spPr>
          <a:xfrm>
            <a:off x="26725" y="1041650"/>
            <a:ext cx="3541200" cy="3938400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Payment to EVN from 8am to 9am assuming 2,000kWh met by DPPA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54000" lvl="1" marL="74295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Phí trả cho EVN (Payment to EVN, Retail price): EVN Demand x Retail Tariff Normal = 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3,000kWh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 x 1,833 VND/kWh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54000" lvl="1" marL="74295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Phí mua theo giá trên thị trường: DPPA Demand x </a:t>
            </a:r>
            <a:r>
              <a:rPr lang="en" sz="1300">
                <a:solidFill>
                  <a:srgbClr val="FF0000"/>
                </a:solidFill>
                <a:highlight>
                  <a:schemeClr val="accent6"/>
                </a:highlight>
                <a:latin typeface="Cabin"/>
                <a:ea typeface="Cabin"/>
                <a:cs typeface="Cabin"/>
                <a:sym typeface="Cabin"/>
              </a:rPr>
              <a:t>Kpp</a:t>
            </a:r>
            <a:r>
              <a:rPr lang="en" sz="1300">
                <a:solidFill>
                  <a:srgbClr val="2F645B"/>
                </a:solidFill>
                <a:highlight>
                  <a:schemeClr val="accent6"/>
                </a:highlight>
                <a:latin typeface="Cabin"/>
                <a:ea typeface="Cabin"/>
                <a:cs typeface="Cabin"/>
                <a:sym typeface="Cabin"/>
              </a:rPr>
              <a:t> x CFMP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2,000kWh x </a:t>
            </a:r>
            <a:r>
              <a:rPr lang="en" sz="1300">
                <a:solidFill>
                  <a:srgbClr val="FF0000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1.027263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 x 1,700VND/kWh</a:t>
            </a:r>
            <a:endParaRPr sz="1300">
              <a:solidFill>
                <a:srgbClr val="2F645B"/>
              </a:solidFill>
              <a:highlight>
                <a:srgbClr val="FFF2CC"/>
              </a:highlight>
              <a:latin typeface="Cabin"/>
              <a:ea typeface="Cabin"/>
              <a:cs typeface="Cabin"/>
              <a:sym typeface="Cabin"/>
            </a:endParaRPr>
          </a:p>
          <a:p>
            <a:pPr indent="-254000" lvl="1" marL="74295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Phí DPPA (mỗi 1kWh mất 523đ): DPPA Demand x CDPPA = 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2,000kWh x 523.34VND/kWh</a:t>
            </a:r>
            <a:endParaRPr sz="1300">
              <a:solidFill>
                <a:srgbClr val="2F645B"/>
              </a:solidFill>
              <a:highlight>
                <a:srgbClr val="FFF2CC"/>
              </a:highlight>
              <a:latin typeface="Cabin"/>
              <a:ea typeface="Cabin"/>
              <a:cs typeface="Cabin"/>
              <a:sym typeface="Cabin"/>
            </a:endParaRPr>
          </a:p>
          <a:p>
            <a:pPr indent="-311150" lvl="2" marL="18288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■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=&gt; Không tính thêm 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Kpp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Tổng: trả cho EVN khi tải của nhà máy &gt; sản lượng Solar: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6837325" y="2199225"/>
            <a:ext cx="94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Zone 1</a:t>
            </a:r>
            <a:endParaRPr b="1" sz="16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2911" y="1146796"/>
            <a:ext cx="2475125" cy="342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26715" y="69626"/>
            <a:ext cx="9030000" cy="920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i="0" sz="1500" u="none" cap="none" strike="noStrik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650" y="78982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367850" y="108775"/>
            <a:ext cx="6706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Zone 1 Buyer Calculation - CfD </a:t>
            </a:r>
            <a:endParaRPr b="1" sz="24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54315" t="0"/>
          <a:stretch/>
        </p:blipFill>
        <p:spPr>
          <a:xfrm>
            <a:off x="5707775" y="1205125"/>
            <a:ext cx="2838700" cy="372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16"/>
          <p:cNvCxnSpPr/>
          <p:nvPr/>
        </p:nvCxnSpPr>
        <p:spPr>
          <a:xfrm>
            <a:off x="8444625" y="1444850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/>
        </p:nvSpPr>
        <p:spPr>
          <a:xfrm>
            <a:off x="26725" y="989725"/>
            <a:ext cx="53877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Settlement for Contract for Difference (CfD) assuming spot price is 1,700VND/kWh from 8am to 9am  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54000" lvl="1" marL="74295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DPPA Demand x (Strike Price - Spot Price) = 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2,000kWh x (2,100VND/kWh - 1,700VND/kWh)</a:t>
            </a:r>
            <a:endParaRPr sz="1300">
              <a:solidFill>
                <a:srgbClr val="2F645B"/>
              </a:solidFill>
              <a:highlight>
                <a:srgbClr val="FFF2CC"/>
              </a:highlight>
              <a:latin typeface="Cabin"/>
              <a:ea typeface="Cabin"/>
              <a:cs typeface="Cabin"/>
              <a:sym typeface="Cabin"/>
            </a:endParaRPr>
          </a:p>
          <a:p>
            <a:pPr indent="-254000" lvl="1" marL="74295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highlight>
                  <a:srgbClr val="D9EAD3"/>
                </a:highlight>
                <a:latin typeface="Cabin"/>
                <a:ea typeface="Cabin"/>
                <a:cs typeface="Cabin"/>
                <a:sym typeface="Cabin"/>
              </a:rPr>
              <a:t>Spot Price = FMP confirmed</a:t>
            </a:r>
            <a:endParaRPr sz="1300">
              <a:solidFill>
                <a:srgbClr val="2F645B"/>
              </a:solidFill>
              <a:highlight>
                <a:srgbClr val="D9EAD3"/>
              </a:highlight>
              <a:latin typeface="Cabin"/>
              <a:ea typeface="Cabin"/>
              <a:cs typeface="Cabin"/>
              <a:sym typeface="Cabin"/>
            </a:endParaRPr>
          </a:p>
          <a:p>
            <a:pPr indent="-254000" lvl="1" marL="74295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Vietnam Wholesale/Spot Market vs other markets</a:t>
            </a:r>
            <a:endParaRPr sz="1300">
              <a:solidFill>
                <a:srgbClr val="2F645B"/>
              </a:solidFill>
              <a:highlight>
                <a:srgbClr val="FFF2CC"/>
              </a:highlight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6837325" y="2149125"/>
            <a:ext cx="94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Zone 1</a:t>
            </a:r>
            <a:endParaRPr b="1" sz="16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1350" y="2676300"/>
            <a:ext cx="3951719" cy="225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26715" y="69626"/>
            <a:ext cx="9030000" cy="920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i="0" sz="1500" u="none" cap="none" strike="noStrik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650" y="78982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367850" y="108775"/>
            <a:ext cx="6706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Zone 1 Buyer Calculation - Cost Saving/Premium</a:t>
            </a:r>
            <a:endParaRPr b="1" sz="24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4">
            <a:alphaModFix/>
          </a:blip>
          <a:srcRect b="0" l="0" r="54315" t="0"/>
          <a:stretch/>
        </p:blipFill>
        <p:spPr>
          <a:xfrm>
            <a:off x="5707775" y="1205125"/>
            <a:ext cx="2838700" cy="372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7"/>
          <p:cNvCxnSpPr/>
          <p:nvPr/>
        </p:nvCxnSpPr>
        <p:spPr>
          <a:xfrm>
            <a:off x="8444625" y="1444850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9" name="Google Shape;99;p17"/>
          <p:cNvSpPr txBox="1"/>
          <p:nvPr/>
        </p:nvSpPr>
        <p:spPr>
          <a:xfrm>
            <a:off x="26725" y="1007575"/>
            <a:ext cx="53877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Total with DPPA = EVN Payment + CfD = ???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Total 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without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 DPPA = 5,000kWh x 1,833 VND/kWh = 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Cost saving/premium = ???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837325" y="2149125"/>
            <a:ext cx="94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Zone 1</a:t>
            </a:r>
            <a:endParaRPr b="1" sz="16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850" y="1924227"/>
            <a:ext cx="5046575" cy="293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>
            <p:ph idx="2" type="pic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</p:spPr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25" y="180975"/>
            <a:ext cx="8210550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>
            <a:off x="26715" y="69626"/>
            <a:ext cx="9030000" cy="920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i="0" sz="1500" u="none" cap="none" strike="noStrik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650" y="78982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367850" y="108775"/>
            <a:ext cx="6706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Zone 2 Buyer Calculation - EVN </a:t>
            </a:r>
            <a:endParaRPr b="1" sz="24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4">
            <a:alphaModFix/>
          </a:blip>
          <a:srcRect b="0" l="42203" r="37922" t="0"/>
          <a:stretch/>
        </p:blipFill>
        <p:spPr>
          <a:xfrm>
            <a:off x="6585850" y="1205125"/>
            <a:ext cx="1234950" cy="372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9"/>
          <p:cNvCxnSpPr/>
          <p:nvPr/>
        </p:nvCxnSpPr>
        <p:spPr>
          <a:xfrm>
            <a:off x="6700425" y="1444850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9"/>
          <p:cNvCxnSpPr/>
          <p:nvPr/>
        </p:nvCxnSpPr>
        <p:spPr>
          <a:xfrm>
            <a:off x="7731300" y="1426988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8" name="Google Shape;118;p19"/>
          <p:cNvSpPr txBox="1"/>
          <p:nvPr/>
        </p:nvSpPr>
        <p:spPr>
          <a:xfrm>
            <a:off x="6743213" y="3370975"/>
            <a:ext cx="94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Zone 2</a:t>
            </a:r>
            <a:endParaRPr b="1" sz="16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26725" y="1205125"/>
            <a:ext cx="6495300" cy="38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Payment to EVN from 11am to 12pm assuming 2,500kWh excess solar generation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54000" lvl="1" marL="74295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DPPA Demand x CFMP? = DPPA Demand x Kpp x CFMP = 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5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,000kWh x 1.027263 x 1,700VND/kWh x ???</a:t>
            </a:r>
            <a:endParaRPr sz="1300">
              <a:solidFill>
                <a:srgbClr val="2F645B"/>
              </a:solidFill>
              <a:highlight>
                <a:srgbClr val="FFF2CC"/>
              </a:highlight>
              <a:latin typeface="Cabin"/>
              <a:ea typeface="Cabin"/>
              <a:cs typeface="Cabin"/>
              <a:sym typeface="Cabin"/>
            </a:endParaRPr>
          </a:p>
          <a:p>
            <a:pPr indent="-254000" lvl="1" marL="74295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DPPA Demand x CDPPA = 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5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,000kWh x 523.34VND/kWh</a:t>
            </a:r>
            <a:endParaRPr sz="1300">
              <a:solidFill>
                <a:srgbClr val="2F645B"/>
              </a:solidFill>
              <a:highlight>
                <a:srgbClr val="FFF2CC"/>
              </a:highlight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>
            <a:off x="26715" y="69626"/>
            <a:ext cx="9030000" cy="920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i="0" sz="1500" u="none" cap="none" strike="noStrik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650" y="78982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367850" y="108775"/>
            <a:ext cx="6706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Zone 2 Buyer Calculation - CfD</a:t>
            </a:r>
            <a:endParaRPr b="1" sz="24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4">
            <a:alphaModFix/>
          </a:blip>
          <a:srcRect b="0" l="42203" r="37922" t="0"/>
          <a:stretch/>
        </p:blipFill>
        <p:spPr>
          <a:xfrm>
            <a:off x="6585850" y="1205125"/>
            <a:ext cx="1234950" cy="372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0"/>
          <p:cNvCxnSpPr/>
          <p:nvPr/>
        </p:nvCxnSpPr>
        <p:spPr>
          <a:xfrm>
            <a:off x="6700425" y="1444850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0"/>
          <p:cNvCxnSpPr/>
          <p:nvPr/>
        </p:nvCxnSpPr>
        <p:spPr>
          <a:xfrm>
            <a:off x="7731300" y="1426988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0" name="Google Shape;130;p20"/>
          <p:cNvSpPr txBox="1"/>
          <p:nvPr/>
        </p:nvSpPr>
        <p:spPr>
          <a:xfrm>
            <a:off x="6743213" y="3370975"/>
            <a:ext cx="94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Zone 2</a:t>
            </a:r>
            <a:endParaRPr b="1" sz="16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6725" y="1205125"/>
            <a:ext cx="6495300" cy="38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Settlement for Contract for Difference (CfD) assuming spot price is 1,700VND/kWh from 11am to 12pm and 2,500kWh excess solar generation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1150" lvl="1" marL="13716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(DPPA Demand + Excess Generation) x (Strike Price - Spot Price) = </a:t>
            </a:r>
            <a:r>
              <a:rPr lang="en" sz="1300">
                <a:solidFill>
                  <a:srgbClr val="2F645B"/>
                </a:solidFill>
                <a:highlight>
                  <a:srgbClr val="FFF2CC"/>
                </a:highlight>
                <a:latin typeface="Cabin"/>
                <a:ea typeface="Cabin"/>
                <a:cs typeface="Cabin"/>
                <a:sym typeface="Cabin"/>
              </a:rPr>
              <a:t>(5,000kWh + 2,500kWh) x (2,100VND/kWh - 1,700VND/kWh)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26715" y="69626"/>
            <a:ext cx="9030000" cy="920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i="0" sz="1500" u="none" cap="none" strike="noStrik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650" y="78982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367850" y="108775"/>
            <a:ext cx="6706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Zone 2 Buyer Calculation - Cost Saving/Premium</a:t>
            </a:r>
            <a:endParaRPr b="1" sz="24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4">
            <a:alphaModFix/>
          </a:blip>
          <a:srcRect b="0" l="42203" r="37922" t="0"/>
          <a:stretch/>
        </p:blipFill>
        <p:spPr>
          <a:xfrm>
            <a:off x="6585850" y="1205125"/>
            <a:ext cx="1234950" cy="372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21"/>
          <p:cNvCxnSpPr/>
          <p:nvPr/>
        </p:nvCxnSpPr>
        <p:spPr>
          <a:xfrm>
            <a:off x="6700425" y="1444850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1"/>
          <p:cNvCxnSpPr/>
          <p:nvPr/>
        </p:nvCxnSpPr>
        <p:spPr>
          <a:xfrm>
            <a:off x="7731300" y="1426988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2" name="Google Shape;142;p21"/>
          <p:cNvSpPr txBox="1"/>
          <p:nvPr/>
        </p:nvSpPr>
        <p:spPr>
          <a:xfrm>
            <a:off x="6743213" y="3370975"/>
            <a:ext cx="94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Zone 2</a:t>
            </a:r>
            <a:endParaRPr b="1" sz="16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26725" y="1205125"/>
            <a:ext cx="5387700" cy="3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Total with DPPA = EVN Payment + CfD = ???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Total without DPPA = 5,000kWh x 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3,398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 VND/kWh = 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Cost saving/premium = ???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/>
          <p:nvPr/>
        </p:nvSpPr>
        <p:spPr>
          <a:xfrm>
            <a:off x="26715" y="69626"/>
            <a:ext cx="9030000" cy="920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i="0" sz="1500" u="none" cap="none" strike="noStrik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650" y="78982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367850" y="108775"/>
            <a:ext cx="6706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Zone 2 Buyer Calculation - Cost Saving/Premium</a:t>
            </a:r>
            <a:endParaRPr b="1" sz="24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 rotWithShape="1">
          <a:blip r:embed="rId4">
            <a:alphaModFix/>
          </a:blip>
          <a:srcRect b="0" l="42203" r="37922" t="0"/>
          <a:stretch/>
        </p:blipFill>
        <p:spPr>
          <a:xfrm>
            <a:off x="7820175" y="1146775"/>
            <a:ext cx="1234950" cy="372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2"/>
          <p:cNvCxnSpPr/>
          <p:nvPr/>
        </p:nvCxnSpPr>
        <p:spPr>
          <a:xfrm>
            <a:off x="6700425" y="1444850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2"/>
          <p:cNvCxnSpPr/>
          <p:nvPr/>
        </p:nvCxnSpPr>
        <p:spPr>
          <a:xfrm>
            <a:off x="7731300" y="1426988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4" name="Google Shape;154;p22"/>
          <p:cNvSpPr txBox="1"/>
          <p:nvPr/>
        </p:nvSpPr>
        <p:spPr>
          <a:xfrm>
            <a:off x="7964988" y="3370975"/>
            <a:ext cx="94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Zone 2</a:t>
            </a:r>
            <a:endParaRPr b="1" sz="16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7850" y="1427000"/>
            <a:ext cx="74268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Buyer Expense under DPPA 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Total = EVN + CfD (PPA &gt; FMP)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1150" lvl="1" marL="13716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[Q*CFMP + cDPPA] + Q*[PPA - FMP]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1150" lvl="1" marL="13716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Q*FMP*k(i) + cDPPA + Q*PPA - Q*FMP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1150" lvl="1" marL="13716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Q*PPA + cDPPA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Total = EVN - CfD (PPA&lt;FMP)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1150" lvl="1" marL="13716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[Q*CFMP + cDPPA] - Q*[FMP - PPA]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1150" lvl="1" marL="13716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Q*FMP*k(i) + cDPPA - Q*FMP + Q*PPA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1150" lvl="1" marL="13716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Q*PPA + cDPPA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0800" y="3061698"/>
            <a:ext cx="3688751" cy="2110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/>
          <p:nvPr/>
        </p:nvSpPr>
        <p:spPr>
          <a:xfrm>
            <a:off x="26715" y="69626"/>
            <a:ext cx="9030000" cy="920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i="0" sz="1500" u="none" cap="none" strike="noStrik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650" y="78982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367850" y="108775"/>
            <a:ext cx="6706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Zone 2 Buyer Calculation - Cost Saving/Premium - Canada - Option C</a:t>
            </a:r>
            <a:endParaRPr b="1" sz="24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4" name="Google Shape;164;p23"/>
          <p:cNvPicPr preferRelativeResize="0"/>
          <p:nvPr/>
        </p:nvPicPr>
        <p:blipFill rotWithShape="1">
          <a:blip r:embed="rId4">
            <a:alphaModFix/>
          </a:blip>
          <a:srcRect b="0" l="42203" r="37922" t="0"/>
          <a:stretch/>
        </p:blipFill>
        <p:spPr>
          <a:xfrm>
            <a:off x="7423375" y="1146788"/>
            <a:ext cx="1234950" cy="372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23"/>
          <p:cNvCxnSpPr/>
          <p:nvPr/>
        </p:nvCxnSpPr>
        <p:spPr>
          <a:xfrm>
            <a:off x="6700425" y="1444850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3"/>
          <p:cNvCxnSpPr/>
          <p:nvPr/>
        </p:nvCxnSpPr>
        <p:spPr>
          <a:xfrm>
            <a:off x="7731300" y="1426988"/>
            <a:ext cx="0" cy="313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7" name="Google Shape;167;p23"/>
          <p:cNvSpPr txBox="1"/>
          <p:nvPr/>
        </p:nvSpPr>
        <p:spPr>
          <a:xfrm>
            <a:off x="6743213" y="3370975"/>
            <a:ext cx="94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Zone 2</a:t>
            </a:r>
            <a:endParaRPr b="1" sz="16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367850" y="1007575"/>
            <a:ext cx="4075500" cy="13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Buyer Expense under vPPA 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96850" lvl="0" marL="3429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●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Total = Canada + CfD (PPA &gt; FMP)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1150" lvl="1" marL="13716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Q*Retail + Q*[PPA - FMP]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1150" lvl="1" marL="1371600" marR="66618" rtl="0" algn="l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300"/>
              <a:buFont typeface="Cabin"/>
              <a:buChar char="○"/>
            </a:pP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Q*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Retail</a:t>
            </a:r>
            <a:r>
              <a:rPr lang="en" sz="1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rPr>
              <a:t> + Q*PPA - Q*FMP</a:t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66618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300">
              <a:solidFill>
                <a:srgbClr val="2F645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8275" y="2091500"/>
            <a:ext cx="4939200" cy="28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