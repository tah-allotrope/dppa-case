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p:regular r:id="rId19"/>
      <p:bold r:id="rId20"/>
      <p:italic r:id="rId21"/>
      <p:boldItalic r:id="rId22"/>
    </p:embeddedFont>
    <p:embeddedFont>
      <p:font typeface="Montserrat"/>
      <p:regular r:id="rId23"/>
      <p:bold r:id="rId24"/>
      <p:italic r:id="rId25"/>
      <p:boldItalic r:id="rId26"/>
    </p:embeddedFont>
    <p:embeddedFont>
      <p:font typeface="Cabin"/>
      <p:regular r:id="rId27"/>
      <p:bold r:id="rId28"/>
      <p:italic r:id="rId29"/>
      <p:boldItalic r:id="rId30"/>
    </p:embeddedFont>
    <p:embeddedFont>
      <p:font typeface="Montserrat Medium"/>
      <p:regular r:id="rId31"/>
      <p:bold r:id="rId32"/>
      <p:italic r:id="rId33"/>
      <p:boldItalic r:id="rId34"/>
    </p:embeddedFont>
    <p:embeddedFont>
      <p:font typeface="Montserrat ExtraBold"/>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Cabin-bold.fntdata"/><Relationship Id="rId27" Type="http://schemas.openxmlformats.org/officeDocument/2006/relationships/font" Target="fonts/Cabin-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bin-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regular.fntdata"/><Relationship Id="rId30" Type="http://schemas.openxmlformats.org/officeDocument/2006/relationships/font" Target="fonts/Cabin-boldItalic.fntdata"/><Relationship Id="rId11" Type="http://schemas.openxmlformats.org/officeDocument/2006/relationships/slide" Target="slides/slide6.xml"/><Relationship Id="rId33" Type="http://schemas.openxmlformats.org/officeDocument/2006/relationships/font" Target="fonts/MontserratMedium-italic.fntdata"/><Relationship Id="rId10" Type="http://schemas.openxmlformats.org/officeDocument/2006/relationships/slide" Target="slides/slide5.xml"/><Relationship Id="rId32" Type="http://schemas.openxmlformats.org/officeDocument/2006/relationships/font" Target="fonts/MontserratMedium-bold.fntdata"/><Relationship Id="rId13" Type="http://schemas.openxmlformats.org/officeDocument/2006/relationships/slide" Target="slides/slide8.xml"/><Relationship Id="rId35" Type="http://schemas.openxmlformats.org/officeDocument/2006/relationships/font" Target="fonts/MontserratExtraBold-bold.fntdata"/><Relationship Id="rId12" Type="http://schemas.openxmlformats.org/officeDocument/2006/relationships/slide" Target="slides/slide7.xml"/><Relationship Id="rId34" Type="http://schemas.openxmlformats.org/officeDocument/2006/relationships/font" Target="fonts/MontserratMedium-boldItalic.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MontserratExtra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51efc2b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g3e51efc2b2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51efc2b2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51efc2b2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51efc2b2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51efc2b2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51efc2b2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51efc2b2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51efc2b2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51efc2b2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51efc2b2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51efc2b2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latin typeface="Cabin"/>
              <a:ea typeface="Cabin"/>
              <a:cs typeface="Cabin"/>
              <a:sym typeface="Cabi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51efc2b2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51efc2b2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51efc2b2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51efc2b2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latin typeface="Cabin"/>
              <a:ea typeface="Cabin"/>
              <a:cs typeface="Cabin"/>
              <a:sym typeface="Cabi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51efc2b2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51efc2b2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latin typeface="Cabin"/>
              <a:ea typeface="Cabin"/>
              <a:cs typeface="Cabin"/>
              <a:sym typeface="Cabi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1efc2b2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51efc2b2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200" rtl="0" algn="l">
              <a:lnSpc>
                <a:spcPct val="142857"/>
              </a:lnSpc>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51efc2b2d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e51efc2b2d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51efc2b2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51efc2b2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51efc2b2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51efc2b2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53" name="Shape 53"/>
        <p:cNvGrpSpPr/>
        <p:nvPr/>
      </p:nvGrpSpPr>
      <p:grpSpPr>
        <a:xfrm>
          <a:off x="0" y="0"/>
          <a:ext cx="0" cy="0"/>
          <a:chOff x="0" y="0"/>
          <a:chExt cx="0" cy="0"/>
        </a:xfrm>
      </p:grpSpPr>
      <p:sp>
        <p:nvSpPr>
          <p:cNvPr id="54" name="Google Shape;54;p14"/>
          <p:cNvSpPr/>
          <p:nvPr>
            <p:ph idx="2" type="pic"/>
          </p:nvPr>
        </p:nvSpPr>
        <p:spPr>
          <a:xfrm>
            <a:off x="3874182" y="-949180"/>
            <a:ext cx="5155200" cy="51552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25.png"/><Relationship Id="rId7" Type="http://schemas.openxmlformats.org/officeDocument/2006/relationships/image" Target="../media/image28.png"/><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6.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12.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26.png"/><Relationship Id="rId6"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5"/>
          <p:cNvPicPr preferRelativeResize="0"/>
          <p:nvPr/>
        </p:nvPicPr>
        <p:blipFill>
          <a:blip r:embed="rId3">
            <a:alphaModFix/>
          </a:blip>
          <a:stretch>
            <a:fillRect/>
          </a:stretch>
        </p:blipFill>
        <p:spPr>
          <a:xfrm>
            <a:off x="6648450" y="0"/>
            <a:ext cx="2495549" cy="5143500"/>
          </a:xfrm>
          <a:prstGeom prst="rect">
            <a:avLst/>
          </a:prstGeom>
          <a:noFill/>
          <a:ln>
            <a:noFill/>
          </a:ln>
        </p:spPr>
      </p:pic>
      <p:pic>
        <p:nvPicPr>
          <p:cNvPr id="60" name="Google Shape;60;p15"/>
          <p:cNvPicPr preferRelativeResize="0"/>
          <p:nvPr/>
        </p:nvPicPr>
        <p:blipFill rotWithShape="1">
          <a:blip r:embed="rId4">
            <a:alphaModFix/>
          </a:blip>
          <a:srcRect b="3448" l="20160" r="0" t="3103"/>
          <a:stretch/>
        </p:blipFill>
        <p:spPr>
          <a:xfrm>
            <a:off x="0" y="-9475"/>
            <a:ext cx="6648450" cy="5143500"/>
          </a:xfrm>
          <a:prstGeom prst="rect">
            <a:avLst/>
          </a:prstGeom>
          <a:noFill/>
          <a:ln>
            <a:noFill/>
          </a:ln>
        </p:spPr>
      </p:pic>
      <p:pic>
        <p:nvPicPr>
          <p:cNvPr id="61" name="Google Shape;61;p15"/>
          <p:cNvPicPr preferRelativeResize="0"/>
          <p:nvPr/>
        </p:nvPicPr>
        <p:blipFill>
          <a:blip r:embed="rId5">
            <a:alphaModFix/>
          </a:blip>
          <a:stretch>
            <a:fillRect/>
          </a:stretch>
        </p:blipFill>
        <p:spPr>
          <a:xfrm>
            <a:off x="8453187" y="4888133"/>
            <a:ext cx="690801" cy="245895"/>
          </a:xfrm>
          <a:prstGeom prst="rect">
            <a:avLst/>
          </a:prstGeom>
          <a:noFill/>
          <a:ln>
            <a:noFill/>
          </a:ln>
        </p:spPr>
      </p:pic>
      <p:sp>
        <p:nvSpPr>
          <p:cNvPr id="62" name="Google Shape;62;p15"/>
          <p:cNvSpPr/>
          <p:nvPr/>
        </p:nvSpPr>
        <p:spPr>
          <a:xfrm>
            <a:off x="7785000" y="1384625"/>
            <a:ext cx="1359000" cy="2355300"/>
          </a:xfrm>
          <a:prstGeom prst="rect">
            <a:avLst/>
          </a:prstGeom>
          <a:solidFill>
            <a:srgbClr val="1B786E">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5"/>
          <p:cNvSpPr/>
          <p:nvPr/>
        </p:nvSpPr>
        <p:spPr>
          <a:xfrm>
            <a:off x="2419499" y="1738325"/>
            <a:ext cx="6724500" cy="1647900"/>
          </a:xfrm>
          <a:prstGeom prst="rect">
            <a:avLst/>
          </a:prstGeom>
          <a:solidFill>
            <a:srgbClr val="2E3A49"/>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4" name="Google Shape;64;p15"/>
          <p:cNvSpPr txBox="1"/>
          <p:nvPr/>
        </p:nvSpPr>
        <p:spPr>
          <a:xfrm>
            <a:off x="2815950" y="2053625"/>
            <a:ext cx="5931600" cy="10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2100">
                <a:solidFill>
                  <a:srgbClr val="F7F7F7"/>
                </a:solidFill>
                <a:latin typeface="Montserrat"/>
                <a:ea typeface="Montserrat"/>
                <a:cs typeface="Montserrat"/>
                <a:sym typeface="Montserrat"/>
              </a:rPr>
              <a:t>Session 4.4: Off-Site Solutions:</a:t>
            </a:r>
            <a:endParaRPr b="1" sz="2100">
              <a:solidFill>
                <a:srgbClr val="F7F7F7"/>
              </a:solidFill>
              <a:latin typeface="Montserrat"/>
              <a:ea typeface="Montserrat"/>
              <a:cs typeface="Montserrat"/>
              <a:sym typeface="Montserrat"/>
            </a:endParaRPr>
          </a:p>
          <a:p>
            <a:pPr indent="0" lvl="0" marL="0" rtl="0" algn="l">
              <a:spcBef>
                <a:spcPts val="0"/>
              </a:spcBef>
              <a:spcAft>
                <a:spcPts val="0"/>
              </a:spcAft>
              <a:buNone/>
            </a:pPr>
            <a:r>
              <a:rPr i="1" lang="en" sz="2100">
                <a:solidFill>
                  <a:srgbClr val="F7F7F7"/>
                </a:solidFill>
                <a:latin typeface="Montserrat"/>
                <a:ea typeface="Montserrat"/>
                <a:cs typeface="Montserrat"/>
                <a:sym typeface="Montserrat"/>
              </a:rPr>
              <a:t>Addressing DPPA Pricing Concerns</a:t>
            </a:r>
            <a:endParaRPr b="1" sz="2100">
              <a:solidFill>
                <a:srgbClr val="F7F7F7"/>
              </a:solidFill>
              <a:latin typeface="Montserrat"/>
              <a:ea typeface="Montserrat"/>
              <a:cs typeface="Montserrat"/>
              <a:sym typeface="Montserrat"/>
            </a:endParaRPr>
          </a:p>
        </p:txBody>
      </p:sp>
      <p:sp>
        <p:nvSpPr>
          <p:cNvPr id="65" name="Google Shape;65;p15"/>
          <p:cNvSpPr/>
          <p:nvPr/>
        </p:nvSpPr>
        <p:spPr>
          <a:xfrm>
            <a:off x="2152475" y="1738325"/>
            <a:ext cx="72300" cy="1647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66" name="Google Shape;66;p15"/>
          <p:cNvPicPr preferRelativeResize="0"/>
          <p:nvPr/>
        </p:nvPicPr>
        <p:blipFill>
          <a:blip r:embed="rId6">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p:nvPr/>
        </p:nvSpPr>
        <p:spPr>
          <a:xfrm>
            <a:off x="0" y="-1961"/>
            <a:ext cx="33867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72" name="Google Shape;72;p16"/>
          <p:cNvPicPr preferRelativeResize="0"/>
          <p:nvPr/>
        </p:nvPicPr>
        <p:blipFill>
          <a:blip r:embed="rId3">
            <a:alphaModFix/>
          </a:blip>
          <a:stretch>
            <a:fillRect/>
          </a:stretch>
        </p:blipFill>
        <p:spPr>
          <a:xfrm>
            <a:off x="7609800" y="4864447"/>
            <a:ext cx="757798" cy="264849"/>
          </a:xfrm>
          <a:prstGeom prst="rect">
            <a:avLst/>
          </a:prstGeom>
          <a:noFill/>
          <a:ln>
            <a:noFill/>
          </a:ln>
        </p:spPr>
      </p:pic>
      <p:pic>
        <p:nvPicPr>
          <p:cNvPr id="73" name="Google Shape;73;p16"/>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74" name="Google Shape;74;p16"/>
          <p:cNvSpPr txBox="1"/>
          <p:nvPr/>
        </p:nvSpPr>
        <p:spPr>
          <a:xfrm>
            <a:off x="4638419" y="228357"/>
            <a:ext cx="4018500" cy="16296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n" sz="3000">
                <a:solidFill>
                  <a:srgbClr val="1B786E"/>
                </a:solidFill>
                <a:latin typeface="Montserrat"/>
                <a:ea typeface="Montserrat"/>
                <a:cs typeface="Montserrat"/>
                <a:sym typeface="Montserrat"/>
              </a:rPr>
              <a:t>About the Speaker</a:t>
            </a:r>
            <a:endParaRPr b="1" sz="3000">
              <a:solidFill>
                <a:srgbClr val="1B786E"/>
              </a:solidFill>
              <a:latin typeface="Montserrat"/>
              <a:ea typeface="Montserrat"/>
              <a:cs typeface="Montserrat"/>
              <a:sym typeface="Montserrat"/>
            </a:endParaRPr>
          </a:p>
        </p:txBody>
      </p:sp>
      <p:sp>
        <p:nvSpPr>
          <p:cNvPr id="75" name="Google Shape;75;p16"/>
          <p:cNvSpPr txBox="1"/>
          <p:nvPr/>
        </p:nvSpPr>
        <p:spPr>
          <a:xfrm>
            <a:off x="4638426" y="1728850"/>
            <a:ext cx="3929700" cy="3186300"/>
          </a:xfrm>
          <a:prstGeom prst="rect">
            <a:avLst/>
          </a:prstGeom>
          <a:noFill/>
          <a:ln>
            <a:noFill/>
          </a:ln>
        </p:spPr>
        <p:txBody>
          <a:bodyPr anchorCtr="0" anchor="t" bIns="68575" lIns="68575" spcFirstLastPara="1" rIns="68575" wrap="square" tIns="68575">
            <a:spAutoFit/>
          </a:bodyPr>
          <a:lstStyle/>
          <a:p>
            <a:pPr indent="0" lvl="0" marL="0" rtl="0" algn="just">
              <a:spcBef>
                <a:spcPts val="0"/>
              </a:spcBef>
              <a:spcAft>
                <a:spcPts val="0"/>
              </a:spcAft>
              <a:buNone/>
            </a:pPr>
            <a:r>
              <a:rPr lang="en" sz="1100">
                <a:solidFill>
                  <a:schemeClr val="dk1"/>
                </a:solidFill>
                <a:latin typeface="Montserrat"/>
                <a:ea typeface="Montserrat"/>
                <a:cs typeface="Montserrat"/>
                <a:sym typeface="Montserrat"/>
              </a:rPr>
              <a:t>Cong is a renewable energy professional with over a decade of experience. Prior to joining Allotrope, Cong cultivated extensive clean energy technical expertise by supporting the development of solar and wind farms, battery energy storage systems, and asset management projects. In his role with Allotrope, Cong supports corporate clients to evaluate and implement clean energy and decarbonization solutions across a range of technologies. This includes leading techno-economic assessments to determine costs and benefits for specific sites, managing projects and building stakeholder relationships, and supporting business development efforts in Vietnam. Cong holds a Bachelor’s degree in Electromechanics Maintenance Engineering from Hung Yen University of Technology and Education and has advanced certifications in renewable energy and reliability engineering.</a:t>
            </a:r>
            <a:endParaRPr sz="1100">
              <a:solidFill>
                <a:schemeClr val="dk1"/>
              </a:solidFill>
              <a:latin typeface="Montserrat"/>
              <a:ea typeface="Montserrat"/>
              <a:cs typeface="Montserrat"/>
              <a:sym typeface="Montserrat"/>
            </a:endParaRPr>
          </a:p>
        </p:txBody>
      </p:sp>
      <p:sp>
        <p:nvSpPr>
          <p:cNvPr id="76" name="Google Shape;76;p16"/>
          <p:cNvSpPr txBox="1"/>
          <p:nvPr/>
        </p:nvSpPr>
        <p:spPr>
          <a:xfrm>
            <a:off x="4638425" y="809952"/>
            <a:ext cx="3684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B786E"/>
                </a:solidFill>
                <a:latin typeface="Montserrat"/>
                <a:ea typeface="Montserrat"/>
                <a:cs typeface="Montserrat"/>
                <a:sym typeface="Montserrat"/>
              </a:rPr>
              <a:t>Cong Nguyen</a:t>
            </a:r>
            <a:endParaRPr b="1">
              <a:solidFill>
                <a:srgbClr val="1B786E"/>
              </a:solidFill>
              <a:latin typeface="Montserrat"/>
              <a:ea typeface="Montserrat"/>
              <a:cs typeface="Montserrat"/>
              <a:sym typeface="Montserrat"/>
            </a:endParaRPr>
          </a:p>
          <a:p>
            <a:pPr indent="0" lvl="0" marL="0" rtl="0" algn="l">
              <a:spcBef>
                <a:spcPts val="0"/>
              </a:spcBef>
              <a:spcAft>
                <a:spcPts val="0"/>
              </a:spcAft>
              <a:buNone/>
            </a:pPr>
            <a:r>
              <a:rPr b="1" lang="en">
                <a:solidFill>
                  <a:srgbClr val="1B786E"/>
                </a:solidFill>
                <a:latin typeface="Montserrat"/>
                <a:ea typeface="Montserrat"/>
                <a:cs typeface="Montserrat"/>
                <a:sym typeface="Montserrat"/>
              </a:rPr>
              <a:t>Allotrope Partners</a:t>
            </a:r>
            <a:endParaRPr b="1">
              <a:solidFill>
                <a:srgbClr val="1B786E"/>
              </a:solidFill>
              <a:latin typeface="Montserrat"/>
              <a:ea typeface="Montserrat"/>
              <a:cs typeface="Montserrat"/>
              <a:sym typeface="Montserrat"/>
            </a:endParaRPr>
          </a:p>
          <a:p>
            <a:pPr indent="0" lvl="0" marL="0" rtl="0" algn="l">
              <a:spcBef>
                <a:spcPts val="0"/>
              </a:spcBef>
              <a:spcAft>
                <a:spcPts val="0"/>
              </a:spcAft>
              <a:buNone/>
            </a:pPr>
            <a:r>
              <a:rPr b="1" lang="en">
                <a:solidFill>
                  <a:srgbClr val="1B786E"/>
                </a:solidFill>
                <a:latin typeface="Montserrat"/>
                <a:ea typeface="Montserrat"/>
                <a:cs typeface="Montserrat"/>
                <a:sym typeface="Montserrat"/>
              </a:rPr>
              <a:t>Vietnam Clean Energy Manager</a:t>
            </a:r>
            <a:endParaRPr b="1">
              <a:solidFill>
                <a:srgbClr val="1B786E"/>
              </a:solidFill>
              <a:latin typeface="Montserrat"/>
              <a:ea typeface="Montserrat"/>
              <a:cs typeface="Montserrat"/>
              <a:sym typeface="Montserrat"/>
            </a:endParaRPr>
          </a:p>
        </p:txBody>
      </p:sp>
      <p:sp>
        <p:nvSpPr>
          <p:cNvPr id="77" name="Google Shape;77;p16"/>
          <p:cNvSpPr/>
          <p:nvPr/>
        </p:nvSpPr>
        <p:spPr>
          <a:xfrm>
            <a:off x="1273250" y="851225"/>
            <a:ext cx="2113500" cy="3081900"/>
          </a:xfrm>
          <a:prstGeom prst="rect">
            <a:avLst/>
          </a:prstGeom>
          <a:solidFill>
            <a:srgbClr val="1B786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6"/>
          <p:cNvPicPr preferRelativeResize="0"/>
          <p:nvPr/>
        </p:nvPicPr>
        <p:blipFill rotWithShape="1">
          <a:blip r:embed="rId5">
            <a:alphaModFix/>
          </a:blip>
          <a:srcRect b="3503" l="0" r="0" t="0"/>
          <a:stretch/>
        </p:blipFill>
        <p:spPr>
          <a:xfrm>
            <a:off x="1650900" y="1016012"/>
            <a:ext cx="2417200" cy="2752324"/>
          </a:xfrm>
          <a:prstGeom prst="rect">
            <a:avLst/>
          </a:prstGeom>
          <a:noFill/>
          <a:ln cap="flat" cmpd="sng" w="9525">
            <a:solidFill>
              <a:srgbClr val="1B786E"/>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pic>
        <p:nvPicPr>
          <p:cNvPr id="83" name="Google Shape;83;p17"/>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84" name="Google Shape;84;p17"/>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pic>
        <p:nvPicPr>
          <p:cNvPr id="85" name="Google Shape;85;p17"/>
          <p:cNvPicPr preferRelativeResize="0"/>
          <p:nvPr/>
        </p:nvPicPr>
        <p:blipFill>
          <a:blip r:embed="rId5">
            <a:alphaModFix/>
          </a:blip>
          <a:stretch>
            <a:fillRect/>
          </a:stretch>
        </p:blipFill>
        <p:spPr>
          <a:xfrm>
            <a:off x="965325" y="1754250"/>
            <a:ext cx="7753302" cy="2877099"/>
          </a:xfrm>
          <a:prstGeom prst="rect">
            <a:avLst/>
          </a:prstGeom>
          <a:noFill/>
          <a:ln cap="flat" cmpd="sng" w="9525">
            <a:solidFill>
              <a:schemeClr val="dk1"/>
            </a:solidFill>
            <a:prstDash val="solid"/>
            <a:round/>
            <a:headEnd len="sm" w="sm" type="none"/>
            <a:tailEnd len="sm" w="sm" type="none"/>
          </a:ln>
        </p:spPr>
      </p:pic>
      <p:sp>
        <p:nvSpPr>
          <p:cNvPr id="86" name="Google Shape;86;p17"/>
          <p:cNvSpPr txBox="1"/>
          <p:nvPr/>
        </p:nvSpPr>
        <p:spPr>
          <a:xfrm>
            <a:off x="881950" y="932950"/>
            <a:ext cx="7836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Montserrat"/>
                <a:ea typeface="Montserrat"/>
                <a:cs typeface="Montserrat"/>
                <a:sym typeface="Montserrat"/>
              </a:rPr>
              <a:t>Spot electricity market prices swing widely every 30 minutes with a clear seasonal trough during hydropower season</a:t>
            </a:r>
            <a:endParaRPr>
              <a:solidFill>
                <a:schemeClr val="dk1"/>
              </a:solidFill>
              <a:latin typeface="Montserrat"/>
              <a:ea typeface="Montserrat"/>
              <a:cs typeface="Montserrat"/>
              <a:sym typeface="Montserrat"/>
            </a:endParaRPr>
          </a:p>
        </p:txBody>
      </p:sp>
      <p:sp>
        <p:nvSpPr>
          <p:cNvPr id="87" name="Google Shape;87;p17"/>
          <p:cNvSpPr txBox="1"/>
          <p:nvPr>
            <p:ph type="title"/>
          </p:nvPr>
        </p:nvSpPr>
        <p:spPr>
          <a:xfrm>
            <a:off x="965325" y="111650"/>
            <a:ext cx="6809100" cy="648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b="1" lang="en" sz="2300">
                <a:latin typeface="Montserrat"/>
                <a:ea typeface="Montserrat"/>
                <a:cs typeface="Montserrat"/>
                <a:sym typeface="Montserrat"/>
              </a:rPr>
              <a:t>Understanding Market Price</a:t>
            </a:r>
            <a:endParaRPr b="1" sz="2300">
              <a:latin typeface="Montserrat"/>
              <a:ea typeface="Montserrat"/>
              <a:cs typeface="Montserrat"/>
              <a:sym typeface="Montserrat"/>
            </a:endParaRPr>
          </a:p>
        </p:txBody>
      </p:sp>
      <p:sp>
        <p:nvSpPr>
          <p:cNvPr id="88" name="Google Shape;88;p17"/>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89" name="Google Shape;89;p17"/>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rgbClr val="FFFFFF"/>
                </a:solidFill>
              </a:rPr>
              <a:t> </a:t>
            </a:r>
            <a:endParaRPr b="1" sz="2500">
              <a:solidFill>
                <a:srgbClr val="FFFFFF"/>
              </a:solidFill>
            </a:endParaRPr>
          </a:p>
        </p:txBody>
      </p:sp>
      <p:sp>
        <p:nvSpPr>
          <p:cNvPr id="90" name="Google Shape;90;p17"/>
          <p:cNvSpPr/>
          <p:nvPr/>
        </p:nvSpPr>
        <p:spPr>
          <a:xfrm>
            <a:off x="0" y="7393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96" name="Google Shape;96;p18"/>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97" name="Google Shape;97;p18"/>
          <p:cNvSpPr txBox="1"/>
          <p:nvPr/>
        </p:nvSpPr>
        <p:spPr>
          <a:xfrm>
            <a:off x="933425" y="884100"/>
            <a:ext cx="8991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Montserrat"/>
                <a:ea typeface="Montserrat"/>
                <a:cs typeface="Montserrat"/>
                <a:sym typeface="Montserrat"/>
              </a:rPr>
              <a:t>CFMP consistently exceeds FMP due to grid losses, adding hidden cost for DPPA buyers</a:t>
            </a:r>
            <a:endParaRPr>
              <a:solidFill>
                <a:schemeClr val="dk1"/>
              </a:solidFill>
              <a:latin typeface="Montserrat"/>
              <a:ea typeface="Montserrat"/>
              <a:cs typeface="Montserrat"/>
              <a:sym typeface="Montserrat"/>
            </a:endParaRPr>
          </a:p>
        </p:txBody>
      </p:sp>
      <p:pic>
        <p:nvPicPr>
          <p:cNvPr id="98" name="Google Shape;98;p18"/>
          <p:cNvPicPr preferRelativeResize="0"/>
          <p:nvPr/>
        </p:nvPicPr>
        <p:blipFill>
          <a:blip r:embed="rId5">
            <a:alphaModFix/>
          </a:blip>
          <a:stretch>
            <a:fillRect/>
          </a:stretch>
        </p:blipFill>
        <p:spPr>
          <a:xfrm>
            <a:off x="1039988" y="1358550"/>
            <a:ext cx="6102374" cy="3520099"/>
          </a:xfrm>
          <a:prstGeom prst="rect">
            <a:avLst/>
          </a:prstGeom>
          <a:noFill/>
          <a:ln cap="flat" cmpd="sng" w="9525">
            <a:solidFill>
              <a:schemeClr val="dk1"/>
            </a:solidFill>
            <a:prstDash val="solid"/>
            <a:round/>
            <a:headEnd len="sm" w="sm" type="none"/>
            <a:tailEnd len="sm" w="sm" type="none"/>
          </a:ln>
        </p:spPr>
      </p:pic>
      <p:sp>
        <p:nvSpPr>
          <p:cNvPr id="99" name="Google Shape;99;p18"/>
          <p:cNvSpPr txBox="1"/>
          <p:nvPr>
            <p:ph type="title"/>
          </p:nvPr>
        </p:nvSpPr>
        <p:spPr>
          <a:xfrm>
            <a:off x="842575" y="0"/>
            <a:ext cx="8486400" cy="739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b="1" lang="en" sz="2300">
                <a:latin typeface="Montserrat"/>
                <a:ea typeface="Montserrat"/>
                <a:cs typeface="Montserrat"/>
                <a:sym typeface="Montserrat"/>
              </a:rPr>
              <a:t>Understanding Market Price</a:t>
            </a:r>
            <a:endParaRPr b="1" sz="2300">
              <a:latin typeface="Montserrat"/>
              <a:ea typeface="Montserrat"/>
              <a:cs typeface="Montserrat"/>
              <a:sym typeface="Montserrat"/>
            </a:endParaRPr>
          </a:p>
        </p:txBody>
      </p:sp>
      <p:sp>
        <p:nvSpPr>
          <p:cNvPr id="100" name="Google Shape;100;p18"/>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01" name="Google Shape;101;p18"/>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rgbClr val="FFFFFF"/>
                </a:solidFill>
              </a:rPr>
              <a:t> </a:t>
            </a:r>
            <a:endParaRPr b="1" sz="2500">
              <a:solidFill>
                <a:srgbClr val="FFFFFF"/>
              </a:solidFill>
            </a:endParaRPr>
          </a:p>
        </p:txBody>
      </p:sp>
      <p:sp>
        <p:nvSpPr>
          <p:cNvPr id="102" name="Google Shape;102;p18"/>
          <p:cNvSpPr/>
          <p:nvPr/>
        </p:nvSpPr>
        <p:spPr>
          <a:xfrm>
            <a:off x="0" y="7393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9"/>
          <p:cNvSpPr txBox="1"/>
          <p:nvPr>
            <p:ph type="title"/>
          </p:nvPr>
        </p:nvSpPr>
        <p:spPr>
          <a:xfrm>
            <a:off x="872025" y="0"/>
            <a:ext cx="8486400" cy="739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b="1" lang="en" sz="2300">
                <a:latin typeface="Montserrat"/>
                <a:ea typeface="Montserrat"/>
                <a:cs typeface="Montserrat"/>
                <a:sym typeface="Montserrat"/>
              </a:rPr>
              <a:t>Understanding Market Price</a:t>
            </a:r>
            <a:endParaRPr b="1" sz="2300">
              <a:latin typeface="Montserrat"/>
              <a:ea typeface="Montserrat"/>
              <a:cs typeface="Montserrat"/>
              <a:sym typeface="Montserrat"/>
            </a:endParaRPr>
          </a:p>
        </p:txBody>
      </p:sp>
      <p:pic>
        <p:nvPicPr>
          <p:cNvPr id="108" name="Google Shape;108;p19"/>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109" name="Google Shape;109;p19"/>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110" name="Google Shape;110;p19"/>
          <p:cNvSpPr txBox="1"/>
          <p:nvPr/>
        </p:nvSpPr>
        <p:spPr>
          <a:xfrm>
            <a:off x="872025" y="1135975"/>
            <a:ext cx="80919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Montserrat"/>
                <a:ea typeface="Montserrat"/>
                <a:cs typeface="Montserrat"/>
                <a:sym typeface="Montserrat"/>
              </a:rPr>
              <a:t>The CFMP-FMP spread has widened significantly in recent years. Kpp is not necessarily fixed – it can vary with node location, seasonality, system load, or loss allocation policy.</a:t>
            </a:r>
            <a:endParaRPr>
              <a:solidFill>
                <a:schemeClr val="dk1"/>
              </a:solidFill>
              <a:latin typeface="Montserrat"/>
              <a:ea typeface="Montserrat"/>
              <a:cs typeface="Montserrat"/>
              <a:sym typeface="Montserrat"/>
            </a:endParaRPr>
          </a:p>
        </p:txBody>
      </p:sp>
      <p:pic>
        <p:nvPicPr>
          <p:cNvPr id="111" name="Google Shape;111;p19"/>
          <p:cNvPicPr preferRelativeResize="0"/>
          <p:nvPr/>
        </p:nvPicPr>
        <p:blipFill>
          <a:blip r:embed="rId5">
            <a:alphaModFix/>
          </a:blip>
          <a:stretch>
            <a:fillRect/>
          </a:stretch>
        </p:blipFill>
        <p:spPr>
          <a:xfrm>
            <a:off x="958650" y="1953400"/>
            <a:ext cx="4087425" cy="2368700"/>
          </a:xfrm>
          <a:prstGeom prst="rect">
            <a:avLst/>
          </a:prstGeom>
          <a:noFill/>
          <a:ln cap="flat" cmpd="sng" w="9525">
            <a:solidFill>
              <a:schemeClr val="dk1"/>
            </a:solidFill>
            <a:prstDash val="solid"/>
            <a:round/>
            <a:headEnd len="sm" w="sm" type="none"/>
            <a:tailEnd len="sm" w="sm" type="none"/>
          </a:ln>
        </p:spPr>
      </p:pic>
      <p:pic>
        <p:nvPicPr>
          <p:cNvPr id="112" name="Google Shape;112;p19"/>
          <p:cNvPicPr preferRelativeResize="0"/>
          <p:nvPr/>
        </p:nvPicPr>
        <p:blipFill>
          <a:blip r:embed="rId6">
            <a:alphaModFix/>
          </a:blip>
          <a:stretch>
            <a:fillRect/>
          </a:stretch>
        </p:blipFill>
        <p:spPr>
          <a:xfrm>
            <a:off x="5226125" y="1953400"/>
            <a:ext cx="3702299" cy="2368700"/>
          </a:xfrm>
          <a:prstGeom prst="rect">
            <a:avLst/>
          </a:prstGeom>
          <a:noFill/>
          <a:ln cap="flat" cmpd="sng" w="9525">
            <a:solidFill>
              <a:schemeClr val="dk1"/>
            </a:solidFill>
            <a:prstDash val="solid"/>
            <a:round/>
            <a:headEnd len="sm" w="sm" type="none"/>
            <a:tailEnd len="sm" w="sm" type="none"/>
          </a:ln>
        </p:spPr>
      </p:pic>
      <p:sp>
        <p:nvSpPr>
          <p:cNvPr id="113" name="Google Shape;113;p19"/>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14" name="Google Shape;114;p19"/>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rgbClr val="FFFFFF"/>
                </a:solidFill>
              </a:rPr>
              <a:t> </a:t>
            </a:r>
            <a:endParaRPr b="1" sz="2500">
              <a:solidFill>
                <a:srgbClr val="FFFFFF"/>
              </a:solidFill>
            </a:endParaRPr>
          </a:p>
        </p:txBody>
      </p:sp>
      <p:sp>
        <p:nvSpPr>
          <p:cNvPr id="115" name="Google Shape;115;p19"/>
          <p:cNvSpPr/>
          <p:nvPr/>
        </p:nvSpPr>
        <p:spPr>
          <a:xfrm>
            <a:off x="0" y="7393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0"/>
          <p:cNvSpPr/>
          <p:nvPr/>
        </p:nvSpPr>
        <p:spPr>
          <a:xfrm>
            <a:off x="874400" y="944400"/>
            <a:ext cx="8136900" cy="3934200"/>
          </a:xfrm>
          <a:prstGeom prst="rect">
            <a:avLst/>
          </a:prstGeom>
          <a:solidFill>
            <a:srgbClr val="B5D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0"/>
          <p:cNvSpPr txBox="1"/>
          <p:nvPr>
            <p:ph type="title"/>
          </p:nvPr>
        </p:nvSpPr>
        <p:spPr>
          <a:xfrm>
            <a:off x="787275" y="122550"/>
            <a:ext cx="818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latin typeface="Montserrat"/>
                <a:ea typeface="Montserrat"/>
                <a:cs typeface="Montserrat"/>
                <a:sym typeface="Montserrat"/>
              </a:rPr>
              <a:t>Payment Mechanisms</a:t>
            </a:r>
            <a:endParaRPr b="1" sz="2300">
              <a:latin typeface="Montserrat"/>
              <a:ea typeface="Montserrat"/>
              <a:cs typeface="Montserrat"/>
              <a:sym typeface="Montserrat"/>
            </a:endParaRPr>
          </a:p>
        </p:txBody>
      </p:sp>
      <p:pic>
        <p:nvPicPr>
          <p:cNvPr id="122" name="Google Shape;122;p20"/>
          <p:cNvPicPr preferRelativeResize="0"/>
          <p:nvPr/>
        </p:nvPicPr>
        <p:blipFill>
          <a:blip r:embed="rId3">
            <a:alphaModFix/>
          </a:blip>
          <a:stretch>
            <a:fillRect/>
          </a:stretch>
        </p:blipFill>
        <p:spPr>
          <a:xfrm>
            <a:off x="7788874" y="1032842"/>
            <a:ext cx="1133400" cy="1040400"/>
          </a:xfrm>
          <a:prstGeom prst="round2SameRect">
            <a:avLst>
              <a:gd fmla="val 16667" name="adj1"/>
              <a:gd fmla="val 0" name="adj2"/>
            </a:avLst>
          </a:prstGeom>
          <a:noFill/>
          <a:ln>
            <a:noFill/>
          </a:ln>
        </p:spPr>
      </p:pic>
      <p:pic>
        <p:nvPicPr>
          <p:cNvPr id="123" name="Google Shape;123;p20"/>
          <p:cNvPicPr preferRelativeResize="0"/>
          <p:nvPr/>
        </p:nvPicPr>
        <p:blipFill>
          <a:blip r:embed="rId4">
            <a:alphaModFix/>
          </a:blip>
          <a:stretch>
            <a:fillRect/>
          </a:stretch>
        </p:blipFill>
        <p:spPr>
          <a:xfrm>
            <a:off x="7754832" y="3690812"/>
            <a:ext cx="1201505" cy="1040542"/>
          </a:xfrm>
          <a:prstGeom prst="rect">
            <a:avLst/>
          </a:prstGeom>
          <a:noFill/>
          <a:ln>
            <a:noFill/>
          </a:ln>
        </p:spPr>
      </p:pic>
      <p:pic>
        <p:nvPicPr>
          <p:cNvPr id="124" name="Google Shape;124;p20"/>
          <p:cNvPicPr preferRelativeResize="0"/>
          <p:nvPr/>
        </p:nvPicPr>
        <p:blipFill>
          <a:blip r:embed="rId5">
            <a:alphaModFix/>
          </a:blip>
          <a:stretch>
            <a:fillRect/>
          </a:stretch>
        </p:blipFill>
        <p:spPr>
          <a:xfrm>
            <a:off x="4195504" y="1036549"/>
            <a:ext cx="888000" cy="1285200"/>
          </a:xfrm>
          <a:prstGeom prst="round2SameRect">
            <a:avLst>
              <a:gd fmla="val 16667" name="adj1"/>
              <a:gd fmla="val 0" name="adj2"/>
            </a:avLst>
          </a:prstGeom>
          <a:noFill/>
          <a:ln>
            <a:noFill/>
          </a:ln>
        </p:spPr>
      </p:pic>
      <p:pic>
        <p:nvPicPr>
          <p:cNvPr id="125" name="Google Shape;125;p20"/>
          <p:cNvPicPr preferRelativeResize="0"/>
          <p:nvPr/>
        </p:nvPicPr>
        <p:blipFill>
          <a:blip r:embed="rId6">
            <a:alphaModFix/>
          </a:blip>
          <a:stretch>
            <a:fillRect/>
          </a:stretch>
        </p:blipFill>
        <p:spPr>
          <a:xfrm>
            <a:off x="3920576" y="3690726"/>
            <a:ext cx="1437900" cy="1040700"/>
          </a:xfrm>
          <a:prstGeom prst="round2SameRect">
            <a:avLst>
              <a:gd fmla="val 16667" name="adj1"/>
              <a:gd fmla="val 0" name="adj2"/>
            </a:avLst>
          </a:prstGeom>
          <a:noFill/>
          <a:ln>
            <a:noFill/>
          </a:ln>
        </p:spPr>
      </p:pic>
      <p:sp>
        <p:nvSpPr>
          <p:cNvPr id="126" name="Google Shape;126;p20"/>
          <p:cNvSpPr txBox="1"/>
          <p:nvPr/>
        </p:nvSpPr>
        <p:spPr>
          <a:xfrm>
            <a:off x="5922424" y="2668835"/>
            <a:ext cx="2225100" cy="3792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spAutoFit/>
          </a:bodyPr>
          <a:lstStyle/>
          <a:p>
            <a:pPr indent="0" lvl="0" marL="0" rtl="0" algn="l">
              <a:spcBef>
                <a:spcPts val="0"/>
              </a:spcBef>
              <a:spcAft>
                <a:spcPts val="0"/>
              </a:spcAft>
              <a:buNone/>
            </a:pPr>
            <a:r>
              <a:rPr b="1" lang="en" sz="1281">
                <a:solidFill>
                  <a:srgbClr val="131314"/>
                </a:solidFill>
                <a:highlight>
                  <a:srgbClr val="FFFFFF"/>
                </a:highlight>
                <a:latin typeface="Montserrat"/>
                <a:ea typeface="Montserrat"/>
                <a:cs typeface="Montserrat"/>
                <a:sym typeface="Montserrat"/>
              </a:rPr>
              <a:t>Rg = Σ [Qmq</a:t>
            </a:r>
            <a:r>
              <a:rPr b="1" baseline="-25000" lang="en" sz="1281">
                <a:solidFill>
                  <a:srgbClr val="131314"/>
                </a:solidFill>
                <a:highlight>
                  <a:srgbClr val="FFFFFF"/>
                </a:highlight>
                <a:latin typeface="Montserrat"/>
                <a:ea typeface="Montserrat"/>
                <a:cs typeface="Montserrat"/>
                <a:sym typeface="Montserrat"/>
              </a:rPr>
              <a:t>(i)</a:t>
            </a:r>
            <a:r>
              <a:rPr b="1" lang="en" sz="1281">
                <a:solidFill>
                  <a:srgbClr val="131314"/>
                </a:solidFill>
                <a:highlight>
                  <a:srgbClr val="FFFFFF"/>
                </a:highlight>
                <a:latin typeface="Montserrat"/>
                <a:ea typeface="Montserrat"/>
                <a:cs typeface="Montserrat"/>
                <a:sym typeface="Montserrat"/>
              </a:rPr>
              <a:t> × FMP</a:t>
            </a:r>
            <a:r>
              <a:rPr b="1" baseline="-25000" lang="en" sz="1281">
                <a:solidFill>
                  <a:srgbClr val="131314"/>
                </a:solidFill>
                <a:highlight>
                  <a:srgbClr val="FFFFFF"/>
                </a:highlight>
                <a:latin typeface="Montserrat"/>
                <a:ea typeface="Montserrat"/>
                <a:cs typeface="Montserrat"/>
                <a:sym typeface="Montserrat"/>
              </a:rPr>
              <a:t>(i)</a:t>
            </a:r>
            <a:r>
              <a:rPr b="1" lang="en" sz="1281">
                <a:solidFill>
                  <a:srgbClr val="131314"/>
                </a:solidFill>
                <a:highlight>
                  <a:srgbClr val="FFFFFF"/>
                </a:highlight>
                <a:latin typeface="Montserrat"/>
                <a:ea typeface="Montserrat"/>
                <a:cs typeface="Montserrat"/>
                <a:sym typeface="Montserrat"/>
              </a:rPr>
              <a:t>]</a:t>
            </a:r>
            <a:endParaRPr sz="1281">
              <a:latin typeface="Montserrat"/>
              <a:ea typeface="Montserrat"/>
              <a:cs typeface="Montserrat"/>
              <a:sym typeface="Montserrat"/>
            </a:endParaRPr>
          </a:p>
        </p:txBody>
      </p:sp>
      <p:cxnSp>
        <p:nvCxnSpPr>
          <p:cNvPr id="127" name="Google Shape;127;p20"/>
          <p:cNvCxnSpPr>
            <a:stCxn id="123" idx="0"/>
            <a:endCxn id="122" idx="1"/>
          </p:cNvCxnSpPr>
          <p:nvPr/>
        </p:nvCxnSpPr>
        <p:spPr>
          <a:xfrm rot="10800000">
            <a:off x="8355585" y="2073212"/>
            <a:ext cx="0" cy="1617600"/>
          </a:xfrm>
          <a:prstGeom prst="straightConnector1">
            <a:avLst/>
          </a:prstGeom>
          <a:noFill/>
          <a:ln cap="flat" cmpd="sng" w="18775">
            <a:solidFill>
              <a:schemeClr val="dk1"/>
            </a:solidFill>
            <a:prstDash val="solid"/>
            <a:round/>
            <a:headEnd len="med" w="med" type="none"/>
            <a:tailEnd len="med" w="med" type="stealth"/>
          </a:ln>
        </p:spPr>
      </p:cxnSp>
      <p:cxnSp>
        <p:nvCxnSpPr>
          <p:cNvPr id="128" name="Google Shape;128;p20"/>
          <p:cNvCxnSpPr>
            <a:stCxn id="125" idx="3"/>
            <a:endCxn id="124" idx="1"/>
          </p:cNvCxnSpPr>
          <p:nvPr/>
        </p:nvCxnSpPr>
        <p:spPr>
          <a:xfrm rot="10800000">
            <a:off x="4639526" y="2321826"/>
            <a:ext cx="0" cy="1368900"/>
          </a:xfrm>
          <a:prstGeom prst="straightConnector1">
            <a:avLst/>
          </a:prstGeom>
          <a:noFill/>
          <a:ln cap="flat" cmpd="sng" w="18775">
            <a:solidFill>
              <a:schemeClr val="dk1"/>
            </a:solidFill>
            <a:prstDash val="solid"/>
            <a:round/>
            <a:headEnd len="med" w="med" type="none"/>
            <a:tailEnd len="med" w="med" type="stealth"/>
          </a:ln>
        </p:spPr>
      </p:cxnSp>
      <p:sp>
        <p:nvSpPr>
          <p:cNvPr id="129" name="Google Shape;129;p20"/>
          <p:cNvSpPr txBox="1"/>
          <p:nvPr/>
        </p:nvSpPr>
        <p:spPr>
          <a:xfrm>
            <a:off x="1345894" y="1155253"/>
            <a:ext cx="2477100" cy="3792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spAutoFit/>
          </a:bodyPr>
          <a:lstStyle/>
          <a:p>
            <a:pPr indent="0" lvl="0" marL="0" rtl="0" algn="ctr">
              <a:spcBef>
                <a:spcPts val="0"/>
              </a:spcBef>
              <a:spcAft>
                <a:spcPts val="0"/>
              </a:spcAft>
              <a:buNone/>
            </a:pPr>
            <a:r>
              <a:rPr b="1" lang="en" sz="1281">
                <a:solidFill>
                  <a:schemeClr val="dk1"/>
                </a:solidFill>
                <a:latin typeface="Montserrat"/>
                <a:ea typeface="Montserrat"/>
                <a:cs typeface="Montserrat"/>
                <a:sym typeface="Montserrat"/>
              </a:rPr>
              <a:t>C</a:t>
            </a:r>
            <a:r>
              <a:rPr b="1" baseline="-25000" lang="en" sz="1281">
                <a:solidFill>
                  <a:schemeClr val="dk1"/>
                </a:solidFill>
                <a:latin typeface="Montserrat"/>
                <a:ea typeface="Montserrat"/>
                <a:cs typeface="Montserrat"/>
                <a:sym typeface="Montserrat"/>
              </a:rPr>
              <a:t>KH</a:t>
            </a:r>
            <a:r>
              <a:rPr b="1" lang="en" sz="1281">
                <a:solidFill>
                  <a:schemeClr val="dk1"/>
                </a:solidFill>
                <a:latin typeface="Montserrat"/>
                <a:ea typeface="Montserrat"/>
                <a:cs typeface="Montserrat"/>
                <a:sym typeface="Montserrat"/>
              </a:rPr>
              <a:t> = C</a:t>
            </a:r>
            <a:r>
              <a:rPr b="1" baseline="-25000" lang="en" sz="1281">
                <a:solidFill>
                  <a:schemeClr val="dk1"/>
                </a:solidFill>
                <a:latin typeface="Montserrat"/>
                <a:ea typeface="Montserrat"/>
                <a:cs typeface="Montserrat"/>
                <a:sym typeface="Montserrat"/>
              </a:rPr>
              <a:t>DN </a:t>
            </a:r>
            <a:r>
              <a:rPr b="1" lang="en" sz="1281">
                <a:solidFill>
                  <a:schemeClr val="dk1"/>
                </a:solidFill>
                <a:latin typeface="Montserrat"/>
                <a:ea typeface="Montserrat"/>
                <a:cs typeface="Montserrat"/>
                <a:sym typeface="Montserrat"/>
              </a:rPr>
              <a:t>+ C</a:t>
            </a:r>
            <a:r>
              <a:rPr b="1" baseline="-25000" lang="en" sz="1281">
                <a:solidFill>
                  <a:schemeClr val="dk1"/>
                </a:solidFill>
                <a:latin typeface="Montserrat"/>
                <a:ea typeface="Montserrat"/>
                <a:cs typeface="Montserrat"/>
                <a:sym typeface="Montserrat"/>
              </a:rPr>
              <a:t>DPPA</a:t>
            </a:r>
            <a:r>
              <a:rPr b="1" lang="en" sz="1281">
                <a:solidFill>
                  <a:schemeClr val="dk1"/>
                </a:solidFill>
                <a:latin typeface="Montserrat"/>
                <a:ea typeface="Montserrat"/>
                <a:cs typeface="Montserrat"/>
                <a:sym typeface="Montserrat"/>
              </a:rPr>
              <a:t>+C</a:t>
            </a:r>
            <a:r>
              <a:rPr b="1" baseline="-25000" lang="en" sz="1281">
                <a:solidFill>
                  <a:schemeClr val="dk1"/>
                </a:solidFill>
                <a:latin typeface="Montserrat"/>
                <a:ea typeface="Montserrat"/>
                <a:cs typeface="Montserrat"/>
                <a:sym typeface="Montserrat"/>
              </a:rPr>
              <a:t>CL </a:t>
            </a:r>
            <a:r>
              <a:rPr b="1" lang="en" sz="1281">
                <a:solidFill>
                  <a:schemeClr val="dk1"/>
                </a:solidFill>
                <a:latin typeface="Montserrat"/>
                <a:ea typeface="Montserrat"/>
                <a:cs typeface="Montserrat"/>
                <a:sym typeface="Montserrat"/>
              </a:rPr>
              <a:t> +</a:t>
            </a:r>
            <a:r>
              <a:rPr b="1" baseline="-25000" lang="en" sz="1281">
                <a:solidFill>
                  <a:schemeClr val="dk1"/>
                </a:solidFill>
                <a:latin typeface="Montserrat"/>
                <a:ea typeface="Montserrat"/>
                <a:cs typeface="Montserrat"/>
                <a:sym typeface="Montserrat"/>
              </a:rPr>
              <a:t> </a:t>
            </a:r>
            <a:r>
              <a:rPr b="1" lang="en" sz="1281">
                <a:solidFill>
                  <a:schemeClr val="dk1"/>
                </a:solidFill>
                <a:latin typeface="Montserrat"/>
                <a:ea typeface="Montserrat"/>
                <a:cs typeface="Montserrat"/>
                <a:sym typeface="Montserrat"/>
              </a:rPr>
              <a:t>C</a:t>
            </a:r>
            <a:r>
              <a:rPr b="1" baseline="-25000" lang="en" sz="1281">
                <a:solidFill>
                  <a:schemeClr val="dk1"/>
                </a:solidFill>
                <a:latin typeface="Montserrat"/>
                <a:ea typeface="Montserrat"/>
                <a:cs typeface="Montserrat"/>
                <a:sym typeface="Montserrat"/>
              </a:rPr>
              <a:t>BL</a:t>
            </a:r>
            <a:endParaRPr sz="1281">
              <a:latin typeface="Montserrat"/>
              <a:ea typeface="Montserrat"/>
              <a:cs typeface="Montserrat"/>
              <a:sym typeface="Montserrat"/>
            </a:endParaRPr>
          </a:p>
        </p:txBody>
      </p:sp>
      <p:cxnSp>
        <p:nvCxnSpPr>
          <p:cNvPr id="130" name="Google Shape;130;p20"/>
          <p:cNvCxnSpPr>
            <a:stCxn id="125" idx="0"/>
            <a:endCxn id="123" idx="1"/>
          </p:cNvCxnSpPr>
          <p:nvPr/>
        </p:nvCxnSpPr>
        <p:spPr>
          <a:xfrm>
            <a:off x="5358476" y="4211076"/>
            <a:ext cx="2396400" cy="0"/>
          </a:xfrm>
          <a:prstGeom prst="straightConnector1">
            <a:avLst/>
          </a:prstGeom>
          <a:noFill/>
          <a:ln cap="flat" cmpd="sng" w="18775">
            <a:solidFill>
              <a:schemeClr val="dk1"/>
            </a:solidFill>
            <a:prstDash val="solid"/>
            <a:round/>
            <a:headEnd len="med" w="med" type="stealth"/>
            <a:tailEnd len="med" w="med" type="stealth"/>
          </a:ln>
        </p:spPr>
      </p:cxnSp>
      <p:sp>
        <p:nvSpPr>
          <p:cNvPr id="131" name="Google Shape;131;p20"/>
          <p:cNvSpPr txBox="1"/>
          <p:nvPr/>
        </p:nvSpPr>
        <p:spPr>
          <a:xfrm>
            <a:off x="962813" y="1943241"/>
            <a:ext cx="2725200" cy="5763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spAutoFit/>
          </a:bodyPr>
          <a:lstStyle/>
          <a:p>
            <a:pPr indent="0" lvl="0" marL="0" rtl="0" algn="l">
              <a:spcBef>
                <a:spcPts val="0"/>
              </a:spcBef>
              <a:spcAft>
                <a:spcPts val="0"/>
              </a:spcAft>
              <a:buNone/>
            </a:pPr>
            <a:r>
              <a:rPr b="1" lang="en" sz="1281">
                <a:latin typeface="Montserrat"/>
                <a:ea typeface="Montserrat"/>
                <a:cs typeface="Montserrat"/>
                <a:sym typeface="Montserrat"/>
              </a:rPr>
              <a:t>C</a:t>
            </a:r>
            <a:r>
              <a:rPr b="1" baseline="-25000" lang="en" sz="1281">
                <a:latin typeface="Montserrat"/>
                <a:ea typeface="Montserrat"/>
                <a:cs typeface="Montserrat"/>
                <a:sym typeface="Montserrat"/>
              </a:rPr>
              <a:t>CL</a:t>
            </a:r>
            <a:r>
              <a:rPr b="1" lang="en" sz="1281">
                <a:latin typeface="Montserrat"/>
                <a:ea typeface="Montserrat"/>
                <a:cs typeface="Montserrat"/>
                <a:sym typeface="Montserrat"/>
              </a:rPr>
              <a:t>: Cost for differences</a:t>
            </a:r>
            <a:endParaRPr b="1" sz="1281">
              <a:latin typeface="Montserrat"/>
              <a:ea typeface="Montserrat"/>
              <a:cs typeface="Montserrat"/>
              <a:sym typeface="Montserrat"/>
            </a:endParaRPr>
          </a:p>
          <a:p>
            <a:pPr indent="0" lvl="0" marL="0" rtl="0" algn="l">
              <a:spcBef>
                <a:spcPts val="0"/>
              </a:spcBef>
              <a:spcAft>
                <a:spcPts val="0"/>
              </a:spcAft>
              <a:buNone/>
            </a:pPr>
            <a:r>
              <a:rPr lang="en" sz="1281">
                <a:latin typeface="Montserrat"/>
                <a:ea typeface="Montserrat"/>
                <a:cs typeface="Montserrat"/>
                <a:sym typeface="Montserrat"/>
              </a:rPr>
              <a:t>C</a:t>
            </a:r>
            <a:r>
              <a:rPr baseline="-25000" lang="en" sz="1281">
                <a:latin typeface="Montserrat"/>
                <a:ea typeface="Montserrat"/>
                <a:cs typeface="Montserrat"/>
                <a:sym typeface="Montserrat"/>
              </a:rPr>
              <a:t>CL</a:t>
            </a:r>
            <a:r>
              <a:rPr lang="en" sz="1281">
                <a:latin typeface="Montserrat"/>
                <a:ea typeface="Montserrat"/>
                <a:cs typeface="Montserrat"/>
                <a:sym typeface="Montserrat"/>
              </a:rPr>
              <a:t> = Σ [Q</a:t>
            </a:r>
            <a:r>
              <a:rPr baseline="-25000" lang="en" sz="1281">
                <a:latin typeface="Montserrat"/>
                <a:ea typeface="Montserrat"/>
                <a:cs typeface="Montserrat"/>
                <a:sym typeface="Montserrat"/>
              </a:rPr>
              <a:t>KHhc(i)</a:t>
            </a:r>
            <a:r>
              <a:rPr lang="en" sz="1281">
                <a:latin typeface="Montserrat"/>
                <a:ea typeface="Montserrat"/>
                <a:cs typeface="Montserrat"/>
                <a:sym typeface="Montserrat"/>
              </a:rPr>
              <a:t> × P</a:t>
            </a:r>
            <a:r>
              <a:rPr baseline="-25000" lang="en" sz="1281">
                <a:latin typeface="Montserrat"/>
                <a:ea typeface="Montserrat"/>
                <a:cs typeface="Montserrat"/>
                <a:sym typeface="Montserrat"/>
              </a:rPr>
              <a:t>CL</a:t>
            </a:r>
            <a:r>
              <a:rPr lang="en" sz="1281">
                <a:latin typeface="Montserrat"/>
                <a:ea typeface="Montserrat"/>
                <a:cs typeface="Montserrat"/>
                <a:sym typeface="Montserrat"/>
              </a:rPr>
              <a:t>]</a:t>
            </a:r>
            <a:endParaRPr sz="1281">
              <a:latin typeface="Montserrat"/>
              <a:ea typeface="Montserrat"/>
              <a:cs typeface="Montserrat"/>
              <a:sym typeface="Montserrat"/>
            </a:endParaRPr>
          </a:p>
        </p:txBody>
      </p:sp>
      <p:sp>
        <p:nvSpPr>
          <p:cNvPr id="132" name="Google Shape;132;p20"/>
          <p:cNvSpPr txBox="1"/>
          <p:nvPr/>
        </p:nvSpPr>
        <p:spPr>
          <a:xfrm>
            <a:off x="962813" y="2735946"/>
            <a:ext cx="2725200" cy="7734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spAutoFit/>
          </a:bodyPr>
          <a:lstStyle/>
          <a:p>
            <a:pPr indent="0" lvl="0" marL="0" rtl="0" algn="l">
              <a:spcBef>
                <a:spcPts val="0"/>
              </a:spcBef>
              <a:spcAft>
                <a:spcPts val="0"/>
              </a:spcAft>
              <a:buNone/>
            </a:pPr>
            <a:r>
              <a:rPr b="1" lang="en" sz="1281">
                <a:latin typeface="Montserrat"/>
                <a:ea typeface="Montserrat"/>
                <a:cs typeface="Montserrat"/>
                <a:sym typeface="Montserrat"/>
              </a:rPr>
              <a:t>C</a:t>
            </a:r>
            <a:r>
              <a:rPr b="1" baseline="-25000" lang="en" sz="1281">
                <a:latin typeface="Montserrat"/>
                <a:ea typeface="Montserrat"/>
                <a:cs typeface="Montserrat"/>
                <a:sym typeface="Montserrat"/>
              </a:rPr>
              <a:t>DPPA</a:t>
            </a:r>
            <a:r>
              <a:rPr b="1" lang="en" sz="1281">
                <a:latin typeface="Montserrat"/>
                <a:ea typeface="Montserrat"/>
                <a:cs typeface="Montserrat"/>
                <a:sym typeface="Montserrat"/>
              </a:rPr>
              <a:t>:Cost for using electricity system services</a:t>
            </a:r>
            <a:endParaRPr b="1" sz="1281">
              <a:latin typeface="Montserrat"/>
              <a:ea typeface="Montserrat"/>
              <a:cs typeface="Montserrat"/>
              <a:sym typeface="Montserrat"/>
            </a:endParaRPr>
          </a:p>
          <a:p>
            <a:pPr indent="0" lvl="0" marL="0" rtl="0" algn="l">
              <a:spcBef>
                <a:spcPts val="0"/>
              </a:spcBef>
              <a:spcAft>
                <a:spcPts val="0"/>
              </a:spcAft>
              <a:buNone/>
            </a:pPr>
            <a:r>
              <a:rPr lang="en" sz="1281">
                <a:latin typeface="Montserrat"/>
                <a:ea typeface="Montserrat"/>
                <a:cs typeface="Montserrat"/>
                <a:sym typeface="Montserrat"/>
              </a:rPr>
              <a:t>C</a:t>
            </a:r>
            <a:r>
              <a:rPr baseline="-25000" lang="en" sz="1281">
                <a:latin typeface="Montserrat"/>
                <a:ea typeface="Montserrat"/>
                <a:cs typeface="Montserrat"/>
                <a:sym typeface="Montserrat"/>
              </a:rPr>
              <a:t>DPPA</a:t>
            </a:r>
            <a:r>
              <a:rPr lang="en" sz="1281">
                <a:latin typeface="Montserrat"/>
                <a:ea typeface="Montserrat"/>
                <a:cs typeface="Montserrat"/>
                <a:sym typeface="Montserrat"/>
              </a:rPr>
              <a:t> = Σ [Q</a:t>
            </a:r>
            <a:r>
              <a:rPr baseline="-25000" lang="en" sz="1281">
                <a:latin typeface="Montserrat"/>
                <a:ea typeface="Montserrat"/>
                <a:cs typeface="Montserrat"/>
                <a:sym typeface="Montserrat"/>
              </a:rPr>
              <a:t>KHhc(i)</a:t>
            </a:r>
            <a:r>
              <a:rPr lang="en" sz="1281">
                <a:latin typeface="Montserrat"/>
                <a:ea typeface="Montserrat"/>
                <a:cs typeface="Montserrat"/>
                <a:sym typeface="Montserrat"/>
              </a:rPr>
              <a:t> × C</a:t>
            </a:r>
            <a:r>
              <a:rPr baseline="-25000" lang="en" sz="1281">
                <a:latin typeface="Montserrat"/>
                <a:ea typeface="Montserrat"/>
                <a:cs typeface="Montserrat"/>
                <a:sym typeface="Montserrat"/>
              </a:rPr>
              <a:t>DPPAdv</a:t>
            </a:r>
            <a:r>
              <a:rPr lang="en" sz="1281">
                <a:latin typeface="Montserrat"/>
                <a:ea typeface="Montserrat"/>
                <a:cs typeface="Montserrat"/>
                <a:sym typeface="Montserrat"/>
              </a:rPr>
              <a:t>]</a:t>
            </a:r>
            <a:endParaRPr sz="1281">
              <a:latin typeface="Montserrat"/>
              <a:ea typeface="Montserrat"/>
              <a:cs typeface="Montserrat"/>
              <a:sym typeface="Montserrat"/>
            </a:endParaRPr>
          </a:p>
        </p:txBody>
      </p:sp>
      <p:sp>
        <p:nvSpPr>
          <p:cNvPr id="133" name="Google Shape;133;p20"/>
          <p:cNvSpPr txBox="1"/>
          <p:nvPr/>
        </p:nvSpPr>
        <p:spPr>
          <a:xfrm>
            <a:off x="962813" y="3725833"/>
            <a:ext cx="2725200" cy="9705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spAutoFit/>
          </a:bodyPr>
          <a:lstStyle/>
          <a:p>
            <a:pPr indent="0" lvl="0" marL="0" rtl="0" algn="l">
              <a:spcBef>
                <a:spcPts val="0"/>
              </a:spcBef>
              <a:spcAft>
                <a:spcPts val="0"/>
              </a:spcAft>
              <a:buNone/>
            </a:pPr>
            <a:r>
              <a:rPr b="1" lang="en" sz="1281">
                <a:latin typeface="Montserrat"/>
                <a:ea typeface="Montserrat"/>
                <a:cs typeface="Montserrat"/>
                <a:sym typeface="Montserrat"/>
              </a:rPr>
              <a:t>C</a:t>
            </a:r>
            <a:r>
              <a:rPr b="1" baseline="-25000" lang="en" sz="1281">
                <a:latin typeface="Montserrat"/>
                <a:ea typeface="Montserrat"/>
                <a:cs typeface="Montserrat"/>
                <a:sym typeface="Montserrat"/>
              </a:rPr>
              <a:t>BL</a:t>
            </a:r>
            <a:r>
              <a:rPr b="1" lang="en" sz="1281">
                <a:latin typeface="Montserrat"/>
                <a:ea typeface="Montserrat"/>
                <a:cs typeface="Montserrat"/>
                <a:sym typeface="Montserrat"/>
              </a:rPr>
              <a:t>:Electricity purchase costs according to retail electricity price</a:t>
            </a:r>
            <a:br>
              <a:rPr b="1" lang="en" sz="1281">
                <a:latin typeface="Montserrat"/>
                <a:ea typeface="Montserrat"/>
                <a:cs typeface="Montserrat"/>
                <a:sym typeface="Montserrat"/>
              </a:rPr>
            </a:br>
            <a:r>
              <a:rPr lang="en" sz="1281">
                <a:latin typeface="Montserrat"/>
                <a:ea typeface="Montserrat"/>
                <a:cs typeface="Montserrat"/>
                <a:sym typeface="Montserrat"/>
              </a:rPr>
              <a:t>C</a:t>
            </a:r>
            <a:r>
              <a:rPr baseline="-25000" lang="en" sz="1281">
                <a:latin typeface="Montserrat"/>
                <a:ea typeface="Montserrat"/>
                <a:cs typeface="Montserrat"/>
                <a:sym typeface="Montserrat"/>
              </a:rPr>
              <a:t>BL</a:t>
            </a:r>
            <a:r>
              <a:rPr lang="en" sz="1281">
                <a:latin typeface="Montserrat"/>
                <a:ea typeface="Montserrat"/>
                <a:cs typeface="Montserrat"/>
                <a:sym typeface="Montserrat"/>
              </a:rPr>
              <a:t> = Σ [(Q</a:t>
            </a:r>
            <a:r>
              <a:rPr baseline="-25000" lang="en" sz="1281">
                <a:latin typeface="Montserrat"/>
                <a:ea typeface="Montserrat"/>
                <a:cs typeface="Montserrat"/>
                <a:sym typeface="Montserrat"/>
              </a:rPr>
              <a:t>KH(i)</a:t>
            </a:r>
            <a:r>
              <a:rPr lang="en" sz="1281">
                <a:latin typeface="Montserrat"/>
                <a:ea typeface="Montserrat"/>
                <a:cs typeface="Montserrat"/>
                <a:sym typeface="Montserrat"/>
              </a:rPr>
              <a:t> - Q</a:t>
            </a:r>
            <a:r>
              <a:rPr baseline="-25000" lang="en" sz="1281">
                <a:latin typeface="Montserrat"/>
                <a:ea typeface="Montserrat"/>
                <a:cs typeface="Montserrat"/>
                <a:sym typeface="Montserrat"/>
              </a:rPr>
              <a:t>KHhc(i)</a:t>
            </a:r>
            <a:r>
              <a:rPr lang="en" sz="1281">
                <a:latin typeface="Montserrat"/>
                <a:ea typeface="Montserrat"/>
                <a:cs typeface="Montserrat"/>
                <a:sym typeface="Montserrat"/>
              </a:rPr>
              <a:t>) × P</a:t>
            </a:r>
            <a:r>
              <a:rPr baseline="-25000" lang="en" sz="1281">
                <a:latin typeface="Montserrat"/>
                <a:ea typeface="Montserrat"/>
                <a:cs typeface="Montserrat"/>
                <a:sym typeface="Montserrat"/>
              </a:rPr>
              <a:t>BL(i)</a:t>
            </a:r>
            <a:r>
              <a:rPr lang="en" sz="1281">
                <a:latin typeface="Montserrat"/>
                <a:ea typeface="Montserrat"/>
                <a:cs typeface="Montserrat"/>
                <a:sym typeface="Montserrat"/>
              </a:rPr>
              <a:t>]</a:t>
            </a:r>
            <a:endParaRPr sz="1281">
              <a:latin typeface="Montserrat"/>
              <a:ea typeface="Montserrat"/>
              <a:cs typeface="Montserrat"/>
              <a:sym typeface="Montserrat"/>
            </a:endParaRPr>
          </a:p>
        </p:txBody>
      </p:sp>
      <p:sp>
        <p:nvSpPr>
          <p:cNvPr id="134" name="Google Shape;134;p20"/>
          <p:cNvSpPr txBox="1"/>
          <p:nvPr/>
        </p:nvSpPr>
        <p:spPr>
          <a:xfrm>
            <a:off x="5139857" y="1031500"/>
            <a:ext cx="2601300" cy="424800"/>
          </a:xfrm>
          <a:prstGeom prst="rect">
            <a:avLst/>
          </a:prstGeom>
          <a:solidFill>
            <a:schemeClr val="lt1"/>
          </a:solidFill>
          <a:ln cap="flat" cmpd="sng" w="9525">
            <a:solidFill>
              <a:srgbClr val="2F645B"/>
            </a:solidFill>
            <a:prstDash val="solid"/>
            <a:round/>
            <a:headEnd len="sm" w="sm" type="none"/>
            <a:tailEnd len="sm" w="sm" type="none"/>
          </a:ln>
        </p:spPr>
        <p:txBody>
          <a:bodyPr anchorCtr="0" anchor="t" bIns="90075" lIns="90075" spcFirstLastPara="1" rIns="90075" wrap="square" tIns="90075">
            <a:noAutofit/>
          </a:bodyPr>
          <a:lstStyle/>
          <a:p>
            <a:pPr indent="0" lvl="0" marL="0" rtl="0" algn="l">
              <a:spcBef>
                <a:spcPts val="0"/>
              </a:spcBef>
              <a:spcAft>
                <a:spcPts val="0"/>
              </a:spcAft>
              <a:buNone/>
            </a:pPr>
            <a:r>
              <a:rPr lang="en" sz="1281">
                <a:solidFill>
                  <a:schemeClr val="dk1"/>
                </a:solidFill>
                <a:latin typeface="Montserrat"/>
                <a:ea typeface="Montserrat"/>
                <a:cs typeface="Montserrat"/>
                <a:sym typeface="Montserrat"/>
              </a:rPr>
              <a:t>C</a:t>
            </a:r>
            <a:r>
              <a:rPr baseline="-25000" lang="en" sz="1281">
                <a:solidFill>
                  <a:schemeClr val="dk1"/>
                </a:solidFill>
                <a:latin typeface="Montserrat"/>
                <a:ea typeface="Montserrat"/>
                <a:cs typeface="Montserrat"/>
                <a:sym typeface="Montserrat"/>
              </a:rPr>
              <a:t>DN</a:t>
            </a:r>
            <a:r>
              <a:rPr lang="en" sz="1281">
                <a:solidFill>
                  <a:schemeClr val="dk1"/>
                </a:solidFill>
                <a:latin typeface="Montserrat"/>
                <a:ea typeface="Montserrat"/>
                <a:cs typeface="Montserrat"/>
                <a:sym typeface="Montserrat"/>
              </a:rPr>
              <a:t> = Σ [Q</a:t>
            </a:r>
            <a:r>
              <a:rPr baseline="-25000" lang="en" sz="1281">
                <a:solidFill>
                  <a:schemeClr val="dk1"/>
                </a:solidFill>
                <a:latin typeface="Montserrat"/>
                <a:ea typeface="Montserrat"/>
                <a:cs typeface="Montserrat"/>
                <a:sym typeface="Montserrat"/>
              </a:rPr>
              <a:t>KHhc(i)</a:t>
            </a:r>
            <a:r>
              <a:rPr lang="en" sz="1281">
                <a:solidFill>
                  <a:schemeClr val="dk1"/>
                </a:solidFill>
                <a:latin typeface="Montserrat"/>
                <a:ea typeface="Montserrat"/>
                <a:cs typeface="Montserrat"/>
                <a:sym typeface="Montserrat"/>
              </a:rPr>
              <a:t> × CFMP</a:t>
            </a:r>
            <a:r>
              <a:rPr baseline="-25000" lang="en" sz="1281">
                <a:solidFill>
                  <a:schemeClr val="dk1"/>
                </a:solidFill>
                <a:latin typeface="Montserrat"/>
                <a:ea typeface="Montserrat"/>
                <a:cs typeface="Montserrat"/>
                <a:sym typeface="Montserrat"/>
              </a:rPr>
              <a:t>(i)</a:t>
            </a:r>
            <a:r>
              <a:rPr lang="en" sz="1281">
                <a:solidFill>
                  <a:schemeClr val="dk1"/>
                </a:solidFill>
                <a:latin typeface="Montserrat"/>
                <a:ea typeface="Montserrat"/>
                <a:cs typeface="Montserrat"/>
                <a:sym typeface="Montserrat"/>
              </a:rPr>
              <a:t> × K</a:t>
            </a:r>
            <a:r>
              <a:rPr baseline="-25000" lang="en" sz="1281">
                <a:solidFill>
                  <a:schemeClr val="dk1"/>
                </a:solidFill>
                <a:latin typeface="Montserrat"/>
                <a:ea typeface="Montserrat"/>
                <a:cs typeface="Montserrat"/>
                <a:sym typeface="Montserrat"/>
              </a:rPr>
              <a:t>PP</a:t>
            </a:r>
            <a:r>
              <a:rPr lang="en" sz="1281">
                <a:solidFill>
                  <a:schemeClr val="dk1"/>
                </a:solidFill>
                <a:latin typeface="Montserrat"/>
                <a:ea typeface="Montserrat"/>
                <a:cs typeface="Montserrat"/>
                <a:sym typeface="Montserrat"/>
              </a:rPr>
              <a:t>]</a:t>
            </a:r>
            <a:endParaRPr sz="1281">
              <a:solidFill>
                <a:schemeClr val="dk1"/>
              </a:solidFill>
              <a:latin typeface="Montserrat"/>
              <a:ea typeface="Montserrat"/>
              <a:cs typeface="Montserrat"/>
              <a:sym typeface="Montserrat"/>
            </a:endParaRPr>
          </a:p>
        </p:txBody>
      </p:sp>
      <p:sp>
        <p:nvSpPr>
          <p:cNvPr id="135" name="Google Shape;135;p20"/>
          <p:cNvSpPr txBox="1"/>
          <p:nvPr/>
        </p:nvSpPr>
        <p:spPr>
          <a:xfrm>
            <a:off x="5465865" y="4260650"/>
            <a:ext cx="2322900" cy="379200"/>
          </a:xfrm>
          <a:prstGeom prst="rect">
            <a:avLst/>
          </a:prstGeom>
          <a:noFill/>
          <a:ln>
            <a:noFill/>
          </a:ln>
        </p:spPr>
        <p:txBody>
          <a:bodyPr anchorCtr="0" anchor="t" bIns="90075" lIns="90075" spcFirstLastPara="1" rIns="90075" wrap="square" tIns="90075">
            <a:spAutoFit/>
          </a:bodyPr>
          <a:lstStyle/>
          <a:p>
            <a:pPr indent="0" lvl="0" marL="0" rtl="0" algn="l">
              <a:spcBef>
                <a:spcPts val="0"/>
              </a:spcBef>
              <a:spcAft>
                <a:spcPts val="0"/>
              </a:spcAft>
              <a:buNone/>
            </a:pPr>
            <a:r>
              <a:rPr lang="en" sz="1281">
                <a:solidFill>
                  <a:schemeClr val="dk1"/>
                </a:solidFill>
                <a:latin typeface="Montserrat"/>
                <a:ea typeface="Montserrat"/>
                <a:cs typeface="Montserrat"/>
                <a:sym typeface="Montserrat"/>
              </a:rPr>
              <a:t>Strike price - Spot Market</a:t>
            </a:r>
            <a:endParaRPr sz="1281">
              <a:solidFill>
                <a:schemeClr val="dk1"/>
              </a:solidFill>
              <a:latin typeface="Montserrat"/>
              <a:ea typeface="Montserrat"/>
              <a:cs typeface="Montserrat"/>
              <a:sym typeface="Montserrat"/>
            </a:endParaRPr>
          </a:p>
        </p:txBody>
      </p:sp>
      <p:cxnSp>
        <p:nvCxnSpPr>
          <p:cNvPr id="136" name="Google Shape;136;p20"/>
          <p:cNvCxnSpPr>
            <a:stCxn id="122" idx="2"/>
          </p:cNvCxnSpPr>
          <p:nvPr/>
        </p:nvCxnSpPr>
        <p:spPr>
          <a:xfrm rot="10800000">
            <a:off x="5465974" y="1545542"/>
            <a:ext cx="2322900" cy="7500"/>
          </a:xfrm>
          <a:prstGeom prst="straightConnector1">
            <a:avLst/>
          </a:prstGeom>
          <a:noFill/>
          <a:ln cap="flat" cmpd="sng" w="18775">
            <a:solidFill>
              <a:schemeClr val="dk1"/>
            </a:solidFill>
            <a:prstDash val="solid"/>
            <a:round/>
            <a:headEnd len="med" w="med" type="none"/>
            <a:tailEnd len="med" w="med" type="stealth"/>
          </a:ln>
        </p:spPr>
      </p:cxnSp>
      <p:pic>
        <p:nvPicPr>
          <p:cNvPr id="137" name="Google Shape;137;p20"/>
          <p:cNvPicPr preferRelativeResize="0"/>
          <p:nvPr/>
        </p:nvPicPr>
        <p:blipFill rotWithShape="1">
          <a:blip r:embed="rId7">
            <a:alphaModFix/>
          </a:blip>
          <a:srcRect b="0" l="0" r="24874" t="5625"/>
          <a:stretch/>
        </p:blipFill>
        <p:spPr>
          <a:xfrm>
            <a:off x="5769001" y="3269957"/>
            <a:ext cx="1716837" cy="891542"/>
          </a:xfrm>
          <a:prstGeom prst="rect">
            <a:avLst/>
          </a:prstGeom>
          <a:noFill/>
          <a:ln>
            <a:noFill/>
          </a:ln>
        </p:spPr>
      </p:pic>
      <p:pic>
        <p:nvPicPr>
          <p:cNvPr id="138" name="Google Shape;138;p20"/>
          <p:cNvPicPr preferRelativeResize="0"/>
          <p:nvPr/>
        </p:nvPicPr>
        <p:blipFill>
          <a:blip r:embed="rId8">
            <a:alphaModFix/>
          </a:blip>
          <a:stretch>
            <a:fillRect/>
          </a:stretch>
        </p:blipFill>
        <p:spPr>
          <a:xfrm>
            <a:off x="7609800" y="4878647"/>
            <a:ext cx="757798" cy="264849"/>
          </a:xfrm>
          <a:prstGeom prst="rect">
            <a:avLst/>
          </a:prstGeom>
          <a:noFill/>
          <a:ln>
            <a:noFill/>
          </a:ln>
        </p:spPr>
      </p:pic>
      <p:pic>
        <p:nvPicPr>
          <p:cNvPr id="139" name="Google Shape;139;p20"/>
          <p:cNvPicPr preferRelativeResize="0"/>
          <p:nvPr/>
        </p:nvPicPr>
        <p:blipFill>
          <a:blip r:embed="rId9">
            <a:alphaModFix/>
          </a:blip>
          <a:stretch>
            <a:fillRect/>
          </a:stretch>
        </p:blipFill>
        <p:spPr>
          <a:xfrm>
            <a:off x="8367611" y="4878650"/>
            <a:ext cx="690801" cy="264849"/>
          </a:xfrm>
          <a:prstGeom prst="rect">
            <a:avLst/>
          </a:prstGeom>
          <a:solidFill>
            <a:schemeClr val="lt1"/>
          </a:solidFill>
          <a:ln>
            <a:noFill/>
          </a:ln>
        </p:spPr>
      </p:pic>
      <p:sp>
        <p:nvSpPr>
          <p:cNvPr id="140" name="Google Shape;140;p20"/>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41" name="Google Shape;141;p20"/>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rgbClr val="FFFFFF"/>
                </a:solidFill>
              </a:rPr>
              <a:t> </a:t>
            </a:r>
            <a:endParaRPr b="1" sz="2500">
              <a:solidFill>
                <a:srgbClr val="FFFFFF"/>
              </a:solidFill>
            </a:endParaRPr>
          </a:p>
        </p:txBody>
      </p:sp>
      <p:sp>
        <p:nvSpPr>
          <p:cNvPr id="142" name="Google Shape;142;p20"/>
          <p:cNvSpPr/>
          <p:nvPr/>
        </p:nvSpPr>
        <p:spPr>
          <a:xfrm>
            <a:off x="0" y="7393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pic>
        <p:nvPicPr>
          <p:cNvPr id="147" name="Google Shape;147;p21"/>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148" name="Google Shape;148;p21"/>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149" name="Google Shape;149;p21"/>
          <p:cNvSpPr txBox="1"/>
          <p:nvPr/>
        </p:nvSpPr>
        <p:spPr>
          <a:xfrm>
            <a:off x="788725" y="968863"/>
            <a:ext cx="852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Montserrat"/>
                <a:ea typeface="Montserrat"/>
                <a:cs typeface="Montserrat"/>
                <a:sym typeface="Montserrat"/>
              </a:rPr>
              <a:t>Accurate allocation of QKHhc is critical for determining DPPA cost settlement</a:t>
            </a:r>
            <a:endParaRPr>
              <a:latin typeface="Montserrat"/>
              <a:ea typeface="Montserrat"/>
              <a:cs typeface="Montserrat"/>
              <a:sym typeface="Montserrat"/>
            </a:endParaRPr>
          </a:p>
        </p:txBody>
      </p:sp>
      <p:pic>
        <p:nvPicPr>
          <p:cNvPr id="150" name="Google Shape;150;p21"/>
          <p:cNvPicPr preferRelativeResize="0"/>
          <p:nvPr/>
        </p:nvPicPr>
        <p:blipFill rotWithShape="1">
          <a:blip r:embed="rId5">
            <a:alphaModFix/>
          </a:blip>
          <a:srcRect b="0" l="350" r="-350" t="0"/>
          <a:stretch/>
        </p:blipFill>
        <p:spPr>
          <a:xfrm>
            <a:off x="909125" y="1422475"/>
            <a:ext cx="8024798" cy="3402775"/>
          </a:xfrm>
          <a:prstGeom prst="rect">
            <a:avLst/>
          </a:prstGeom>
          <a:noFill/>
          <a:ln cap="flat" cmpd="sng" w="19050">
            <a:solidFill>
              <a:schemeClr val="dk1"/>
            </a:solidFill>
            <a:prstDash val="solid"/>
            <a:round/>
            <a:headEnd len="sm" w="sm" type="none"/>
            <a:tailEnd len="sm" w="sm" type="none"/>
          </a:ln>
        </p:spPr>
      </p:pic>
      <p:sp>
        <p:nvSpPr>
          <p:cNvPr id="151" name="Google Shape;151;p21"/>
          <p:cNvSpPr txBox="1"/>
          <p:nvPr>
            <p:ph type="title"/>
          </p:nvPr>
        </p:nvSpPr>
        <p:spPr>
          <a:xfrm>
            <a:off x="827275" y="114125"/>
            <a:ext cx="818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latin typeface="Montserrat"/>
                <a:ea typeface="Montserrat"/>
                <a:cs typeface="Montserrat"/>
                <a:sym typeface="Montserrat"/>
              </a:rPr>
              <a:t>Diurnal Profile</a:t>
            </a:r>
            <a:endParaRPr b="1" sz="2300">
              <a:latin typeface="Montserrat"/>
              <a:ea typeface="Montserrat"/>
              <a:cs typeface="Montserrat"/>
              <a:sym typeface="Montserrat"/>
            </a:endParaRPr>
          </a:p>
        </p:txBody>
      </p:sp>
      <p:sp>
        <p:nvSpPr>
          <p:cNvPr id="152" name="Google Shape;152;p21"/>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53" name="Google Shape;153;p21"/>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rgbClr val="FFFFFF"/>
                </a:solidFill>
              </a:rPr>
              <a:t> </a:t>
            </a:r>
            <a:endParaRPr b="1" sz="2500">
              <a:solidFill>
                <a:srgbClr val="FFFFFF"/>
              </a:solidFill>
            </a:endParaRPr>
          </a:p>
        </p:txBody>
      </p:sp>
      <p:sp>
        <p:nvSpPr>
          <p:cNvPr id="154" name="Google Shape;154;p21"/>
          <p:cNvSpPr/>
          <p:nvPr/>
        </p:nvSpPr>
        <p:spPr>
          <a:xfrm>
            <a:off x="0" y="7393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2"/>
          <p:cNvSpPr txBox="1"/>
          <p:nvPr>
            <p:ph type="title"/>
          </p:nvPr>
        </p:nvSpPr>
        <p:spPr>
          <a:xfrm>
            <a:off x="803100" y="0"/>
            <a:ext cx="8283900" cy="7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200">
                <a:latin typeface="Montserrat"/>
                <a:ea typeface="Montserrat"/>
                <a:cs typeface="Montserrat"/>
                <a:sym typeface="Montserrat"/>
              </a:rPr>
              <a:t>QKHhc is the key factor in all DPPA cost calculations: </a:t>
            </a:r>
            <a:r>
              <a:rPr lang="en" sz="2200">
                <a:latin typeface="Montserrat"/>
                <a:ea typeface="Montserrat"/>
                <a:cs typeface="Montserrat"/>
                <a:sym typeface="Montserrat"/>
              </a:rPr>
              <a:t>Buyers must calculate it accurately.</a:t>
            </a:r>
            <a:endParaRPr sz="2200">
              <a:latin typeface="Montserrat"/>
              <a:ea typeface="Montserrat"/>
              <a:cs typeface="Montserrat"/>
              <a:sym typeface="Montserrat"/>
            </a:endParaRPr>
          </a:p>
        </p:txBody>
      </p:sp>
      <p:pic>
        <p:nvPicPr>
          <p:cNvPr id="160" name="Google Shape;160;p22"/>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161" name="Google Shape;161;p22"/>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162" name="Google Shape;162;p22"/>
          <p:cNvSpPr txBox="1"/>
          <p:nvPr/>
        </p:nvSpPr>
        <p:spPr>
          <a:xfrm>
            <a:off x="774600" y="952825"/>
            <a:ext cx="8340900" cy="404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1.</a:t>
            </a:r>
            <a:r>
              <a:rPr b="1" lang="en" sz="1300">
                <a:solidFill>
                  <a:schemeClr val="dk1"/>
                </a:solidFill>
                <a:latin typeface="Montserrat"/>
                <a:ea typeface="Montserrat"/>
                <a:cs typeface="Montserrat"/>
                <a:sym typeface="Montserrat"/>
              </a:rPr>
              <a:t>General Formula</a:t>
            </a:r>
            <a:endParaRPr b="1"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a:p>
            <a:pPr indent="-311150" lvl="0" marL="4572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In which:</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Q_KH (i), is the actual electricity output consumed by the Customer (kWh).</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Q_m (i)  is the actual output generated by the Renewable Energy Generation Unit, converted to the Customer's delivery point (kWh).</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2.</a:t>
            </a:r>
            <a:r>
              <a:rPr b="1" lang="en" sz="1300">
                <a:solidFill>
                  <a:schemeClr val="dk1"/>
                </a:solidFill>
                <a:latin typeface="Montserrat"/>
                <a:ea typeface="Montserrat"/>
                <a:cs typeface="Montserrat"/>
                <a:sym typeface="Montserrat"/>
              </a:rPr>
              <a:t>How to Calculate </a:t>
            </a:r>
            <a:r>
              <a:rPr lang="en" sz="1300">
                <a:solidFill>
                  <a:schemeClr val="dk1"/>
                </a:solidFill>
                <a:latin typeface="Montserrat"/>
                <a:ea typeface="Montserrat"/>
                <a:cs typeface="Montserrat"/>
                <a:sym typeface="Montserrat"/>
              </a:rPr>
              <a:t>Q_m (i) </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None/>
            </a:pPr>
            <a:r>
              <a:t/>
            </a:r>
            <a:endParaRPr sz="1100">
              <a:solidFill>
                <a:schemeClr val="dk1"/>
              </a:solidFill>
              <a:latin typeface="Cabin"/>
              <a:ea typeface="Cabin"/>
              <a:cs typeface="Cabin"/>
              <a:sym typeface="Cabin"/>
            </a:endParaRPr>
          </a:p>
          <a:p>
            <a:pPr indent="-311150" lvl="0" marL="4572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In which:</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Q_mq (i)  is the metered electricity output (at the Renewable Energy Plant's station) during cycle i (kWh).</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k is the loss conversion factor during cycle i (calculated according to competitive electricity market regulations).</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K_pp ​ is the annual distribution grid loss conversion factor (as announced by EVN).</a:t>
            </a:r>
            <a:endParaRPr sz="1300">
              <a:solidFill>
                <a:schemeClr val="dk1"/>
              </a:solidFill>
              <a:latin typeface="Montserrat"/>
              <a:ea typeface="Montserrat"/>
              <a:cs typeface="Montserrat"/>
              <a:sym typeface="Montserrat"/>
            </a:endParaRPr>
          </a:p>
          <a:p>
            <a:pPr indent="-311150" lvl="1" marL="914400" rtl="0" algn="l">
              <a:lnSpc>
                <a:spcPct val="115000"/>
              </a:lnSpc>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δ is the percentage (%) of renewable energy output allocated to the Customer during cycle i (as agreed in the contract).</a:t>
            </a:r>
            <a:endParaRPr sz="1300">
              <a:solidFill>
                <a:schemeClr val="dk1"/>
              </a:solidFill>
              <a:latin typeface="Montserrat"/>
              <a:ea typeface="Montserrat"/>
              <a:cs typeface="Montserrat"/>
              <a:sym typeface="Montserrat"/>
            </a:endParaRPr>
          </a:p>
        </p:txBody>
      </p:sp>
      <p:sp>
        <p:nvSpPr>
          <p:cNvPr id="163" name="Google Shape;163;p22"/>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64" name="Google Shape;164;p22"/>
          <p:cNvSpPr/>
          <p:nvPr/>
        </p:nvSpPr>
        <p:spPr>
          <a:xfrm>
            <a:off x="0" y="82460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pic>
        <p:nvPicPr>
          <p:cNvPr id="165" name="Google Shape;165;p22"/>
          <p:cNvPicPr preferRelativeResize="0"/>
          <p:nvPr/>
        </p:nvPicPr>
        <p:blipFill>
          <a:blip r:embed="rId5">
            <a:alphaModFix/>
          </a:blip>
          <a:stretch>
            <a:fillRect/>
          </a:stretch>
        </p:blipFill>
        <p:spPr>
          <a:xfrm>
            <a:off x="3064100" y="952825"/>
            <a:ext cx="3561325" cy="698675"/>
          </a:xfrm>
          <a:prstGeom prst="rect">
            <a:avLst/>
          </a:prstGeom>
          <a:noFill/>
          <a:ln>
            <a:noFill/>
          </a:ln>
        </p:spPr>
      </p:pic>
      <p:pic>
        <p:nvPicPr>
          <p:cNvPr id="166" name="Google Shape;166;p22"/>
          <p:cNvPicPr preferRelativeResize="0"/>
          <p:nvPr/>
        </p:nvPicPr>
        <p:blipFill>
          <a:blip r:embed="rId6">
            <a:alphaModFix/>
          </a:blip>
          <a:stretch>
            <a:fillRect/>
          </a:stretch>
        </p:blipFill>
        <p:spPr>
          <a:xfrm>
            <a:off x="3491975" y="2406650"/>
            <a:ext cx="2413276" cy="86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pic>
        <p:nvPicPr>
          <p:cNvPr id="171" name="Google Shape;171;p23"/>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172" name="Google Shape;172;p23"/>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sp>
        <p:nvSpPr>
          <p:cNvPr id="173" name="Google Shape;173;p23"/>
          <p:cNvSpPr txBox="1"/>
          <p:nvPr/>
        </p:nvSpPr>
        <p:spPr>
          <a:xfrm>
            <a:off x="884400" y="1556950"/>
            <a:ext cx="8259600" cy="29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Montserrat"/>
                <a:ea typeface="Montserrat"/>
                <a:cs typeface="Montserrat"/>
                <a:sym typeface="Montserrat"/>
              </a:rPr>
              <a:t>How to Calculate</a:t>
            </a:r>
            <a:br>
              <a:rPr lang="en" sz="1300">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The total revenue (or clearing cost) under the CFD contract in a payment cycle is calculated by:</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None/>
            </a:pPr>
            <a:r>
              <a:rPr lang="en">
                <a:solidFill>
                  <a:schemeClr val="dk1"/>
                </a:solidFill>
                <a:latin typeface="Cabin"/>
                <a:ea typeface="Cabin"/>
                <a:cs typeface="Cabin"/>
                <a:sym typeface="Cabin"/>
              </a:rPr>
              <a:t> </a:t>
            </a:r>
            <a:r>
              <a:rPr lang="en" sz="1300">
                <a:solidFill>
                  <a:schemeClr val="dk1"/>
                </a:solidFill>
                <a:latin typeface="Montserrat"/>
                <a:ea typeface="Montserrat"/>
                <a:cs typeface="Montserrat"/>
                <a:sym typeface="Montserrat"/>
              </a:rPr>
              <a:t>In which:</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𝑅𝐶 – Revenue under the CFD contract in the payment cycle (VND)</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𝑖– The i-th trading cycle in the payment cycle</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𝐼– The total number of trading cycles in the payment cycle</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𝑃_𝑐 (𝑖) – The committed price in the forward contract (strike price) at cycle i (VND/kWh)</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𝐹𝑀𝑃(𝑖)– The reference price (spot market price) at cycle i (VND/kWh)</a:t>
            </a:r>
            <a:endParaRPr sz="13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𝑄_𝑐𝑎 (𝑖)– The committed quantity in the forward contract at cycle i (kWh)</a:t>
            </a:r>
            <a:endParaRPr sz="1300">
              <a:solidFill>
                <a:schemeClr val="dk1"/>
              </a:solidFill>
              <a:latin typeface="Montserrat"/>
              <a:ea typeface="Montserrat"/>
              <a:cs typeface="Montserrat"/>
              <a:sym typeface="Montserrat"/>
            </a:endParaRPr>
          </a:p>
        </p:txBody>
      </p:sp>
      <p:pic>
        <p:nvPicPr>
          <p:cNvPr id="174" name="Google Shape;174;p23"/>
          <p:cNvPicPr preferRelativeResize="0"/>
          <p:nvPr/>
        </p:nvPicPr>
        <p:blipFill>
          <a:blip r:embed="rId5">
            <a:alphaModFix/>
          </a:blip>
          <a:stretch>
            <a:fillRect/>
          </a:stretch>
        </p:blipFill>
        <p:spPr>
          <a:xfrm>
            <a:off x="3274659" y="2241175"/>
            <a:ext cx="3089244" cy="786675"/>
          </a:xfrm>
          <a:prstGeom prst="rect">
            <a:avLst/>
          </a:prstGeom>
          <a:noFill/>
          <a:ln>
            <a:noFill/>
          </a:ln>
        </p:spPr>
      </p:pic>
      <p:sp>
        <p:nvSpPr>
          <p:cNvPr id="175" name="Google Shape;175;p23"/>
          <p:cNvSpPr txBox="1"/>
          <p:nvPr/>
        </p:nvSpPr>
        <p:spPr>
          <a:xfrm>
            <a:off x="907807" y="856350"/>
            <a:ext cx="7845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Strike price determines financial settlement through CFD, convert market price volatility into predictable financial flows</a:t>
            </a:r>
            <a:endParaRPr sz="1300">
              <a:latin typeface="Montserrat"/>
              <a:ea typeface="Montserrat"/>
              <a:cs typeface="Montserrat"/>
              <a:sym typeface="Montserrat"/>
            </a:endParaRPr>
          </a:p>
        </p:txBody>
      </p:sp>
      <p:sp>
        <p:nvSpPr>
          <p:cNvPr id="176" name="Google Shape;176;p23"/>
          <p:cNvSpPr txBox="1"/>
          <p:nvPr>
            <p:ph type="title"/>
          </p:nvPr>
        </p:nvSpPr>
        <p:spPr>
          <a:xfrm>
            <a:off x="813400" y="108350"/>
            <a:ext cx="8188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latin typeface="Montserrat"/>
                <a:ea typeface="Montserrat"/>
                <a:cs typeface="Montserrat"/>
                <a:sym typeface="Montserrat"/>
              </a:rPr>
              <a:t>Payment Mechanism under the CFD</a:t>
            </a:r>
            <a:endParaRPr b="1" sz="2300">
              <a:latin typeface="Montserrat"/>
              <a:ea typeface="Montserrat"/>
              <a:cs typeface="Montserrat"/>
              <a:sym typeface="Montserrat"/>
            </a:endParaRPr>
          </a:p>
        </p:txBody>
      </p:sp>
      <p:sp>
        <p:nvSpPr>
          <p:cNvPr id="177" name="Google Shape;177;p23"/>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78" name="Google Shape;178;p23"/>
          <p:cNvSpPr/>
          <p:nvPr/>
        </p:nvSpPr>
        <p:spPr>
          <a:xfrm>
            <a:off x="0" y="68105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pic>
        <p:nvPicPr>
          <p:cNvPr id="183" name="Google Shape;183;p24"/>
          <p:cNvPicPr preferRelativeResize="0"/>
          <p:nvPr/>
        </p:nvPicPr>
        <p:blipFill>
          <a:blip r:embed="rId3">
            <a:alphaModFix/>
          </a:blip>
          <a:stretch>
            <a:fillRect/>
          </a:stretch>
        </p:blipFill>
        <p:spPr>
          <a:xfrm>
            <a:off x="1172875" y="1480350"/>
            <a:ext cx="7668801" cy="3398301"/>
          </a:xfrm>
          <a:prstGeom prst="rect">
            <a:avLst/>
          </a:prstGeom>
          <a:noFill/>
          <a:ln>
            <a:noFill/>
          </a:ln>
        </p:spPr>
      </p:pic>
      <p:pic>
        <p:nvPicPr>
          <p:cNvPr id="184" name="Google Shape;184;p24"/>
          <p:cNvPicPr preferRelativeResize="0"/>
          <p:nvPr/>
        </p:nvPicPr>
        <p:blipFill>
          <a:blip r:embed="rId4">
            <a:alphaModFix/>
          </a:blip>
          <a:stretch>
            <a:fillRect/>
          </a:stretch>
        </p:blipFill>
        <p:spPr>
          <a:xfrm>
            <a:off x="7609800" y="4878647"/>
            <a:ext cx="757798" cy="264849"/>
          </a:xfrm>
          <a:prstGeom prst="rect">
            <a:avLst/>
          </a:prstGeom>
          <a:noFill/>
          <a:ln>
            <a:noFill/>
          </a:ln>
        </p:spPr>
      </p:pic>
      <p:pic>
        <p:nvPicPr>
          <p:cNvPr id="185" name="Google Shape;185;p24"/>
          <p:cNvPicPr preferRelativeResize="0"/>
          <p:nvPr/>
        </p:nvPicPr>
        <p:blipFill>
          <a:blip r:embed="rId5">
            <a:alphaModFix/>
          </a:blip>
          <a:stretch>
            <a:fillRect/>
          </a:stretch>
        </p:blipFill>
        <p:spPr>
          <a:xfrm>
            <a:off x="8367611" y="4878650"/>
            <a:ext cx="690801" cy="264849"/>
          </a:xfrm>
          <a:prstGeom prst="rect">
            <a:avLst/>
          </a:prstGeom>
          <a:solidFill>
            <a:schemeClr val="lt1"/>
          </a:solidFill>
          <a:ln>
            <a:noFill/>
          </a:ln>
        </p:spPr>
      </p:pic>
      <p:sp>
        <p:nvSpPr>
          <p:cNvPr id="186" name="Google Shape;186;p24"/>
          <p:cNvSpPr txBox="1"/>
          <p:nvPr/>
        </p:nvSpPr>
        <p:spPr>
          <a:xfrm>
            <a:off x="754275" y="895100"/>
            <a:ext cx="83898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latin typeface="Montserrat"/>
                <a:ea typeface="Montserrat"/>
                <a:cs typeface="Montserrat"/>
                <a:sym typeface="Montserrat"/>
              </a:rPr>
              <a:t>Feasibility analysis enables buyers to compare DPPA against traditional procurement with confidence</a:t>
            </a:r>
            <a:endParaRPr sz="1300">
              <a:solidFill>
                <a:schemeClr val="dk1"/>
              </a:solidFill>
              <a:latin typeface="Montserrat"/>
              <a:ea typeface="Montserrat"/>
              <a:cs typeface="Montserrat"/>
              <a:sym typeface="Montserrat"/>
            </a:endParaRPr>
          </a:p>
        </p:txBody>
      </p:sp>
      <p:sp>
        <p:nvSpPr>
          <p:cNvPr id="187" name="Google Shape;187;p24"/>
          <p:cNvSpPr txBox="1"/>
          <p:nvPr>
            <p:ph type="title"/>
          </p:nvPr>
        </p:nvSpPr>
        <p:spPr>
          <a:xfrm>
            <a:off x="804975" y="37625"/>
            <a:ext cx="828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latin typeface="Montserrat"/>
                <a:ea typeface="Montserrat"/>
                <a:cs typeface="Montserrat"/>
                <a:sym typeface="Montserrat"/>
              </a:rPr>
              <a:t>Quantify DPPA Costs to Assess Feasibility &amp; Negotiate RE Supply</a:t>
            </a:r>
            <a:endParaRPr b="1" sz="2300">
              <a:latin typeface="Montserrat"/>
              <a:ea typeface="Montserrat"/>
              <a:cs typeface="Montserrat"/>
              <a:sym typeface="Montserrat"/>
            </a:endParaRPr>
          </a:p>
        </p:txBody>
      </p:sp>
      <p:sp>
        <p:nvSpPr>
          <p:cNvPr id="188" name="Google Shape;188;p24"/>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189" name="Google Shape;189;p24"/>
          <p:cNvSpPr/>
          <p:nvPr/>
        </p:nvSpPr>
        <p:spPr>
          <a:xfrm>
            <a:off x="0" y="824600"/>
            <a:ext cx="69420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5"/>
          <p:cNvPicPr preferRelativeResize="0"/>
          <p:nvPr/>
        </p:nvPicPr>
        <p:blipFill>
          <a:blip r:embed="rId3">
            <a:alphaModFix/>
          </a:blip>
          <a:stretch>
            <a:fillRect/>
          </a:stretch>
        </p:blipFill>
        <p:spPr>
          <a:xfrm>
            <a:off x="6648450" y="0"/>
            <a:ext cx="2495549" cy="5143500"/>
          </a:xfrm>
          <a:prstGeom prst="rect">
            <a:avLst/>
          </a:prstGeom>
          <a:noFill/>
          <a:ln>
            <a:noFill/>
          </a:ln>
        </p:spPr>
      </p:pic>
      <p:pic>
        <p:nvPicPr>
          <p:cNvPr id="195" name="Google Shape;195;p25"/>
          <p:cNvPicPr preferRelativeResize="0"/>
          <p:nvPr/>
        </p:nvPicPr>
        <p:blipFill rotWithShape="1">
          <a:blip r:embed="rId4">
            <a:alphaModFix/>
          </a:blip>
          <a:srcRect b="2911" l="28801" r="8738" t="2562"/>
          <a:stretch/>
        </p:blipFill>
        <p:spPr>
          <a:xfrm>
            <a:off x="0" y="-9475"/>
            <a:ext cx="6648448" cy="5143500"/>
          </a:xfrm>
          <a:prstGeom prst="rect">
            <a:avLst/>
          </a:prstGeom>
          <a:noFill/>
          <a:ln>
            <a:noFill/>
          </a:ln>
        </p:spPr>
      </p:pic>
      <p:pic>
        <p:nvPicPr>
          <p:cNvPr id="196" name="Google Shape;196;p25"/>
          <p:cNvPicPr preferRelativeResize="0"/>
          <p:nvPr/>
        </p:nvPicPr>
        <p:blipFill>
          <a:blip r:embed="rId5">
            <a:alphaModFix/>
          </a:blip>
          <a:stretch>
            <a:fillRect/>
          </a:stretch>
        </p:blipFill>
        <p:spPr>
          <a:xfrm>
            <a:off x="8453187" y="4888133"/>
            <a:ext cx="690801" cy="245895"/>
          </a:xfrm>
          <a:prstGeom prst="rect">
            <a:avLst/>
          </a:prstGeom>
          <a:noFill/>
          <a:ln>
            <a:noFill/>
          </a:ln>
        </p:spPr>
      </p:pic>
      <p:sp>
        <p:nvSpPr>
          <p:cNvPr id="197" name="Google Shape;197;p25"/>
          <p:cNvSpPr/>
          <p:nvPr/>
        </p:nvSpPr>
        <p:spPr>
          <a:xfrm>
            <a:off x="7785000" y="1394088"/>
            <a:ext cx="1359000" cy="2355300"/>
          </a:xfrm>
          <a:prstGeom prst="rect">
            <a:avLst/>
          </a:prstGeom>
          <a:solidFill>
            <a:srgbClr val="1B786E">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5"/>
          <p:cNvSpPr/>
          <p:nvPr/>
        </p:nvSpPr>
        <p:spPr>
          <a:xfrm>
            <a:off x="1990500" y="1747788"/>
            <a:ext cx="7153500" cy="1647900"/>
          </a:xfrm>
          <a:prstGeom prst="rect">
            <a:avLst/>
          </a:prstGeom>
          <a:solidFill>
            <a:srgbClr val="2E3A49"/>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99" name="Google Shape;199;p25"/>
          <p:cNvSpPr txBox="1"/>
          <p:nvPr/>
        </p:nvSpPr>
        <p:spPr>
          <a:xfrm>
            <a:off x="2026350" y="2188525"/>
            <a:ext cx="7081800" cy="10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F7F7F7"/>
                </a:solidFill>
                <a:latin typeface="Montserrat"/>
                <a:ea typeface="Montserrat"/>
                <a:cs typeface="Montserrat"/>
                <a:sym typeface="Montserrat"/>
              </a:rPr>
              <a:t>Session 4.5: Preparing for DPPA Implementation</a:t>
            </a:r>
            <a:endParaRPr b="1" sz="2100">
              <a:solidFill>
                <a:srgbClr val="F7F7F7"/>
              </a:solidFill>
              <a:latin typeface="Montserrat"/>
              <a:ea typeface="Montserrat"/>
              <a:cs typeface="Montserrat"/>
              <a:sym typeface="Montserrat"/>
            </a:endParaRPr>
          </a:p>
        </p:txBody>
      </p:sp>
      <p:sp>
        <p:nvSpPr>
          <p:cNvPr id="200" name="Google Shape;200;p25"/>
          <p:cNvSpPr/>
          <p:nvPr/>
        </p:nvSpPr>
        <p:spPr>
          <a:xfrm>
            <a:off x="1757127" y="1747800"/>
            <a:ext cx="74100" cy="1647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01" name="Google Shape;201;p25"/>
          <p:cNvPicPr preferRelativeResize="0"/>
          <p:nvPr/>
        </p:nvPicPr>
        <p:blipFill>
          <a:blip r:embed="rId6">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p:nvPr/>
        </p:nvSpPr>
        <p:spPr>
          <a:xfrm>
            <a:off x="0" y="613400"/>
            <a:ext cx="9144000" cy="36402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207" name="Google Shape;207;p26"/>
          <p:cNvPicPr preferRelativeResize="0"/>
          <p:nvPr/>
        </p:nvPicPr>
        <p:blipFill>
          <a:blip r:embed="rId3">
            <a:alphaModFix/>
          </a:blip>
          <a:stretch>
            <a:fillRect/>
          </a:stretch>
        </p:blipFill>
        <p:spPr>
          <a:xfrm>
            <a:off x="7904722" y="0"/>
            <a:ext cx="1239275" cy="429625"/>
          </a:xfrm>
          <a:prstGeom prst="rect">
            <a:avLst/>
          </a:prstGeom>
          <a:noFill/>
          <a:ln>
            <a:noFill/>
          </a:ln>
        </p:spPr>
      </p:pic>
      <p:sp>
        <p:nvSpPr>
          <p:cNvPr id="208" name="Google Shape;208;p26"/>
          <p:cNvSpPr txBox="1"/>
          <p:nvPr/>
        </p:nvSpPr>
        <p:spPr>
          <a:xfrm>
            <a:off x="4745737" y="4198999"/>
            <a:ext cx="3245400" cy="2079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t/>
            </a:r>
            <a:endParaRPr sz="900">
              <a:solidFill>
                <a:schemeClr val="dk1"/>
              </a:solidFill>
              <a:latin typeface="Montserrat Medium"/>
              <a:ea typeface="Montserrat Medium"/>
              <a:cs typeface="Montserrat Medium"/>
              <a:sym typeface="Montserrat Medium"/>
            </a:endParaRPr>
          </a:p>
        </p:txBody>
      </p:sp>
      <p:sp>
        <p:nvSpPr>
          <p:cNvPr id="209" name="Google Shape;209;p26"/>
          <p:cNvSpPr/>
          <p:nvPr/>
        </p:nvSpPr>
        <p:spPr>
          <a:xfrm>
            <a:off x="-2" y="1466325"/>
            <a:ext cx="6369600" cy="681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chemeClr val="dk1"/>
              </a:solidFill>
              <a:latin typeface="Arial"/>
              <a:ea typeface="Arial"/>
              <a:cs typeface="Arial"/>
              <a:sym typeface="Arial"/>
            </a:endParaRPr>
          </a:p>
        </p:txBody>
      </p:sp>
      <p:sp>
        <p:nvSpPr>
          <p:cNvPr id="210" name="Google Shape;210;p26"/>
          <p:cNvSpPr/>
          <p:nvPr/>
        </p:nvSpPr>
        <p:spPr>
          <a:xfrm rot="-5400000">
            <a:off x="8725805" y="110428"/>
            <a:ext cx="362400" cy="209700"/>
          </a:xfrm>
          <a:prstGeom prst="rect">
            <a:avLst/>
          </a:prstGeom>
          <a:solidFill>
            <a:srgbClr val="FFFFFF"/>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chemeClr val="dk1"/>
              </a:solidFill>
              <a:latin typeface="Arial"/>
              <a:ea typeface="Arial"/>
              <a:cs typeface="Arial"/>
              <a:sym typeface="Arial"/>
            </a:endParaRPr>
          </a:p>
        </p:txBody>
      </p:sp>
      <p:sp>
        <p:nvSpPr>
          <p:cNvPr id="211" name="Google Shape;211;p26"/>
          <p:cNvSpPr txBox="1"/>
          <p:nvPr/>
        </p:nvSpPr>
        <p:spPr>
          <a:xfrm>
            <a:off x="304801" y="692925"/>
            <a:ext cx="73416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rgbClr val="F7F7F7"/>
                </a:solidFill>
                <a:latin typeface="Montserrat"/>
                <a:ea typeface="Montserrat"/>
                <a:cs typeface="Montserrat"/>
                <a:sym typeface="Montserrat"/>
              </a:rPr>
              <a:t>Interactive Exercise:</a:t>
            </a:r>
            <a:endParaRPr b="1" sz="2100">
              <a:solidFill>
                <a:srgbClr val="F7F7F7"/>
              </a:solidFill>
              <a:latin typeface="Montserrat"/>
              <a:ea typeface="Montserrat"/>
              <a:cs typeface="Montserrat"/>
              <a:sym typeface="Montserrat"/>
            </a:endParaRPr>
          </a:p>
          <a:p>
            <a:pPr indent="0" lvl="0" marL="0" marR="0" rtl="0" algn="l">
              <a:spcBef>
                <a:spcPts val="0"/>
              </a:spcBef>
              <a:spcAft>
                <a:spcPts val="0"/>
              </a:spcAft>
              <a:buNone/>
            </a:pPr>
            <a:r>
              <a:rPr b="1" lang="en" sz="2100">
                <a:solidFill>
                  <a:srgbClr val="F7F7F7"/>
                </a:solidFill>
                <a:latin typeface="Montserrat"/>
                <a:ea typeface="Montserrat"/>
                <a:cs typeface="Montserrat"/>
                <a:sym typeface="Montserrat"/>
              </a:rPr>
              <a:t>DPPA Scenario Analysis </a:t>
            </a:r>
            <a:r>
              <a:rPr b="1" i="1" lang="en" sz="2100">
                <a:solidFill>
                  <a:srgbClr val="F7F7F7"/>
                </a:solidFill>
                <a:latin typeface="Montserrat"/>
                <a:ea typeface="Montserrat"/>
                <a:cs typeface="Montserrat"/>
                <a:sym typeface="Montserrat"/>
              </a:rPr>
              <a:t>(~60 minutes)</a:t>
            </a:r>
            <a:endParaRPr b="1" i="1" sz="2100">
              <a:solidFill>
                <a:srgbClr val="F7F7F7"/>
              </a:solidFill>
              <a:latin typeface="Montserrat"/>
              <a:ea typeface="Montserrat"/>
              <a:cs typeface="Montserrat"/>
              <a:sym typeface="Montserrat"/>
            </a:endParaRPr>
          </a:p>
        </p:txBody>
      </p:sp>
      <p:sp>
        <p:nvSpPr>
          <p:cNvPr id="212" name="Google Shape;212;p26"/>
          <p:cNvSpPr txBox="1"/>
          <p:nvPr/>
        </p:nvSpPr>
        <p:spPr>
          <a:xfrm>
            <a:off x="0" y="1619350"/>
            <a:ext cx="9144000" cy="1887000"/>
          </a:xfrm>
          <a:prstGeom prst="rect">
            <a:avLst/>
          </a:prstGeom>
          <a:noFill/>
          <a:ln>
            <a:noFill/>
          </a:ln>
        </p:spPr>
        <p:txBody>
          <a:bodyPr anchorCtr="0" anchor="t" bIns="91425" lIns="91425" spcFirstLastPara="1" rIns="91425" wrap="square" tIns="91425">
            <a:spAutoFit/>
          </a:bodyPr>
          <a:lstStyle/>
          <a:p>
            <a:pPr indent="-317500" lvl="0" marL="914400" rtl="0" algn="l">
              <a:lnSpc>
                <a:spcPct val="115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Please remain at your table.</a:t>
            </a:r>
            <a:endParaRPr>
              <a:solidFill>
                <a:schemeClr val="lt1"/>
              </a:solidFill>
              <a:latin typeface="Montserrat"/>
              <a:ea typeface="Montserrat"/>
              <a:cs typeface="Montserrat"/>
              <a:sym typeface="Montserrat"/>
            </a:endParaRPr>
          </a:p>
          <a:p>
            <a:pPr indent="-317500" lvl="0" marL="914400" rtl="0" algn="l">
              <a:lnSpc>
                <a:spcPct val="115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Table facilitators will provide you with a resource packet containing a case study, description of roles, and key questions to facilitate the activity.</a:t>
            </a:r>
            <a:endParaRPr>
              <a:solidFill>
                <a:schemeClr val="lt1"/>
              </a:solidFill>
              <a:latin typeface="Montserrat"/>
              <a:ea typeface="Montserrat"/>
              <a:cs typeface="Montserrat"/>
              <a:sym typeface="Montserrat"/>
            </a:endParaRPr>
          </a:p>
          <a:p>
            <a:pPr indent="-317500" lvl="0" marL="914400" rtl="0" algn="l">
              <a:lnSpc>
                <a:spcPct val="115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Collaborate with other participants to formulate a strategy, identify key terms and questions, and engage in a simulated DPPA negotiation.</a:t>
            </a:r>
            <a:endParaRPr>
              <a:solidFill>
                <a:schemeClr val="lt1"/>
              </a:solidFill>
              <a:latin typeface="Montserrat"/>
              <a:ea typeface="Montserrat"/>
              <a:cs typeface="Montserrat"/>
              <a:sym typeface="Montserrat"/>
            </a:endParaRPr>
          </a:p>
          <a:p>
            <a:pPr indent="-317500" lvl="0" marL="914400" rtl="0" algn="l">
              <a:lnSpc>
                <a:spcPct val="115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Once the negotiation is complete, raise any remaining questions, or share challenges you experienced during the negotiation.</a:t>
            </a:r>
            <a:endParaRPr>
              <a:solidFill>
                <a:schemeClr val="lt1"/>
              </a:solidFill>
              <a:latin typeface="Montserrat"/>
              <a:ea typeface="Montserrat"/>
              <a:cs typeface="Montserrat"/>
              <a:sym typeface="Montserrat"/>
            </a:endParaRPr>
          </a:p>
        </p:txBody>
      </p:sp>
      <p:pic>
        <p:nvPicPr>
          <p:cNvPr id="213" name="Google Shape;213;p26"/>
          <p:cNvPicPr preferRelativeResize="0"/>
          <p:nvPr/>
        </p:nvPicPr>
        <p:blipFill>
          <a:blip r:embed="rId4">
            <a:alphaModFix/>
          </a:blip>
          <a:stretch>
            <a:fillRect/>
          </a:stretch>
        </p:blipFill>
        <p:spPr>
          <a:xfrm>
            <a:off x="7609800" y="4878647"/>
            <a:ext cx="757798" cy="264849"/>
          </a:xfrm>
          <a:prstGeom prst="rect">
            <a:avLst/>
          </a:prstGeom>
          <a:noFill/>
          <a:ln>
            <a:noFill/>
          </a:ln>
        </p:spPr>
      </p:pic>
      <p:pic>
        <p:nvPicPr>
          <p:cNvPr id="214" name="Google Shape;214;p26"/>
          <p:cNvPicPr preferRelativeResize="0"/>
          <p:nvPr/>
        </p:nvPicPr>
        <p:blipFill>
          <a:blip r:embed="rId5">
            <a:alphaModFix/>
          </a:blip>
          <a:stretch>
            <a:fillRect/>
          </a:stretch>
        </p:blipFill>
        <p:spPr>
          <a:xfrm>
            <a:off x="8367611" y="4878650"/>
            <a:ext cx="690801" cy="264849"/>
          </a:xfrm>
          <a:prstGeom prst="rect">
            <a:avLst/>
          </a:prstGeom>
          <a:solidFill>
            <a:schemeClr val="lt1"/>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p:nvPr/>
        </p:nvSpPr>
        <p:spPr>
          <a:xfrm>
            <a:off x="0" y="0"/>
            <a:ext cx="743100" cy="5143500"/>
          </a:xfrm>
          <a:prstGeom prst="rect">
            <a:avLst/>
          </a:prstGeom>
          <a:solidFill>
            <a:srgbClr val="2E3A4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0" name="Google Shape;220;p27"/>
          <p:cNvSpPr txBox="1"/>
          <p:nvPr/>
        </p:nvSpPr>
        <p:spPr>
          <a:xfrm>
            <a:off x="115050" y="0"/>
            <a:ext cx="513000" cy="651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500">
                <a:solidFill>
                  <a:schemeClr val="lt1"/>
                </a:solidFill>
              </a:rPr>
              <a:t> </a:t>
            </a:r>
            <a:endParaRPr b="1" sz="2500">
              <a:solidFill>
                <a:schemeClr val="lt1"/>
              </a:solidFill>
            </a:endParaRPr>
          </a:p>
        </p:txBody>
      </p:sp>
      <p:sp>
        <p:nvSpPr>
          <p:cNvPr id="221" name="Google Shape;221;p27"/>
          <p:cNvSpPr txBox="1"/>
          <p:nvPr/>
        </p:nvSpPr>
        <p:spPr>
          <a:xfrm>
            <a:off x="4158823" y="1061399"/>
            <a:ext cx="4392000" cy="430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 sz="2400">
                <a:solidFill>
                  <a:srgbClr val="2E3A49"/>
                </a:solidFill>
                <a:latin typeface="Montserrat ExtraBold"/>
                <a:ea typeface="Montserrat ExtraBold"/>
                <a:cs typeface="Montserrat ExtraBold"/>
                <a:sym typeface="Montserrat ExtraBold"/>
              </a:rPr>
              <a:t>Scenario DPPA Negotiation</a:t>
            </a:r>
            <a:endParaRPr sz="2400">
              <a:solidFill>
                <a:srgbClr val="2E3A49"/>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2700">
              <a:solidFill>
                <a:srgbClr val="2E3A49"/>
              </a:solidFill>
              <a:latin typeface="Montserrat"/>
              <a:ea typeface="Montserrat"/>
              <a:cs typeface="Montserrat"/>
              <a:sym typeface="Montserrat"/>
            </a:endParaRPr>
          </a:p>
        </p:txBody>
      </p:sp>
      <p:sp>
        <p:nvSpPr>
          <p:cNvPr id="222" name="Google Shape;222;p27"/>
          <p:cNvSpPr/>
          <p:nvPr/>
        </p:nvSpPr>
        <p:spPr>
          <a:xfrm>
            <a:off x="0" y="688050"/>
            <a:ext cx="5770500" cy="70500"/>
          </a:xfrm>
          <a:prstGeom prst="rect">
            <a:avLst/>
          </a:prstGeom>
          <a:solidFill>
            <a:srgbClr val="1B786E"/>
          </a:solid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FF"/>
              </a:buClr>
              <a:buSzPts val="4200"/>
              <a:buFont typeface="Helvetica Neue Light"/>
              <a:buNone/>
            </a:pPr>
            <a:r>
              <a:t/>
            </a:r>
            <a:endParaRPr b="0" i="0" sz="4200" u="none" cap="none" strike="noStrike">
              <a:solidFill>
                <a:schemeClr val="dk1"/>
              </a:solidFill>
              <a:latin typeface="Arial"/>
              <a:ea typeface="Arial"/>
              <a:cs typeface="Arial"/>
              <a:sym typeface="Arial"/>
            </a:endParaRPr>
          </a:p>
        </p:txBody>
      </p:sp>
      <p:sp>
        <p:nvSpPr>
          <p:cNvPr id="223" name="Google Shape;223;p27"/>
          <p:cNvSpPr txBox="1"/>
          <p:nvPr/>
        </p:nvSpPr>
        <p:spPr>
          <a:xfrm>
            <a:off x="743100" y="841600"/>
            <a:ext cx="2788500" cy="3793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Your factory is located in </a:t>
            </a:r>
            <a:r>
              <a:rPr b="1" lang="en" sz="1100">
                <a:solidFill>
                  <a:schemeClr val="dk1"/>
                </a:solidFill>
                <a:latin typeface="Montserrat"/>
                <a:ea typeface="Montserrat"/>
                <a:cs typeface="Montserrat"/>
                <a:sym typeface="Montserrat"/>
              </a:rPr>
              <a:t>Northern Vietnam</a:t>
            </a:r>
            <a:r>
              <a:rPr lang="en" sz="1100">
                <a:solidFill>
                  <a:schemeClr val="dk1"/>
                </a:solidFill>
                <a:latin typeface="Montserrat"/>
                <a:ea typeface="Montserrat"/>
                <a:cs typeface="Montserrat"/>
                <a:sym typeface="Montserrat"/>
              </a:rPr>
              <a:t>, within an industrial park, and is currently purchasing electricity from an </a:t>
            </a:r>
            <a:r>
              <a:rPr lang="en" sz="1100" u="sng">
                <a:solidFill>
                  <a:schemeClr val="dk1"/>
                </a:solidFill>
                <a:latin typeface="Montserrat"/>
                <a:ea typeface="Montserrat"/>
                <a:cs typeface="Montserrat"/>
                <a:sym typeface="Montserrat"/>
              </a:rPr>
              <a:t>EVN-subsidiary or industrial park electricity retailer</a:t>
            </a:r>
            <a:r>
              <a:rPr lang="en" sz="1100">
                <a:solidFill>
                  <a:schemeClr val="dk1"/>
                </a:solidFill>
                <a:latin typeface="Montserrat"/>
                <a:ea typeface="Montserrat"/>
                <a:cs typeface="Montserrat"/>
                <a:sym typeface="Montserrat"/>
              </a:rPr>
              <a:t>. Your current </a:t>
            </a:r>
            <a:r>
              <a:rPr b="1" lang="en" sz="1100">
                <a:solidFill>
                  <a:schemeClr val="dk1"/>
                </a:solidFill>
                <a:latin typeface="Montserrat"/>
                <a:ea typeface="Montserrat"/>
                <a:cs typeface="Montserrat"/>
                <a:sym typeface="Montserrat"/>
              </a:rPr>
              <a:t>annual electricity demand is 150,000 MWh (150 GWh).</a:t>
            </a:r>
            <a:endParaRPr b="1" sz="1100">
              <a:solidFill>
                <a:schemeClr val="dk1"/>
              </a:solidFill>
              <a:latin typeface="Montserrat"/>
              <a:ea typeface="Montserrat"/>
              <a:cs typeface="Montserrat"/>
              <a:sym typeface="Montserrat"/>
            </a:endParaRPr>
          </a:p>
          <a:p>
            <a:pPr indent="0" lvl="0" marL="457200" rtl="0" algn="l">
              <a:spcBef>
                <a:spcPts val="0"/>
              </a:spcBef>
              <a:spcAft>
                <a:spcPts val="0"/>
              </a:spcAft>
              <a:buNone/>
            </a:pPr>
            <a:r>
              <a:t/>
            </a:r>
            <a:endParaRPr sz="500">
              <a:solidFill>
                <a:schemeClr val="dk1"/>
              </a:solidFill>
              <a:latin typeface="Montserrat"/>
              <a:ea typeface="Montserrat"/>
              <a:cs typeface="Montserrat"/>
              <a:sym typeface="Montserrat"/>
            </a:endParaRPr>
          </a:p>
          <a:p>
            <a:pPr indent="-298450" lvl="0" marL="457200" rtl="0" algn="l">
              <a:spcBef>
                <a:spcPts val="0"/>
              </a:spcBef>
              <a:spcAft>
                <a:spcPts val="0"/>
              </a:spcAft>
              <a:buClr>
                <a:schemeClr val="dk1"/>
              </a:buClr>
              <a:buSzPts val="1100"/>
              <a:buFont typeface="Montserrat"/>
              <a:buChar char="●"/>
            </a:pPr>
            <a:r>
              <a:rPr b="1" lang="en" sz="1100">
                <a:solidFill>
                  <a:schemeClr val="dk1"/>
                </a:solidFill>
                <a:latin typeface="Montserrat"/>
                <a:ea typeface="Montserrat"/>
                <a:cs typeface="Montserrat"/>
                <a:sym typeface="Montserrat"/>
              </a:rPr>
              <a:t>Determine the essential conditions for proceeding with an appropriate DPPA arrangement: </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Electricity Retailer</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Selection of Optimal RE Source</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Required Capacity</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DPPA Contract Duration</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Project Development Status</a:t>
            </a:r>
            <a:endParaRPr sz="1100">
              <a:solidFill>
                <a:schemeClr val="dk1"/>
              </a:solidFill>
              <a:latin typeface="Montserrat"/>
              <a:ea typeface="Montserrat"/>
              <a:cs typeface="Montserrat"/>
              <a:sym typeface="Montserrat"/>
            </a:endParaRPr>
          </a:p>
          <a:p>
            <a:pPr indent="-298450" lvl="1" marL="9144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Others</a:t>
            </a:r>
            <a:endParaRPr sz="11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300">
              <a:solidFill>
                <a:schemeClr val="dk2"/>
              </a:solidFill>
              <a:latin typeface="Montserrat"/>
              <a:ea typeface="Montserrat"/>
              <a:cs typeface="Montserrat"/>
              <a:sym typeface="Montserrat"/>
            </a:endParaRPr>
          </a:p>
        </p:txBody>
      </p:sp>
      <p:pic>
        <p:nvPicPr>
          <p:cNvPr id="224" name="Google Shape;224;p27"/>
          <p:cNvPicPr preferRelativeResize="0"/>
          <p:nvPr/>
        </p:nvPicPr>
        <p:blipFill>
          <a:blip r:embed="rId3">
            <a:alphaModFix/>
          </a:blip>
          <a:stretch>
            <a:fillRect/>
          </a:stretch>
        </p:blipFill>
        <p:spPr>
          <a:xfrm>
            <a:off x="7609800" y="4878647"/>
            <a:ext cx="757798" cy="264849"/>
          </a:xfrm>
          <a:prstGeom prst="rect">
            <a:avLst/>
          </a:prstGeom>
          <a:noFill/>
          <a:ln>
            <a:noFill/>
          </a:ln>
        </p:spPr>
      </p:pic>
      <p:pic>
        <p:nvPicPr>
          <p:cNvPr id="225" name="Google Shape;225;p27"/>
          <p:cNvPicPr preferRelativeResize="0"/>
          <p:nvPr/>
        </p:nvPicPr>
        <p:blipFill>
          <a:blip r:embed="rId4">
            <a:alphaModFix/>
          </a:blip>
          <a:stretch>
            <a:fillRect/>
          </a:stretch>
        </p:blipFill>
        <p:spPr>
          <a:xfrm>
            <a:off x="8367611" y="4878650"/>
            <a:ext cx="690801" cy="264849"/>
          </a:xfrm>
          <a:prstGeom prst="rect">
            <a:avLst/>
          </a:prstGeom>
          <a:solidFill>
            <a:schemeClr val="lt1"/>
          </a:solidFill>
          <a:ln>
            <a:noFill/>
          </a:ln>
        </p:spPr>
      </p:pic>
      <p:pic>
        <p:nvPicPr>
          <p:cNvPr id="226" name="Google Shape;226;p27"/>
          <p:cNvPicPr preferRelativeResize="0"/>
          <p:nvPr/>
        </p:nvPicPr>
        <p:blipFill>
          <a:blip r:embed="rId5">
            <a:alphaModFix/>
          </a:blip>
          <a:stretch>
            <a:fillRect/>
          </a:stretch>
        </p:blipFill>
        <p:spPr>
          <a:xfrm>
            <a:off x="3788350" y="4001100"/>
            <a:ext cx="2763510" cy="1142400"/>
          </a:xfrm>
          <a:prstGeom prst="rect">
            <a:avLst/>
          </a:prstGeom>
          <a:noFill/>
          <a:ln>
            <a:noFill/>
          </a:ln>
        </p:spPr>
      </p:pic>
      <p:pic>
        <p:nvPicPr>
          <p:cNvPr id="227" name="Google Shape;227;p27"/>
          <p:cNvPicPr preferRelativeResize="0"/>
          <p:nvPr/>
        </p:nvPicPr>
        <p:blipFill>
          <a:blip r:embed="rId6">
            <a:alphaModFix/>
          </a:blip>
          <a:stretch>
            <a:fillRect/>
          </a:stretch>
        </p:blipFill>
        <p:spPr>
          <a:xfrm>
            <a:off x="3531600" y="1069881"/>
            <a:ext cx="5526801" cy="2636681"/>
          </a:xfrm>
          <a:prstGeom prst="rect">
            <a:avLst/>
          </a:prstGeom>
          <a:noFill/>
          <a:ln>
            <a:noFill/>
          </a:ln>
        </p:spPr>
      </p:pic>
      <p:sp>
        <p:nvSpPr>
          <p:cNvPr id="228" name="Google Shape;228;p27"/>
          <p:cNvSpPr txBox="1"/>
          <p:nvPr/>
        </p:nvSpPr>
        <p:spPr>
          <a:xfrm>
            <a:off x="836225" y="36750"/>
            <a:ext cx="5015100" cy="6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rgbClr val="2E3A49"/>
                </a:solidFill>
                <a:latin typeface="Montserrat ExtraBold"/>
                <a:ea typeface="Montserrat ExtraBold"/>
                <a:cs typeface="Montserrat ExtraBold"/>
                <a:sym typeface="Montserrat ExtraBold"/>
              </a:rPr>
              <a:t>Scenario DPPA Negotiation</a:t>
            </a:r>
            <a:endParaRPr sz="2400">
              <a:solidFill>
                <a:srgbClr val="2E3A49"/>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t/>
            </a:r>
            <a:endParaRPr sz="2700">
              <a:solidFill>
                <a:srgbClr val="2E3A49"/>
              </a:solidFill>
              <a:latin typeface="Montserrat"/>
              <a:ea typeface="Montserrat"/>
              <a:cs typeface="Montserrat"/>
              <a:sym typeface="Montserrat"/>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