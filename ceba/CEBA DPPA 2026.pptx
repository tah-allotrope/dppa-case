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9.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1" r:id="rId1"/>
    <p:sldMasterId id="2147483763" r:id="rId2"/>
    <p:sldMasterId id="2147483765" r:id="rId3"/>
    <p:sldMasterId id="2147483766" r:id="rId4"/>
    <p:sldMasterId id="2147483767" r:id="rId5"/>
  </p:sldMasterIdLst>
  <p:notesMasterIdLst>
    <p:notesMasterId r:id="rId63"/>
  </p:notesMasterIdLst>
  <p:sldIdLst>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52" r:id="rId101"/>
    <p:sldId id="353" r:id="rId102"/>
    <p:sldId id="354" r:id="rId103"/>
    <p:sldId id="356" r:id="rId49"/>
    <p:sldId id="355" r:id="rId50"/>
    <p:sldId id="322" r:id="rId33"/>
    <p:sldId id="323" r:id="rId34"/>
    <p:sldId id="324" r:id="rId35"/>
    <p:sldId id="325" r:id="rId36"/>
    <p:sldId id="326" r:id="rId37"/>
    <p:sldId id="327" r:id="rId38"/>
    <p:sldId id="328" r:id="rId39"/>
    <p:sldId id="329" r:id="rId40"/>
    <p:sldId id="330" r:id="rId41"/>
    <p:sldId id="331" r:id="rId42"/>
    <p:sldId id="345" r:id="rId56"/>
    <p:sldId id="346" r:id="rId57"/>
    <p:sldId id="347" r:id="rId58"/>
    <p:sldId id="348" r:id="rId59"/>
    <p:sldId id="349" r:id="rId60"/>
    <p:sldId id="350" r:id="rId61"/>
    <p:sldId id="351" r:id="rId62"/>
  </p:sldIdLst>
  <p:sldSz cx="9144000" cy="5143500" type="screen16x9"/>
  <p:notesSz cx="6858000" cy="9144000"/>
  <p:embeddedFontLst>
    <p:embeddedFont>
      <p:font typeface="Be Vietnam Pro" panose="020B0604020202020204" charset="0"/>
      <p:regular r:id="rId64"/>
      <p:bold r:id="rId65"/>
      <p:italic r:id="rId66"/>
      <p:boldItalic r:id="rId67"/>
    </p:embeddedFont>
    <p:embeddedFont>
      <p:font typeface="Be Vietnam Pro SemiBold" panose="020B0604020202020204" charset="0"/>
      <p:regular r:id="rId68"/>
      <p:bold r:id="rId69"/>
      <p:italic r:id="rId70"/>
      <p:boldItalic r:id="rId71"/>
    </p:embeddedFont>
    <p:embeddedFont>
      <p:font typeface="Consolas" panose="020B0609020204030204" pitchFamily="49" charset="0"/>
      <p:regular r:id="rId72"/>
      <p:bold r:id="rId73"/>
      <p:italic r:id="rId74"/>
      <p:boldItalic r:id="rId75"/>
    </p:embeddedFont>
    <p:embeddedFont>
      <p:font typeface="Geo" panose="020B0604020202020204"/>
      <p:regular r:id="rId76"/>
      <p:italic r:id="rId77"/>
    </p:embeddedFont>
    <p:embeddedFont>
      <p:font typeface="Lato" panose="020F0502020204030203" pitchFamily="34" charset="0"/>
      <p:regular r:id="rId78"/>
      <p:bold r:id="rId79"/>
      <p:italic r:id="rId80"/>
      <p:boldItalic r:id="rId81"/>
    </p:embeddedFont>
    <p:embeddedFont>
      <p:font typeface="Montserrat" panose="00000500000000000000" pitchFamily="2" charset="0"/>
      <p:regular r:id="rId82"/>
      <p:bold r:id="rId83"/>
      <p:italic r:id="rId84"/>
      <p:boldItalic r:id="rId85"/>
    </p:embeddedFont>
    <p:embeddedFont>
      <p:font typeface="Montserrat ExtraBold" panose="00000900000000000000" pitchFamily="2" charset="0"/>
      <p:bold r:id="rId86"/>
      <p:boldItalic r:id="rId87"/>
    </p:embeddedFont>
    <p:embeddedFont>
      <p:font typeface="Quattrocento Sans" panose="020B0502050000020003" pitchFamily="34" charset="0"/>
      <p:regular r:id="rId88"/>
      <p:bold r:id="rId89"/>
      <p:italic r:id="rId90"/>
      <p:boldItalic r:id="rId91"/>
    </p:embeddedFont>
    <p:embeddedFont>
      <p:font typeface="Roboto" panose="02000000000000000000" pitchFamily="2"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rang Tran" initials="" lastIdx="4" clrIdx="0"/>
  <p:cmAuthor id="1" name="Hong Anh Le" initials="" lastIdx="12" clrIdx="1"/>
  <p:cmAuthor id="2" name="Lauren McGinley" initials="" lastIdx="10" clrIdx="2"/>
  <p:cmAuthor id="3" name="Cong Nguyen" initials="" lastIdx="4" clrIdx="3"/>
  <p:cmAuthor id="4" name="Aiden Roake"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1033D3-121A-4ABF-A30B-B91F07BF1167}">
  <a:tblStyle styleId="{121033D3-121A-4ABF-A30B-B91F07BF11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8BD2AF-5D0D-4EDC-AE96-A30A7DA1AF2F}"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F1742F6B-ED47-481C-AEBF-CD6BD092262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0"/>
      </p:cViewPr>
      <p:guideLst>
        <p:guide pos="286"/>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9" Type="http://schemas.openxmlformats.org/officeDocument/2006/relationships/slide" Target="slides/slide24.xml"/><Relationship Id="rId50"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slide" Target="slides/slide42.xml"/><Relationship Id="rId60" Type="http://schemas.openxmlformats.org/officeDocument/2006/relationships/slide" Target="slides/slide43.xml"/><Relationship Id="rId61" Type="http://schemas.openxmlformats.org/officeDocument/2006/relationships/slide" Target="slides/slide44.xml"/><Relationship Id="rId62" Type="http://schemas.openxmlformats.org/officeDocument/2006/relationships/slide" Target="slides/slide45.xml"/><Relationship Id="rId63" Type="http://schemas.openxmlformats.org/officeDocument/2006/relationships/notesMaster" Target="notesMasters/notesMaster1.xml"/><Relationship Id="rId64" Type="http://schemas.openxmlformats.org/officeDocument/2006/relationships/font" Target="fonts/font1.fntdata"/><Relationship Id="rId65" Type="http://schemas.openxmlformats.org/officeDocument/2006/relationships/font" Target="fonts/font2.fntdata"/><Relationship Id="rId66" Type="http://schemas.openxmlformats.org/officeDocument/2006/relationships/font" Target="fonts/font3.fntdata"/><Relationship Id="rId67" Type="http://schemas.openxmlformats.org/officeDocument/2006/relationships/font" Target="fonts/font4.fntdata"/><Relationship Id="rId68" Type="http://schemas.openxmlformats.org/officeDocument/2006/relationships/font" Target="fonts/font5.fntdata"/><Relationship Id="rId69" Type="http://schemas.openxmlformats.org/officeDocument/2006/relationships/font" Target="fonts/font6.fntdata"/><Relationship Id="rId70" Type="http://schemas.openxmlformats.org/officeDocument/2006/relationships/font" Target="fonts/font7.fntdata"/><Relationship Id="rId71" Type="http://schemas.openxmlformats.org/officeDocument/2006/relationships/font" Target="fonts/font8.fntdata"/><Relationship Id="rId72" Type="http://schemas.openxmlformats.org/officeDocument/2006/relationships/font" Target="fonts/font9.fntdata"/><Relationship Id="rId73" Type="http://schemas.openxmlformats.org/officeDocument/2006/relationships/font" Target="fonts/font10.fntdata"/><Relationship Id="rId74" Type="http://schemas.openxmlformats.org/officeDocument/2006/relationships/font" Target="fonts/font11.fntdata"/><Relationship Id="rId75" Type="http://schemas.openxmlformats.org/officeDocument/2006/relationships/font" Target="fonts/font12.fntdata"/><Relationship Id="rId76" Type="http://schemas.openxmlformats.org/officeDocument/2006/relationships/font" Target="fonts/font13.fntdata"/><Relationship Id="rId77" Type="http://schemas.openxmlformats.org/officeDocument/2006/relationships/font" Target="fonts/font14.fntdata"/><Relationship Id="rId78" Type="http://schemas.openxmlformats.org/officeDocument/2006/relationships/font" Target="fonts/font15.fntdata"/><Relationship Id="rId79" Type="http://schemas.openxmlformats.org/officeDocument/2006/relationships/font" Target="fonts/font16.fntdata"/><Relationship Id="rId80" Type="http://schemas.openxmlformats.org/officeDocument/2006/relationships/font" Target="fonts/font17.fntdata"/><Relationship Id="rId81" Type="http://schemas.openxmlformats.org/officeDocument/2006/relationships/font" Target="fonts/font18.fntdata"/><Relationship Id="rId82" Type="http://schemas.openxmlformats.org/officeDocument/2006/relationships/font" Target="fonts/font19.fntdata"/><Relationship Id="rId83" Type="http://schemas.openxmlformats.org/officeDocument/2006/relationships/font" Target="fonts/font20.fntdata"/><Relationship Id="rId84" Type="http://schemas.openxmlformats.org/officeDocument/2006/relationships/font" Target="fonts/font21.fntdata"/><Relationship Id="rId85" Type="http://schemas.openxmlformats.org/officeDocument/2006/relationships/font" Target="fonts/font22.fntdata"/><Relationship Id="rId86" Type="http://schemas.openxmlformats.org/officeDocument/2006/relationships/font" Target="fonts/font23.fntdata"/><Relationship Id="rId87" Type="http://schemas.openxmlformats.org/officeDocument/2006/relationships/font" Target="fonts/font24.fntdata"/><Relationship Id="rId88" Type="http://schemas.openxmlformats.org/officeDocument/2006/relationships/font" Target="fonts/font25.fntdata"/><Relationship Id="rId89" Type="http://schemas.openxmlformats.org/officeDocument/2006/relationships/font" Target="fonts/font26.fntdata"/><Relationship Id="rId90" Type="http://schemas.openxmlformats.org/officeDocument/2006/relationships/font" Target="fonts/font27.fntdata"/><Relationship Id="rId91" Type="http://schemas.openxmlformats.org/officeDocument/2006/relationships/font" Target="fonts/font28.fntdata"/><Relationship Id="rId92" Type="http://schemas.openxmlformats.org/officeDocument/2006/relationships/font" Target="fonts/font29.fntdata"/><Relationship Id="rId93" Type="http://schemas.openxmlformats.org/officeDocument/2006/relationships/font" Target="fonts/font30.fntdata"/><Relationship Id="rId94" Type="http://schemas.openxmlformats.org/officeDocument/2006/relationships/font" Target="fonts/font31.fntdata"/><Relationship Id="rId95" Type="http://schemas.openxmlformats.org/officeDocument/2006/relationships/font" Target="fonts/font32.fntdata"/><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 Id="rId101" Type="http://schemas.openxmlformats.org/officeDocument/2006/relationships/slide" Target="slides/slide35.xml"/><Relationship Id="rId102" Type="http://schemas.openxmlformats.org/officeDocument/2006/relationships/slide" Target="slides/slide36.xml"/><Relationship Id="rId103" Type="http://schemas.openxmlformats.org/officeDocument/2006/relationships/slide" Target="slides/slide37.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6-06-12T22:38:28.639" idx="1">
    <p:pos x="6000" y="0"/>
    <p:text>@chn@allotropepartners.com @hal@allotropevc.com @ttt@allotropevc.com there is still a lot of terminology that will be advanced for a supplier that's new to this, so please let's confirm how we're discussing these terms within the session (even if its a note that "Please note session glossary on your table" and "Glossary available in the session appendix" or something</p:text>
  </p:cm>
  <p:cm authorId="1" dt="2026-06-15T01:22:13.332" idx="3">
    <p:pos x="6000" y="100"/>
    <p:text>@ttt@allotropevc.com Hi Trang, can you help adding some of these terminologies to glossary list
_Assigned to Trang Tran_</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15T19:34:05.781" idx="4">
    <p:pos x="6000" y="0"/>
    <p:text>@ttt@allotropevc.com Hi Trang probably need to fix these transition slides (same pics + old logo)
_Reassigned to Trang Tran_</p:text>
  </p:cm>
  <p:cm authorId="2" dt="2026-06-15T19:34:05.781" idx="2">
    <p:pos x="6000" y="0"/>
    <p:text>updated the logos BTW</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15T01:14:22.382" idx="5">
    <p:pos x="426" y="129"/>
    <p:text>Should be addressed in speech, "you" here refers to Your factory, the RE generator have a different payment model</p:text>
  </p:cm>
  <p:cm authorId="3" dt="2026-06-15T09:01:06.058" idx="1">
    <p:pos x="426" y="129"/>
    <p:text>Edited "your factory"</p:text>
  </p:cm>
  <p:cm authorId="2" dt="2026-06-15T19:38:44.998" idx="3">
    <p:pos x="426" y="129"/>
    <p:text>@chn@allotropepartners.com @hal@allotropevc.com @ttt@allotropevc.com 
can you better define the three relationships please. Is you the generator, EVN/the grid, and your factory. Maybe number, maybe show boxes?</p:text>
  </p:cm>
  <p:cm authorId="2" dt="2026-06-15T19:38:44.998" idx="4">
    <p:pos x="426" y="129"/>
    <p:text>What are the three relationships though: your factory, EVN, and the RE generator? Visually you have 4 boxes (VWEM, RE generator, EVN, Your facotry) and the title says 3 relationships, so want to make it more clear. Is relationships the right word?</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6-06-15T09:48:00.162" idx="6">
    <p:pos x="6000" y="0"/>
    <p:text>attempted to revise and note but might make it more confusing</p:text>
  </p:cm>
  <p:cm authorId="3" dt="2026-06-15T13:41:21.590" idx="2">
    <p:pos x="6000" y="100"/>
    <p:text>This slide aims to simplify and only describe the financial settlement, without including the electricity flow. Many of our partners' slides have already described this in detail</p:text>
  </p:cm>
  <p:cm authorId="1" dt="2026-06-15T19:40:49.152" idx="7">
    <p:pos x="6000" y="100"/>
    <p:text>@chn@allotropepartners.com Hi a Cong I tried to make it a bit clearer for audience please kindly check, though if it'll confuse them more please skip
_Reassigned to Cong Nguyen_</p:text>
  </p:cm>
  <p:cm authorId="2" dt="2026-06-15T19:40:49.152" idx="5">
    <p:pos x="6000" y="100"/>
    <p:text>I do think this slide helps and repetition on info (like electricity flows) can be helpful for new folks. Like i said on the previous slide, I do want to make sure "relationships" makes more sense b/c nothing is numbered and there are 4 boxes.</p:text>
  </p:cm>
</p:cmLst>
</file>

<file path=ppt/comments/comment5.xml><?xml version="1.0" encoding="utf-8"?>
<p:cmLst xmlns:a="http://schemas.openxmlformats.org/drawingml/2006/main" xmlns:r="http://schemas.openxmlformats.org/officeDocument/2006/relationships" xmlns:p="http://schemas.openxmlformats.org/presentationml/2006/main">
  <p:cm authorId="2" dt="2026-06-13T02:20:57.254" idx="6">
    <p:pos x="3323" y="876"/>
    <p:text>How are we explaining what FMP is?</p:text>
  </p:cm>
</p:cmLst>
</file>

<file path=ppt/comments/comment6.xml><?xml version="1.0" encoding="utf-8"?>
<p:cmLst xmlns:a="http://schemas.openxmlformats.org/drawingml/2006/main" xmlns:r="http://schemas.openxmlformats.org/officeDocument/2006/relationships" xmlns:p="http://schemas.openxmlformats.org/presentationml/2006/main">
  <p:cm authorId="3" dt="2026-06-15T19:49:13.746" idx="3">
    <p:pos x="3019" y="980"/>
    <p:text>This assessment is based on my calculations; I tried to formulate an expectation, but it seems a bit subjective.</p:text>
  </p:cm>
  <p:cm authorId="2" dt="2026-06-15T19:49:13.746" idx="7">
    <p:pos x="3019" y="980"/>
    <p:text>Added in "advice but adjust as you see fit.</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6-06-12T04:15:24.754" idx="8">
    <p:pos x="6000" y="0"/>
    <p:text>To include: Duc Nguyen from VinEnergo, GENCO3 Representative</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6-15T07:53:44.924" idx="9">
    <p:pos x="6000" y="0"/>
    <p:text>needs to be updated</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6-15T08:07:03.344" idx="10">
    <p:pos x="6000" y="0"/>
    <p:text>Probably need to print this too in Scenario Package @ttt@allotropevc.com</p:text>
  </p:cm>
</p:cmLst>
</file>

<file path=ppt/comments/comment13.xml><?xml version="1.0" encoding="utf-8"?>
<p:cmLst xmlns:a="http://schemas.openxmlformats.org/drawingml/2006/main" xmlns:r="http://schemas.openxmlformats.org/officeDocument/2006/relationships" xmlns:p="http://schemas.openxmlformats.org/presentationml/2006/main">
  <p:cm authorId="4" dt="2026-06-08T20:58:14.819" idx="1">
    <p:pos x="6000" y="0"/>
    <p:text>Draft slides below need extensive review</p:text>
  </p:cm>
</p:cmLst>
</file>

<file path=ppt/comments/comment14.xml><?xml version="1.0" encoding="utf-8"?>
<p:cmLst xmlns:a="http://schemas.openxmlformats.org/drawingml/2006/main" xmlns:r="http://schemas.openxmlformats.org/officeDocument/2006/relationships" xmlns:p="http://schemas.openxmlformats.org/presentationml/2006/main">
  <p:cm authorId="4" dt="2026-06-01T23:02:58.956" idx="2">
    <p:pos x="6000" y="0"/>
    <p:text>Slide from Day 1 for drafting purposes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3eb446c4a34_0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7" name="Google Shape;1457;g3eb446c4a34_0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3ecb1db4a6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3ecb1db4a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3eb66eb2d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3eb66eb2d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ebc19243cb_0_1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5" name="Google Shape;1505;g3ebc19243cb_0_1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3ec0c65eb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3ec0c65eb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g3ebc19243cb_0_1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2" name="Google Shape;1542;g3ebc19243cb_0_1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3ebc19243cb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g3ebc19243cb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8"/>
        <p:cNvGrpSpPr/>
        <p:nvPr/>
      </p:nvGrpSpPr>
      <p:grpSpPr>
        <a:xfrm>
          <a:off x="0" y="0"/>
          <a:ext cx="0" cy="0"/>
          <a:chOff x="0" y="0"/>
          <a:chExt cx="0" cy="0"/>
        </a:xfrm>
      </p:grpSpPr>
      <p:sp>
        <p:nvSpPr>
          <p:cNvPr id="1579" name="Google Shape;1579;g3ec056fa404_3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0" name="Google Shape;1580;g3ec056fa404_3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7"/>
        <p:cNvGrpSpPr/>
        <p:nvPr/>
      </p:nvGrpSpPr>
      <p:grpSpPr>
        <a:xfrm>
          <a:off x="0" y="0"/>
          <a:ext cx="0" cy="0"/>
          <a:chOff x="0" y="0"/>
          <a:chExt cx="0" cy="0"/>
        </a:xfrm>
      </p:grpSpPr>
      <p:sp>
        <p:nvSpPr>
          <p:cNvPr id="1618" name="Google Shape;1618;g3ebc19243cb_0_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9" name="Google Shape;1619;g3ebc19243cb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3ec8d3339a8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3ec8d3339a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3ebc19243cb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3ebc19243cb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3ebc19243cb_0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3ebc19243cb_0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g3ebc19243cb_0_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8" name="Google Shape;1698;g3ebc19243cb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3ebc19243cb_0_1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8" name="Google Shape;1718;g3ebc19243cb_0_10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ebc19243cb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8" name="Google Shape;1728;g3ebc19243cb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g3ebc19243cb_0_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8" name="Google Shape;1748;g3ebc19243cb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3ebc19243cb_0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3ebc19243cb_0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3ebc19243cb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0" name="Google Shape;1790;g3ebc19243cb_0_1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3ebc19243cb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3ebc19243cb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3ebc19243cb_0_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0" name="Google Shape;1820;g3ebc19243cb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g3ebc19243cb_0_8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4" name="Google Shape;1844;g3ebc19243cb_0_8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g3ebc19243cb_0_1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3" name="Google Shape;1863;g3ebc19243cb_0_1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1"/>
        <p:cNvGrpSpPr/>
        <p:nvPr/>
      </p:nvGrpSpPr>
      <p:grpSpPr>
        <a:xfrm>
          <a:off x="0" y="0"/>
          <a:ext cx="0" cy="0"/>
          <a:chOff x="0" y="0"/>
          <a:chExt cx="0" cy="0"/>
        </a:xfrm>
      </p:grpSpPr>
      <p:sp>
        <p:nvSpPr>
          <p:cNvPr id="1972" name="Google Shape;1972;g3ebc19243cb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3" name="Google Shape;1973;g3ebc19243cb_0_2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3ebc19243cb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3ebc19243cb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0"/>
        <p:cNvGrpSpPr/>
        <p:nvPr/>
      </p:nvGrpSpPr>
      <p:grpSpPr>
        <a:xfrm>
          <a:off x="0" y="0"/>
          <a:ext cx="0" cy="0"/>
          <a:chOff x="0" y="0"/>
          <a:chExt cx="0" cy="0"/>
        </a:xfrm>
      </p:grpSpPr>
      <p:sp>
        <p:nvSpPr>
          <p:cNvPr id="2001" name="Google Shape;2001;g3ebc19243cb_0_1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2" name="Google Shape;2002;g3ebc19243cb_0_1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9"/>
        <p:cNvGrpSpPr/>
        <p:nvPr/>
      </p:nvGrpSpPr>
      <p:grpSpPr>
        <a:xfrm>
          <a:off x="0" y="0"/>
          <a:ext cx="0" cy="0"/>
          <a:chOff x="0" y="0"/>
          <a:chExt cx="0" cy="0"/>
        </a:xfrm>
      </p:grpSpPr>
      <p:sp>
        <p:nvSpPr>
          <p:cNvPr id="2020" name="Google Shape;2020;g3e5750f1fdf_0_1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1" name="Google Shape;2021;g3e5750f1fdf_0_1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8"/>
        <p:cNvGrpSpPr/>
        <p:nvPr/>
      </p:nvGrpSpPr>
      <p:grpSpPr>
        <a:xfrm>
          <a:off x="0" y="0"/>
          <a:ext cx="0" cy="0"/>
          <a:chOff x="0" y="0"/>
          <a:chExt cx="0" cy="0"/>
        </a:xfrm>
      </p:grpSpPr>
      <p:sp>
        <p:nvSpPr>
          <p:cNvPr id="2039" name="Google Shape;2039;g3e5750f1fdf_0_1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0" name="Google Shape;2040;g3e5750f1fdf_0_1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5"/>
        <p:cNvGrpSpPr/>
        <p:nvPr/>
      </p:nvGrpSpPr>
      <p:grpSpPr>
        <a:xfrm>
          <a:off x="0" y="0"/>
          <a:ext cx="0" cy="0"/>
          <a:chOff x="0" y="0"/>
          <a:chExt cx="0" cy="0"/>
        </a:xfrm>
      </p:grpSpPr>
      <p:sp>
        <p:nvSpPr>
          <p:cNvPr id="2056" name="Google Shape;2056;g38a62b75e43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7" name="Google Shape;2057;g38a62b75e43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g3e5750f1fdf_0_1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6" name="Google Shape;2076;g3e5750f1fdf_0_1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7"/>
        <p:cNvGrpSpPr/>
        <p:nvPr/>
      </p:nvGrpSpPr>
      <p:grpSpPr>
        <a:xfrm>
          <a:off x="0" y="0"/>
          <a:ext cx="0" cy="0"/>
          <a:chOff x="0" y="0"/>
          <a:chExt cx="0" cy="0"/>
        </a:xfrm>
      </p:grpSpPr>
      <p:sp>
        <p:nvSpPr>
          <p:cNvPr id="2088" name="Google Shape;2088;g3e5dc4c0772_2_4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9" name="Google Shape;2089;g3e5dc4c0772_2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2"/>
        <p:cNvGrpSpPr/>
        <p:nvPr/>
      </p:nvGrpSpPr>
      <p:grpSpPr>
        <a:xfrm>
          <a:off x="0" y="0"/>
          <a:ext cx="0" cy="0"/>
          <a:chOff x="0" y="0"/>
          <a:chExt cx="0" cy="0"/>
        </a:xfrm>
      </p:grpSpPr>
      <p:sp>
        <p:nvSpPr>
          <p:cNvPr id="2103" name="Google Shape;2103;g3e5dc4c0772_2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4" name="Google Shape;2104;g3e5dc4c0772_2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3ec8d3339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3ec8d3339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8"/>
        <p:cNvGrpSpPr/>
        <p:nvPr/>
      </p:nvGrpSpPr>
      <p:grpSpPr>
        <a:xfrm>
          <a:off x="0" y="0"/>
          <a:ext cx="0" cy="0"/>
          <a:chOff x="0" y="0"/>
          <a:chExt cx="0" cy="0"/>
        </a:xfrm>
      </p:grpSpPr>
      <p:sp>
        <p:nvSpPr>
          <p:cNvPr id="2519" name="Google Shape;2519;g3eb3c66dbd3_0_1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0" name="Google Shape;2520;g3eb3c66dbd3_0_1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0"/>
        <p:cNvGrpSpPr/>
        <p:nvPr/>
      </p:nvGrpSpPr>
      <p:grpSpPr>
        <a:xfrm>
          <a:off x="0" y="0"/>
          <a:ext cx="0" cy="0"/>
          <a:chOff x="0" y="0"/>
          <a:chExt cx="0" cy="0"/>
        </a:xfrm>
      </p:grpSpPr>
      <p:sp>
        <p:nvSpPr>
          <p:cNvPr id="2531" name="Google Shape;2531;g3e711fdb2ed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2" name="Google Shape;2532;g3e711fdb2ed_0_6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9"/>
        <p:cNvGrpSpPr/>
        <p:nvPr/>
      </p:nvGrpSpPr>
      <p:grpSpPr>
        <a:xfrm>
          <a:off x="0" y="0"/>
          <a:ext cx="0" cy="0"/>
          <a:chOff x="0" y="0"/>
          <a:chExt cx="0" cy="0"/>
        </a:xfrm>
      </p:grpSpPr>
      <p:sp>
        <p:nvSpPr>
          <p:cNvPr id="2550" name="Google Shape;2550;g357a0cea85d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1" name="Google Shape;2551;g357a0cea85d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7"/>
        <p:cNvGrpSpPr/>
        <p:nvPr/>
      </p:nvGrpSpPr>
      <p:grpSpPr>
        <a:xfrm>
          <a:off x="0" y="0"/>
          <a:ext cx="0" cy="0"/>
          <a:chOff x="0" y="0"/>
          <a:chExt cx="0" cy="0"/>
        </a:xfrm>
      </p:grpSpPr>
      <p:sp>
        <p:nvSpPr>
          <p:cNvPr id="2568" name="Google Shape;2568;g3eb64af06bf_0_27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9" name="Google Shape;2569;g3eb64af06bf_0_2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0" name="Google Shape;2570;g3eb64af06bf_0_2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2"/>
        <p:cNvGrpSpPr/>
        <p:nvPr/>
      </p:nvGrpSpPr>
      <p:grpSpPr>
        <a:xfrm>
          <a:off x="0" y="0"/>
          <a:ext cx="0" cy="0"/>
          <a:chOff x="0" y="0"/>
          <a:chExt cx="0" cy="0"/>
        </a:xfrm>
      </p:grpSpPr>
      <p:sp>
        <p:nvSpPr>
          <p:cNvPr id="2623" name="Google Shape;2623;g3e711fdb2ed_0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4" name="Google Shape;2624;g3e711fdb2ed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1"/>
        <p:cNvGrpSpPr/>
        <p:nvPr/>
      </p:nvGrpSpPr>
      <p:grpSpPr>
        <a:xfrm>
          <a:off x="0" y="0"/>
          <a:ext cx="0" cy="0"/>
          <a:chOff x="0" y="0"/>
          <a:chExt cx="0" cy="0"/>
        </a:xfrm>
      </p:grpSpPr>
      <p:sp>
        <p:nvSpPr>
          <p:cNvPr id="2642" name="Google Shape;2642;g3e711fdb2ed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3" name="Google Shape;2643;g3e711fdb2ed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0"/>
        <p:cNvGrpSpPr/>
        <p:nvPr/>
      </p:nvGrpSpPr>
      <p:grpSpPr>
        <a:xfrm>
          <a:off x="0" y="0"/>
          <a:ext cx="0" cy="0"/>
          <a:chOff x="0" y="0"/>
          <a:chExt cx="0" cy="0"/>
        </a:xfrm>
      </p:grpSpPr>
      <p:sp>
        <p:nvSpPr>
          <p:cNvPr id="2661" name="Google Shape;2661;g3e72ef8fb1d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2" name="Google Shape;2662;g3e72ef8fb1d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jpg"/><Relationship Id="rId3" Type="http://schemas.openxmlformats.org/officeDocument/2006/relationships/image" Target="../media/image1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jpg"/><Relationship Id="rId3"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png"/><Relationship Id="rId3"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51"/>
        <p:cNvGrpSpPr/>
        <p:nvPr/>
      </p:nvGrpSpPr>
      <p:grpSpPr>
        <a:xfrm>
          <a:off x="0" y="0"/>
          <a:ext cx="0" cy="0"/>
          <a:chOff x="0" y="0"/>
          <a:chExt cx="0" cy="0"/>
        </a:xfrm>
      </p:grpSpPr>
      <p:sp>
        <p:nvSpPr>
          <p:cNvPr id="52" name="Google Shape;52;p14"/>
          <p:cNvSpPr>
            <a:spLocks noGrp="1"/>
          </p:cNvSpPr>
          <p:nvPr>
            <p:ph type="pic" idx="2"/>
          </p:nvPr>
        </p:nvSpPr>
        <p:spPr>
          <a:xfrm>
            <a:off x="5900738" y="0"/>
            <a:ext cx="32433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
        <p:nvSpPr>
          <p:cNvPr id="54" name="Google Shape;54;p15"/>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55"/>
        <p:cNvGrpSpPr/>
        <p:nvPr/>
      </p:nvGrpSpPr>
      <p:grpSpPr>
        <a:xfrm>
          <a:off x="0" y="0"/>
          <a:ext cx="0" cy="0"/>
          <a:chOff x="0" y="0"/>
          <a:chExt cx="0" cy="0"/>
        </a:xfrm>
      </p:grpSpPr>
      <p:sp>
        <p:nvSpPr>
          <p:cNvPr id="56" name="Google Shape;56;p16"/>
          <p:cNvSpPr>
            <a:spLocks noGrp="1"/>
          </p:cNvSpPr>
          <p:nvPr>
            <p:ph type="pic" idx="2"/>
          </p:nvPr>
        </p:nvSpPr>
        <p:spPr>
          <a:xfrm>
            <a:off x="4100165" y="570248"/>
            <a:ext cx="4237200" cy="2001600"/>
          </a:xfrm>
          <a:prstGeom prst="rect">
            <a:avLst/>
          </a:prstGeom>
          <a:noFill/>
          <a:ln>
            <a:noFill/>
          </a:ln>
        </p:spPr>
      </p:sp>
      <p:sp>
        <p:nvSpPr>
          <p:cNvPr id="57" name="Google Shape;57;p16"/>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768096" y="438912"/>
            <a:ext cx="7290000" cy="1124700"/>
          </a:xfrm>
          <a:prstGeom prst="rect">
            <a:avLst/>
          </a:prstGeom>
          <a:noFill/>
          <a:ln>
            <a:noFill/>
          </a:ln>
        </p:spPr>
        <p:txBody>
          <a:bodyPr spcFirstLastPara="1" wrap="square" lIns="68575" tIns="34275" rIns="68575" bIns="34275" anchor="ctr" anchorCtr="0">
            <a:normAutofit/>
          </a:bodyPr>
          <a:lstStyle>
            <a:lvl1pPr lvl="0" algn="l">
              <a:lnSpc>
                <a:spcPct val="80000"/>
              </a:lnSpc>
              <a:spcBef>
                <a:spcPts val="0"/>
              </a:spcBef>
              <a:spcAft>
                <a:spcPts val="0"/>
              </a:spcAft>
              <a:buClr>
                <a:srgbClr val="0C0C0C"/>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768096" y="1714500"/>
            <a:ext cx="7290000" cy="3017400"/>
          </a:xfrm>
          <a:prstGeom prst="rect">
            <a:avLst/>
          </a:prstGeom>
          <a:noFill/>
          <a:ln>
            <a:noFill/>
          </a:ln>
        </p:spPr>
        <p:txBody>
          <a:bodyPr spcFirstLastPara="1" wrap="square" lIns="34275" tIns="34275" rIns="34275" bIns="34275" anchor="t" anchorCtr="0">
            <a:normAutofit/>
          </a:bodyPr>
          <a:lstStyle>
            <a:lvl1pPr marL="457200" lvl="0" indent="-317500" algn="l">
              <a:lnSpc>
                <a:spcPct val="90000"/>
              </a:lnSpc>
              <a:spcBef>
                <a:spcPts val="900"/>
              </a:spcBef>
              <a:spcAft>
                <a:spcPts val="0"/>
              </a:spcAft>
              <a:buSzPts val="1400"/>
              <a:buChar char="●"/>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17"/>
          <p:cNvSpPr txBox="1">
            <a:spLocks noGrp="1"/>
          </p:cNvSpPr>
          <p:nvPr>
            <p:ph type="dt" idx="10"/>
          </p:nvPr>
        </p:nvSpPr>
        <p:spPr>
          <a:xfrm>
            <a:off x="768097" y="4853028"/>
            <a:ext cx="1615500" cy="2058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2" name="Google Shape;62;p17"/>
          <p:cNvSpPr txBox="1">
            <a:spLocks noGrp="1"/>
          </p:cNvSpPr>
          <p:nvPr>
            <p:ph type="ftr" idx="11"/>
          </p:nvPr>
        </p:nvSpPr>
        <p:spPr>
          <a:xfrm>
            <a:off x="3632199" y="4853028"/>
            <a:ext cx="4426200" cy="205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3" name="Google Shape;63;p17"/>
          <p:cNvSpPr txBox="1">
            <a:spLocks noGrp="1"/>
          </p:cNvSpPr>
          <p:nvPr>
            <p:ph type="sldNum" idx="12"/>
          </p:nvPr>
        </p:nvSpPr>
        <p:spPr>
          <a:xfrm>
            <a:off x="8128000" y="4853028"/>
            <a:ext cx="730500" cy="205800"/>
          </a:xfrm>
          <a:prstGeom prst="rect">
            <a:avLst/>
          </a:prstGeom>
          <a:noFill/>
          <a:ln>
            <a:noFill/>
          </a:ln>
        </p:spPr>
        <p:txBody>
          <a:bodyPr spcFirstLastPara="1" wrap="square" lIns="68575" tIns="34275" rIns="68575" bIns="34275" anchor="ctr" anchorCtr="0">
            <a:normAutofit lnSpcReduction="10000"/>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4"/>
        <p:cNvGrpSpPr/>
        <p:nvPr/>
      </p:nvGrpSpPr>
      <p:grpSpPr>
        <a:xfrm>
          <a:off x="0" y="0"/>
          <a:ext cx="0" cy="0"/>
          <a:chOff x="0" y="0"/>
          <a:chExt cx="0" cy="0"/>
        </a:xfrm>
      </p:grpSpPr>
      <p:pic>
        <p:nvPicPr>
          <p:cNvPr id="65" name="Google Shape;65;p18" descr="Background pattern&#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6" name="Google Shape;66;p18"/>
          <p:cNvSpPr txBox="1">
            <a:spLocks noGrp="1"/>
          </p:cNvSpPr>
          <p:nvPr>
            <p:ph type="ctrTitle"/>
          </p:nvPr>
        </p:nvSpPr>
        <p:spPr>
          <a:xfrm>
            <a:off x="395536" y="2139704"/>
            <a:ext cx="7772400" cy="15252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1"/>
              </a:buClr>
              <a:buSzPts val="5400"/>
              <a:buFont typeface="Geo"/>
              <a:buNone/>
              <a:defRPr sz="54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8"/>
          <p:cNvSpPr txBox="1">
            <a:spLocks noGrp="1"/>
          </p:cNvSpPr>
          <p:nvPr>
            <p:ph type="subTitle" idx="1"/>
          </p:nvPr>
        </p:nvSpPr>
        <p:spPr>
          <a:xfrm>
            <a:off x="395536" y="3676253"/>
            <a:ext cx="7776900" cy="767700"/>
          </a:xfrm>
          <a:prstGeom prst="rect">
            <a:avLst/>
          </a:prstGeom>
          <a:noFill/>
          <a:ln>
            <a:noFill/>
          </a:ln>
        </p:spPr>
        <p:txBody>
          <a:bodyPr spcFirstLastPara="1" wrap="square" lIns="68575" tIns="34275" rIns="68575" bIns="34275"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1200"/>
              </a:spcBef>
              <a:spcAft>
                <a:spcPts val="0"/>
              </a:spcAft>
              <a:buClr>
                <a:srgbClr val="888D9E"/>
              </a:buClr>
              <a:buSzPts val="2800"/>
              <a:buNone/>
              <a:defRPr>
                <a:solidFill>
                  <a:srgbClr val="888D9E"/>
                </a:solidFill>
              </a:defRPr>
            </a:lvl2pPr>
            <a:lvl3pPr lvl="2" algn="ctr">
              <a:spcBef>
                <a:spcPts val="1200"/>
              </a:spcBef>
              <a:spcAft>
                <a:spcPts val="0"/>
              </a:spcAft>
              <a:buClr>
                <a:srgbClr val="888D9E"/>
              </a:buClr>
              <a:buSzPts val="2400"/>
              <a:buNone/>
              <a:defRPr>
                <a:solidFill>
                  <a:srgbClr val="888D9E"/>
                </a:solidFill>
              </a:defRPr>
            </a:lvl3pPr>
            <a:lvl4pPr lvl="3" algn="ctr">
              <a:spcBef>
                <a:spcPts val="1200"/>
              </a:spcBef>
              <a:spcAft>
                <a:spcPts val="0"/>
              </a:spcAft>
              <a:buClr>
                <a:srgbClr val="888D9E"/>
              </a:buClr>
              <a:buSzPts val="2000"/>
              <a:buNone/>
              <a:defRPr>
                <a:solidFill>
                  <a:srgbClr val="888D9E"/>
                </a:solidFill>
              </a:defRPr>
            </a:lvl4pPr>
            <a:lvl5pPr lvl="4" algn="ctr">
              <a:spcBef>
                <a:spcPts val="1200"/>
              </a:spcBef>
              <a:spcAft>
                <a:spcPts val="0"/>
              </a:spcAft>
              <a:buClr>
                <a:srgbClr val="888D9E"/>
              </a:buClr>
              <a:buSzPts val="2000"/>
              <a:buNone/>
              <a:defRPr>
                <a:solidFill>
                  <a:srgbClr val="888D9E"/>
                </a:solidFill>
              </a:defRPr>
            </a:lvl5pPr>
            <a:lvl6pPr lvl="5" algn="ctr">
              <a:spcBef>
                <a:spcPts val="1200"/>
              </a:spcBef>
              <a:spcAft>
                <a:spcPts val="0"/>
              </a:spcAft>
              <a:buClr>
                <a:srgbClr val="888D9E"/>
              </a:buClr>
              <a:buSzPts val="2000"/>
              <a:buNone/>
              <a:defRPr>
                <a:solidFill>
                  <a:srgbClr val="888D9E"/>
                </a:solidFill>
              </a:defRPr>
            </a:lvl6pPr>
            <a:lvl7pPr lvl="6" algn="ctr">
              <a:spcBef>
                <a:spcPts val="1200"/>
              </a:spcBef>
              <a:spcAft>
                <a:spcPts val="0"/>
              </a:spcAft>
              <a:buClr>
                <a:srgbClr val="888D9E"/>
              </a:buClr>
              <a:buSzPts val="2000"/>
              <a:buNone/>
              <a:defRPr>
                <a:solidFill>
                  <a:srgbClr val="888D9E"/>
                </a:solidFill>
              </a:defRPr>
            </a:lvl7pPr>
            <a:lvl8pPr lvl="7" algn="ctr">
              <a:spcBef>
                <a:spcPts val="1200"/>
              </a:spcBef>
              <a:spcAft>
                <a:spcPts val="0"/>
              </a:spcAft>
              <a:buClr>
                <a:srgbClr val="888D9E"/>
              </a:buClr>
              <a:buSzPts val="2000"/>
              <a:buNone/>
              <a:defRPr>
                <a:solidFill>
                  <a:srgbClr val="888D9E"/>
                </a:solidFill>
              </a:defRPr>
            </a:lvl8pPr>
            <a:lvl9pPr lvl="8" algn="ctr">
              <a:spcBef>
                <a:spcPts val="1200"/>
              </a:spcBef>
              <a:spcAft>
                <a:spcPts val="1200"/>
              </a:spcAft>
              <a:buClr>
                <a:srgbClr val="888D9E"/>
              </a:buClr>
              <a:buSzPts val="2000"/>
              <a:buNone/>
              <a:defRPr>
                <a:solidFill>
                  <a:srgbClr val="888D9E"/>
                </a:solidFill>
              </a:defRPr>
            </a:lvl9pPr>
          </a:lstStyle>
          <a:p>
            <a:endParaRPr/>
          </a:p>
        </p:txBody>
      </p:sp>
      <p:sp>
        <p:nvSpPr>
          <p:cNvPr id="68" name="Google Shape;68;p18"/>
          <p:cNvSpPr txBox="1">
            <a:spLocks noGrp="1"/>
          </p:cNvSpPr>
          <p:nvPr>
            <p:ph type="body" idx="2"/>
          </p:nvPr>
        </p:nvSpPr>
        <p:spPr>
          <a:xfrm>
            <a:off x="395536" y="396652"/>
            <a:ext cx="2808300" cy="576300"/>
          </a:xfrm>
          <a:prstGeom prst="rect">
            <a:avLst/>
          </a:prstGeom>
          <a:noFill/>
          <a:ln>
            <a:noFill/>
          </a:ln>
        </p:spPr>
        <p:txBody>
          <a:bodyPr spcFirstLastPara="1" wrap="square" lIns="68575" tIns="34275" rIns="68575" bIns="34275" anchor="t" anchorCtr="0">
            <a:normAutofit/>
          </a:bodyPr>
          <a:lstStyle>
            <a:lvl1pPr marL="457200" lvl="0" indent="-228600" algn="l">
              <a:spcBef>
                <a:spcPts val="400"/>
              </a:spcBef>
              <a:spcAft>
                <a:spcPts val="0"/>
              </a:spcAft>
              <a:buClr>
                <a:schemeClr val="lt1"/>
              </a:buClr>
              <a:buSzPts val="1800"/>
              <a:buNone/>
              <a:defRPr sz="1800">
                <a:solidFill>
                  <a:schemeClr val="lt1"/>
                </a:solidFill>
              </a:defRPr>
            </a:lvl1pPr>
            <a:lvl2pPr marL="914400" lvl="1" indent="-406400" algn="l">
              <a:spcBef>
                <a:spcPts val="1200"/>
              </a:spcBef>
              <a:spcAft>
                <a:spcPts val="0"/>
              </a:spcAft>
              <a:buClr>
                <a:schemeClr val="lt1"/>
              </a:buClr>
              <a:buSzPts val="2800"/>
              <a:buChar char="○"/>
              <a:defRPr>
                <a:solidFill>
                  <a:schemeClr val="lt1"/>
                </a:solidFill>
              </a:defRPr>
            </a:lvl2pPr>
            <a:lvl3pPr marL="1371600" lvl="2" indent="-381000" algn="l">
              <a:spcBef>
                <a:spcPts val="1200"/>
              </a:spcBef>
              <a:spcAft>
                <a:spcPts val="0"/>
              </a:spcAft>
              <a:buClr>
                <a:schemeClr val="lt1"/>
              </a:buClr>
              <a:buSzPts val="2400"/>
              <a:buChar char="■"/>
              <a:defRPr>
                <a:solidFill>
                  <a:schemeClr val="lt1"/>
                </a:solidFill>
              </a:defRPr>
            </a:lvl3pPr>
            <a:lvl4pPr marL="1828800" lvl="3" indent="-355600" algn="l">
              <a:spcBef>
                <a:spcPts val="1200"/>
              </a:spcBef>
              <a:spcAft>
                <a:spcPts val="0"/>
              </a:spcAft>
              <a:buClr>
                <a:schemeClr val="lt1"/>
              </a:buClr>
              <a:buSzPts val="2000"/>
              <a:buChar char="●"/>
              <a:defRPr>
                <a:solidFill>
                  <a:schemeClr val="lt1"/>
                </a:solidFill>
              </a:defRPr>
            </a:lvl4pPr>
            <a:lvl5pPr marL="2286000" lvl="4" indent="-355600" algn="l">
              <a:spcBef>
                <a:spcPts val="1200"/>
              </a:spcBef>
              <a:spcAft>
                <a:spcPts val="0"/>
              </a:spcAft>
              <a:buClr>
                <a:schemeClr val="lt1"/>
              </a:buClr>
              <a:buSzPts val="2000"/>
              <a:buChar char="○"/>
              <a:defRPr>
                <a:solidFill>
                  <a:schemeClr val="lt1"/>
                </a:solidFill>
              </a:defRPr>
            </a:lvl5pPr>
            <a:lvl6pPr marL="2743200" lvl="5" indent="-317500" algn="l">
              <a:spcBef>
                <a:spcPts val="1200"/>
              </a:spcBef>
              <a:spcAft>
                <a:spcPts val="0"/>
              </a:spcAft>
              <a:buClr>
                <a:schemeClr val="dk1"/>
              </a:buClr>
              <a:buSzPts val="1400"/>
              <a:buChar char="■"/>
              <a:defRPr/>
            </a:lvl6pPr>
            <a:lvl7pPr marL="3200400" lvl="6" indent="-317500" algn="l">
              <a:spcBef>
                <a:spcPts val="1200"/>
              </a:spcBef>
              <a:spcAft>
                <a:spcPts val="0"/>
              </a:spcAft>
              <a:buClr>
                <a:schemeClr val="dk1"/>
              </a:buClr>
              <a:buSzPts val="1400"/>
              <a:buChar char="●"/>
              <a:defRPr/>
            </a:lvl7pPr>
            <a:lvl8pPr marL="3657600" lvl="7" indent="-317500" algn="l">
              <a:spcBef>
                <a:spcPts val="1200"/>
              </a:spcBef>
              <a:spcAft>
                <a:spcPts val="0"/>
              </a:spcAft>
              <a:buClr>
                <a:schemeClr val="dk1"/>
              </a:buClr>
              <a:buSzPts val="1400"/>
              <a:buChar char="○"/>
              <a:defRPr/>
            </a:lvl8pPr>
            <a:lvl9pPr marL="4114800" lvl="8" indent="-317500" algn="l">
              <a:spcBef>
                <a:spcPts val="1200"/>
              </a:spcBef>
              <a:spcAft>
                <a:spcPts val="1200"/>
              </a:spcAft>
              <a:buClr>
                <a:schemeClr val="dk1"/>
              </a:buClr>
              <a:buSzPts val="1400"/>
              <a:buChar char="■"/>
              <a:defRPr/>
            </a:lvl9pPr>
          </a:lstStyle>
          <a:p>
            <a:endParaRPr/>
          </a:p>
        </p:txBody>
      </p:sp>
      <p:pic>
        <p:nvPicPr>
          <p:cNvPr id="69" name="Google Shape;69;p18" descr="A picture containing graphical user interface&#10;&#10;Description automatically generated"/>
          <p:cNvPicPr preferRelativeResize="0"/>
          <p:nvPr/>
        </p:nvPicPr>
        <p:blipFill rotWithShape="1">
          <a:blip r:embed="rId3">
            <a:alphaModFix/>
          </a:blip>
          <a:srcRect/>
          <a:stretch/>
        </p:blipFill>
        <p:spPr>
          <a:xfrm>
            <a:off x="6086475" y="249829"/>
            <a:ext cx="2827622" cy="810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Slide">
  <p:cSld name="1_Blank Slide">
    <p:spTree>
      <p:nvGrpSpPr>
        <p:cNvPr id="1" name="Shape 70"/>
        <p:cNvGrpSpPr/>
        <p:nvPr/>
      </p:nvGrpSpPr>
      <p:grpSpPr>
        <a:xfrm>
          <a:off x="0" y="0"/>
          <a:ext cx="0" cy="0"/>
          <a:chOff x="0" y="0"/>
          <a:chExt cx="0" cy="0"/>
        </a:xfrm>
      </p:grpSpPr>
      <p:pic>
        <p:nvPicPr>
          <p:cNvPr id="71" name="Google Shape;71;p19"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72" name="Google Shape;72;p19"/>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3" name="Google Shape;73;p19"/>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4" name="Google Shape;74;p19"/>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75" name="Google Shape;75;p19"/>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6"/>
        <p:cNvGrpSpPr/>
        <p:nvPr/>
      </p:nvGrpSpPr>
      <p:grpSpPr>
        <a:xfrm>
          <a:off x="0" y="0"/>
          <a:ext cx="0" cy="0"/>
          <a:chOff x="0" y="0"/>
          <a:chExt cx="0" cy="0"/>
        </a:xfrm>
      </p:grpSpPr>
      <p:pic>
        <p:nvPicPr>
          <p:cNvPr id="77" name="Google Shape;77;p20"/>
          <p:cNvPicPr preferRelativeResize="0"/>
          <p:nvPr/>
        </p:nvPicPr>
        <p:blipFill rotWithShape="1">
          <a:blip r:embed="rId2">
            <a:alphaModFix/>
          </a:blip>
          <a:srcRect/>
          <a:stretch/>
        </p:blipFill>
        <p:spPr>
          <a:xfrm>
            <a:off x="0" y="1"/>
            <a:ext cx="9144001" cy="5148250"/>
          </a:xfrm>
          <a:prstGeom prst="rect">
            <a:avLst/>
          </a:prstGeom>
          <a:noFill/>
          <a:ln>
            <a:noFill/>
          </a:ln>
        </p:spPr>
      </p:pic>
      <p:pic>
        <p:nvPicPr>
          <p:cNvPr id="78" name="Google Shape;78;p20" descr="Logo&#10;&#10;Description automatically generated"/>
          <p:cNvPicPr preferRelativeResize="0"/>
          <p:nvPr/>
        </p:nvPicPr>
        <p:blipFill rotWithShape="1">
          <a:blip r:embed="rId3">
            <a:alphaModFix/>
          </a:blip>
          <a:srcRect/>
          <a:stretch/>
        </p:blipFill>
        <p:spPr>
          <a:xfrm>
            <a:off x="7433543" y="110775"/>
            <a:ext cx="1587022" cy="4497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1">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Blank Slide 1">
  <p:cSld name="1_Blank Slide_1">
    <p:spTree>
      <p:nvGrpSpPr>
        <p:cNvPr id="1" name="Shape 79"/>
        <p:cNvGrpSpPr/>
        <p:nvPr/>
      </p:nvGrpSpPr>
      <p:grpSpPr>
        <a:xfrm>
          <a:off x="0" y="0"/>
          <a:ext cx="0" cy="0"/>
          <a:chOff x="0" y="0"/>
          <a:chExt cx="0" cy="0"/>
        </a:xfrm>
      </p:grpSpPr>
      <p:pic>
        <p:nvPicPr>
          <p:cNvPr id="80" name="Google Shape;80;p21"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81" name="Google Shape;81;p21"/>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2" name="Google Shape;82;p21"/>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3" name="Google Shape;83;p21"/>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b="0" i="0" u="none" strike="noStrike" cap="none">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84" name="Google Shape;84;p21"/>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rand">
  <p:cSld name="Brand">
    <p:bg>
      <p:bgPr>
        <a:gradFill>
          <a:gsLst>
            <a:gs pos="0">
              <a:srgbClr val="144B79"/>
            </a:gs>
            <a:gs pos="3000">
              <a:srgbClr val="144B79"/>
            </a:gs>
            <a:gs pos="96000">
              <a:srgbClr val="64CDCE"/>
            </a:gs>
            <a:gs pos="100000">
              <a:srgbClr val="64CDCE"/>
            </a:gs>
          </a:gsLst>
          <a:lin ang="7799903" scaled="0"/>
        </a:gradFill>
        <a:effectLst/>
      </p:bgPr>
    </p:bg>
    <p:spTree>
      <p:nvGrpSpPr>
        <p:cNvPr id="1" name="Shape 85"/>
        <p:cNvGrpSpPr/>
        <p:nvPr/>
      </p:nvGrpSpPr>
      <p:grpSpPr>
        <a:xfrm>
          <a:off x="0" y="0"/>
          <a:ext cx="0" cy="0"/>
          <a:chOff x="0" y="0"/>
          <a:chExt cx="0" cy="0"/>
        </a:xfrm>
      </p:grpSpPr>
      <p:pic>
        <p:nvPicPr>
          <p:cNvPr id="86" name="Google Shape;86;p22" descr="A logo with white text&#10;&#10;Description automatically generated"/>
          <p:cNvPicPr preferRelativeResize="0"/>
          <p:nvPr/>
        </p:nvPicPr>
        <p:blipFill rotWithShape="1">
          <a:blip r:embed="rId2">
            <a:alphaModFix/>
          </a:blip>
          <a:srcRect/>
          <a:stretch/>
        </p:blipFill>
        <p:spPr>
          <a:xfrm>
            <a:off x="2205059" y="1640495"/>
            <a:ext cx="4733883" cy="186251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89" name="Google Shape;89;p23"/>
          <p:cNvGrpSpPr/>
          <p:nvPr/>
        </p:nvGrpSpPr>
        <p:grpSpPr>
          <a:xfrm>
            <a:off x="0" y="4755328"/>
            <a:ext cx="9144000" cy="388111"/>
            <a:chOff x="417931" y="28734"/>
            <a:chExt cx="24384000" cy="938827"/>
          </a:xfrm>
        </p:grpSpPr>
        <p:sp>
          <p:nvSpPr>
            <p:cNvPr id="90" name="Google Shape;90;p23"/>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91" name="Google Shape;91;p23"/>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92" name="Google Shape;92;p23"/>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93" name="Google Shape;93;p23"/>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94" name="Google Shape;94;p23"/>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95" name="Google Shape;95;p23"/>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96" name="Google Shape;96;p23"/>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99" name="Google Shape;99;p24"/>
          <p:cNvGrpSpPr/>
          <p:nvPr/>
        </p:nvGrpSpPr>
        <p:grpSpPr>
          <a:xfrm>
            <a:off x="0" y="4755328"/>
            <a:ext cx="9144000" cy="388111"/>
            <a:chOff x="417931" y="28734"/>
            <a:chExt cx="24384000" cy="938827"/>
          </a:xfrm>
        </p:grpSpPr>
        <p:sp>
          <p:nvSpPr>
            <p:cNvPr id="100" name="Google Shape;100;p24"/>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01" name="Google Shape;101;p24"/>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02" name="Google Shape;102;p24"/>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03" name="Google Shape;103;p24"/>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04" name="Google Shape;104;p24"/>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105" name="Google Shape;105;p24"/>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106" name="Google Shape;106;p24"/>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109" name="Google Shape;109;p25"/>
          <p:cNvGrpSpPr/>
          <p:nvPr/>
        </p:nvGrpSpPr>
        <p:grpSpPr>
          <a:xfrm>
            <a:off x="0" y="4755328"/>
            <a:ext cx="9144000" cy="388111"/>
            <a:chOff x="417931" y="28734"/>
            <a:chExt cx="24384000" cy="938827"/>
          </a:xfrm>
        </p:grpSpPr>
        <p:sp>
          <p:nvSpPr>
            <p:cNvPr id="110" name="Google Shape;110;p2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11" name="Google Shape;111;p2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12" name="Google Shape;112;p25"/>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13" name="Google Shape;113;p2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14" name="Google Shape;114;p25"/>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115" name="Google Shape;115;p2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9"/>
        <p:cNvGrpSpPr/>
        <p:nvPr/>
      </p:nvGrpSpPr>
      <p:grpSpPr>
        <a:xfrm>
          <a:off x="0" y="0"/>
          <a:ext cx="0" cy="0"/>
          <a:chOff x="0" y="0"/>
          <a:chExt cx="0" cy="0"/>
        </a:xfrm>
      </p:grpSpPr>
      <p:sp>
        <p:nvSpPr>
          <p:cNvPr id="170" name="Google Shape;170;p4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71" name="Google Shape;171;p40"/>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72" name="Google Shape;172;p4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3" name="Google Shape;173;p4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4" name="Google Shape;174;p4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5"/>
        <p:cNvGrpSpPr/>
        <p:nvPr/>
      </p:nvGrpSpPr>
      <p:grpSpPr>
        <a:xfrm>
          <a:off x="0" y="0"/>
          <a:ext cx="0" cy="0"/>
          <a:chOff x="0" y="0"/>
          <a:chExt cx="0" cy="0"/>
        </a:xfrm>
      </p:grpSpPr>
      <p:sp>
        <p:nvSpPr>
          <p:cNvPr id="176" name="Google Shape;176;p4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7" name="Google Shape;177;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8" name="Google Shape;178;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9"/>
        <p:cNvGrpSpPr/>
        <p:nvPr/>
      </p:nvGrpSpPr>
      <p:grpSpPr>
        <a:xfrm>
          <a:off x="0" y="0"/>
          <a:ext cx="0" cy="0"/>
          <a:chOff x="0" y="0"/>
          <a:chExt cx="0" cy="0"/>
        </a:xfrm>
      </p:grpSpPr>
      <p:sp>
        <p:nvSpPr>
          <p:cNvPr id="180" name="Google Shape;180;p4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1" name="Google Shape;181;p42"/>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4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3" name="Google Shape;183;p4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4" name="Google Shape;184;p4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5"/>
        <p:cNvGrpSpPr/>
        <p:nvPr/>
      </p:nvGrpSpPr>
      <p:grpSpPr>
        <a:xfrm>
          <a:off x="0" y="0"/>
          <a:ext cx="0" cy="0"/>
          <a:chOff x="0" y="0"/>
          <a:chExt cx="0" cy="0"/>
        </a:xfrm>
      </p:grpSpPr>
      <p:sp>
        <p:nvSpPr>
          <p:cNvPr id="186" name="Google Shape;186;p43"/>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87" name="Google Shape;187;p43"/>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88" name="Google Shape;188;p4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9" name="Google Shape;189;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0" name="Google Shape;190;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91"/>
        <p:cNvGrpSpPr/>
        <p:nvPr/>
      </p:nvGrpSpPr>
      <p:grpSpPr>
        <a:xfrm>
          <a:off x="0" y="0"/>
          <a:ext cx="0" cy="0"/>
          <a:chOff x="0" y="0"/>
          <a:chExt cx="0" cy="0"/>
        </a:xfrm>
      </p:grpSpPr>
      <p:sp>
        <p:nvSpPr>
          <p:cNvPr id="192" name="Google Shape;192;p4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3" name="Google Shape;193;p44"/>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4" name="Google Shape;194;p44"/>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5" name="Google Shape;195;p4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6" name="Google Shape;196;p4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97" name="Google Shape;197;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8"/>
        <p:cNvGrpSpPr/>
        <p:nvPr/>
      </p:nvGrpSpPr>
      <p:grpSpPr>
        <a:xfrm>
          <a:off x="0" y="0"/>
          <a:ext cx="0" cy="0"/>
          <a:chOff x="0" y="0"/>
          <a:chExt cx="0" cy="0"/>
        </a:xfrm>
      </p:grpSpPr>
      <p:sp>
        <p:nvSpPr>
          <p:cNvPr id="199" name="Google Shape;199;p45"/>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0" name="Google Shape;200;p45"/>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1" name="Google Shape;201;p45"/>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2" name="Google Shape;202;p45"/>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3" name="Google Shape;203;p45"/>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4" name="Google Shape;204;p4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5" name="Google Shape;205;p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06" name="Google Shape;206;p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7"/>
        <p:cNvGrpSpPr/>
        <p:nvPr/>
      </p:nvGrpSpPr>
      <p:grpSpPr>
        <a:xfrm>
          <a:off x="0" y="0"/>
          <a:ext cx="0" cy="0"/>
          <a:chOff x="0" y="0"/>
          <a:chExt cx="0" cy="0"/>
        </a:xfrm>
      </p:grpSpPr>
      <p:sp>
        <p:nvSpPr>
          <p:cNvPr id="208" name="Google Shape;208;p4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09" name="Google Shape;209;p4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0" name="Google Shape;210;p4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1" name="Google Shape;211;p4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2"/>
        <p:cNvGrpSpPr/>
        <p:nvPr/>
      </p:nvGrpSpPr>
      <p:grpSpPr>
        <a:xfrm>
          <a:off x="0" y="0"/>
          <a:ext cx="0" cy="0"/>
          <a:chOff x="0" y="0"/>
          <a:chExt cx="0" cy="0"/>
        </a:xfrm>
      </p:grpSpPr>
      <p:sp>
        <p:nvSpPr>
          <p:cNvPr id="213" name="Google Shape;213;p47"/>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14" name="Google Shape;214;p47"/>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215" name="Google Shape;215;p47"/>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16" name="Google Shape;216;p4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7" name="Google Shape;217;p4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8" name="Google Shape;218;p4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9"/>
        <p:cNvGrpSpPr/>
        <p:nvPr/>
      </p:nvGrpSpPr>
      <p:grpSpPr>
        <a:xfrm>
          <a:off x="0" y="0"/>
          <a:ext cx="0" cy="0"/>
          <a:chOff x="0" y="0"/>
          <a:chExt cx="0" cy="0"/>
        </a:xfrm>
      </p:grpSpPr>
      <p:sp>
        <p:nvSpPr>
          <p:cNvPr id="220" name="Google Shape;220;p48"/>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1" name="Google Shape;221;p48"/>
          <p:cNvSpPr>
            <a:spLocks noGrp="1"/>
          </p:cNvSpPr>
          <p:nvPr>
            <p:ph type="pic" idx="2"/>
          </p:nvPr>
        </p:nvSpPr>
        <p:spPr>
          <a:xfrm>
            <a:off x="3887391" y="740569"/>
            <a:ext cx="4629300" cy="3655200"/>
          </a:xfrm>
          <a:prstGeom prst="rect">
            <a:avLst/>
          </a:prstGeom>
          <a:noFill/>
          <a:ln>
            <a:noFill/>
          </a:ln>
        </p:spPr>
      </p:sp>
      <p:sp>
        <p:nvSpPr>
          <p:cNvPr id="222" name="Google Shape;222;p48"/>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223" name="Google Shape;223;p4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4" name="Google Shape;224;p4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5" name="Google Shape;225;p4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6"/>
        <p:cNvGrpSpPr/>
        <p:nvPr/>
      </p:nvGrpSpPr>
      <p:grpSpPr>
        <a:xfrm>
          <a:off x="0" y="0"/>
          <a:ext cx="0" cy="0"/>
          <a:chOff x="0" y="0"/>
          <a:chExt cx="0" cy="0"/>
        </a:xfrm>
      </p:grpSpPr>
      <p:sp>
        <p:nvSpPr>
          <p:cNvPr id="227" name="Google Shape;227;p4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28" name="Google Shape;228;p49"/>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29" name="Google Shape;229;p4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0" name="Google Shape;230;p4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1" name="Google Shape;231;p4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32"/>
        <p:cNvGrpSpPr/>
        <p:nvPr/>
      </p:nvGrpSpPr>
      <p:grpSpPr>
        <a:xfrm>
          <a:off x="0" y="0"/>
          <a:ext cx="0" cy="0"/>
          <a:chOff x="0" y="0"/>
          <a:chExt cx="0" cy="0"/>
        </a:xfrm>
      </p:grpSpPr>
      <p:sp>
        <p:nvSpPr>
          <p:cNvPr id="233" name="Google Shape;233;p50"/>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34" name="Google Shape;234;p50"/>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35" name="Google Shape;235;p5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6" name="Google Shape;236;p5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7" name="Google Shape;237;p5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238"/>
        <p:cNvGrpSpPr/>
        <p:nvPr/>
      </p:nvGrpSpPr>
      <p:grpSpPr>
        <a:xfrm>
          <a:off x="0" y="0"/>
          <a:ext cx="0" cy="0"/>
          <a:chOff x="0" y="0"/>
          <a:chExt cx="0" cy="0"/>
        </a:xfrm>
      </p:grpSpPr>
      <p:sp>
        <p:nvSpPr>
          <p:cNvPr id="239" name="Google Shape;239;p51"/>
          <p:cNvSpPr txBox="1">
            <a:spLocks noGrp="1"/>
          </p:cNvSpPr>
          <p:nvPr>
            <p:ph type="title"/>
          </p:nvPr>
        </p:nvSpPr>
        <p:spPr>
          <a:xfrm>
            <a:off x="311700" y="2150850"/>
            <a:ext cx="8520600" cy="841800"/>
          </a:xfrm>
          <a:prstGeom prst="rect">
            <a:avLst/>
          </a:prstGeom>
        </p:spPr>
        <p:txBody>
          <a:bodyPr spcFirstLastPara="1" wrap="square" lIns="68575" tIns="34275" rIns="68575" bIns="3427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0" name="Google Shape;240;p51"/>
          <p:cNvSpPr txBox="1">
            <a:spLocks noGrp="1"/>
          </p:cNvSpPr>
          <p:nvPr>
            <p:ph type="sldNum" idx="12"/>
          </p:nvPr>
        </p:nvSpPr>
        <p:spPr>
          <a:xfrm>
            <a:off x="8472458" y="4663217"/>
            <a:ext cx="548700" cy="393600"/>
          </a:xfrm>
          <a:prstGeom prst="rect">
            <a:avLst/>
          </a:prstGeom>
        </p:spPr>
        <p:txBody>
          <a:bodyPr spcFirstLastPara="1" wrap="square" lIns="68575" tIns="34275" rIns="68575" bIns="342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17"/>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2"/>
        <p:cNvGrpSpPr/>
        <p:nvPr/>
      </p:nvGrpSpPr>
      <p:grpSpPr>
        <a:xfrm>
          <a:off x="0" y="0"/>
          <a:ext cx="0" cy="0"/>
          <a:chOff x="0" y="0"/>
          <a:chExt cx="0" cy="0"/>
        </a:xfrm>
      </p:grpSpPr>
      <p:sp>
        <p:nvSpPr>
          <p:cNvPr id="323" name="Google Shape;323;p6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24" name="Google Shape;324;p6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25" name="Google Shape;325;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6"/>
        <p:cNvGrpSpPr/>
        <p:nvPr/>
      </p:nvGrpSpPr>
      <p:grpSpPr>
        <a:xfrm>
          <a:off x="0" y="0"/>
          <a:ext cx="0" cy="0"/>
          <a:chOff x="0" y="0"/>
          <a:chExt cx="0" cy="0"/>
        </a:xfrm>
      </p:grpSpPr>
      <p:sp>
        <p:nvSpPr>
          <p:cNvPr id="327" name="Google Shape;327;p6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8" name="Google Shape;328;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9"/>
        <p:cNvGrpSpPr/>
        <p:nvPr/>
      </p:nvGrpSpPr>
      <p:grpSpPr>
        <a:xfrm>
          <a:off x="0" y="0"/>
          <a:ext cx="0" cy="0"/>
          <a:chOff x="0" y="0"/>
          <a:chExt cx="0" cy="0"/>
        </a:xfrm>
      </p:grpSpPr>
      <p:sp>
        <p:nvSpPr>
          <p:cNvPr id="330" name="Google Shape;330;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1" name="Google Shape;331;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32" name="Google Shape;332;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3"/>
        <p:cNvGrpSpPr/>
        <p:nvPr/>
      </p:nvGrpSpPr>
      <p:grpSpPr>
        <a:xfrm>
          <a:off x="0" y="0"/>
          <a:ext cx="0" cy="0"/>
          <a:chOff x="0" y="0"/>
          <a:chExt cx="0" cy="0"/>
        </a:xfrm>
      </p:grpSpPr>
      <p:sp>
        <p:nvSpPr>
          <p:cNvPr id="334" name="Google Shape;334;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5" name="Google Shape;335;p7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6" name="Google Shape;336;p7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7" name="Google Shape;337;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8"/>
        <p:cNvGrpSpPr/>
        <p:nvPr/>
      </p:nvGrpSpPr>
      <p:grpSpPr>
        <a:xfrm>
          <a:off x="0" y="0"/>
          <a:ext cx="0" cy="0"/>
          <a:chOff x="0" y="0"/>
          <a:chExt cx="0" cy="0"/>
        </a:xfrm>
      </p:grpSpPr>
      <p:sp>
        <p:nvSpPr>
          <p:cNvPr id="339" name="Google Shape;339;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0" name="Google Shape;340;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1"/>
        <p:cNvGrpSpPr/>
        <p:nvPr/>
      </p:nvGrpSpPr>
      <p:grpSpPr>
        <a:xfrm>
          <a:off x="0" y="0"/>
          <a:ext cx="0" cy="0"/>
          <a:chOff x="0" y="0"/>
          <a:chExt cx="0" cy="0"/>
        </a:xfrm>
      </p:grpSpPr>
      <p:sp>
        <p:nvSpPr>
          <p:cNvPr id="342" name="Google Shape;342;p7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3" name="Google Shape;343;p7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4" name="Google Shape;344;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5"/>
        <p:cNvGrpSpPr/>
        <p:nvPr/>
      </p:nvGrpSpPr>
      <p:grpSpPr>
        <a:xfrm>
          <a:off x="0" y="0"/>
          <a:ext cx="0" cy="0"/>
          <a:chOff x="0" y="0"/>
          <a:chExt cx="0" cy="0"/>
        </a:xfrm>
      </p:grpSpPr>
      <p:sp>
        <p:nvSpPr>
          <p:cNvPr id="346" name="Google Shape;346;p7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7" name="Google Shape;347;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8"/>
        <p:cNvGrpSpPr/>
        <p:nvPr/>
      </p:nvGrpSpPr>
      <p:grpSpPr>
        <a:xfrm>
          <a:off x="0" y="0"/>
          <a:ext cx="0" cy="0"/>
          <a:chOff x="0" y="0"/>
          <a:chExt cx="0" cy="0"/>
        </a:xfrm>
      </p:grpSpPr>
      <p:sp>
        <p:nvSpPr>
          <p:cNvPr id="349" name="Google Shape;349;p7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1" name="Google Shape;351;p7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52" name="Google Shape;352;p7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53" name="Google Shape;353;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4"/>
        <p:cNvGrpSpPr/>
        <p:nvPr/>
      </p:nvGrpSpPr>
      <p:grpSpPr>
        <a:xfrm>
          <a:off x="0" y="0"/>
          <a:ext cx="0" cy="0"/>
          <a:chOff x="0" y="0"/>
          <a:chExt cx="0" cy="0"/>
        </a:xfrm>
      </p:grpSpPr>
      <p:sp>
        <p:nvSpPr>
          <p:cNvPr id="355" name="Google Shape;355;p7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356" name="Google Shape;35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7"/>
        <p:cNvGrpSpPr/>
        <p:nvPr/>
      </p:nvGrpSpPr>
      <p:grpSpPr>
        <a:xfrm>
          <a:off x="0" y="0"/>
          <a:ext cx="0" cy="0"/>
          <a:chOff x="0" y="0"/>
          <a:chExt cx="0" cy="0"/>
        </a:xfrm>
      </p:grpSpPr>
      <p:sp>
        <p:nvSpPr>
          <p:cNvPr id="358" name="Google Shape;358;p7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9" name="Google Shape;359;p7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360" name="Google Shape;360;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ustom Layout 1">
  <p:cSld name="Custom Layout_1">
    <p:spTree>
      <p:nvGrpSpPr>
        <p:cNvPr id="1" name="Shape 363"/>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64"/>
        <p:cNvGrpSpPr/>
        <p:nvPr/>
      </p:nvGrpSpPr>
      <p:grpSpPr>
        <a:xfrm>
          <a:off x="0" y="0"/>
          <a:ext cx="0" cy="0"/>
          <a:chOff x="0" y="0"/>
          <a:chExt cx="0" cy="0"/>
        </a:xfrm>
      </p:grpSpPr>
      <p:sp>
        <p:nvSpPr>
          <p:cNvPr id="365" name="Google Shape;365;p79"/>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lide_alt1">
  <p:cSld name="1_Title slide">
    <p:bg>
      <p:bgPr>
        <a:solidFill>
          <a:schemeClr val="lt2"/>
        </a:solidFill>
        <a:effectLst/>
      </p:bgPr>
    </p:bg>
    <p:spTree>
      <p:nvGrpSpPr>
        <p:cNvPr id="1" name="Shape 369"/>
        <p:cNvGrpSpPr/>
        <p:nvPr/>
      </p:nvGrpSpPr>
      <p:grpSpPr>
        <a:xfrm>
          <a:off x="0" y="0"/>
          <a:ext cx="0" cy="0"/>
          <a:chOff x="0" y="0"/>
          <a:chExt cx="0" cy="0"/>
        </a:xfrm>
      </p:grpSpPr>
      <p:pic>
        <p:nvPicPr>
          <p:cNvPr id="370" name="Google Shape;370;p81" descr="shutterstock_429987889_edited.jpg"/>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371" name="Google Shape;371;p81"/>
          <p:cNvSpPr txBox="1">
            <a:spLocks noGrp="1"/>
          </p:cNvSpPr>
          <p:nvPr>
            <p:ph type="ctrTitle"/>
          </p:nvPr>
        </p:nvSpPr>
        <p:spPr>
          <a:xfrm>
            <a:off x="914400" y="2323238"/>
            <a:ext cx="7315200" cy="3387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2"/>
              </a:buClr>
              <a:buSzPts val="4200"/>
              <a:buNone/>
              <a:defRPr sz="22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372" name="Google Shape;372;p8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373" name="Google Shape;373;p81"/>
          <p:cNvSpPr txBox="1">
            <a:spLocks noGrp="1"/>
          </p:cNvSpPr>
          <p:nvPr>
            <p:ph type="body" idx="1"/>
          </p:nvPr>
        </p:nvSpPr>
        <p:spPr>
          <a:xfrm>
            <a:off x="931653" y="2750315"/>
            <a:ext cx="7315200" cy="2124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2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pic>
        <p:nvPicPr>
          <p:cNvPr id="374" name="Google Shape;374;p81" descr="A green letters on a black background&#10;&#10;Description automatically generated"/>
          <p:cNvPicPr preferRelativeResize="0"/>
          <p:nvPr/>
        </p:nvPicPr>
        <p:blipFill rotWithShape="1">
          <a:blip r:embed="rId3">
            <a:alphaModFix/>
          </a:blip>
          <a:srcRect/>
          <a:stretch/>
        </p:blipFill>
        <p:spPr>
          <a:xfrm>
            <a:off x="914400" y="1347818"/>
            <a:ext cx="1805286" cy="411480"/>
          </a:xfrm>
          <a:prstGeom prst="rect">
            <a:avLst/>
          </a:prstGeom>
          <a:noFill/>
          <a:ln>
            <a:noFill/>
          </a:ln>
        </p:spPr>
      </p:pic>
      <p:grpSp>
        <p:nvGrpSpPr>
          <p:cNvPr id="375" name="Google Shape;375;p81"/>
          <p:cNvGrpSpPr/>
          <p:nvPr/>
        </p:nvGrpSpPr>
        <p:grpSpPr>
          <a:xfrm>
            <a:off x="914402" y="1191277"/>
            <a:ext cx="745763" cy="45826"/>
            <a:chOff x="4580561" y="2589004"/>
            <a:chExt cx="1064464" cy="25200"/>
          </a:xfrm>
        </p:grpSpPr>
        <p:sp>
          <p:nvSpPr>
            <p:cNvPr id="376" name="Google Shape;376;p81"/>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77" name="Google Shape;377;p81"/>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78" name="Google Shape;378;p81"/>
          <p:cNvSpPr txBox="1"/>
          <p:nvPr/>
        </p:nvSpPr>
        <p:spPr>
          <a:xfrm>
            <a:off x="914399" y="1841513"/>
            <a:ext cx="7315200" cy="3387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2"/>
              </a:buClr>
              <a:buSzPts val="4200"/>
              <a:buFont typeface="Raleway"/>
              <a:buNone/>
            </a:pPr>
            <a:r>
              <a:rPr lang="en" sz="2200" b="1" i="0" u="none" strike="noStrike" cap="none">
                <a:solidFill>
                  <a:srgbClr val="7F7F7F"/>
                </a:solidFill>
                <a:latin typeface="Lato"/>
                <a:ea typeface="Lato"/>
                <a:cs typeface="Lato"/>
                <a:sym typeface="Lato"/>
              </a:rPr>
              <a:t>Carbon Management SaaS and Verification Technology</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1">
  <p:cSld name="Title 1 line">
    <p:spTree>
      <p:nvGrpSpPr>
        <p:cNvPr id="1" name="Shape 379"/>
        <p:cNvGrpSpPr/>
        <p:nvPr/>
      </p:nvGrpSpPr>
      <p:grpSpPr>
        <a:xfrm>
          <a:off x="0" y="0"/>
          <a:ext cx="0" cy="0"/>
          <a:chOff x="0" y="0"/>
          <a:chExt cx="0" cy="0"/>
        </a:xfrm>
      </p:grpSpPr>
      <p:sp>
        <p:nvSpPr>
          <p:cNvPr id="380" name="Google Shape;380;p82"/>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381" name="Google Shape;381;p82"/>
          <p:cNvGrpSpPr/>
          <p:nvPr/>
        </p:nvGrpSpPr>
        <p:grpSpPr>
          <a:xfrm>
            <a:off x="228601" y="737966"/>
            <a:ext cx="745763" cy="45826"/>
            <a:chOff x="4580561" y="2589004"/>
            <a:chExt cx="1064464" cy="25200"/>
          </a:xfrm>
        </p:grpSpPr>
        <p:sp>
          <p:nvSpPr>
            <p:cNvPr id="382" name="Google Shape;382;p82"/>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83" name="Google Shape;383;p82"/>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84" name="Google Shape;384;p82"/>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85" name="Google Shape;385;p82"/>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86" name="Google Shape;386;p82"/>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387" name="Google Shape;387;p82"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388" name="Google Shape;388;p82"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2">
  <p:cSld name="1_Title and body">
    <p:spTree>
      <p:nvGrpSpPr>
        <p:cNvPr id="1" name="Shape 389"/>
        <p:cNvGrpSpPr/>
        <p:nvPr/>
      </p:nvGrpSpPr>
      <p:grpSpPr>
        <a:xfrm>
          <a:off x="0" y="0"/>
          <a:ext cx="0" cy="0"/>
          <a:chOff x="0" y="0"/>
          <a:chExt cx="0" cy="0"/>
        </a:xfrm>
      </p:grpSpPr>
      <p:sp>
        <p:nvSpPr>
          <p:cNvPr id="390" name="Google Shape;390;p83"/>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91" name="Google Shape;391;p83"/>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92" name="Google Shape;392;p83"/>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93" name="Google Shape;393;p83"/>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394" name="Google Shape;394;p83"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395" name="Google Shape;395;p83"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396" name="Google Shape;396;p83"/>
          <p:cNvGrpSpPr/>
          <p:nvPr/>
        </p:nvGrpSpPr>
        <p:grpSpPr>
          <a:xfrm>
            <a:off x="228602" y="737966"/>
            <a:ext cx="745763" cy="45826"/>
            <a:chOff x="4580561" y="2589004"/>
            <a:chExt cx="1064464" cy="25200"/>
          </a:xfrm>
        </p:grpSpPr>
        <p:sp>
          <p:nvSpPr>
            <p:cNvPr id="397" name="Google Shape;397;p83"/>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398" name="Google Shape;398;p83"/>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399" name="Google Shape;399;p83"/>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body 3">
  <p:cSld name="1_Title and body 2">
    <p:spTree>
      <p:nvGrpSpPr>
        <p:cNvPr id="1" name="Shape 400"/>
        <p:cNvGrpSpPr/>
        <p:nvPr/>
      </p:nvGrpSpPr>
      <p:grpSpPr>
        <a:xfrm>
          <a:off x="0" y="0"/>
          <a:ext cx="0" cy="0"/>
          <a:chOff x="0" y="0"/>
          <a:chExt cx="0" cy="0"/>
        </a:xfrm>
      </p:grpSpPr>
      <p:sp>
        <p:nvSpPr>
          <p:cNvPr id="401" name="Google Shape;401;p84"/>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02" name="Google Shape;402;p84"/>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403" name="Google Shape;403;p84"/>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04" name="Google Shape;404;p84"/>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405" name="Google Shape;405;p84"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406" name="Google Shape;406;p84"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407" name="Google Shape;407;p84"/>
          <p:cNvGrpSpPr/>
          <p:nvPr/>
        </p:nvGrpSpPr>
        <p:grpSpPr>
          <a:xfrm>
            <a:off x="228602" y="737966"/>
            <a:ext cx="745763" cy="45826"/>
            <a:chOff x="4580561" y="2589004"/>
            <a:chExt cx="1064464" cy="25200"/>
          </a:xfrm>
        </p:grpSpPr>
        <p:sp>
          <p:nvSpPr>
            <p:cNvPr id="408" name="Google Shape;408;p84"/>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09" name="Google Shape;409;p84"/>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410" name="Google Shape;410;p84"/>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4">
  <p:cSld name="Title 2 lines">
    <p:spTree>
      <p:nvGrpSpPr>
        <p:cNvPr id="1" name="Shape 411"/>
        <p:cNvGrpSpPr/>
        <p:nvPr/>
      </p:nvGrpSpPr>
      <p:grpSpPr>
        <a:xfrm>
          <a:off x="0" y="0"/>
          <a:ext cx="0" cy="0"/>
          <a:chOff x="0" y="0"/>
          <a:chExt cx="0" cy="0"/>
        </a:xfrm>
      </p:grpSpPr>
      <p:sp>
        <p:nvSpPr>
          <p:cNvPr id="412" name="Google Shape;412;p85"/>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413" name="Google Shape;413;p85"/>
          <p:cNvGrpSpPr/>
          <p:nvPr/>
        </p:nvGrpSpPr>
        <p:grpSpPr>
          <a:xfrm>
            <a:off x="228602" y="737966"/>
            <a:ext cx="745763" cy="45826"/>
            <a:chOff x="4580561" y="2589004"/>
            <a:chExt cx="1064464" cy="25200"/>
          </a:xfrm>
        </p:grpSpPr>
        <p:sp>
          <p:nvSpPr>
            <p:cNvPr id="414" name="Google Shape;414;p85"/>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415" name="Google Shape;415;p85"/>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416" name="Google Shape;416;p85"/>
          <p:cNvSpPr txBox="1">
            <a:spLocks noGrp="1"/>
          </p:cNvSpPr>
          <p:nvPr>
            <p:ph type="title"/>
          </p:nvPr>
        </p:nvSpPr>
        <p:spPr>
          <a:xfrm>
            <a:off x="228600" y="84108"/>
            <a:ext cx="8138100" cy="596400"/>
          </a:xfrm>
          <a:prstGeom prst="rect">
            <a:avLst/>
          </a:prstGeom>
          <a:noFill/>
          <a:ln>
            <a:noFill/>
          </a:ln>
        </p:spPr>
        <p:txBody>
          <a:bodyPr spcFirstLastPara="1" wrap="square" lIns="0" tIns="0" rIns="0" bIns="0" anchor="t" anchorCtr="0">
            <a:no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417" name="Google Shape;417;p85"/>
          <p:cNvSpPr txBox="1">
            <a:spLocks noGrp="1"/>
          </p:cNvSpPr>
          <p:nvPr>
            <p:ph type="body" idx="1"/>
          </p:nvPr>
        </p:nvSpPr>
        <p:spPr>
          <a:xfrm>
            <a:off x="228599" y="4977306"/>
            <a:ext cx="8046600" cy="141600"/>
          </a:xfrm>
          <a:prstGeom prst="rect">
            <a:avLst/>
          </a:prstGeom>
          <a:noFill/>
          <a:ln>
            <a:noFill/>
          </a:ln>
        </p:spPr>
        <p:txBody>
          <a:bodyPr spcFirstLastPara="1" wrap="square" lIns="0" tIns="0" rIns="0" bIns="0" anchor="ctr" anchorCtr="0">
            <a:spAutoFit/>
          </a:bodyPr>
          <a:lstStyle>
            <a:lvl1pPr marL="457200" lvl="0" indent="-228600" algn="l">
              <a:lnSpc>
                <a:spcPct val="115000"/>
              </a:lnSpc>
              <a:spcBef>
                <a:spcPts val="0"/>
              </a:spcBef>
              <a:spcAft>
                <a:spcPts val="0"/>
              </a:spcAft>
              <a:buSzPts val="1300"/>
              <a:buNone/>
              <a:defRPr sz="8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18" name="Google Shape;418;p85"/>
          <p:cNvSpPr txBox="1"/>
          <p:nvPr/>
        </p:nvSpPr>
        <p:spPr>
          <a:xfrm>
            <a:off x="8278016"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419" name="Google Shape;419;p85"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420" name="Google Shape;420;p85"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chemeClr val="lt1"/>
        </a:solidFill>
        <a:effectLst/>
      </p:bgPr>
    </p:bg>
    <p:spTree>
      <p:nvGrpSpPr>
        <p:cNvPr id="1" name="Shape 421"/>
        <p:cNvGrpSpPr/>
        <p:nvPr/>
      </p:nvGrpSpPr>
      <p:grpSpPr>
        <a:xfrm>
          <a:off x="0" y="0"/>
          <a:ext cx="0" cy="0"/>
          <a:chOff x="0" y="0"/>
          <a:chExt cx="0" cy="0"/>
        </a:xfrm>
      </p:grpSpPr>
      <p:sp>
        <p:nvSpPr>
          <p:cNvPr id="422" name="Google Shape;422;p86"/>
          <p:cNvSpPr/>
          <p:nvPr/>
        </p:nvSpPr>
        <p:spPr>
          <a:xfrm>
            <a:off x="0" y="0"/>
            <a:ext cx="9144000" cy="783590"/>
          </a:xfrm>
          <a:custGeom>
            <a:avLst/>
            <a:gdLst/>
            <a:ahLst/>
            <a:cxnLst/>
            <a:rect l="l" t="t" r="r" b="b"/>
            <a:pathLst>
              <a:path w="9144000" h="783590" extrusionOk="0">
                <a:moveTo>
                  <a:pt x="9144000" y="0"/>
                </a:moveTo>
                <a:lnTo>
                  <a:pt x="0" y="0"/>
                </a:lnTo>
                <a:lnTo>
                  <a:pt x="0" y="783336"/>
                </a:lnTo>
                <a:lnTo>
                  <a:pt x="9144000" y="783336"/>
                </a:lnTo>
                <a:lnTo>
                  <a:pt x="9144000" y="0"/>
                </a:lnTo>
                <a:close/>
              </a:path>
            </a:pathLst>
          </a:custGeom>
          <a:solidFill>
            <a:srgbClr val="E7E6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3" name="Google Shape;423;p86"/>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800"/>
              <a:buNone/>
              <a:defRPr sz="1800" b="1" i="0">
                <a:solidFill>
                  <a:srgbClr val="434953"/>
                </a:solidFill>
                <a:latin typeface="Lato"/>
                <a:ea typeface="Lato"/>
                <a:cs typeface="Lato"/>
                <a:sym typeface="La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4" name="Google Shape;424;p86"/>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11150" algn="l">
              <a:lnSpc>
                <a:spcPct val="115000"/>
              </a:lnSpc>
              <a:spcBef>
                <a:spcPts val="0"/>
              </a:spcBef>
              <a:spcAft>
                <a:spcPts val="0"/>
              </a:spcAft>
              <a:buSzPts val="1300"/>
              <a:buChar char="●"/>
              <a:defRPr b="0" i="0">
                <a:solidFill>
                  <a:schemeClr val="dk1"/>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25" name="Google Shape;425;p86"/>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26" name="Google Shape;426;p86"/>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27" name="Google Shape;427;p86"/>
          <p:cNvSpPr txBox="1">
            <a:spLocks noGrp="1"/>
          </p:cNvSpPr>
          <p:nvPr>
            <p:ph type="sldNum" idx="12"/>
          </p:nvPr>
        </p:nvSpPr>
        <p:spPr>
          <a:xfrm>
            <a:off x="8536302" y="4749851"/>
            <a:ext cx="548700" cy="393600"/>
          </a:xfrm>
          <a:prstGeom prst="rect">
            <a:avLst/>
          </a:prstGeom>
          <a:noFill/>
          <a:ln>
            <a:noFill/>
          </a:ln>
        </p:spPr>
        <p:txBody>
          <a:bodyPr spcFirstLastPara="1" wrap="square" lIns="0" tIns="0" rIns="0" bIns="0" anchor="ctr" anchorCtr="0">
            <a:noAutofit/>
          </a:bodyPr>
          <a:lstStyle>
            <a:lvl1pPr marL="46355" marR="0" lvl="0"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1pPr>
            <a:lvl2pPr marL="46355" marR="0" lvl="1"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2pPr>
            <a:lvl3pPr marL="46355" marR="0" lvl="2"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3pPr>
            <a:lvl4pPr marL="46355" marR="0" lvl="3"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4pPr>
            <a:lvl5pPr marL="46355" marR="0" lvl="4"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5pPr>
            <a:lvl6pPr marL="46355" marR="0" lvl="5"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6pPr>
            <a:lvl7pPr marL="46355" marR="0" lvl="6"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7pPr>
            <a:lvl8pPr marL="46355" marR="0" lvl="7"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8pPr>
            <a:lvl9pPr marL="46355" marR="0" lvl="8"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9pPr>
          </a:lstStyle>
          <a:p>
            <a:pPr marL="46355" lvl="0" indent="0" algn="r" rtl="0">
              <a:spcBef>
                <a:spcPts val="9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428"/>
        <p:cNvGrpSpPr/>
        <p:nvPr/>
      </p:nvGrpSpPr>
      <p:grpSpPr>
        <a:xfrm>
          <a:off x="0" y="0"/>
          <a:ext cx="0" cy="0"/>
          <a:chOff x="0" y="0"/>
          <a:chExt cx="0" cy="0"/>
        </a:xfrm>
      </p:grpSpPr>
      <p:sp>
        <p:nvSpPr>
          <p:cNvPr id="429" name="Google Shape;429;p87"/>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30" name="Google Shape;430;p87"/>
          <p:cNvGrpSpPr/>
          <p:nvPr/>
        </p:nvGrpSpPr>
        <p:grpSpPr>
          <a:xfrm>
            <a:off x="0" y="4755328"/>
            <a:ext cx="9144000" cy="388111"/>
            <a:chOff x="417931" y="28734"/>
            <a:chExt cx="24384000" cy="938827"/>
          </a:xfrm>
        </p:grpSpPr>
        <p:sp>
          <p:nvSpPr>
            <p:cNvPr id="431" name="Google Shape;431;p87"/>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432" name="Google Shape;432;p87"/>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433" name="Google Shape;433;p87"/>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34" name="Google Shape;434;p87"/>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35" name="Google Shape;435;p87"/>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36" name="Google Shape;436;p87"/>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37" name="Google Shape;437;p87"/>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438"/>
        <p:cNvGrpSpPr/>
        <p:nvPr/>
      </p:nvGrpSpPr>
      <p:grpSpPr>
        <a:xfrm>
          <a:off x="0" y="0"/>
          <a:ext cx="0" cy="0"/>
          <a:chOff x="0" y="0"/>
          <a:chExt cx="0" cy="0"/>
        </a:xfrm>
      </p:grpSpPr>
      <p:sp>
        <p:nvSpPr>
          <p:cNvPr id="439" name="Google Shape;439;p88"/>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40" name="Google Shape;440;p88"/>
          <p:cNvGrpSpPr/>
          <p:nvPr/>
        </p:nvGrpSpPr>
        <p:grpSpPr>
          <a:xfrm>
            <a:off x="0" y="4755328"/>
            <a:ext cx="9144000" cy="388111"/>
            <a:chOff x="417931" y="28734"/>
            <a:chExt cx="24384000" cy="938827"/>
          </a:xfrm>
        </p:grpSpPr>
        <p:sp>
          <p:nvSpPr>
            <p:cNvPr id="441" name="Google Shape;441;p88"/>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42" name="Google Shape;442;p88"/>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43" name="Google Shape;443;p88"/>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44" name="Google Shape;444;p88"/>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45" name="Google Shape;445;p88"/>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46" name="Google Shape;446;p88"/>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47" name="Google Shape;447;p88"/>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3_Blank 1">
  <p:cSld name="3_Blank_1">
    <p:bg>
      <p:bgPr>
        <a:blipFill>
          <a:blip r:embed="rId2">
            <a:alphaModFix/>
          </a:blip>
          <a:stretch>
            <a:fillRect/>
          </a:stretch>
        </a:blipFill>
        <a:effectLst/>
      </p:bgPr>
    </p:bg>
    <p:spTree>
      <p:nvGrpSpPr>
        <p:cNvPr id="1" name="Shape 448"/>
        <p:cNvGrpSpPr/>
        <p:nvPr/>
      </p:nvGrpSpPr>
      <p:grpSpPr>
        <a:xfrm>
          <a:off x="0" y="0"/>
          <a:ext cx="0" cy="0"/>
          <a:chOff x="0" y="0"/>
          <a:chExt cx="0" cy="0"/>
        </a:xfrm>
      </p:grpSpPr>
      <p:sp>
        <p:nvSpPr>
          <p:cNvPr id="449" name="Google Shape;449;p89"/>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50" name="Google Shape;450;p89"/>
          <p:cNvGrpSpPr/>
          <p:nvPr/>
        </p:nvGrpSpPr>
        <p:grpSpPr>
          <a:xfrm>
            <a:off x="0" y="4755328"/>
            <a:ext cx="9144000" cy="388111"/>
            <a:chOff x="417931" y="28734"/>
            <a:chExt cx="24384000" cy="938827"/>
          </a:xfrm>
        </p:grpSpPr>
        <p:sp>
          <p:nvSpPr>
            <p:cNvPr id="451" name="Google Shape;451;p89"/>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452" name="Google Shape;452;p89"/>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453" name="Google Shape;453;p89"/>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454" name="Google Shape;454;p89"/>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55" name="Google Shape;455;p89"/>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456" name="Google Shape;456;p89"/>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457" name="Google Shape;457;p89"/>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458"/>
        <p:cNvGrpSpPr/>
        <p:nvPr/>
      </p:nvGrpSpPr>
      <p:grpSpPr>
        <a:xfrm>
          <a:off x="0" y="0"/>
          <a:ext cx="0" cy="0"/>
          <a:chOff x="0" y="0"/>
          <a:chExt cx="0" cy="0"/>
        </a:xfrm>
      </p:grpSpPr>
      <p:sp>
        <p:nvSpPr>
          <p:cNvPr id="459" name="Google Shape;459;p90"/>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60" name="Google Shape;460;p90"/>
          <p:cNvGrpSpPr/>
          <p:nvPr/>
        </p:nvGrpSpPr>
        <p:grpSpPr>
          <a:xfrm>
            <a:off x="0" y="4755328"/>
            <a:ext cx="9144000" cy="388111"/>
            <a:chOff x="417931" y="28734"/>
            <a:chExt cx="24384000" cy="938827"/>
          </a:xfrm>
        </p:grpSpPr>
        <p:sp>
          <p:nvSpPr>
            <p:cNvPr id="461" name="Google Shape;461;p90"/>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62" name="Google Shape;462;p90"/>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63" name="Google Shape;463;p90"/>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64" name="Google Shape;464;p90"/>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65" name="Google Shape;465;p90"/>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466" name="Google Shape;466;p90"/>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2_Blank 1">
  <p:cSld name="2_Blank_1">
    <p:bg>
      <p:bgPr>
        <a:solidFill>
          <a:srgbClr val="1B3E6D"/>
        </a:solidFill>
        <a:effectLst/>
      </p:bgPr>
    </p:bg>
    <p:spTree>
      <p:nvGrpSpPr>
        <p:cNvPr id="1" name="Shape 467"/>
        <p:cNvGrpSpPr/>
        <p:nvPr/>
      </p:nvGrpSpPr>
      <p:grpSpPr>
        <a:xfrm>
          <a:off x="0" y="0"/>
          <a:ext cx="0" cy="0"/>
          <a:chOff x="0" y="0"/>
          <a:chExt cx="0" cy="0"/>
        </a:xfrm>
      </p:grpSpPr>
      <p:sp>
        <p:nvSpPr>
          <p:cNvPr id="468" name="Google Shape;468;p91"/>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469" name="Google Shape;469;p91"/>
          <p:cNvGrpSpPr/>
          <p:nvPr/>
        </p:nvGrpSpPr>
        <p:grpSpPr>
          <a:xfrm>
            <a:off x="0" y="4755328"/>
            <a:ext cx="9144000" cy="388111"/>
            <a:chOff x="417931" y="28734"/>
            <a:chExt cx="24384000" cy="938827"/>
          </a:xfrm>
        </p:grpSpPr>
        <p:sp>
          <p:nvSpPr>
            <p:cNvPr id="470" name="Google Shape;470;p91"/>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471" name="Google Shape;471;p91"/>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472" name="Google Shape;472;p91"/>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473" name="Google Shape;473;p91"/>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474" name="Google Shape;474;p91"/>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475" name="Google Shape;475;p91"/>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476"/>
        <p:cNvGrpSpPr/>
        <p:nvPr/>
      </p:nvGrpSpPr>
      <p:grpSpPr>
        <a:xfrm>
          <a:off x="0" y="0"/>
          <a:ext cx="0" cy="0"/>
          <a:chOff x="0" y="0"/>
          <a:chExt cx="0" cy="0"/>
        </a:xfrm>
      </p:grpSpPr>
      <p:sp>
        <p:nvSpPr>
          <p:cNvPr id="477" name="Google Shape;477;p92"/>
          <p:cNvSpPr>
            <a:spLocks noGrp="1"/>
          </p:cNvSpPr>
          <p:nvPr>
            <p:ph type="pic" idx="2"/>
          </p:nvPr>
        </p:nvSpPr>
        <p:spPr>
          <a:xfrm>
            <a:off x="4100165" y="570248"/>
            <a:ext cx="4237200" cy="2001600"/>
          </a:xfrm>
          <a:prstGeom prst="rect">
            <a:avLst/>
          </a:prstGeom>
          <a:noFill/>
          <a:ln>
            <a:noFill/>
          </a:ln>
        </p:spPr>
      </p:sp>
      <p:sp>
        <p:nvSpPr>
          <p:cNvPr id="478" name="Google Shape;478;p92"/>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479"/>
        <p:cNvGrpSpPr/>
        <p:nvPr/>
      </p:nvGrpSpPr>
      <p:grpSpPr>
        <a:xfrm>
          <a:off x="0" y="0"/>
          <a:ext cx="0" cy="0"/>
          <a:chOff x="0" y="0"/>
          <a:chExt cx="0" cy="0"/>
        </a:xfrm>
      </p:grpSpPr>
      <p:sp>
        <p:nvSpPr>
          <p:cNvPr id="480" name="Google Shape;480;p93"/>
          <p:cNvSpPr/>
          <p:nvPr/>
        </p:nvSpPr>
        <p:spPr>
          <a:xfrm>
            <a:off x="5802296" y="-266"/>
            <a:ext cx="3341846" cy="215741"/>
          </a:xfrm>
          <a:custGeom>
            <a:avLst/>
            <a:gdLst/>
            <a:ahLst/>
            <a:cxnLst/>
            <a:rect l="l" t="t" r="r" b="b"/>
            <a:pathLst>
              <a:path w="4455795" h="287655" extrusionOk="0">
                <a:moveTo>
                  <a:pt x="4455363" y="0"/>
                </a:moveTo>
                <a:lnTo>
                  <a:pt x="0" y="0"/>
                </a:lnTo>
                <a:lnTo>
                  <a:pt x="0" y="287629"/>
                </a:lnTo>
                <a:lnTo>
                  <a:pt x="2227681" y="287629"/>
                </a:lnTo>
                <a:lnTo>
                  <a:pt x="4455363" y="287629"/>
                </a:lnTo>
                <a:lnTo>
                  <a:pt x="4455363"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100"/>
          </a:p>
        </p:txBody>
      </p:sp>
      <p:sp>
        <p:nvSpPr>
          <p:cNvPr id="481" name="Google Shape;481;p93"/>
          <p:cNvSpPr/>
          <p:nvPr/>
        </p:nvSpPr>
        <p:spPr>
          <a:xfrm>
            <a:off x="5802296" y="-266"/>
            <a:ext cx="3341846" cy="215741"/>
          </a:xfrm>
          <a:custGeom>
            <a:avLst/>
            <a:gdLst/>
            <a:ahLst/>
            <a:cxnLst/>
            <a:rect l="l" t="t" r="r" b="b"/>
            <a:pathLst>
              <a:path w="4455795" h="287655" extrusionOk="0">
                <a:moveTo>
                  <a:pt x="2227681" y="287629"/>
                </a:moveTo>
                <a:lnTo>
                  <a:pt x="0" y="287629"/>
                </a:lnTo>
                <a:lnTo>
                  <a:pt x="0" y="0"/>
                </a:lnTo>
                <a:lnTo>
                  <a:pt x="4455363" y="0"/>
                </a:lnTo>
                <a:lnTo>
                  <a:pt x="4455363" y="287629"/>
                </a:lnTo>
                <a:lnTo>
                  <a:pt x="2227681" y="287629"/>
                </a:lnTo>
                <a:close/>
              </a:path>
            </a:pathLst>
          </a:custGeom>
          <a:noFill/>
          <a:ln w="9425" cap="flat" cmpd="sng">
            <a:solidFill>
              <a:srgbClr val="FFFF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100"/>
          </a:p>
        </p:txBody>
      </p:sp>
      <p:sp>
        <p:nvSpPr>
          <p:cNvPr id="482" name="Google Shape;482;p93"/>
          <p:cNvSpPr txBox="1">
            <a:spLocks noGrp="1"/>
          </p:cNvSpPr>
          <p:nvPr>
            <p:ph type="title"/>
          </p:nvPr>
        </p:nvSpPr>
        <p:spPr>
          <a:xfrm>
            <a:off x="433273" y="220523"/>
            <a:ext cx="7962000" cy="515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1800" b="1" i="0">
                <a:solidFill>
                  <a:srgbClr val="312F2F"/>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83" name="Google Shape;483;p93"/>
          <p:cNvSpPr txBox="1">
            <a:spLocks noGrp="1"/>
          </p:cNvSpPr>
          <p:nvPr>
            <p:ph type="body" idx="1"/>
          </p:nvPr>
        </p:nvSpPr>
        <p:spPr>
          <a:xfrm>
            <a:off x="457438" y="1183005"/>
            <a:ext cx="3979800" cy="3394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484" name="Google Shape;484;p93"/>
          <p:cNvSpPr txBox="1">
            <a:spLocks noGrp="1"/>
          </p:cNvSpPr>
          <p:nvPr>
            <p:ph type="body" idx="2"/>
          </p:nvPr>
        </p:nvSpPr>
        <p:spPr>
          <a:xfrm>
            <a:off x="4913385" y="1534067"/>
            <a:ext cx="3844500" cy="30381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1000" b="0" i="0">
                <a:solidFill>
                  <a:schemeClr val="lt1"/>
                </a:solidFill>
                <a:latin typeface="Arial"/>
                <a:ea typeface="Arial"/>
                <a:cs typeface="Arial"/>
                <a:sym typeface="Arial"/>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485" name="Google Shape;485;p93"/>
          <p:cNvSpPr txBox="1">
            <a:spLocks noGrp="1"/>
          </p:cNvSpPr>
          <p:nvPr>
            <p:ph type="ftr" idx="11"/>
          </p:nvPr>
        </p:nvSpPr>
        <p:spPr>
          <a:xfrm>
            <a:off x="3110579" y="4783455"/>
            <a:ext cx="29277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486" name="Google Shape;486;p93"/>
          <p:cNvSpPr txBox="1">
            <a:spLocks noGrp="1"/>
          </p:cNvSpPr>
          <p:nvPr>
            <p:ph type="dt" idx="10"/>
          </p:nvPr>
        </p:nvSpPr>
        <p:spPr>
          <a:xfrm>
            <a:off x="457438" y="4783455"/>
            <a:ext cx="21042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a:endParaRPr/>
          </a:p>
        </p:txBody>
      </p:sp>
      <p:sp>
        <p:nvSpPr>
          <p:cNvPr id="487" name="Google Shape;487;p93"/>
          <p:cNvSpPr txBox="1">
            <a:spLocks noGrp="1"/>
          </p:cNvSpPr>
          <p:nvPr>
            <p:ph type="sldNum" idx="12"/>
          </p:nvPr>
        </p:nvSpPr>
        <p:spPr>
          <a:xfrm>
            <a:off x="6587109" y="4783455"/>
            <a:ext cx="21042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chemeClr val="dk2"/>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92"/>
        <p:cNvGrpSpPr/>
        <p:nvPr/>
      </p:nvGrpSpPr>
      <p:grpSpPr>
        <a:xfrm>
          <a:off x="0" y="0"/>
          <a:ext cx="0" cy="0"/>
          <a:chOff x="0" y="0"/>
          <a:chExt cx="0" cy="0"/>
        </a:xfrm>
      </p:grpSpPr>
      <p:sp>
        <p:nvSpPr>
          <p:cNvPr id="493" name="Google Shape;493;p9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94" name="Google Shape;494;p9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95" name="Google Shape;495;p9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6"/>
        <p:cNvGrpSpPr/>
        <p:nvPr/>
      </p:nvGrpSpPr>
      <p:grpSpPr>
        <a:xfrm>
          <a:off x="0" y="0"/>
          <a:ext cx="0" cy="0"/>
          <a:chOff x="0" y="0"/>
          <a:chExt cx="0" cy="0"/>
        </a:xfrm>
      </p:grpSpPr>
      <p:sp>
        <p:nvSpPr>
          <p:cNvPr id="497" name="Google Shape;497;p9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98" name="Google Shape;498;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9"/>
        <p:cNvGrpSpPr/>
        <p:nvPr/>
      </p:nvGrpSpPr>
      <p:grpSpPr>
        <a:xfrm>
          <a:off x="0" y="0"/>
          <a:ext cx="0" cy="0"/>
          <a:chOff x="0" y="0"/>
          <a:chExt cx="0" cy="0"/>
        </a:xfrm>
      </p:grpSpPr>
      <p:sp>
        <p:nvSpPr>
          <p:cNvPr id="500" name="Google Shape;500;p9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01" name="Google Shape;501;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2" name="Google Shape;502;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3"/>
        <p:cNvGrpSpPr/>
        <p:nvPr/>
      </p:nvGrpSpPr>
      <p:grpSpPr>
        <a:xfrm>
          <a:off x="0" y="0"/>
          <a:ext cx="0" cy="0"/>
          <a:chOff x="0" y="0"/>
          <a:chExt cx="0" cy="0"/>
        </a:xfrm>
      </p:grpSpPr>
      <p:sp>
        <p:nvSpPr>
          <p:cNvPr id="504" name="Google Shape;504;p9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05" name="Google Shape;505;p9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06" name="Google Shape;506;p9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07" name="Google Shape;507;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8"/>
        <p:cNvGrpSpPr/>
        <p:nvPr/>
      </p:nvGrpSpPr>
      <p:grpSpPr>
        <a:xfrm>
          <a:off x="0" y="0"/>
          <a:ext cx="0" cy="0"/>
          <a:chOff x="0" y="0"/>
          <a:chExt cx="0" cy="0"/>
        </a:xfrm>
      </p:grpSpPr>
      <p:sp>
        <p:nvSpPr>
          <p:cNvPr id="509" name="Google Shape;509;p9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10" name="Google Shape;510;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1"/>
        <p:cNvGrpSpPr/>
        <p:nvPr/>
      </p:nvGrpSpPr>
      <p:grpSpPr>
        <a:xfrm>
          <a:off x="0" y="0"/>
          <a:ext cx="0" cy="0"/>
          <a:chOff x="0" y="0"/>
          <a:chExt cx="0" cy="0"/>
        </a:xfrm>
      </p:grpSpPr>
      <p:sp>
        <p:nvSpPr>
          <p:cNvPr id="512" name="Google Shape;512;p10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13" name="Google Shape;513;p10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14" name="Google Shape;514;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15"/>
        <p:cNvGrpSpPr/>
        <p:nvPr/>
      </p:nvGrpSpPr>
      <p:grpSpPr>
        <a:xfrm>
          <a:off x="0" y="0"/>
          <a:ext cx="0" cy="0"/>
          <a:chOff x="0" y="0"/>
          <a:chExt cx="0" cy="0"/>
        </a:xfrm>
      </p:grpSpPr>
      <p:sp>
        <p:nvSpPr>
          <p:cNvPr id="516" name="Google Shape;516;p10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517" name="Google Shape;517;p10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8"/>
        <p:cNvGrpSpPr/>
        <p:nvPr/>
      </p:nvGrpSpPr>
      <p:grpSpPr>
        <a:xfrm>
          <a:off x="0" y="0"/>
          <a:ext cx="0" cy="0"/>
          <a:chOff x="0" y="0"/>
          <a:chExt cx="0" cy="0"/>
        </a:xfrm>
      </p:grpSpPr>
      <p:sp>
        <p:nvSpPr>
          <p:cNvPr id="519" name="Google Shape;519;p10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0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21" name="Google Shape;521;p10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2" name="Google Shape;522;p10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23" name="Google Shape;523;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4"/>
        <p:cNvGrpSpPr/>
        <p:nvPr/>
      </p:nvGrpSpPr>
      <p:grpSpPr>
        <a:xfrm>
          <a:off x="0" y="0"/>
          <a:ext cx="0" cy="0"/>
          <a:chOff x="0" y="0"/>
          <a:chExt cx="0" cy="0"/>
        </a:xfrm>
      </p:grpSpPr>
      <p:sp>
        <p:nvSpPr>
          <p:cNvPr id="525" name="Google Shape;525;p10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26" name="Google Shape;526;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7"/>
        <p:cNvGrpSpPr/>
        <p:nvPr/>
      </p:nvGrpSpPr>
      <p:grpSpPr>
        <a:xfrm>
          <a:off x="0" y="0"/>
          <a:ext cx="0" cy="0"/>
          <a:chOff x="0" y="0"/>
          <a:chExt cx="0" cy="0"/>
        </a:xfrm>
      </p:grpSpPr>
      <p:sp>
        <p:nvSpPr>
          <p:cNvPr id="528" name="Google Shape;528;p10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9" name="Google Shape;529;p10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30" name="Google Shape;530;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1"/>
        <p:cNvGrpSpPr/>
        <p:nvPr/>
      </p:nvGrpSpPr>
      <p:grpSpPr>
        <a:xfrm>
          <a:off x="0" y="0"/>
          <a:ext cx="0" cy="0"/>
          <a:chOff x="0" y="0"/>
          <a:chExt cx="0" cy="0"/>
        </a:xfrm>
      </p:grpSpPr>
      <p:sp>
        <p:nvSpPr>
          <p:cNvPr id="532" name="Google Shape;532;p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ustom Layout 1">
  <p:cSld name="Custom Layout_1">
    <p:spTree>
      <p:nvGrpSpPr>
        <p:cNvPr id="1" name="Shape 533"/>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4"/>
        <p:cNvGrpSpPr/>
        <p:nvPr/>
      </p:nvGrpSpPr>
      <p:grpSpPr>
        <a:xfrm>
          <a:off x="0" y="0"/>
          <a:ext cx="0" cy="0"/>
          <a:chOff x="0" y="0"/>
          <a:chExt cx="0" cy="0"/>
        </a:xfrm>
      </p:grpSpPr>
      <p:sp>
        <p:nvSpPr>
          <p:cNvPr id="535" name="Google Shape;535;p107"/>
          <p:cNvSpPr>
            <a:spLocks noGrp="1"/>
          </p:cNvSpPr>
          <p:nvPr>
            <p:ph type="pic" idx="2"/>
          </p:nvPr>
        </p:nvSpPr>
        <p:spPr>
          <a:xfrm>
            <a:off x="3874182" y="-949180"/>
            <a:ext cx="5155200" cy="5155200"/>
          </a:xfrm>
          <a:prstGeom prst="rect">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536"/>
        <p:cNvGrpSpPr/>
        <p:nvPr/>
      </p:nvGrpSpPr>
      <p:grpSpPr>
        <a:xfrm>
          <a:off x="0" y="0"/>
          <a:ext cx="0" cy="0"/>
          <a:chOff x="0" y="0"/>
          <a:chExt cx="0" cy="0"/>
        </a:xfrm>
      </p:grpSpPr>
      <p:sp>
        <p:nvSpPr>
          <p:cNvPr id="537" name="Google Shape;537;p10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538" name="Google Shape;538;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slide_alt1">
  <p:cSld name="1_Title slide">
    <p:bg>
      <p:bgPr>
        <a:solidFill>
          <a:schemeClr val="lt2"/>
        </a:solidFill>
        <a:effectLst/>
      </p:bgPr>
    </p:bg>
    <p:spTree>
      <p:nvGrpSpPr>
        <p:cNvPr id="1" name="Shape 539"/>
        <p:cNvGrpSpPr/>
        <p:nvPr/>
      </p:nvGrpSpPr>
      <p:grpSpPr>
        <a:xfrm>
          <a:off x="0" y="0"/>
          <a:ext cx="0" cy="0"/>
          <a:chOff x="0" y="0"/>
          <a:chExt cx="0" cy="0"/>
        </a:xfrm>
      </p:grpSpPr>
      <p:pic>
        <p:nvPicPr>
          <p:cNvPr id="540" name="Google Shape;540;p109" descr="shutterstock_429987889_edited.jpg"/>
          <p:cNvPicPr preferRelativeResize="0"/>
          <p:nvPr/>
        </p:nvPicPr>
        <p:blipFill rotWithShape="1">
          <a:blip r:embed="rId2">
            <a:alphaModFix/>
          </a:blip>
          <a:srcRect/>
          <a:stretch/>
        </p:blipFill>
        <p:spPr>
          <a:xfrm>
            <a:off x="0" y="0"/>
            <a:ext cx="9143999" cy="5143501"/>
          </a:xfrm>
          <a:prstGeom prst="rect">
            <a:avLst/>
          </a:prstGeom>
          <a:noFill/>
          <a:ln>
            <a:noFill/>
          </a:ln>
        </p:spPr>
      </p:pic>
      <p:sp>
        <p:nvSpPr>
          <p:cNvPr id="541" name="Google Shape;541;p109"/>
          <p:cNvSpPr txBox="1">
            <a:spLocks noGrp="1"/>
          </p:cNvSpPr>
          <p:nvPr>
            <p:ph type="ctrTitle"/>
          </p:nvPr>
        </p:nvSpPr>
        <p:spPr>
          <a:xfrm>
            <a:off x="914400" y="2323238"/>
            <a:ext cx="7315200" cy="33870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2"/>
              </a:buClr>
              <a:buSzPts val="4200"/>
              <a:buNone/>
              <a:defRPr sz="22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542" name="Google Shape;542;p10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543" name="Google Shape;543;p109"/>
          <p:cNvSpPr txBox="1">
            <a:spLocks noGrp="1"/>
          </p:cNvSpPr>
          <p:nvPr>
            <p:ph type="body" idx="1"/>
          </p:nvPr>
        </p:nvSpPr>
        <p:spPr>
          <a:xfrm>
            <a:off x="931653" y="2750315"/>
            <a:ext cx="7315200" cy="2124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2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pic>
        <p:nvPicPr>
          <p:cNvPr id="544" name="Google Shape;544;p109" descr="A green letters on a black background&#10;&#10;Description automatically generated"/>
          <p:cNvPicPr preferRelativeResize="0"/>
          <p:nvPr/>
        </p:nvPicPr>
        <p:blipFill rotWithShape="1">
          <a:blip r:embed="rId3">
            <a:alphaModFix/>
          </a:blip>
          <a:srcRect/>
          <a:stretch/>
        </p:blipFill>
        <p:spPr>
          <a:xfrm>
            <a:off x="914400" y="1347818"/>
            <a:ext cx="1805286" cy="411480"/>
          </a:xfrm>
          <a:prstGeom prst="rect">
            <a:avLst/>
          </a:prstGeom>
          <a:noFill/>
          <a:ln>
            <a:noFill/>
          </a:ln>
        </p:spPr>
      </p:pic>
      <p:grpSp>
        <p:nvGrpSpPr>
          <p:cNvPr id="545" name="Google Shape;545;p109"/>
          <p:cNvGrpSpPr/>
          <p:nvPr/>
        </p:nvGrpSpPr>
        <p:grpSpPr>
          <a:xfrm>
            <a:off x="914402" y="1191277"/>
            <a:ext cx="745763" cy="45826"/>
            <a:chOff x="4580561" y="2589004"/>
            <a:chExt cx="1064464" cy="25200"/>
          </a:xfrm>
        </p:grpSpPr>
        <p:sp>
          <p:nvSpPr>
            <p:cNvPr id="546" name="Google Shape;546;p109"/>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47" name="Google Shape;547;p109"/>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48" name="Google Shape;548;p109"/>
          <p:cNvSpPr txBox="1"/>
          <p:nvPr/>
        </p:nvSpPr>
        <p:spPr>
          <a:xfrm>
            <a:off x="914399" y="1841513"/>
            <a:ext cx="7315200" cy="338700"/>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chemeClr val="dk2"/>
              </a:buClr>
              <a:buSzPts val="4200"/>
              <a:buFont typeface="Raleway"/>
              <a:buNone/>
            </a:pPr>
            <a:r>
              <a:rPr lang="en" sz="2200" b="1" i="0" u="none" strike="noStrike" cap="none">
                <a:solidFill>
                  <a:srgbClr val="7F7F7F"/>
                </a:solidFill>
                <a:latin typeface="Lato"/>
                <a:ea typeface="Lato"/>
                <a:cs typeface="Lato"/>
                <a:sym typeface="Lato"/>
              </a:rPr>
              <a:t>Carbon Management SaaS and Verification Technology</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body 1">
  <p:cSld name="Title 1 line">
    <p:spTree>
      <p:nvGrpSpPr>
        <p:cNvPr id="1" name="Shape 549"/>
        <p:cNvGrpSpPr/>
        <p:nvPr/>
      </p:nvGrpSpPr>
      <p:grpSpPr>
        <a:xfrm>
          <a:off x="0" y="0"/>
          <a:ext cx="0" cy="0"/>
          <a:chOff x="0" y="0"/>
          <a:chExt cx="0" cy="0"/>
        </a:xfrm>
      </p:grpSpPr>
      <p:sp>
        <p:nvSpPr>
          <p:cNvPr id="550" name="Google Shape;550;p110"/>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551" name="Google Shape;551;p110"/>
          <p:cNvGrpSpPr/>
          <p:nvPr/>
        </p:nvGrpSpPr>
        <p:grpSpPr>
          <a:xfrm>
            <a:off x="228601" y="737966"/>
            <a:ext cx="745763" cy="45826"/>
            <a:chOff x="4580561" y="2589004"/>
            <a:chExt cx="1064464" cy="25200"/>
          </a:xfrm>
        </p:grpSpPr>
        <p:sp>
          <p:nvSpPr>
            <p:cNvPr id="552" name="Google Shape;552;p110"/>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53" name="Google Shape;553;p110"/>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54" name="Google Shape;554;p110"/>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55" name="Google Shape;555;p110"/>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56" name="Google Shape;556;p110"/>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57" name="Google Shape;557;p110"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58" name="Google Shape;558;p110"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body 2">
  <p:cSld name="1_Title and body">
    <p:spTree>
      <p:nvGrpSpPr>
        <p:cNvPr id="1" name="Shape 559"/>
        <p:cNvGrpSpPr/>
        <p:nvPr/>
      </p:nvGrpSpPr>
      <p:grpSpPr>
        <a:xfrm>
          <a:off x="0" y="0"/>
          <a:ext cx="0" cy="0"/>
          <a:chOff x="0" y="0"/>
          <a:chExt cx="0" cy="0"/>
        </a:xfrm>
      </p:grpSpPr>
      <p:sp>
        <p:nvSpPr>
          <p:cNvPr id="560" name="Google Shape;560;p111"/>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61" name="Google Shape;561;p111"/>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62" name="Google Shape;562;p111"/>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63" name="Google Shape;563;p111"/>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64" name="Google Shape;564;p111"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65" name="Google Shape;565;p111"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566" name="Google Shape;566;p111"/>
          <p:cNvGrpSpPr/>
          <p:nvPr/>
        </p:nvGrpSpPr>
        <p:grpSpPr>
          <a:xfrm>
            <a:off x="228602" y="737966"/>
            <a:ext cx="745763" cy="45826"/>
            <a:chOff x="4580561" y="2589004"/>
            <a:chExt cx="1064464" cy="25200"/>
          </a:xfrm>
        </p:grpSpPr>
        <p:sp>
          <p:nvSpPr>
            <p:cNvPr id="567" name="Google Shape;567;p111"/>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68" name="Google Shape;568;p111"/>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69" name="Google Shape;569;p111"/>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body 3">
  <p:cSld name="1_Title and body 2">
    <p:spTree>
      <p:nvGrpSpPr>
        <p:cNvPr id="1" name="Shape 570"/>
        <p:cNvGrpSpPr/>
        <p:nvPr/>
      </p:nvGrpSpPr>
      <p:grpSpPr>
        <a:xfrm>
          <a:off x="0" y="0"/>
          <a:ext cx="0" cy="0"/>
          <a:chOff x="0" y="0"/>
          <a:chExt cx="0" cy="0"/>
        </a:xfrm>
      </p:grpSpPr>
      <p:sp>
        <p:nvSpPr>
          <p:cNvPr id="571" name="Google Shape;571;p112"/>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72" name="Google Shape;572;p112"/>
          <p:cNvSpPr txBox="1">
            <a:spLocks noGrp="1"/>
          </p:cNvSpPr>
          <p:nvPr>
            <p:ph type="title"/>
          </p:nvPr>
        </p:nvSpPr>
        <p:spPr>
          <a:xfrm>
            <a:off x="228600" y="84109"/>
            <a:ext cx="8138100" cy="276900"/>
          </a:xfrm>
          <a:prstGeom prst="rect">
            <a:avLst/>
          </a:prstGeom>
          <a:noFill/>
          <a:ln>
            <a:noFill/>
          </a:ln>
        </p:spPr>
        <p:txBody>
          <a:bodyPr spcFirstLastPara="1" wrap="square" lIns="0" tIns="0" rIns="0" bIns="0" anchor="t" anchorCtr="0">
            <a:spAutoFit/>
          </a:bodyPr>
          <a:lstStyle>
            <a:lvl1pPr lvl="0" algn="just">
              <a:lnSpc>
                <a:spcPct val="100000"/>
              </a:lnSpc>
              <a:spcBef>
                <a:spcPts val="0"/>
              </a:spcBef>
              <a:spcAft>
                <a:spcPts val="0"/>
              </a:spcAft>
              <a:buClr>
                <a:schemeClr val="dk2"/>
              </a:buClr>
              <a:buSzPts val="2600"/>
              <a:buNone/>
              <a:defRPr sz="1800">
                <a:solidFill>
                  <a:srgbClr val="434A54"/>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73" name="Google Shape;573;p112"/>
          <p:cNvSpPr txBox="1">
            <a:spLocks noGrp="1"/>
          </p:cNvSpPr>
          <p:nvPr>
            <p:ph type="body" idx="1"/>
          </p:nvPr>
        </p:nvSpPr>
        <p:spPr>
          <a:xfrm>
            <a:off x="228599" y="4986539"/>
            <a:ext cx="8046600" cy="123000"/>
          </a:xfrm>
          <a:prstGeom prst="rect">
            <a:avLst/>
          </a:prstGeom>
          <a:noFill/>
          <a:ln>
            <a:noFill/>
          </a:ln>
        </p:spPr>
        <p:txBody>
          <a:bodyPr spcFirstLastPara="1" wrap="square" lIns="0" tIns="0" rIns="0" bIns="0" anchor="ctr" anchorCtr="0">
            <a:spAutoFit/>
          </a:bodyPr>
          <a:lstStyle>
            <a:lvl1pPr marL="457200" lvl="0" indent="-228600" algn="l">
              <a:lnSpc>
                <a:spcPct val="100000"/>
              </a:lnSpc>
              <a:spcBef>
                <a:spcPts val="0"/>
              </a:spcBef>
              <a:spcAft>
                <a:spcPts val="0"/>
              </a:spcAft>
              <a:buSzPts val="1300"/>
              <a:buNone/>
              <a:defRPr sz="800" i="1">
                <a:solidFill>
                  <a:srgbClr val="7F7F7F"/>
                </a:solidFill>
                <a:latin typeface="Lato"/>
                <a:ea typeface="Lato"/>
                <a:cs typeface="Lato"/>
                <a:sym typeface="Lato"/>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74" name="Google Shape;574;p112"/>
          <p:cNvSpPr txBox="1"/>
          <p:nvPr/>
        </p:nvSpPr>
        <p:spPr>
          <a:xfrm>
            <a:off x="8286390"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75" name="Google Shape;575;p112"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76" name="Google Shape;576;p112"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grpSp>
        <p:nvGrpSpPr>
          <p:cNvPr id="577" name="Google Shape;577;p112"/>
          <p:cNvGrpSpPr/>
          <p:nvPr/>
        </p:nvGrpSpPr>
        <p:grpSpPr>
          <a:xfrm>
            <a:off x="228602" y="737966"/>
            <a:ext cx="745763" cy="45826"/>
            <a:chOff x="4580561" y="2589004"/>
            <a:chExt cx="1064464" cy="25200"/>
          </a:xfrm>
        </p:grpSpPr>
        <p:sp>
          <p:nvSpPr>
            <p:cNvPr id="578" name="Google Shape;578;p112"/>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79" name="Google Shape;579;p112"/>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80" name="Google Shape;580;p112"/>
          <p:cNvSpPr txBox="1">
            <a:spLocks noGrp="1"/>
          </p:cNvSpPr>
          <p:nvPr>
            <p:ph type="body" idx="2"/>
          </p:nvPr>
        </p:nvSpPr>
        <p:spPr>
          <a:xfrm>
            <a:off x="228599" y="424610"/>
            <a:ext cx="8138100" cy="2655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300"/>
              <a:buNone/>
              <a:defRPr sz="1500" b="1" i="1">
                <a:solidFill>
                  <a:srgbClr val="434A54"/>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body 4">
  <p:cSld name="Title 2 lines">
    <p:spTree>
      <p:nvGrpSpPr>
        <p:cNvPr id="1" name="Shape 581"/>
        <p:cNvGrpSpPr/>
        <p:nvPr/>
      </p:nvGrpSpPr>
      <p:grpSpPr>
        <a:xfrm>
          <a:off x="0" y="0"/>
          <a:ext cx="0" cy="0"/>
          <a:chOff x="0" y="0"/>
          <a:chExt cx="0" cy="0"/>
        </a:xfrm>
      </p:grpSpPr>
      <p:sp>
        <p:nvSpPr>
          <p:cNvPr id="582" name="Google Shape;582;p113"/>
          <p:cNvSpPr/>
          <p:nvPr/>
        </p:nvSpPr>
        <p:spPr>
          <a:xfrm>
            <a:off x="0" y="-1"/>
            <a:ext cx="9144000" cy="7839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nvGrpSpPr>
          <p:cNvPr id="583" name="Google Shape;583;p113"/>
          <p:cNvGrpSpPr/>
          <p:nvPr/>
        </p:nvGrpSpPr>
        <p:grpSpPr>
          <a:xfrm>
            <a:off x="228602" y="737966"/>
            <a:ext cx="745763" cy="45826"/>
            <a:chOff x="4580561" y="2589004"/>
            <a:chExt cx="1064464" cy="25200"/>
          </a:xfrm>
        </p:grpSpPr>
        <p:sp>
          <p:nvSpPr>
            <p:cNvPr id="584" name="Google Shape;584;p113"/>
            <p:cNvSpPr/>
            <p:nvPr/>
          </p:nvSpPr>
          <p:spPr>
            <a:xfrm rot="-5400000">
              <a:off x="5366325" y="2335504"/>
              <a:ext cx="25200" cy="532200"/>
            </a:xfrm>
            <a:prstGeom prst="rect">
              <a:avLst/>
            </a:prstGeom>
            <a:solidFill>
              <a:srgbClr val="01A8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85" name="Google Shape;585;p113"/>
            <p:cNvSpPr/>
            <p:nvPr/>
          </p:nvSpPr>
          <p:spPr>
            <a:xfrm rot="-5400000">
              <a:off x="4836311" y="2333254"/>
              <a:ext cx="25200" cy="5367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grpSp>
      <p:sp>
        <p:nvSpPr>
          <p:cNvPr id="586" name="Google Shape;586;p113"/>
          <p:cNvSpPr txBox="1">
            <a:spLocks noGrp="1"/>
          </p:cNvSpPr>
          <p:nvPr>
            <p:ph type="title"/>
          </p:nvPr>
        </p:nvSpPr>
        <p:spPr>
          <a:xfrm>
            <a:off x="228600" y="84108"/>
            <a:ext cx="8138100" cy="596400"/>
          </a:xfrm>
          <a:prstGeom prst="rect">
            <a:avLst/>
          </a:prstGeom>
          <a:noFill/>
          <a:ln>
            <a:noFill/>
          </a:ln>
        </p:spPr>
        <p:txBody>
          <a:bodyPr spcFirstLastPara="1" wrap="square" lIns="0" tIns="0" rIns="0" bIns="0" anchor="t" anchorCtr="0">
            <a:noAutofit/>
          </a:bodyPr>
          <a:lstStyle>
            <a:lvl1pPr lvl="0" algn="just">
              <a:lnSpc>
                <a:spcPct val="100000"/>
              </a:lnSpc>
              <a:spcBef>
                <a:spcPts val="0"/>
              </a:spcBef>
              <a:spcAft>
                <a:spcPts val="0"/>
              </a:spcAft>
              <a:buClr>
                <a:schemeClr val="dk2"/>
              </a:buClr>
              <a:buSzPts val="2600"/>
              <a:buNone/>
              <a:defRPr sz="1800">
                <a:solidFill>
                  <a:schemeClr val="dk2"/>
                </a:solidFill>
                <a:latin typeface="Lato"/>
                <a:ea typeface="Lato"/>
                <a:cs typeface="Lato"/>
                <a:sym typeface="Lato"/>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87" name="Google Shape;587;p113"/>
          <p:cNvSpPr txBox="1">
            <a:spLocks noGrp="1"/>
          </p:cNvSpPr>
          <p:nvPr>
            <p:ph type="body" idx="1"/>
          </p:nvPr>
        </p:nvSpPr>
        <p:spPr>
          <a:xfrm>
            <a:off x="228599" y="4977306"/>
            <a:ext cx="8046600" cy="141600"/>
          </a:xfrm>
          <a:prstGeom prst="rect">
            <a:avLst/>
          </a:prstGeom>
          <a:noFill/>
          <a:ln>
            <a:noFill/>
          </a:ln>
        </p:spPr>
        <p:txBody>
          <a:bodyPr spcFirstLastPara="1" wrap="square" lIns="0" tIns="0" rIns="0" bIns="0" anchor="ctr" anchorCtr="0">
            <a:spAutoFit/>
          </a:bodyPr>
          <a:lstStyle>
            <a:lvl1pPr marL="457200" lvl="0" indent="-228600" algn="l">
              <a:lnSpc>
                <a:spcPct val="115000"/>
              </a:lnSpc>
              <a:spcBef>
                <a:spcPts val="0"/>
              </a:spcBef>
              <a:spcAft>
                <a:spcPts val="0"/>
              </a:spcAft>
              <a:buSzPts val="1300"/>
              <a:buNone/>
              <a:defRPr sz="800" i="1">
                <a:solidFill>
                  <a:srgbClr val="7F7F7F"/>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88" name="Google Shape;588;p113"/>
          <p:cNvSpPr txBox="1"/>
          <p:nvPr/>
        </p:nvSpPr>
        <p:spPr>
          <a:xfrm>
            <a:off x="8278016" y="4986539"/>
            <a:ext cx="164700" cy="1230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 sz="800" b="0" i="0" u="none" strike="noStrike" cap="none">
                <a:solidFill>
                  <a:srgbClr val="7F7F7F"/>
                </a:solidFill>
                <a:latin typeface="Lato"/>
                <a:ea typeface="Lato"/>
                <a:cs typeface="Lato"/>
                <a:sym typeface="Lato"/>
              </a:rPr>
              <a:t>‹#›</a:t>
            </a:fld>
            <a:endParaRPr sz="800" b="0" i="0" u="none" strike="noStrike" cap="none">
              <a:solidFill>
                <a:srgbClr val="7F7F7F"/>
              </a:solidFill>
              <a:latin typeface="Lato"/>
              <a:ea typeface="Lato"/>
              <a:cs typeface="Lato"/>
              <a:sym typeface="Lato"/>
            </a:endParaRPr>
          </a:p>
        </p:txBody>
      </p:sp>
      <p:pic>
        <p:nvPicPr>
          <p:cNvPr id="589" name="Google Shape;589;p113" descr="A green square with white letters&#10;&#10;Description automatically generated"/>
          <p:cNvPicPr preferRelativeResize="0"/>
          <p:nvPr/>
        </p:nvPicPr>
        <p:blipFill rotWithShape="1">
          <a:blip r:embed="rId2">
            <a:alphaModFix/>
          </a:blip>
          <a:srcRect/>
          <a:stretch/>
        </p:blipFill>
        <p:spPr>
          <a:xfrm>
            <a:off x="8472247" y="86125"/>
            <a:ext cx="557453" cy="557784"/>
          </a:xfrm>
          <a:prstGeom prst="rect">
            <a:avLst/>
          </a:prstGeom>
          <a:noFill/>
          <a:ln>
            <a:noFill/>
          </a:ln>
        </p:spPr>
      </p:pic>
      <p:pic>
        <p:nvPicPr>
          <p:cNvPr id="590" name="Google Shape;590;p113" descr="A green letters on a black background&#10;&#10;Description automatically generated"/>
          <p:cNvPicPr preferRelativeResize="0"/>
          <p:nvPr/>
        </p:nvPicPr>
        <p:blipFill rotWithShape="1">
          <a:blip r:embed="rId3">
            <a:alphaModFix/>
          </a:blip>
          <a:srcRect/>
          <a:stretch/>
        </p:blipFill>
        <p:spPr>
          <a:xfrm>
            <a:off x="8468056" y="4962055"/>
            <a:ext cx="561643" cy="128016"/>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chemeClr val="lt1"/>
        </a:solidFill>
        <a:effectLst/>
      </p:bgPr>
    </p:bg>
    <p:spTree>
      <p:nvGrpSpPr>
        <p:cNvPr id="1" name="Shape 591"/>
        <p:cNvGrpSpPr/>
        <p:nvPr/>
      </p:nvGrpSpPr>
      <p:grpSpPr>
        <a:xfrm>
          <a:off x="0" y="0"/>
          <a:ext cx="0" cy="0"/>
          <a:chOff x="0" y="0"/>
          <a:chExt cx="0" cy="0"/>
        </a:xfrm>
      </p:grpSpPr>
      <p:sp>
        <p:nvSpPr>
          <p:cNvPr id="592" name="Google Shape;592;p114"/>
          <p:cNvSpPr/>
          <p:nvPr/>
        </p:nvSpPr>
        <p:spPr>
          <a:xfrm>
            <a:off x="0" y="0"/>
            <a:ext cx="9144000" cy="783590"/>
          </a:xfrm>
          <a:custGeom>
            <a:avLst/>
            <a:gdLst/>
            <a:ahLst/>
            <a:cxnLst/>
            <a:rect l="l" t="t" r="r" b="b"/>
            <a:pathLst>
              <a:path w="9144000" h="783590" extrusionOk="0">
                <a:moveTo>
                  <a:pt x="9144000" y="0"/>
                </a:moveTo>
                <a:lnTo>
                  <a:pt x="0" y="0"/>
                </a:lnTo>
                <a:lnTo>
                  <a:pt x="0" y="783336"/>
                </a:lnTo>
                <a:lnTo>
                  <a:pt x="9144000" y="783336"/>
                </a:lnTo>
                <a:lnTo>
                  <a:pt x="9144000" y="0"/>
                </a:lnTo>
                <a:close/>
              </a:path>
            </a:pathLst>
          </a:custGeom>
          <a:solidFill>
            <a:srgbClr val="E7E6E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93" name="Google Shape;593;p114"/>
          <p:cNvSpPr txBox="1">
            <a:spLocks noGrp="1"/>
          </p:cNvSpPr>
          <p:nvPr>
            <p:ph type="title"/>
          </p:nvPr>
        </p:nvSpPr>
        <p:spPr>
          <a:xfrm>
            <a:off x="311700" y="445025"/>
            <a:ext cx="8520600" cy="5727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2800"/>
              <a:buNone/>
              <a:defRPr sz="1800" b="1" i="0">
                <a:solidFill>
                  <a:srgbClr val="434953"/>
                </a:solidFill>
                <a:latin typeface="Lato"/>
                <a:ea typeface="Lato"/>
                <a:cs typeface="Lato"/>
                <a:sym typeface="La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4" name="Google Shape;594;p114"/>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311150" algn="l">
              <a:lnSpc>
                <a:spcPct val="115000"/>
              </a:lnSpc>
              <a:spcBef>
                <a:spcPts val="0"/>
              </a:spcBef>
              <a:spcAft>
                <a:spcPts val="0"/>
              </a:spcAft>
              <a:buSzPts val="1300"/>
              <a:buChar char="●"/>
              <a:defRPr b="0" i="0">
                <a:solidFill>
                  <a:schemeClr val="dk1"/>
                </a:solidFill>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95" name="Google Shape;595;p114"/>
          <p:cNvSpPr txBox="1">
            <a:spLocks noGrp="1"/>
          </p:cNvSpPr>
          <p:nvPr>
            <p:ph type="ftr" idx="11"/>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6" name="Google Shape;596;p114"/>
          <p:cNvSpPr txBox="1">
            <a:spLocks noGrp="1"/>
          </p:cNvSpPr>
          <p:nvPr>
            <p:ph type="dt" idx="10"/>
          </p:nvPr>
        </p:nvSpPr>
        <p:spPr>
          <a:xfrm>
            <a:off x="0" y="0"/>
            <a:ext cx="3000000" cy="3000000"/>
          </a:xfrm>
          <a:prstGeom prst="rect">
            <a:avLst/>
          </a:prstGeom>
          <a:noFill/>
          <a:ln>
            <a:noFill/>
          </a:ln>
        </p:spPr>
        <p:txBody>
          <a:bodyPr spcFirstLastPara="1" wrap="square" lIns="0" tIns="0" rIns="0" bIns="0" anchor="t" anchorCtr="0">
            <a:noAutofit/>
          </a:bodyPr>
          <a:lstStyle>
            <a:lvl1pPr marR="0" lvl="0" algn="l">
              <a:lnSpc>
                <a:spcPct val="100000"/>
              </a:lnSpc>
              <a:spcBef>
                <a:spcPts val="0"/>
              </a:spcBef>
              <a:spcAft>
                <a:spcPts val="0"/>
              </a:spcAft>
              <a:buSzPts val="1400"/>
              <a:buNone/>
              <a:defRPr sz="14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97" name="Google Shape;597;p114"/>
          <p:cNvSpPr txBox="1">
            <a:spLocks noGrp="1"/>
          </p:cNvSpPr>
          <p:nvPr>
            <p:ph type="sldNum" idx="12"/>
          </p:nvPr>
        </p:nvSpPr>
        <p:spPr>
          <a:xfrm>
            <a:off x="8536302" y="4749851"/>
            <a:ext cx="548700" cy="393600"/>
          </a:xfrm>
          <a:prstGeom prst="rect">
            <a:avLst/>
          </a:prstGeom>
          <a:noFill/>
          <a:ln>
            <a:noFill/>
          </a:ln>
        </p:spPr>
        <p:txBody>
          <a:bodyPr spcFirstLastPara="1" wrap="square" lIns="0" tIns="0" rIns="0" bIns="0" anchor="ctr" anchorCtr="0">
            <a:noAutofit/>
          </a:bodyPr>
          <a:lstStyle>
            <a:lvl1pPr marL="46355" marR="0" lvl="0"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1pPr>
            <a:lvl2pPr marL="46355" marR="0" lvl="1"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2pPr>
            <a:lvl3pPr marL="46355" marR="0" lvl="2"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3pPr>
            <a:lvl4pPr marL="46355" marR="0" lvl="3"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4pPr>
            <a:lvl5pPr marL="46355" marR="0" lvl="4"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5pPr>
            <a:lvl6pPr marL="46355" marR="0" lvl="5"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6pPr>
            <a:lvl7pPr marL="46355" marR="0" lvl="6"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7pPr>
            <a:lvl8pPr marL="46355" marR="0" lvl="7"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8pPr>
            <a:lvl9pPr marL="46355" marR="0" lvl="8" indent="0" algn="r">
              <a:lnSpc>
                <a:spcPct val="100000"/>
              </a:lnSpc>
              <a:spcBef>
                <a:spcPts val="90"/>
              </a:spcBef>
              <a:spcAft>
                <a:spcPts val="0"/>
              </a:spcAft>
              <a:buClr>
                <a:srgbClr val="000000"/>
              </a:buClr>
              <a:buSzPts val="1000"/>
              <a:buFont typeface="Arial"/>
              <a:buNone/>
              <a:defRPr sz="800" b="0" i="0" u="none" strike="noStrike" cap="none">
                <a:solidFill>
                  <a:srgbClr val="7E7E7E"/>
                </a:solidFill>
                <a:latin typeface="Lato"/>
                <a:ea typeface="Lato"/>
                <a:cs typeface="Lato"/>
                <a:sym typeface="Lato"/>
              </a:defRPr>
            </a:lvl9pPr>
          </a:lstStyle>
          <a:p>
            <a:pPr marL="46355" lvl="0" indent="0" algn="r" rtl="0">
              <a:spcBef>
                <a:spcPts val="9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598"/>
        <p:cNvGrpSpPr/>
        <p:nvPr/>
      </p:nvGrpSpPr>
      <p:grpSpPr>
        <a:xfrm>
          <a:off x="0" y="0"/>
          <a:ext cx="0" cy="0"/>
          <a:chOff x="0" y="0"/>
          <a:chExt cx="0" cy="0"/>
        </a:xfrm>
      </p:grpSpPr>
      <p:sp>
        <p:nvSpPr>
          <p:cNvPr id="599" name="Google Shape;599;p11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00" name="Google Shape;600;p115"/>
          <p:cNvGrpSpPr/>
          <p:nvPr/>
        </p:nvGrpSpPr>
        <p:grpSpPr>
          <a:xfrm>
            <a:off x="0" y="4755328"/>
            <a:ext cx="9144000" cy="388111"/>
            <a:chOff x="417931" y="28734"/>
            <a:chExt cx="24384000" cy="938827"/>
          </a:xfrm>
        </p:grpSpPr>
        <p:sp>
          <p:nvSpPr>
            <p:cNvPr id="601" name="Google Shape;601;p11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602" name="Google Shape;602;p11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603" name="Google Shape;603;p115"/>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04" name="Google Shape;604;p115"/>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05" name="Google Shape;605;p11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06" name="Google Shape;606;p11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607" name="Google Shape;607;p115"/>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608"/>
        <p:cNvGrpSpPr/>
        <p:nvPr/>
      </p:nvGrpSpPr>
      <p:grpSpPr>
        <a:xfrm>
          <a:off x="0" y="0"/>
          <a:ext cx="0" cy="0"/>
          <a:chOff x="0" y="0"/>
          <a:chExt cx="0" cy="0"/>
        </a:xfrm>
      </p:grpSpPr>
      <p:sp>
        <p:nvSpPr>
          <p:cNvPr id="609" name="Google Shape;609;p116"/>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10" name="Google Shape;610;p116"/>
          <p:cNvGrpSpPr/>
          <p:nvPr/>
        </p:nvGrpSpPr>
        <p:grpSpPr>
          <a:xfrm>
            <a:off x="0" y="4755328"/>
            <a:ext cx="9144000" cy="388111"/>
            <a:chOff x="417931" y="28734"/>
            <a:chExt cx="24384000" cy="938827"/>
          </a:xfrm>
        </p:grpSpPr>
        <p:sp>
          <p:nvSpPr>
            <p:cNvPr id="611" name="Google Shape;611;p116"/>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12" name="Google Shape;612;p116"/>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13" name="Google Shape;613;p116"/>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14" name="Google Shape;614;p116"/>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15" name="Google Shape;615;p116"/>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16" name="Google Shape;616;p116"/>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17" name="Google Shape;617;p116"/>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_Blank 1">
  <p:cSld name="3_Blank_1">
    <p:bg>
      <p:bgPr>
        <a:blipFill>
          <a:blip r:embed="rId2">
            <a:alphaModFix/>
          </a:blip>
          <a:stretch>
            <a:fillRect/>
          </a:stretch>
        </a:blipFill>
        <a:effectLst/>
      </p:bgPr>
    </p:bg>
    <p:spTree>
      <p:nvGrpSpPr>
        <p:cNvPr id="1" name="Shape 618"/>
        <p:cNvGrpSpPr/>
        <p:nvPr/>
      </p:nvGrpSpPr>
      <p:grpSpPr>
        <a:xfrm>
          <a:off x="0" y="0"/>
          <a:ext cx="0" cy="0"/>
          <a:chOff x="0" y="0"/>
          <a:chExt cx="0" cy="0"/>
        </a:xfrm>
      </p:grpSpPr>
      <p:sp>
        <p:nvSpPr>
          <p:cNvPr id="619" name="Google Shape;619;p117"/>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20" name="Google Shape;620;p117"/>
          <p:cNvGrpSpPr/>
          <p:nvPr/>
        </p:nvGrpSpPr>
        <p:grpSpPr>
          <a:xfrm>
            <a:off x="0" y="4755328"/>
            <a:ext cx="9144000" cy="388111"/>
            <a:chOff x="417931" y="28734"/>
            <a:chExt cx="24384000" cy="938827"/>
          </a:xfrm>
        </p:grpSpPr>
        <p:sp>
          <p:nvSpPr>
            <p:cNvPr id="621" name="Google Shape;621;p117"/>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622" name="Google Shape;622;p117"/>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623" name="Google Shape;623;p117"/>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624" name="Google Shape;624;p117"/>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25" name="Google Shape;625;p117"/>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626" name="Google Shape;626;p117"/>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627" name="Google Shape;627;p117"/>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628"/>
        <p:cNvGrpSpPr/>
        <p:nvPr/>
      </p:nvGrpSpPr>
      <p:grpSpPr>
        <a:xfrm>
          <a:off x="0" y="0"/>
          <a:ext cx="0" cy="0"/>
          <a:chOff x="0" y="0"/>
          <a:chExt cx="0" cy="0"/>
        </a:xfrm>
      </p:grpSpPr>
      <p:sp>
        <p:nvSpPr>
          <p:cNvPr id="629" name="Google Shape;629;p118"/>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30" name="Google Shape;630;p118"/>
          <p:cNvGrpSpPr/>
          <p:nvPr/>
        </p:nvGrpSpPr>
        <p:grpSpPr>
          <a:xfrm>
            <a:off x="0" y="4755328"/>
            <a:ext cx="9144000" cy="388111"/>
            <a:chOff x="417931" y="28734"/>
            <a:chExt cx="24384000" cy="938827"/>
          </a:xfrm>
        </p:grpSpPr>
        <p:sp>
          <p:nvSpPr>
            <p:cNvPr id="631" name="Google Shape;631;p118"/>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32" name="Google Shape;632;p118"/>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33" name="Google Shape;633;p118"/>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34" name="Google Shape;634;p118"/>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35" name="Google Shape;635;p118"/>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636" name="Google Shape;636;p118"/>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2_Blank 1">
  <p:cSld name="2_Blank_1">
    <p:bg>
      <p:bgPr>
        <a:solidFill>
          <a:srgbClr val="1B3E6D"/>
        </a:solidFill>
        <a:effectLst/>
      </p:bgPr>
    </p:bg>
    <p:spTree>
      <p:nvGrpSpPr>
        <p:cNvPr id="1" name="Shape 637"/>
        <p:cNvGrpSpPr/>
        <p:nvPr/>
      </p:nvGrpSpPr>
      <p:grpSpPr>
        <a:xfrm>
          <a:off x="0" y="0"/>
          <a:ext cx="0" cy="0"/>
          <a:chOff x="0" y="0"/>
          <a:chExt cx="0" cy="0"/>
        </a:xfrm>
      </p:grpSpPr>
      <p:sp>
        <p:nvSpPr>
          <p:cNvPr id="638" name="Google Shape;638;p119"/>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639" name="Google Shape;639;p119"/>
          <p:cNvGrpSpPr/>
          <p:nvPr/>
        </p:nvGrpSpPr>
        <p:grpSpPr>
          <a:xfrm>
            <a:off x="0" y="4755328"/>
            <a:ext cx="9144000" cy="388111"/>
            <a:chOff x="417931" y="28734"/>
            <a:chExt cx="24384000" cy="938827"/>
          </a:xfrm>
        </p:grpSpPr>
        <p:sp>
          <p:nvSpPr>
            <p:cNvPr id="640" name="Google Shape;640;p119"/>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641" name="Google Shape;641;p119"/>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642" name="Google Shape;642;p119"/>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643" name="Google Shape;643;p119"/>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644" name="Google Shape;644;p119"/>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645" name="Google Shape;645;p119"/>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646"/>
        <p:cNvGrpSpPr/>
        <p:nvPr/>
      </p:nvGrpSpPr>
      <p:grpSpPr>
        <a:xfrm>
          <a:off x="0" y="0"/>
          <a:ext cx="0" cy="0"/>
          <a:chOff x="0" y="0"/>
          <a:chExt cx="0" cy="0"/>
        </a:xfrm>
      </p:grpSpPr>
      <p:sp>
        <p:nvSpPr>
          <p:cNvPr id="647" name="Google Shape;647;p120"/>
          <p:cNvSpPr>
            <a:spLocks noGrp="1"/>
          </p:cNvSpPr>
          <p:nvPr>
            <p:ph type="pic" idx="2"/>
          </p:nvPr>
        </p:nvSpPr>
        <p:spPr>
          <a:xfrm>
            <a:off x="4100165" y="570248"/>
            <a:ext cx="4237200" cy="2001600"/>
          </a:xfrm>
          <a:prstGeom prst="rect">
            <a:avLst/>
          </a:prstGeom>
          <a:noFill/>
          <a:ln>
            <a:noFill/>
          </a:ln>
        </p:spPr>
      </p:sp>
      <p:sp>
        <p:nvSpPr>
          <p:cNvPr id="648" name="Google Shape;648;p120"/>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 Id="rId14" Type="http://schemas.openxmlformats.org/officeDocument/2006/relationships/slideLayout" Target="../slideLayouts/slideLayout49.xml"/><Relationship Id="rId15" Type="http://schemas.openxmlformats.org/officeDocument/2006/relationships/slideLayout" Target="../slideLayouts/slideLayout50.xml"/><Relationship Id="rId16" Type="http://schemas.openxmlformats.org/officeDocument/2006/relationships/slideLayout" Target="../slideLayouts/slideLayout51.xml"/><Relationship Id="rId17" Type="http://schemas.openxmlformats.org/officeDocument/2006/relationships/slideLayout" Target="../slideLayouts/slideLayout52.xml"/><Relationship Id="rId18" Type="http://schemas.openxmlformats.org/officeDocument/2006/relationships/slideLayout" Target="../slideLayouts/slideLayout53.xml"/><Relationship Id="rId19" Type="http://schemas.openxmlformats.org/officeDocument/2006/relationships/slideLayout" Target="../slideLayouts/slideLayout54.xml"/><Relationship Id="rId20" Type="http://schemas.openxmlformats.org/officeDocument/2006/relationships/slideLayout" Target="../slideLayouts/slideLayout55.xml"/><Relationship Id="rId21" Type="http://schemas.openxmlformats.org/officeDocument/2006/relationships/slideLayout" Target="../slideLayouts/slideLayout56.xml"/><Relationship Id="rId22" Type="http://schemas.openxmlformats.org/officeDocument/2006/relationships/slideLayout" Target="../slideLayouts/slideLayout57.xml"/><Relationship Id="rId23" Type="http://schemas.openxmlformats.org/officeDocument/2006/relationships/slideLayout" Target="../slideLayouts/slideLayout58.xml"/><Relationship Id="rId24" Type="http://schemas.openxmlformats.org/officeDocument/2006/relationships/slideLayout" Target="../slideLayouts/slideLayout59.xml"/><Relationship Id="rId25" Type="http://schemas.openxmlformats.org/officeDocument/2006/relationships/slideLayout" Target="../slideLayouts/slideLayout60.xml"/><Relationship Id="rId26"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slideLayout" Target="../slideLayouts/slideLayout73.xml"/><Relationship Id="rId14" Type="http://schemas.openxmlformats.org/officeDocument/2006/relationships/slideLayout" Target="../slideLayouts/slideLayout74.xml"/><Relationship Id="rId15" Type="http://schemas.openxmlformats.org/officeDocument/2006/relationships/slideLayout" Target="../slideLayouts/slideLayout75.xml"/><Relationship Id="rId16" Type="http://schemas.openxmlformats.org/officeDocument/2006/relationships/slideLayout" Target="../slideLayouts/slideLayout76.xml"/><Relationship Id="rId17" Type="http://schemas.openxmlformats.org/officeDocument/2006/relationships/slideLayout" Target="../slideLayouts/slideLayout77.xml"/><Relationship Id="rId18" Type="http://schemas.openxmlformats.org/officeDocument/2006/relationships/slideLayout" Target="../slideLayouts/slideLayout78.xml"/><Relationship Id="rId19" Type="http://schemas.openxmlformats.org/officeDocument/2006/relationships/slideLayout" Target="../slideLayouts/slideLayout79.xml"/><Relationship Id="rId20" Type="http://schemas.openxmlformats.org/officeDocument/2006/relationships/slideLayout" Target="../slideLayouts/slideLayout80.xml"/><Relationship Id="rId21" Type="http://schemas.openxmlformats.org/officeDocument/2006/relationships/slideLayout" Target="../slideLayouts/slideLayout81.xml"/><Relationship Id="rId22" Type="http://schemas.openxmlformats.org/officeDocument/2006/relationships/slideLayout" Target="../slideLayouts/slideLayout82.xml"/><Relationship Id="rId23" Type="http://schemas.openxmlformats.org/officeDocument/2006/relationships/slideLayout" Target="../slideLayouts/slideLayout83.xml"/><Relationship Id="rId24" Type="http://schemas.openxmlformats.org/officeDocument/2006/relationships/slideLayout" Target="../slideLayouts/slideLayout84.xml"/><Relationship Id="rId25" Type="http://schemas.openxmlformats.org/officeDocument/2006/relationships/slideLayout" Target="../slideLayouts/slideLayout85.xml"/><Relationship Id="rId26" Type="http://schemas.openxmlformats.org/officeDocument/2006/relationships/slideLayout" Target="../slideLayouts/slideLayout86.xml"/><Relationship Id="rId2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3"/>
        <p:cNvGrpSpPr/>
        <p:nvPr/>
      </p:nvGrpSpPr>
      <p:grpSpPr>
        <a:xfrm>
          <a:off x="0" y="0"/>
          <a:ext cx="0" cy="0"/>
          <a:chOff x="0" y="0"/>
          <a:chExt cx="0" cy="0"/>
        </a:xfrm>
      </p:grpSpPr>
      <p:sp>
        <p:nvSpPr>
          <p:cNvPr id="164" name="Google Shape;164;p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65" name="Google Shape;165;p3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66" name="Google Shape;166;p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67" name="Google Shape;167;p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68" name="Google Shape;168;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31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18"/>
        <p:cNvGrpSpPr/>
        <p:nvPr/>
      </p:nvGrpSpPr>
      <p:grpSpPr>
        <a:xfrm>
          <a:off x="0" y="0"/>
          <a:ext cx="0" cy="0"/>
          <a:chOff x="0" y="0"/>
          <a:chExt cx="0" cy="0"/>
        </a:xfrm>
      </p:grpSpPr>
      <p:sp>
        <p:nvSpPr>
          <p:cNvPr id="319" name="Google Shape;319;p6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320" name="Google Shape;320;p6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321" name="Google Shape;32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9" r:id="rId11"/>
    <p:sldLayoutId id="2147483720"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88"/>
        <p:cNvGrpSpPr/>
        <p:nvPr/>
      </p:nvGrpSpPr>
      <p:grpSpPr>
        <a:xfrm>
          <a:off x="0" y="0"/>
          <a:ext cx="0" cy="0"/>
          <a:chOff x="0" y="0"/>
          <a:chExt cx="0" cy="0"/>
        </a:xfrm>
      </p:grpSpPr>
      <p:sp>
        <p:nvSpPr>
          <p:cNvPr id="489" name="Google Shape;489;p9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490" name="Google Shape;490;p9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491" name="Google Shape;491;p9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comments" Target="../comments/commen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comments" Target="../comments/commen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comments" Target="../comments/commen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comments" Target="../comments/commen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6.png"/><Relationship Id="rId8"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25.png"/><Relationship Id="rId8"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27.png"/><Relationship Id="rId7" Type="http://schemas.openxmlformats.org/officeDocument/2006/relationships/comments" Target="../comments/commen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16.png"/><Relationship Id="rId6"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comments" Target="../comments/commen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comments" Target="../comments/commen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1.xml"/><Relationship Id="rId3" Type="http://schemas.openxmlformats.org/officeDocument/2006/relationships/image" Target="../media/image36.jp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comments" Target="../comments/commen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2.xml"/><Relationship Id="rId3" Type="http://schemas.openxmlformats.org/officeDocument/2006/relationships/image" Target="../media/image16.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7.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4.xml"/><Relationship Id="rId3" Type="http://schemas.openxmlformats.org/officeDocument/2006/relationships/image" Target="../media/image17.png"/><Relationship Id="rId4"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comments" Target="../comments/commen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6.xml"/><Relationship Id="rId3" Type="http://schemas.openxmlformats.org/officeDocument/2006/relationships/image" Target="../media/image16.png"/><Relationship Id="rId4"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7.xml"/><Relationship Id="rId3" Type="http://schemas.openxmlformats.org/officeDocument/2006/relationships/image" Target="../media/image37.png"/><Relationship Id="rId4" Type="http://schemas.openxmlformats.org/officeDocument/2006/relationships/hyperlink" Target="mailto:tah@allotropepartners.com" TargetMode="External"/><Relationship Id="rId5" Type="http://schemas.openxmlformats.org/officeDocument/2006/relationships/hyperlink" Target="mailto:info@allotropepartners.com" TargetMode="External"/><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8"/>
        <p:cNvGrpSpPr/>
        <p:nvPr/>
      </p:nvGrpSpPr>
      <p:grpSpPr>
        <a:xfrm>
          <a:off x="0" y="0"/>
          <a:ext cx="0" cy="0"/>
          <a:chOff x="0" y="0"/>
          <a:chExt cx="0" cy="0"/>
        </a:xfrm>
      </p:grpSpPr>
      <p:pic>
        <p:nvPicPr>
          <p:cNvPr id="1459" name="Google Shape;1459;p160"/>
          <p:cNvPicPr preferRelativeResize="0"/>
          <p:nvPr/>
        </p:nvPicPr>
        <p:blipFill rotWithShape="1">
          <a:blip r:embed="rId3">
            <a:alphaModFix/>
          </a:blip>
          <a:srcRect t="15626"/>
          <a:stretch/>
        </p:blipFill>
        <p:spPr>
          <a:xfrm flipH="1">
            <a:off x="0" y="0"/>
            <a:ext cx="9144000" cy="5143500"/>
          </a:xfrm>
          <a:prstGeom prst="rect">
            <a:avLst/>
          </a:prstGeom>
          <a:noFill/>
          <a:ln>
            <a:noFill/>
          </a:ln>
        </p:spPr>
      </p:pic>
      <p:sp>
        <p:nvSpPr>
          <p:cNvPr id="1460" name="Google Shape;1460;p160"/>
          <p:cNvSpPr/>
          <p:nvPr/>
        </p:nvSpPr>
        <p:spPr>
          <a:xfrm>
            <a:off x="0" y="0"/>
            <a:ext cx="9144000" cy="5143500"/>
          </a:xfrm>
          <a:prstGeom prst="rect">
            <a:avLst/>
          </a:prstGeom>
          <a:solidFill>
            <a:srgbClr val="1B786E">
              <a:alpha val="44299"/>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61" name="Google Shape;1461;p160" title="white layer.png"/>
          <p:cNvPicPr preferRelativeResize="0"/>
          <p:nvPr/>
        </p:nvPicPr>
        <p:blipFill>
          <a:blip r:embed="rId4">
            <a:alphaModFix/>
          </a:blip>
          <a:stretch>
            <a:fillRect/>
          </a:stretch>
        </p:blipFill>
        <p:spPr>
          <a:xfrm>
            <a:off x="912825" y="1950975"/>
            <a:ext cx="8231173" cy="3205750"/>
          </a:xfrm>
          <a:prstGeom prst="rect">
            <a:avLst/>
          </a:prstGeom>
          <a:noFill/>
          <a:ln>
            <a:noFill/>
          </a:ln>
        </p:spPr>
      </p:pic>
      <p:pic>
        <p:nvPicPr>
          <p:cNvPr id="1462" name="Google Shape;1462;p160" title="Gemini_Generated_Image_rtvpp5rtvpp5rtvp (1).png"/>
          <p:cNvPicPr preferRelativeResize="0"/>
          <p:nvPr/>
        </p:nvPicPr>
        <p:blipFill rotWithShape="1">
          <a:blip r:embed="rId5">
            <a:alphaModFix amt="85000"/>
          </a:blip>
          <a:srcRect l="862"/>
          <a:stretch/>
        </p:blipFill>
        <p:spPr>
          <a:xfrm>
            <a:off x="0" y="-450153"/>
            <a:ext cx="9144003" cy="5606525"/>
          </a:xfrm>
          <a:prstGeom prst="rect">
            <a:avLst/>
          </a:prstGeom>
          <a:noFill/>
          <a:ln>
            <a:noFill/>
          </a:ln>
        </p:spPr>
      </p:pic>
      <p:grpSp>
        <p:nvGrpSpPr>
          <p:cNvPr id="1463" name="Google Shape;1463;p160"/>
          <p:cNvGrpSpPr/>
          <p:nvPr/>
        </p:nvGrpSpPr>
        <p:grpSpPr>
          <a:xfrm>
            <a:off x="7419773" y="4830726"/>
            <a:ext cx="1610547" cy="312775"/>
            <a:chOff x="7472673" y="4830726"/>
            <a:chExt cx="1610547" cy="312775"/>
          </a:xfrm>
        </p:grpSpPr>
        <p:pic>
          <p:nvPicPr>
            <p:cNvPr id="1464" name="Google Shape;1464;p160"/>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1465" name="Google Shape;1465;p160"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1466" name="Google Shape;1466;p160"/>
          <p:cNvSpPr txBox="1"/>
          <p:nvPr/>
        </p:nvSpPr>
        <p:spPr>
          <a:xfrm>
            <a:off x="2213925" y="2941666"/>
            <a:ext cx="6639000" cy="1017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Font typeface="Arial"/>
              <a:buNone/>
            </a:pPr>
            <a:r>
              <a:rPr lang="en" sz="3000" b="1">
                <a:solidFill>
                  <a:srgbClr val="035D4E"/>
                </a:solidFill>
                <a:latin typeface="Montserrat"/>
                <a:ea typeface="Montserrat"/>
                <a:cs typeface="Montserrat"/>
                <a:sym typeface="Montserrat"/>
              </a:rPr>
              <a:t>Session 5.2:</a:t>
            </a:r>
            <a:r>
              <a:rPr lang="en" sz="2400" b="1">
                <a:solidFill>
                  <a:srgbClr val="035D4E"/>
                </a:solidFill>
                <a:latin typeface="Montserrat"/>
                <a:ea typeface="Montserrat"/>
                <a:cs typeface="Montserrat"/>
                <a:sym typeface="Montserrat"/>
              </a:rPr>
              <a:t> </a:t>
            </a:r>
            <a:br>
              <a:rPr lang="en" sz="2400" b="1">
                <a:solidFill>
                  <a:srgbClr val="035D4E"/>
                </a:solidFill>
                <a:latin typeface="Montserrat"/>
                <a:ea typeface="Montserrat"/>
                <a:cs typeface="Montserrat"/>
                <a:sym typeface="Montserrat"/>
              </a:rPr>
            </a:br>
            <a:r>
              <a:rPr lang="en" sz="2400" b="1">
                <a:solidFill>
                  <a:srgbClr val="035D4E"/>
                </a:solidFill>
                <a:latin typeface="Montserrat"/>
                <a:ea typeface="Montserrat"/>
                <a:cs typeface="Montserrat"/>
                <a:sym typeface="Montserrat"/>
              </a:rPr>
              <a:t>Off-Site Solutions Deep Dive</a:t>
            </a:r>
            <a:endParaRPr sz="2400">
              <a:solidFill>
                <a:srgbClr val="035D4E"/>
              </a:solidFill>
              <a:latin typeface="Montserrat"/>
              <a:ea typeface="Montserrat"/>
              <a:cs typeface="Montserrat"/>
              <a:sym typeface="Montserrat"/>
            </a:endParaRPr>
          </a:p>
          <a:p>
            <a:pPr marL="0" lvl="0" indent="0" algn="r" rtl="0">
              <a:spcBef>
                <a:spcPts val="0"/>
              </a:spcBef>
              <a:spcAft>
                <a:spcPts val="0"/>
              </a:spcAft>
              <a:buNone/>
            </a:pPr>
            <a:r>
              <a:rPr lang="en" sz="2400" i="1">
                <a:solidFill>
                  <a:schemeClr val="dk1"/>
                </a:solidFill>
                <a:latin typeface="Montserrat"/>
                <a:ea typeface="Montserrat"/>
                <a:cs typeface="Montserrat"/>
                <a:sym typeface="Montserrat"/>
              </a:rPr>
              <a:t>Vietnam’s DPPA </a:t>
            </a:r>
            <a:endParaRPr sz="2400" i="1">
              <a:solidFill>
                <a:schemeClr val="dk1"/>
              </a:solidFill>
              <a:latin typeface="Montserrat"/>
              <a:ea typeface="Montserrat"/>
              <a:cs typeface="Montserrat"/>
              <a:sym typeface="Montserrat"/>
            </a:endParaRPr>
          </a:p>
          <a:p>
            <a:pPr marL="0" lvl="0" indent="0" algn="r" rtl="0">
              <a:spcBef>
                <a:spcPts val="0"/>
              </a:spcBef>
              <a:spcAft>
                <a:spcPts val="0"/>
              </a:spcAft>
              <a:buNone/>
            </a:pPr>
            <a:r>
              <a:rPr lang="en" sz="2400" i="1">
                <a:solidFill>
                  <a:schemeClr val="dk1"/>
                </a:solidFill>
                <a:latin typeface="Montserrat"/>
                <a:ea typeface="Montserrat"/>
                <a:cs typeface="Montserrat"/>
                <a:sym typeface="Montserrat"/>
              </a:rPr>
              <a:t>Pricing Considerations</a:t>
            </a:r>
            <a:endParaRPr sz="2400">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161"/>
          <p:cNvSpPr txBox="1"/>
          <p:nvPr/>
        </p:nvSpPr>
        <p:spPr>
          <a:xfrm>
            <a:off x="4638419" y="228357"/>
            <a:ext cx="4018500" cy="16296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 sz="3000" b="1">
                <a:solidFill>
                  <a:srgbClr val="1B786E"/>
                </a:solidFill>
                <a:latin typeface="Montserrat"/>
                <a:ea typeface="Montserrat"/>
                <a:cs typeface="Montserrat"/>
                <a:sym typeface="Montserrat"/>
              </a:rPr>
              <a:t>About the Speaker</a:t>
            </a:r>
            <a:endParaRPr sz="3000" b="1">
              <a:solidFill>
                <a:srgbClr val="1B786E"/>
              </a:solidFill>
              <a:latin typeface="Montserrat"/>
              <a:ea typeface="Montserrat"/>
              <a:cs typeface="Montserrat"/>
              <a:sym typeface="Montserrat"/>
            </a:endParaRPr>
          </a:p>
        </p:txBody>
      </p:sp>
      <p:sp>
        <p:nvSpPr>
          <p:cNvPr id="1472" name="Google Shape;1472;p161"/>
          <p:cNvSpPr txBox="1"/>
          <p:nvPr/>
        </p:nvSpPr>
        <p:spPr>
          <a:xfrm>
            <a:off x="4656225" y="1675450"/>
            <a:ext cx="4018500" cy="3016800"/>
          </a:xfrm>
          <a:prstGeom prst="rect">
            <a:avLst/>
          </a:prstGeom>
          <a:noFill/>
          <a:ln>
            <a:noFill/>
          </a:ln>
        </p:spPr>
        <p:txBody>
          <a:bodyPr spcFirstLastPara="1" wrap="square" lIns="68575" tIns="68575" rIns="68575" bIns="68575" anchor="t" anchorCtr="0">
            <a:spAutoFit/>
          </a:bodyPr>
          <a:lstStyle/>
          <a:p>
            <a:pPr marL="0" lvl="0" indent="0" algn="just" rtl="0">
              <a:spcBef>
                <a:spcPts val="0"/>
              </a:spcBef>
              <a:spcAft>
                <a:spcPts val="0"/>
              </a:spcAft>
              <a:buNone/>
            </a:pPr>
            <a:r>
              <a:rPr lang="en" sz="1100">
                <a:solidFill>
                  <a:schemeClr val="dk1"/>
                </a:solidFill>
                <a:latin typeface="Montserrat"/>
                <a:ea typeface="Montserrat"/>
                <a:cs typeface="Montserrat"/>
                <a:sym typeface="Montserrat"/>
              </a:rPr>
              <a:t>Cong is a renewable energy professional with over a decade of experience. Prior to joining Allotrope, Cong cultivated extensive clean energy technical expertise by supporting the development of solar and wind farms, battery energy storage systems, and asset management projects. In his role with Allotrope, Cong supports corporate clients to evaluate and implement clean energy and decarbonization solutions across a range of technologies. This includes leading techno-economic assessments to determine costs and benefits for specific sites, managing projects and building stakeholder relationships, and supporting business development efforts in Vietnam. Cong holds a Bachelor’s degree in Electromechanics Maintenance Engineering from Hung Yen University of Technology and Education and has advanced certifications in renewable energy and reliability engineering.</a:t>
            </a:r>
            <a:endParaRPr sz="1100">
              <a:solidFill>
                <a:schemeClr val="dk1"/>
              </a:solidFill>
              <a:latin typeface="Montserrat"/>
              <a:ea typeface="Montserrat"/>
              <a:cs typeface="Montserrat"/>
              <a:sym typeface="Montserrat"/>
            </a:endParaRPr>
          </a:p>
        </p:txBody>
      </p:sp>
      <p:sp>
        <p:nvSpPr>
          <p:cNvPr id="1473" name="Google Shape;1473;p161"/>
          <p:cNvSpPr txBox="1"/>
          <p:nvPr/>
        </p:nvSpPr>
        <p:spPr>
          <a:xfrm>
            <a:off x="4638425" y="809952"/>
            <a:ext cx="3684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B786E"/>
                </a:solidFill>
                <a:latin typeface="Montserrat"/>
                <a:ea typeface="Montserrat"/>
                <a:cs typeface="Montserrat"/>
                <a:sym typeface="Montserrat"/>
              </a:rPr>
              <a:t>Cong Nguyen</a:t>
            </a:r>
            <a:endParaRPr b="1">
              <a:solidFill>
                <a:srgbClr val="1B786E"/>
              </a:solidFill>
              <a:latin typeface="Montserrat"/>
              <a:ea typeface="Montserrat"/>
              <a:cs typeface="Montserrat"/>
              <a:sym typeface="Montserrat"/>
            </a:endParaRPr>
          </a:p>
          <a:p>
            <a:pPr marL="0" lvl="0" indent="0" algn="l" rtl="0">
              <a:spcBef>
                <a:spcPts val="0"/>
              </a:spcBef>
              <a:spcAft>
                <a:spcPts val="0"/>
              </a:spcAft>
              <a:buNone/>
            </a:pPr>
            <a:r>
              <a:rPr lang="en" b="1">
                <a:solidFill>
                  <a:srgbClr val="1B786E"/>
                </a:solidFill>
                <a:latin typeface="Montserrat"/>
                <a:ea typeface="Montserrat"/>
                <a:cs typeface="Montserrat"/>
                <a:sym typeface="Montserrat"/>
              </a:rPr>
              <a:t>Allotrope Partners</a:t>
            </a:r>
            <a:endParaRPr b="1">
              <a:solidFill>
                <a:srgbClr val="1B786E"/>
              </a:solidFill>
              <a:latin typeface="Montserrat"/>
              <a:ea typeface="Montserrat"/>
              <a:cs typeface="Montserrat"/>
              <a:sym typeface="Montserrat"/>
            </a:endParaRPr>
          </a:p>
          <a:p>
            <a:pPr marL="0" lvl="0" indent="0" algn="l" rtl="0">
              <a:spcBef>
                <a:spcPts val="0"/>
              </a:spcBef>
              <a:spcAft>
                <a:spcPts val="0"/>
              </a:spcAft>
              <a:buNone/>
            </a:pPr>
            <a:r>
              <a:rPr lang="en" b="1">
                <a:solidFill>
                  <a:srgbClr val="1B786E"/>
                </a:solidFill>
                <a:latin typeface="Montserrat"/>
                <a:ea typeface="Montserrat"/>
                <a:cs typeface="Montserrat"/>
                <a:sym typeface="Montserrat"/>
              </a:rPr>
              <a:t>Vietnam Clean Energy Manager</a:t>
            </a:r>
            <a:endParaRPr b="1">
              <a:solidFill>
                <a:srgbClr val="1B786E"/>
              </a:solidFill>
              <a:latin typeface="Montserrat"/>
              <a:ea typeface="Montserrat"/>
              <a:cs typeface="Montserrat"/>
              <a:sym typeface="Montserrat"/>
            </a:endParaRPr>
          </a:p>
        </p:txBody>
      </p:sp>
      <p:pic>
        <p:nvPicPr>
          <p:cNvPr id="1474" name="Google Shape;1474;p161"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475" name="Google Shape;1475;p161"/>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476" name="Google Shape;1476;p161"/>
          <p:cNvSpPr/>
          <p:nvPr/>
        </p:nvSpPr>
        <p:spPr>
          <a:xfrm rot="10800000" flipH="1">
            <a:off x="380550" y="0"/>
            <a:ext cx="2063700" cy="1924800"/>
          </a:xfrm>
          <a:prstGeom prst="triangle">
            <a:avLst>
              <a:gd name="adj" fmla="val 50000"/>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7" name="Google Shape;1477;p161"/>
          <p:cNvSpPr/>
          <p:nvPr/>
        </p:nvSpPr>
        <p:spPr>
          <a:xfrm>
            <a:off x="476627" y="1278300"/>
            <a:ext cx="4143600" cy="3865200"/>
          </a:xfrm>
          <a:prstGeom prst="triangle">
            <a:avLst>
              <a:gd name="adj" fmla="val 50000"/>
            </a:avLst>
          </a:prstGeom>
          <a:solidFill>
            <a:srgbClr val="237166">
              <a:alpha val="810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8" name="Google Shape;1478;p161"/>
          <p:cNvSpPr/>
          <p:nvPr/>
        </p:nvSpPr>
        <p:spPr>
          <a:xfrm>
            <a:off x="-8211" y="201850"/>
            <a:ext cx="4126800" cy="4380900"/>
          </a:xfrm>
          <a:prstGeom prst="flowChartDelay">
            <a:avLst/>
          </a:prstGeom>
          <a:solidFill>
            <a:srgbClr val="D9D9D9">
              <a:alpha val="6962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79" name="Google Shape;1479;p161" title="Screenshot 2025-09-12 094335.png"/>
          <p:cNvPicPr preferRelativeResize="0"/>
          <p:nvPr/>
        </p:nvPicPr>
        <p:blipFill rotWithShape="1">
          <a:blip r:embed="rId5">
            <a:alphaModFix/>
          </a:blip>
          <a:srcRect t="-1027" b="13208"/>
          <a:stretch/>
        </p:blipFill>
        <p:spPr>
          <a:xfrm>
            <a:off x="-8211" y="443950"/>
            <a:ext cx="3839700" cy="3839700"/>
          </a:xfrm>
          <a:prstGeom prst="flowChartDelay">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3"/>
        <p:cNvGrpSpPr/>
        <p:nvPr/>
      </p:nvGrpSpPr>
      <p:grpSpPr>
        <a:xfrm>
          <a:off x="0" y="0"/>
          <a:ext cx="0" cy="0"/>
          <a:chOff x="0" y="0"/>
          <a:chExt cx="0" cy="0"/>
        </a:xfrm>
      </p:grpSpPr>
      <p:grpSp>
        <p:nvGrpSpPr>
          <p:cNvPr id="1484" name="Google Shape;1484;p162"/>
          <p:cNvGrpSpPr/>
          <p:nvPr/>
        </p:nvGrpSpPr>
        <p:grpSpPr>
          <a:xfrm>
            <a:off x="239992" y="63853"/>
            <a:ext cx="8728050" cy="745997"/>
            <a:chOff x="236700" y="63853"/>
            <a:chExt cx="8728050" cy="745997"/>
          </a:xfrm>
        </p:grpSpPr>
        <p:sp>
          <p:nvSpPr>
            <p:cNvPr id="1485" name="Google Shape;1485;p16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86" name="Google Shape;1486;p16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487" name="Google Shape;1487;p16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488" name="Google Shape;1488;p16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489" name="Google Shape;1489;p16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490" name="Google Shape;1490;p16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491" name="Google Shape;1491;p16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492" name="Google Shape;1492;p16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493" name="Google Shape;1493;p16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494" name="Google Shape;1494;p16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495" name="Google Shape;1495;p16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496" name="Google Shape;1496;p162"/>
          <p:cNvSpPr/>
          <p:nvPr/>
        </p:nvSpPr>
        <p:spPr>
          <a:xfrm>
            <a:off x="4680138" y="1526813"/>
            <a:ext cx="4305900" cy="2688600"/>
          </a:xfrm>
          <a:prstGeom prst="roundRect">
            <a:avLst>
              <a:gd name="adj" fmla="val 9955"/>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97" name="Google Shape;1497;p162"/>
          <p:cNvSpPr txBox="1"/>
          <p:nvPr/>
        </p:nvSpPr>
        <p:spPr>
          <a:xfrm>
            <a:off x="483525" y="968225"/>
            <a:ext cx="848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Montserrat"/>
                <a:ea typeface="Montserrat"/>
                <a:cs typeface="Montserrat"/>
                <a:sym typeface="Montserrat"/>
              </a:rPr>
              <a:t>Follow the Money: From your EVN Bill to a Bankable DPPA</a:t>
            </a:r>
            <a:endParaRPr b="1">
              <a:latin typeface="Montserrat"/>
              <a:ea typeface="Montserrat"/>
              <a:cs typeface="Montserrat"/>
              <a:sym typeface="Montserrat"/>
            </a:endParaRPr>
          </a:p>
        </p:txBody>
      </p:sp>
      <p:graphicFrame>
        <p:nvGraphicFramePr>
          <p:cNvPr id="1498" name="Google Shape;1498;p162"/>
          <p:cNvGraphicFramePr/>
          <p:nvPr/>
        </p:nvGraphicFramePr>
        <p:xfrm>
          <a:off x="483533" y="1526817"/>
          <a:ext cx="3000000" cy="3000000"/>
        </p:xfrm>
        <a:graphic>
          <a:graphicData uri="http://schemas.openxmlformats.org/drawingml/2006/table">
            <a:tbl>
              <a:tblPr firstRow="1" bandRow="1">
                <a:noFill/>
                <a:tableStyleId>{CE8BD2AF-5D0D-4EDC-AE96-A30A7DA1AF2F}</a:tableStyleId>
              </a:tblPr>
              <a:tblGrid>
                <a:gridCol w="515450">
                  <a:extLst>
                    <a:ext uri="{9D8B030D-6E8A-4147-A177-3AD203B41FA5}">
                      <a16:colId xmlns:a16="http://schemas.microsoft.com/office/drawing/2014/main" val="20000"/>
                    </a:ext>
                  </a:extLst>
                </a:gridCol>
                <a:gridCol w="3437100">
                  <a:extLst>
                    <a:ext uri="{9D8B030D-6E8A-4147-A177-3AD203B41FA5}">
                      <a16:colId xmlns:a16="http://schemas.microsoft.com/office/drawing/2014/main" val="20001"/>
                    </a:ext>
                  </a:extLst>
                </a:gridCol>
              </a:tblGrid>
              <a:tr h="3450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Module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The </a:t>
                      </a:r>
                      <a:r>
                        <a:rPr lang="en" sz="1300">
                          <a:solidFill>
                            <a:schemeClr val="dk1"/>
                          </a:solidFill>
                          <a:latin typeface="Montserrat"/>
                          <a:ea typeface="Montserrat"/>
                          <a:cs typeface="Montserrat"/>
                          <a:sym typeface="Montserrat"/>
                        </a:rPr>
                        <a:t>B</a:t>
                      </a:r>
                      <a:r>
                        <a:rPr lang="en" sz="1300" u="none" strike="noStrike" cap="none">
                          <a:solidFill>
                            <a:schemeClr val="dk1"/>
                          </a:solidFill>
                          <a:latin typeface="Montserrat"/>
                          <a:ea typeface="Montserrat"/>
                          <a:cs typeface="Montserrat"/>
                          <a:sym typeface="Montserrat"/>
                        </a:rPr>
                        <a:t>aseline: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ay EVN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oday</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1"/>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Virtual DPPA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oney </a:t>
                      </a:r>
                      <a:r>
                        <a:rPr lang="en" sz="1300">
                          <a:solidFill>
                            <a:schemeClr val="dk1"/>
                          </a:solidFill>
                          <a:latin typeface="Montserrat"/>
                          <a:ea typeface="Montserrat"/>
                          <a:cs typeface="Montserrat"/>
                          <a:sym typeface="Montserrat"/>
                        </a:rPr>
                        <a:t>F</a:t>
                      </a:r>
                      <a:r>
                        <a:rPr lang="en" sz="1300" u="none" strike="noStrike" cap="none">
                          <a:solidFill>
                            <a:schemeClr val="dk1"/>
                          </a:solidFill>
                          <a:latin typeface="Montserrat"/>
                          <a:ea typeface="Montserrat"/>
                          <a:cs typeface="Montserrat"/>
                          <a:sym typeface="Montserrat"/>
                        </a:rPr>
                        <a:t>low: </a:t>
                      </a:r>
                      <a:r>
                        <a:rPr lang="en" sz="1300">
                          <a:solidFill>
                            <a:schemeClr val="dk1"/>
                          </a:solidFill>
                          <a:latin typeface="Montserrat"/>
                          <a:ea typeface="Montserrat"/>
                          <a:cs typeface="Montserrat"/>
                          <a:sym typeface="Montserrat"/>
                        </a:rPr>
                        <a:t>The Five-Line Bill</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2"/>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CfD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echanics: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rives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our </a:t>
                      </a:r>
                      <a:r>
                        <a:rPr lang="en" sz="1300">
                          <a:solidFill>
                            <a:schemeClr val="dk1"/>
                          </a:solidFill>
                          <a:latin typeface="Montserrat"/>
                          <a:ea typeface="Montserrat"/>
                          <a:cs typeface="Montserrat"/>
                          <a:sym typeface="Montserrat"/>
                        </a:rPr>
                        <a:t>Quoted Price</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3"/>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Developer </a:t>
                      </a:r>
                      <a:r>
                        <a:rPr lang="en" sz="1300">
                          <a:solidFill>
                            <a:schemeClr val="dk1"/>
                          </a:solidFill>
                          <a:latin typeface="Montserrat"/>
                          <a:ea typeface="Montserrat"/>
                          <a:cs typeface="Montserrat"/>
                          <a:sym typeface="Montserrat"/>
                        </a:rPr>
                        <a:t>E</a:t>
                      </a:r>
                      <a:r>
                        <a:rPr lang="en" sz="1300" u="none" strike="noStrike" cap="none">
                          <a:solidFill>
                            <a:schemeClr val="dk1"/>
                          </a:solidFill>
                          <a:latin typeface="Montserrat"/>
                          <a:ea typeface="Montserrat"/>
                          <a:cs typeface="Montserrat"/>
                          <a:sym typeface="Montserrat"/>
                        </a:rPr>
                        <a:t>conomics and the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hree </a:t>
                      </a:r>
                      <a:r>
                        <a:rPr lang="en" sz="1300">
                          <a:solidFill>
                            <a:schemeClr val="dk1"/>
                          </a:solidFill>
                          <a:latin typeface="Montserrat"/>
                          <a:ea typeface="Montserrat"/>
                          <a:cs typeface="Montserrat"/>
                          <a:sym typeface="Montserrat"/>
                        </a:rPr>
                        <a:t>G</a:t>
                      </a:r>
                      <a:r>
                        <a:rPr lang="en" sz="1300" u="none" strike="noStrike" cap="none">
                          <a:solidFill>
                            <a:schemeClr val="dk1"/>
                          </a:solidFill>
                          <a:latin typeface="Montserrat"/>
                          <a:ea typeface="Montserrat"/>
                          <a:cs typeface="Montserrat"/>
                          <a:sym typeface="Montserrat"/>
                        </a:rPr>
                        <a:t>ates</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4"/>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Case </a:t>
                      </a:r>
                      <a:r>
                        <a:rPr lang="en" sz="1300">
                          <a:solidFill>
                            <a:schemeClr val="dk1"/>
                          </a:solidFill>
                          <a:latin typeface="Montserrat"/>
                          <a:ea typeface="Montserrat"/>
                          <a:cs typeface="Montserrat"/>
                          <a:sym typeface="Montserrat"/>
                        </a:rPr>
                        <a:t>S</a:t>
                      </a:r>
                      <a:r>
                        <a:rPr lang="en" sz="1300" u="none" strike="noStrike" cap="none">
                          <a:solidFill>
                            <a:schemeClr val="dk1"/>
                          </a:solidFill>
                          <a:latin typeface="Montserrat"/>
                          <a:ea typeface="Montserrat"/>
                          <a:cs typeface="Montserrat"/>
                          <a:sym typeface="Montserrat"/>
                        </a:rPr>
                        <a:t>tud</a:t>
                      </a:r>
                      <a:r>
                        <a:rPr lang="en" sz="1300">
                          <a:solidFill>
                            <a:schemeClr val="dk1"/>
                          </a:solidFill>
                          <a:latin typeface="Montserrat"/>
                          <a:ea typeface="Montserrat"/>
                          <a:cs typeface="Montserrat"/>
                          <a:sym typeface="Montserrat"/>
                        </a:rPr>
                        <a:t>ies 5 &amp; 6</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5"/>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6</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Key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ecision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oints and </a:t>
                      </a:r>
                      <a:r>
                        <a:rPr lang="en" sz="1300">
                          <a:solidFill>
                            <a:schemeClr val="dk1"/>
                          </a:solidFill>
                          <a:latin typeface="Montserrat"/>
                          <a:ea typeface="Montserrat"/>
                          <a:cs typeface="Montserrat"/>
                          <a:sym typeface="Montserrat"/>
                        </a:rPr>
                        <a:t>Wrap-up</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6"/>
                  </a:ext>
                </a:extLst>
              </a:tr>
            </a:tbl>
          </a:graphicData>
        </a:graphic>
      </p:graphicFrame>
      <p:sp>
        <p:nvSpPr>
          <p:cNvPr id="1499" name="Google Shape;1499;p162"/>
          <p:cNvSpPr txBox="1"/>
          <p:nvPr/>
        </p:nvSpPr>
        <p:spPr>
          <a:xfrm>
            <a:off x="4871317" y="1576126"/>
            <a:ext cx="4015500" cy="264900"/>
          </a:xfrm>
          <a:prstGeom prst="rect">
            <a:avLst/>
          </a:prstGeom>
          <a:noFill/>
          <a:ln>
            <a:noFill/>
          </a:ln>
        </p:spPr>
        <p:txBody>
          <a:bodyPr spcFirstLastPara="1" wrap="square" lIns="78725" tIns="39350" rIns="78725" bIns="39350" anchor="t" anchorCtr="0">
            <a:spAutoFit/>
          </a:bodyPr>
          <a:lstStyle/>
          <a:p>
            <a:pPr marL="0" marR="0" lvl="0" indent="0" algn="l" rtl="0">
              <a:lnSpc>
                <a:spcPct val="100000"/>
              </a:lnSpc>
              <a:spcBef>
                <a:spcPts val="0"/>
              </a:spcBef>
              <a:spcAft>
                <a:spcPts val="0"/>
              </a:spcAft>
              <a:buNone/>
            </a:pPr>
            <a:r>
              <a:rPr lang="en" sz="1205" b="1" i="0" u="none" strike="noStrike" cap="none">
                <a:solidFill>
                  <a:schemeClr val="dk1"/>
                </a:solidFill>
                <a:latin typeface="Montserrat"/>
                <a:ea typeface="Montserrat"/>
                <a:cs typeface="Montserrat"/>
                <a:sym typeface="Montserrat"/>
              </a:rPr>
              <a:t>By the end of this session you </a:t>
            </a:r>
            <a:r>
              <a:rPr lang="en" sz="1205" b="1">
                <a:solidFill>
                  <a:schemeClr val="dk1"/>
                </a:solidFill>
                <a:latin typeface="Montserrat"/>
                <a:ea typeface="Montserrat"/>
                <a:cs typeface="Montserrat"/>
                <a:sym typeface="Montserrat"/>
              </a:rPr>
              <a:t>will be able</a:t>
            </a:r>
            <a:r>
              <a:rPr lang="en" sz="1205" b="1" i="0" u="none" strike="noStrike" cap="none">
                <a:solidFill>
                  <a:schemeClr val="dk1"/>
                </a:solidFill>
                <a:latin typeface="Montserrat"/>
                <a:ea typeface="Montserrat"/>
                <a:cs typeface="Montserrat"/>
                <a:sym typeface="Montserrat"/>
              </a:rPr>
              <a:t>:</a:t>
            </a:r>
            <a:endParaRPr sz="1205">
              <a:solidFill>
                <a:schemeClr val="dk1"/>
              </a:solidFill>
              <a:latin typeface="Montserrat"/>
              <a:ea typeface="Montserrat"/>
              <a:cs typeface="Montserrat"/>
              <a:sym typeface="Montserrat"/>
            </a:endParaRPr>
          </a:p>
        </p:txBody>
      </p:sp>
      <p:sp>
        <p:nvSpPr>
          <p:cNvPr id="1500" name="Google Shape;1500;p162"/>
          <p:cNvSpPr txBox="1"/>
          <p:nvPr/>
        </p:nvSpPr>
        <p:spPr>
          <a:xfrm>
            <a:off x="4871313" y="1922565"/>
            <a:ext cx="4015500" cy="1970100"/>
          </a:xfrm>
          <a:prstGeom prst="rect">
            <a:avLst/>
          </a:prstGeom>
          <a:noFill/>
          <a:ln>
            <a:noFill/>
          </a:ln>
        </p:spPr>
        <p:txBody>
          <a:bodyPr spcFirstLastPara="1" wrap="square" lIns="78725" tIns="39350" rIns="78725" bIns="39350" anchor="t" anchorCtr="0">
            <a:spAutoFit/>
          </a:bodyPr>
          <a:lstStyle/>
          <a:p>
            <a:pPr marL="0" marR="0" lvl="0" indent="0" algn="l" rtl="0">
              <a:lnSpc>
                <a:spcPct val="115000"/>
              </a:lnSpc>
              <a:spcBef>
                <a:spcPts val="0"/>
              </a:spcBef>
              <a:spcAft>
                <a:spcPts val="0"/>
              </a:spcAft>
              <a:buNone/>
            </a:pPr>
            <a:r>
              <a:rPr lang="en" sz="1119" i="0" u="none" strike="noStrike" cap="none">
                <a:solidFill>
                  <a:schemeClr val="dk1"/>
                </a:solidFill>
                <a:latin typeface="Montserrat"/>
                <a:ea typeface="Montserrat"/>
                <a:cs typeface="Montserrat"/>
                <a:sym typeface="Montserrat"/>
              </a:rPr>
              <a:t>1.  </a:t>
            </a:r>
            <a:r>
              <a:rPr lang="en" sz="1119">
                <a:solidFill>
                  <a:schemeClr val="dk1"/>
                </a:solidFill>
                <a:latin typeface="Montserrat"/>
                <a:ea typeface="Montserrat"/>
                <a:cs typeface="Montserrat"/>
                <a:sym typeface="Montserrat"/>
              </a:rPr>
              <a:t>Breakdown</a:t>
            </a:r>
            <a:r>
              <a:rPr lang="en" sz="1119" i="0" u="none" strike="noStrike" cap="none">
                <a:solidFill>
                  <a:schemeClr val="dk1"/>
                </a:solidFill>
                <a:latin typeface="Montserrat"/>
                <a:ea typeface="Montserrat"/>
                <a:cs typeface="Montserrat"/>
                <a:sym typeface="Montserrat"/>
              </a:rPr>
              <a:t> a virtual DPPA monthly settlement into its five components and compare it to your EVN bill</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2.  Explain how the CfD strike, market price </a:t>
            </a:r>
            <a:r>
              <a:rPr lang="en" sz="1119">
                <a:solidFill>
                  <a:schemeClr val="dk1"/>
                </a:solidFill>
                <a:latin typeface="Montserrat"/>
                <a:ea typeface="Montserrat"/>
                <a:cs typeface="Montserrat"/>
                <a:sym typeface="Montserrat"/>
              </a:rPr>
              <a:t>(FMP)</a:t>
            </a:r>
            <a:r>
              <a:rPr lang="en" sz="1119" i="0" u="none" strike="noStrike" cap="none">
                <a:solidFill>
                  <a:schemeClr val="dk1"/>
                </a:solidFill>
                <a:latin typeface="Montserrat"/>
                <a:ea typeface="Montserrat"/>
                <a:cs typeface="Montserrat"/>
                <a:sym typeface="Montserrat"/>
              </a:rPr>
              <a:t>, loss factors, and grid fees set your net cost</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3.  See why buyers, sellers and lenders each have a </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gate</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 and why a deal must pass all three</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4.  Leave with realistic pricing expectations grounded in a real factory model</a:t>
            </a:r>
            <a:endParaRPr sz="1205">
              <a:solidFill>
                <a:schemeClr val="dk1"/>
              </a:solidFill>
              <a:latin typeface="Montserrat"/>
              <a:ea typeface="Montserrat"/>
              <a:cs typeface="Montserrat"/>
              <a:sym typeface="Montserrat"/>
            </a:endParaRPr>
          </a:p>
        </p:txBody>
      </p:sp>
      <p:sp>
        <p:nvSpPr>
          <p:cNvPr id="1501" name="Google Shape;1501;p162"/>
          <p:cNvSpPr txBox="1"/>
          <p:nvPr/>
        </p:nvSpPr>
        <p:spPr>
          <a:xfrm>
            <a:off x="483535" y="4556438"/>
            <a:ext cx="2858400" cy="2694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400"/>
              </a:spcBef>
              <a:spcAft>
                <a:spcPts val="0"/>
              </a:spcAft>
              <a:buNone/>
            </a:pPr>
            <a:r>
              <a:rPr lang="en" sz="1150" i="0" u="none" strike="noStrike" cap="none">
                <a:solidFill>
                  <a:schemeClr val="dk1"/>
                </a:solidFill>
                <a:latin typeface="Montserrat"/>
                <a:ea typeface="Montserrat"/>
                <a:cs typeface="Montserrat"/>
                <a:sym typeface="Montserrat"/>
              </a:rPr>
              <a:t>Scope: </a:t>
            </a:r>
            <a:r>
              <a:rPr lang="en" sz="1150">
                <a:solidFill>
                  <a:schemeClr val="dk1"/>
                </a:solidFill>
                <a:latin typeface="Montserrat"/>
                <a:ea typeface="Montserrat"/>
                <a:cs typeface="Montserrat"/>
                <a:sym typeface="Montserrat"/>
              </a:rPr>
              <a:t>V</a:t>
            </a:r>
            <a:r>
              <a:rPr lang="en" sz="1150" i="0" u="none" strike="noStrike" cap="none">
                <a:solidFill>
                  <a:schemeClr val="dk1"/>
                </a:solidFill>
                <a:latin typeface="Montserrat"/>
                <a:ea typeface="Montserrat"/>
                <a:cs typeface="Montserrat"/>
                <a:sym typeface="Montserrat"/>
              </a:rPr>
              <a:t>irtual</a:t>
            </a:r>
            <a:r>
              <a:rPr lang="en" sz="1150">
                <a:solidFill>
                  <a:schemeClr val="dk1"/>
                </a:solidFill>
                <a:latin typeface="Montserrat"/>
                <a:ea typeface="Montserrat"/>
                <a:cs typeface="Montserrat"/>
                <a:sym typeface="Montserrat"/>
              </a:rPr>
              <a:t> </a:t>
            </a:r>
            <a:r>
              <a:rPr lang="en" sz="1150" i="0" u="none" strike="noStrike" cap="none">
                <a:solidFill>
                  <a:schemeClr val="dk1"/>
                </a:solidFill>
                <a:latin typeface="Montserrat"/>
                <a:ea typeface="Montserrat"/>
                <a:cs typeface="Montserrat"/>
                <a:sym typeface="Montserrat"/>
              </a:rPr>
              <a:t>DPPA </a:t>
            </a:r>
            <a:r>
              <a:rPr lang="en" sz="1150">
                <a:solidFill>
                  <a:schemeClr val="dk1"/>
                </a:solidFill>
                <a:latin typeface="Montserrat"/>
                <a:ea typeface="Montserrat"/>
                <a:cs typeface="Montserrat"/>
                <a:sym typeface="Montserrat"/>
              </a:rPr>
              <a:t> (grid CfD) </a:t>
            </a:r>
            <a:r>
              <a:rPr lang="en" sz="1150" i="0" u="none" strike="noStrike" cap="none">
                <a:solidFill>
                  <a:schemeClr val="dk1"/>
                </a:solidFill>
                <a:latin typeface="Montserrat"/>
                <a:ea typeface="Montserrat"/>
                <a:cs typeface="Montserrat"/>
                <a:sym typeface="Montserrat"/>
              </a:rPr>
              <a:t>only.</a:t>
            </a:r>
            <a:endParaRPr>
              <a:solidFill>
                <a:schemeClr val="dk1"/>
              </a:solidFill>
              <a:latin typeface="Montserrat"/>
              <a:ea typeface="Montserrat"/>
              <a:cs typeface="Montserrat"/>
              <a:sym typeface="Montserrat"/>
            </a:endParaRPr>
          </a:p>
        </p:txBody>
      </p:sp>
      <p:sp>
        <p:nvSpPr>
          <p:cNvPr id="1502" name="Google Shape;1502;p162"/>
          <p:cNvSpPr txBox="1"/>
          <p:nvPr/>
        </p:nvSpPr>
        <p:spPr>
          <a:xfrm>
            <a:off x="640492" y="281363"/>
            <a:ext cx="8255400" cy="461700"/>
          </a:xfrm>
          <a:prstGeom prst="rect">
            <a:avLst/>
          </a:prstGeom>
          <a:noFill/>
          <a:ln>
            <a:noFill/>
          </a:ln>
        </p:spPr>
        <p:txBody>
          <a:bodyPr spcFirstLastPara="1" wrap="square" lIns="68575" tIns="34275" rIns="68575" bIns="34275" anchor="t" anchorCtr="0">
            <a:noAutofit/>
          </a:bodyPr>
          <a:lstStyle/>
          <a:p>
            <a:r>
              <a:t>Session Roadmap
• Module 5 walks the three canonical cases (matched / shortfall / excess) — same five-line math the app uses.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6"/>
        <p:cNvGrpSpPr/>
        <p:nvPr/>
      </p:nvGrpSpPr>
      <p:grpSpPr>
        <a:xfrm>
          <a:off x="0" y="0"/>
          <a:ext cx="0" cy="0"/>
          <a:chOff x="0" y="0"/>
          <a:chExt cx="0" cy="0"/>
        </a:xfrm>
      </p:grpSpPr>
      <p:cxnSp>
        <p:nvCxnSpPr>
          <p:cNvPr id="1507" name="Google Shape;1507;p16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08" name="Google Shape;1508;p163"/>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1:</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The Baseline: What You Pay EVN Today</a:t>
            </a:r>
            <a:endParaRPr sz="2800" b="1">
              <a:solidFill>
                <a:srgbClr val="0F172A"/>
              </a:solidFill>
              <a:highlight>
                <a:srgbClr val="FFFFFF"/>
              </a:highlight>
              <a:latin typeface="Montserrat"/>
              <a:ea typeface="Montserrat"/>
              <a:cs typeface="Montserrat"/>
              <a:sym typeface="Montserrat"/>
            </a:endParaRPr>
          </a:p>
        </p:txBody>
      </p:sp>
      <p:pic>
        <p:nvPicPr>
          <p:cNvPr id="1509" name="Google Shape;1509;p16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10" name="Google Shape;1510;p16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11" name="Google Shape;1511;p16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12" name="Google Shape;1512;p16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6"/>
        <p:cNvGrpSpPr/>
        <p:nvPr/>
      </p:nvGrpSpPr>
      <p:grpSpPr>
        <a:xfrm>
          <a:off x="0" y="0"/>
          <a:ext cx="0" cy="0"/>
          <a:chOff x="0" y="0"/>
          <a:chExt cx="0" cy="0"/>
        </a:xfrm>
      </p:grpSpPr>
      <p:pic>
        <p:nvPicPr>
          <p:cNvPr id="1517" name="Google Shape;1517;p16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18" name="Google Shape;1518;p16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19" name="Google Shape;1519;p164"/>
          <p:cNvSpPr/>
          <p:nvPr/>
        </p:nvSpPr>
        <p:spPr>
          <a:xfrm>
            <a:off x="4724550" y="2822025"/>
            <a:ext cx="4214400" cy="16449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sp>
        <p:nvSpPr>
          <p:cNvPr id="1520" name="Google Shape;1520;p164"/>
          <p:cNvSpPr/>
          <p:nvPr/>
        </p:nvSpPr>
        <p:spPr>
          <a:xfrm>
            <a:off x="4724550" y="1041207"/>
            <a:ext cx="4214400" cy="16857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graphicFrame>
        <p:nvGraphicFramePr>
          <p:cNvPr id="1521" name="Google Shape;1521;p164"/>
          <p:cNvGraphicFramePr/>
          <p:nvPr/>
        </p:nvGraphicFramePr>
        <p:xfrm>
          <a:off x="424258" y="1060382"/>
          <a:ext cx="3000000" cy="3000000"/>
        </p:xfrm>
        <a:graphic>
          <a:graphicData uri="http://schemas.openxmlformats.org/drawingml/2006/table">
            <a:tbl>
              <a:tblPr firstRow="1" bandRow="1">
                <a:noFill/>
                <a:tableStyleId>{CE8BD2AF-5D0D-4EDC-AE96-A30A7DA1AF2F}</a:tableStyleId>
              </a:tblPr>
              <a:tblGrid>
                <a:gridCol w="1422700">
                  <a:extLst>
                    <a:ext uri="{9D8B030D-6E8A-4147-A177-3AD203B41FA5}">
                      <a16:colId xmlns:a16="http://schemas.microsoft.com/office/drawing/2014/main" val="20000"/>
                    </a:ext>
                  </a:extLst>
                </a:gridCol>
                <a:gridCol w="1534100">
                  <a:extLst>
                    <a:ext uri="{9D8B030D-6E8A-4147-A177-3AD203B41FA5}">
                      <a16:colId xmlns:a16="http://schemas.microsoft.com/office/drawing/2014/main" val="20001"/>
                    </a:ext>
                  </a:extLst>
                </a:gridCol>
                <a:gridCol w="1191000">
                  <a:extLst>
                    <a:ext uri="{9D8B030D-6E8A-4147-A177-3AD203B41FA5}">
                      <a16:colId xmlns:a16="http://schemas.microsoft.com/office/drawing/2014/main" val="20002"/>
                    </a:ext>
                  </a:extLst>
                </a:gridCol>
              </a:tblGrid>
              <a:tr h="337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Period</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Hours</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a:latin typeface="Montserrat"/>
                          <a:ea typeface="Montserrat"/>
                          <a:cs typeface="Montserrat"/>
                          <a:sym typeface="Montserrat"/>
                        </a:rPr>
                        <a:t>Versus</a:t>
                      </a:r>
                      <a:r>
                        <a:rPr lang="en" sz="1000" u="none" strike="noStrike" cap="none">
                          <a:solidFill>
                            <a:srgbClr val="FFFFFF"/>
                          </a:solidFill>
                          <a:latin typeface="Montserrat"/>
                          <a:ea typeface="Montserrat"/>
                          <a:cs typeface="Montserrat"/>
                          <a:sym typeface="Montserrat"/>
                        </a:rPr>
                        <a:t> </a:t>
                      </a:r>
                      <a:r>
                        <a:rPr lang="en" sz="1000">
                          <a:latin typeface="Montserrat"/>
                          <a:ea typeface="Montserrat"/>
                          <a:cs typeface="Montserrat"/>
                          <a:sym typeface="Montserrat"/>
                        </a:rPr>
                        <a:t>B</a:t>
                      </a:r>
                      <a:r>
                        <a:rPr lang="en" sz="1000" u="none" strike="noStrike" cap="none">
                          <a:solidFill>
                            <a:srgbClr val="FFFFFF"/>
                          </a:solidFill>
                          <a:latin typeface="Montserrat"/>
                          <a:ea typeface="Montserrat"/>
                          <a:cs typeface="Montserrat"/>
                          <a:sym typeface="Montserrat"/>
                        </a:rPr>
                        <a:t>ase</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extLst>
                  <a:ext uri="{0D108BD9-81ED-4DB2-BD59-A6C34878D82A}">
                    <a16:rowId xmlns:a16="http://schemas.microsoft.com/office/drawing/2014/main" val="10000"/>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Off-peak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00</a:t>
                      </a:r>
                      <a:r>
                        <a:rPr lang="en" sz="1000" u="none" strike="noStrike" cap="none">
                          <a:solidFill>
                            <a:srgbClr val="222B33"/>
                          </a:solidFill>
                          <a:latin typeface="Montserrat"/>
                          <a:ea typeface="Montserrat"/>
                          <a:cs typeface="Montserrat"/>
                          <a:sym typeface="Montserrat"/>
                        </a:rPr>
                        <a:t>:00 - 0</a:t>
                      </a:r>
                      <a:r>
                        <a:rPr lang="en" sz="1000">
                          <a:solidFill>
                            <a:srgbClr val="222B33"/>
                          </a:solidFill>
                          <a:latin typeface="Montserrat"/>
                          <a:ea typeface="Montserrat"/>
                          <a:cs typeface="Montserrat"/>
                          <a:sym typeface="Montserrat"/>
                        </a:rPr>
                        <a:t>6</a:t>
                      </a:r>
                      <a:r>
                        <a:rPr lang="en" sz="1000" u="none" strike="noStrike" cap="none">
                          <a:solidFill>
                            <a:srgbClr val="222B33"/>
                          </a:solidFill>
                          <a:latin typeface="Montserrat"/>
                          <a:ea typeface="Montserrat"/>
                          <a:cs typeface="Montserrat"/>
                          <a:sym typeface="Montserrat"/>
                        </a:rPr>
                        <a:t>:00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~0.52x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4354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Normal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solidFill>
                      <a:srgbClr val="FFFFFF"/>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06:00 - 18:00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solidFill>
                      <a:srgbClr val="FFFFFF"/>
                    </a:solidFill>
                  </a:tcPr>
                </a:tc>
                <a:extLst>
                  <a:ext uri="{0D108BD9-81ED-4DB2-BD59-A6C34878D82A}">
                    <a16:rowId xmlns:a16="http://schemas.microsoft.com/office/drawing/2014/main" val="10002"/>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18:00 - 23:00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~1.78x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solidFill>
                      <a:srgbClr val="F8FAFC"/>
                    </a:solidFill>
                  </a:tcPr>
                </a:tc>
                <a:extLst>
                  <a:ext uri="{0D108BD9-81ED-4DB2-BD59-A6C34878D82A}">
                    <a16:rowId xmlns:a16="http://schemas.microsoft.com/office/drawing/2014/main" val="10003"/>
                  </a:ext>
                </a:extLst>
              </a:tr>
            </a:tbl>
          </a:graphicData>
        </a:graphic>
      </p:graphicFrame>
      <p:sp>
        <p:nvSpPr>
          <p:cNvPr id="1522" name="Google Shape;1522;p164"/>
          <p:cNvSpPr txBox="1"/>
          <p:nvPr/>
        </p:nvSpPr>
        <p:spPr>
          <a:xfrm>
            <a:off x="424335" y="2473902"/>
            <a:ext cx="3968400" cy="238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950" i="0" u="none" strike="noStrike" cap="none">
                <a:solidFill>
                  <a:schemeClr val="dk1"/>
                </a:solidFill>
                <a:latin typeface="Montserrat"/>
                <a:ea typeface="Montserrat"/>
                <a:cs typeface="Montserrat"/>
                <a:sym typeface="Montserrat"/>
              </a:rPr>
              <a:t>Sunday rule: no peak period on Sundays (all hours normal).</a:t>
            </a:r>
            <a:endParaRPr sz="1200">
              <a:solidFill>
                <a:schemeClr val="dk1"/>
              </a:solidFill>
              <a:latin typeface="Montserrat"/>
              <a:ea typeface="Montserrat"/>
              <a:cs typeface="Montserrat"/>
              <a:sym typeface="Montserrat"/>
            </a:endParaRPr>
          </a:p>
        </p:txBody>
      </p:sp>
      <p:graphicFrame>
        <p:nvGraphicFramePr>
          <p:cNvPr id="1523" name="Google Shape;1523;p164"/>
          <p:cNvGraphicFramePr/>
          <p:nvPr/>
        </p:nvGraphicFramePr>
        <p:xfrm>
          <a:off x="424295" y="2923477"/>
          <a:ext cx="3000000" cy="3000000"/>
        </p:xfrm>
        <a:graphic>
          <a:graphicData uri="http://schemas.openxmlformats.org/drawingml/2006/table">
            <a:tbl>
              <a:tblPr firstRow="1" bandRow="1">
                <a:noFill/>
                <a:tableStyleId>{CE8BD2AF-5D0D-4EDC-AE96-A30A7DA1AF2F}</a:tableStyleId>
              </a:tblPr>
              <a:tblGrid>
                <a:gridCol w="961800">
                  <a:extLst>
                    <a:ext uri="{9D8B030D-6E8A-4147-A177-3AD203B41FA5}">
                      <a16:colId xmlns:a16="http://schemas.microsoft.com/office/drawing/2014/main" val="20000"/>
                    </a:ext>
                  </a:extLst>
                </a:gridCol>
                <a:gridCol w="1062000">
                  <a:extLst>
                    <a:ext uri="{9D8B030D-6E8A-4147-A177-3AD203B41FA5}">
                      <a16:colId xmlns:a16="http://schemas.microsoft.com/office/drawing/2014/main" val="20001"/>
                    </a:ext>
                  </a:extLst>
                </a:gridCol>
                <a:gridCol w="1062000">
                  <a:extLst>
                    <a:ext uri="{9D8B030D-6E8A-4147-A177-3AD203B41FA5}">
                      <a16:colId xmlns:a16="http://schemas.microsoft.com/office/drawing/2014/main" val="20002"/>
                    </a:ext>
                  </a:extLst>
                </a:gridCol>
                <a:gridCol w="1062000">
                  <a:extLst>
                    <a:ext uri="{9D8B030D-6E8A-4147-A177-3AD203B41FA5}">
                      <a16:colId xmlns:a16="http://schemas.microsoft.com/office/drawing/2014/main" val="20003"/>
                    </a:ext>
                  </a:extLst>
                </a:gridCol>
              </a:tblGrid>
              <a:tr h="293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Voltage</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Off-peak</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Normal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&gt;=110kV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0.034</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0.065</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0.116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22-110kV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0.037</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0.070</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0.126</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6-22kV</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0.042</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0.079</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0.141</a:t>
                      </a:r>
                      <a:endParaRPr sz="1000">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3"/>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&lt;6kV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0.049</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0.092</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0.164</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524" name="Google Shape;1524;p164"/>
          <p:cNvSpPr txBox="1"/>
          <p:nvPr/>
        </p:nvSpPr>
        <p:spPr>
          <a:xfrm>
            <a:off x="4782490" y="1092421"/>
            <a:ext cx="2856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Why this matters for DPPA</a:t>
            </a:r>
            <a:endParaRPr sz="1050">
              <a:latin typeface="Montserrat"/>
              <a:ea typeface="Montserrat"/>
              <a:cs typeface="Montserrat"/>
              <a:sym typeface="Montserrat"/>
            </a:endParaRPr>
          </a:p>
        </p:txBody>
      </p:sp>
      <p:sp>
        <p:nvSpPr>
          <p:cNvPr id="1525" name="Google Shape;1525;p164"/>
          <p:cNvSpPr txBox="1"/>
          <p:nvPr/>
        </p:nvSpPr>
        <p:spPr>
          <a:xfrm>
            <a:off x="4824500" y="1425544"/>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Every DPPA offer is judged against this bill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business</a:t>
            </a:r>
            <a:r>
              <a:rPr lang="en" sz="1000">
                <a:solidFill>
                  <a:srgbClr val="222B33"/>
                </a:solidFill>
                <a:latin typeface="Montserrat"/>
                <a:ea typeface="Montserrat"/>
                <a:cs typeface="Montserrat"/>
                <a:sym typeface="Montserrat"/>
              </a:rPr>
              <a:t>-</a:t>
            </a:r>
            <a:r>
              <a:rPr lang="en" sz="1000" i="0" u="none" strike="noStrike" cap="none">
                <a:solidFill>
                  <a:srgbClr val="222B33"/>
                </a:solidFill>
                <a:latin typeface="Montserrat"/>
                <a:ea typeface="Montserrat"/>
                <a:cs typeface="Montserrat"/>
                <a:sym typeface="Montserrat"/>
              </a:rPr>
              <a:t>as-usual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(BAU)</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Peak hours cost 3.4x off-peak: your load shape decides what "average" means for you</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Residual energy (load not covered by the DPPA) keeps paying these TOU rates</a:t>
            </a:r>
            <a:endParaRPr sz="1000">
              <a:latin typeface="Montserrat"/>
              <a:ea typeface="Montserrat"/>
              <a:cs typeface="Montserrat"/>
              <a:sym typeface="Montserrat"/>
            </a:endParaRPr>
          </a:p>
        </p:txBody>
      </p:sp>
      <p:sp>
        <p:nvSpPr>
          <p:cNvPr id="1526" name="Google Shape;1526;p164"/>
          <p:cNvSpPr txBox="1"/>
          <p:nvPr/>
        </p:nvSpPr>
        <p:spPr>
          <a:xfrm>
            <a:off x="4782490" y="2885562"/>
            <a:ext cx="4293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The savings benchmark</a:t>
            </a:r>
            <a:endParaRPr sz="1050">
              <a:latin typeface="Montserrat"/>
              <a:ea typeface="Montserrat"/>
              <a:cs typeface="Montserrat"/>
              <a:sym typeface="Montserrat"/>
            </a:endParaRPr>
          </a:p>
        </p:txBody>
      </p:sp>
      <p:sp>
        <p:nvSpPr>
          <p:cNvPr id="1527" name="Google Shape;1527;p164"/>
          <p:cNvSpPr txBox="1"/>
          <p:nvPr/>
        </p:nvSpPr>
        <p:spPr>
          <a:xfrm>
            <a:off x="4782500" y="3169357"/>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BAU = your current EVN bill escalated ~4%/yr (historical trend 2015-2024)</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A DPPA is evaluated on cumulative cost vs BAU over 10 years and over the project lifetime - not just Year 1</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EVN tariff escalation is the main source of long-term DPPA value</a:t>
            </a:r>
            <a:endParaRPr sz="1000">
              <a:latin typeface="Montserrat"/>
              <a:ea typeface="Montserrat"/>
              <a:cs typeface="Montserrat"/>
              <a:sym typeface="Montserrat"/>
            </a:endParaRPr>
          </a:p>
        </p:txBody>
      </p:sp>
      <p:sp>
        <p:nvSpPr>
          <p:cNvPr id="1528" name="Google Shape;1528;p164"/>
          <p:cNvSpPr txBox="1"/>
          <p:nvPr/>
        </p:nvSpPr>
        <p:spPr>
          <a:xfrm>
            <a:off x="424250" y="4350167"/>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Font typeface="Arial"/>
              <a:buNone/>
            </a:pPr>
            <a:r>
              <a:rPr lang="en" sz="1000">
                <a:solidFill>
                  <a:schemeClr val="dk1"/>
                </a:solidFill>
                <a:latin typeface="Montserrat"/>
                <a:ea typeface="Montserrat"/>
                <a:cs typeface="Montserrat"/>
                <a:sym typeface="Montserrat"/>
              </a:rPr>
              <a:t>(USD/kWh approx. 2025)</a:t>
            </a:r>
            <a:endParaRPr sz="1000">
              <a:solidFill>
                <a:schemeClr val="dk1"/>
              </a:solidFill>
              <a:latin typeface="Montserrat"/>
              <a:ea typeface="Montserrat"/>
              <a:cs typeface="Montserrat"/>
              <a:sym typeface="Montserrat"/>
            </a:endParaRPr>
          </a:p>
        </p:txBody>
      </p:sp>
      <p:grpSp>
        <p:nvGrpSpPr>
          <p:cNvPr id="1529" name="Google Shape;1529;p164"/>
          <p:cNvGrpSpPr/>
          <p:nvPr/>
        </p:nvGrpSpPr>
        <p:grpSpPr>
          <a:xfrm>
            <a:off x="239992" y="63853"/>
            <a:ext cx="8728050" cy="745997"/>
            <a:chOff x="236700" y="63853"/>
            <a:chExt cx="8728050" cy="745997"/>
          </a:xfrm>
        </p:grpSpPr>
        <p:sp>
          <p:nvSpPr>
            <p:cNvPr id="1530" name="Google Shape;1530;p16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31" name="Google Shape;1531;p16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32" name="Google Shape;1532;p16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33" name="Google Shape;1533;p16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34" name="Google Shape;1534;p16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35" name="Google Shape;1535;p16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36" name="Google Shape;1536;p16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537" name="Google Shape;1537;p16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38" name="Google Shape;1538;p16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sp>
          <p:nvSpPr>
            <p:cNvPr id="1539" name="Google Shape;1539;p16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1 - The Baseline</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What You Pay EVN Today: TOU Is The Reference Price</a:t>
              </a:r>
              <a:endParaRPr sz="2000">
                <a:solidFill>
                  <a:schemeClr val="lt1"/>
                </a:solidFill>
                <a:latin typeface="Montserrat ExtraBold"/>
                <a:ea typeface="Montserrat ExtraBold"/>
                <a:cs typeface="Montserrat ExtraBold"/>
                <a:sym typeface="Montserrat Extra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3"/>
        <p:cNvGrpSpPr/>
        <p:nvPr/>
      </p:nvGrpSpPr>
      <p:grpSpPr>
        <a:xfrm>
          <a:off x="0" y="0"/>
          <a:ext cx="0" cy="0"/>
          <a:chOff x="0" y="0"/>
          <a:chExt cx="0" cy="0"/>
        </a:xfrm>
      </p:grpSpPr>
      <p:cxnSp>
        <p:nvCxnSpPr>
          <p:cNvPr id="1544" name="Google Shape;1544;p165"/>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45" name="Google Shape;1545;p165"/>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2:</a:t>
            </a:r>
            <a:endParaRPr sz="2800" b="1">
              <a:solidFill>
                <a:srgbClr val="0F172A"/>
              </a:solidFill>
              <a:highlight>
                <a:srgbClr val="FFFFFF"/>
              </a:highlight>
              <a:latin typeface="Montserrat"/>
              <a:ea typeface="Montserrat"/>
              <a:cs typeface="Montserrat"/>
              <a:sym typeface="Montserrat"/>
            </a:endParaRPr>
          </a:p>
          <a:p>
            <a:pPr marL="0" lvl="0" indent="0" algn="l" rtl="0">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Virtual DPPA Money Flow: The Five-Line Bill</a:t>
            </a:r>
            <a:endParaRPr sz="2800" b="1">
              <a:solidFill>
                <a:srgbClr val="0F172A"/>
              </a:solidFill>
              <a:highlight>
                <a:srgbClr val="FFFFFF"/>
              </a:highlight>
              <a:latin typeface="Montserrat"/>
              <a:ea typeface="Montserrat"/>
              <a:cs typeface="Montserrat"/>
              <a:sym typeface="Montserrat"/>
            </a:endParaRPr>
          </a:p>
        </p:txBody>
      </p:sp>
      <p:pic>
        <p:nvPicPr>
          <p:cNvPr id="1546" name="Google Shape;1546;p165"/>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47" name="Google Shape;1547;p165"/>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48" name="Google Shape;1548;p16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49" name="Google Shape;1549;p165"/>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3"/>
        <p:cNvGrpSpPr/>
        <p:nvPr/>
      </p:nvGrpSpPr>
      <p:grpSpPr>
        <a:xfrm>
          <a:off x="0" y="0"/>
          <a:ext cx="0" cy="0"/>
          <a:chOff x="0" y="0"/>
          <a:chExt cx="0" cy="0"/>
        </a:xfrm>
      </p:grpSpPr>
      <p:grpSp>
        <p:nvGrpSpPr>
          <p:cNvPr id="1554" name="Google Shape;1554;p166"/>
          <p:cNvGrpSpPr/>
          <p:nvPr/>
        </p:nvGrpSpPr>
        <p:grpSpPr>
          <a:xfrm>
            <a:off x="244142" y="63878"/>
            <a:ext cx="8728050" cy="745997"/>
            <a:chOff x="236700" y="63853"/>
            <a:chExt cx="8728050" cy="745997"/>
          </a:xfrm>
        </p:grpSpPr>
        <p:sp>
          <p:nvSpPr>
            <p:cNvPr id="1555" name="Google Shape;1555;p16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56" name="Google Shape;1556;p16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57" name="Google Shape;1557;p16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58" name="Google Shape;1558;p16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59" name="Google Shape;1559;p16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60" name="Google Shape;1560;p16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61" name="Google Shape;1561;p16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562" name="Google Shape;1562;p16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Virtual DPPA Money Flow: Three Relationships, One Bill</a:t>
              </a:r>
              <a:endParaRPr sz="2100">
                <a:solidFill>
                  <a:schemeClr val="lt1"/>
                </a:solidFill>
                <a:latin typeface="Montserrat ExtraBold"/>
                <a:ea typeface="Montserrat ExtraBold"/>
                <a:cs typeface="Montserrat ExtraBold"/>
                <a:sym typeface="Montserrat ExtraBold"/>
              </a:endParaRPr>
            </a:p>
          </p:txBody>
        </p:sp>
        <p:cxnSp>
          <p:nvCxnSpPr>
            <p:cNvPr id="1563" name="Google Shape;1563;p16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64" name="Google Shape;1564;p16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565" name="Google Shape;1565;p16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66" name="Google Shape;1566;p166"/>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67" name="Google Shape;1567;p166"/>
          <p:cNvSpPr/>
          <p:nvPr/>
        </p:nvSpPr>
        <p:spPr>
          <a:xfrm>
            <a:off x="248613" y="1595970"/>
            <a:ext cx="1962000" cy="1115100"/>
          </a:xfrm>
          <a:prstGeom prst="roundRect">
            <a:avLst>
              <a:gd name="adj" fmla="val 16667"/>
            </a:avLst>
          </a:prstGeom>
          <a:solidFill>
            <a:srgbClr val="127A7A"/>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RE GENERATOR</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sells 100% of output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to the spot market</a:t>
            </a:r>
            <a:endParaRPr sz="1155">
              <a:latin typeface="Montserrat"/>
              <a:ea typeface="Montserrat"/>
              <a:cs typeface="Montserrat"/>
              <a:sym typeface="Montserrat"/>
            </a:endParaRPr>
          </a:p>
        </p:txBody>
      </p:sp>
      <p:sp>
        <p:nvSpPr>
          <p:cNvPr id="1568" name="Google Shape;1568;p166"/>
          <p:cNvSpPr/>
          <p:nvPr/>
        </p:nvSpPr>
        <p:spPr>
          <a:xfrm>
            <a:off x="3590999" y="110527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VWEM SPOT MARKET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generator FMP</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per kWh generated</a:t>
            </a:r>
            <a:endParaRPr sz="1155">
              <a:latin typeface="Montserrat"/>
              <a:ea typeface="Montserrat"/>
              <a:cs typeface="Montserrat"/>
              <a:sym typeface="Montserrat"/>
            </a:endParaRPr>
          </a:p>
        </p:txBody>
      </p:sp>
      <p:sp>
        <p:nvSpPr>
          <p:cNvPr id="1569" name="Google Shape;1569;p166"/>
          <p:cNvSpPr/>
          <p:nvPr/>
        </p:nvSpPr>
        <p:spPr>
          <a:xfrm>
            <a:off x="3590999" y="253274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EVN</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meters, wheels, &amp; bills</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the DPPA customer</a:t>
            </a:r>
            <a:endParaRPr sz="1155">
              <a:latin typeface="Montserrat"/>
              <a:ea typeface="Montserrat"/>
              <a:cs typeface="Montserrat"/>
              <a:sym typeface="Montserrat"/>
            </a:endParaRPr>
          </a:p>
        </p:txBody>
      </p:sp>
      <p:sp>
        <p:nvSpPr>
          <p:cNvPr id="1570" name="Google Shape;1570;p166"/>
          <p:cNvSpPr/>
          <p:nvPr/>
        </p:nvSpPr>
        <p:spPr>
          <a:xfrm>
            <a:off x="6933386" y="1595970"/>
            <a:ext cx="1962000" cy="1115100"/>
          </a:xfrm>
          <a:prstGeom prst="roundRect">
            <a:avLst>
              <a:gd name="adj" fmla="val 16667"/>
            </a:avLst>
          </a:prstGeom>
          <a:solidFill>
            <a:srgbClr val="2E9E5B"/>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YOUR FA</a:t>
            </a:r>
            <a:r>
              <a:rPr lang="en" sz="1155" b="1">
                <a:solidFill>
                  <a:srgbClr val="FFFFFF"/>
                </a:solidFill>
                <a:latin typeface="Montserrat"/>
                <a:ea typeface="Montserrat"/>
                <a:cs typeface="Montserrat"/>
                <a:sym typeface="Montserrat"/>
              </a:rPr>
              <a:t>CTORY</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EVN the DPPA bill;</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settles CfD with generator</a:t>
            </a:r>
            <a:endParaRPr sz="1155">
              <a:latin typeface="Montserrat"/>
              <a:ea typeface="Montserrat"/>
              <a:cs typeface="Montserrat"/>
              <a:sym typeface="Montserrat"/>
            </a:endParaRPr>
          </a:p>
        </p:txBody>
      </p:sp>
      <p:cxnSp>
        <p:nvCxnSpPr>
          <p:cNvPr id="1571" name="Google Shape;1571;p166"/>
          <p:cNvCxnSpPr/>
          <p:nvPr/>
        </p:nvCxnSpPr>
        <p:spPr>
          <a:xfrm rot="10800000" flipH="1">
            <a:off x="2210448" y="1551620"/>
            <a:ext cx="1380600" cy="3120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2" name="Google Shape;1572;p166"/>
          <p:cNvSpPr txBox="1"/>
          <p:nvPr/>
        </p:nvSpPr>
        <p:spPr>
          <a:xfrm>
            <a:off x="2137621" y="1221760"/>
            <a:ext cx="14535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energy -&gt; market (FMP)</a:t>
            </a:r>
            <a:endParaRPr sz="1155">
              <a:solidFill>
                <a:schemeClr val="dk1"/>
              </a:solidFill>
              <a:latin typeface="Montserrat"/>
              <a:ea typeface="Montserrat"/>
              <a:cs typeface="Montserrat"/>
              <a:sym typeface="Montserrat"/>
            </a:endParaRPr>
          </a:p>
        </p:txBody>
      </p:sp>
      <p:cxnSp>
        <p:nvCxnSpPr>
          <p:cNvPr id="1573" name="Google Shape;1573;p166"/>
          <p:cNvCxnSpPr/>
          <p:nvPr/>
        </p:nvCxnSpPr>
        <p:spPr>
          <a:xfrm rot="10800000" flipH="1">
            <a:off x="5552835" y="2488240"/>
            <a:ext cx="1380600" cy="5352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4" name="Google Shape;1574;p166"/>
          <p:cNvSpPr txBox="1"/>
          <p:nvPr/>
        </p:nvSpPr>
        <p:spPr>
          <a:xfrm>
            <a:off x="5516505" y="3068048"/>
            <a:ext cx="15258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DPPA bill (5 lines)</a:t>
            </a:r>
            <a:endParaRPr sz="1155">
              <a:solidFill>
                <a:schemeClr val="dk1"/>
              </a:solidFill>
              <a:latin typeface="Montserrat"/>
              <a:ea typeface="Montserrat"/>
              <a:cs typeface="Montserrat"/>
              <a:sym typeface="Montserrat"/>
            </a:endParaRPr>
          </a:p>
        </p:txBody>
      </p:sp>
      <p:cxnSp>
        <p:nvCxnSpPr>
          <p:cNvPr id="1575" name="Google Shape;1575;p166"/>
          <p:cNvCxnSpPr/>
          <p:nvPr/>
        </p:nvCxnSpPr>
        <p:spPr>
          <a:xfrm>
            <a:off x="2210448" y="2398922"/>
            <a:ext cx="4722900" cy="600"/>
          </a:xfrm>
          <a:prstGeom prst="bentConnector3">
            <a:avLst>
              <a:gd name="adj1" fmla="val 50000"/>
            </a:avLst>
          </a:prstGeom>
          <a:noFill/>
          <a:ln w="20975" cap="flat" cmpd="sng">
            <a:solidFill>
              <a:srgbClr val="E09A2B"/>
            </a:solidFill>
            <a:prstDash val="dash"/>
            <a:round/>
            <a:headEnd type="none" w="sm" len="sm"/>
            <a:tailEnd type="none" w="sm" len="sm"/>
          </a:ln>
          <a:effectLst>
            <a:outerShdw blurRad="32999" dist="16499" dir="5400000" rotWithShape="0">
              <a:srgbClr val="000000">
                <a:alpha val="38040"/>
              </a:srgbClr>
            </a:outerShdw>
          </a:effectLst>
        </p:spPr>
      </p:cxnSp>
      <p:sp>
        <p:nvSpPr>
          <p:cNvPr id="1576" name="Google Shape;1576;p166"/>
          <p:cNvSpPr txBox="1"/>
          <p:nvPr/>
        </p:nvSpPr>
        <p:spPr>
          <a:xfrm>
            <a:off x="3808981" y="2086663"/>
            <a:ext cx="15984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b="0" i="0" u="none" strike="noStrike" cap="none">
                <a:solidFill>
                  <a:srgbClr val="E09A2B"/>
                </a:solidFill>
                <a:latin typeface="Quattrocento Sans"/>
                <a:ea typeface="Quattrocento Sans"/>
                <a:cs typeface="Quattrocento Sans"/>
                <a:sym typeface="Quattrocento Sans"/>
              </a:rPr>
              <a:t>CfD settlement (two-way)</a:t>
            </a:r>
            <a:endParaRPr sz="1155"/>
          </a:p>
        </p:txBody>
      </p:sp>
      <p:sp>
        <p:nvSpPr>
          <p:cNvPr id="1577" name="Google Shape;1577;p166"/>
          <p:cNvSpPr txBox="1"/>
          <p:nvPr/>
        </p:nvSpPr>
        <p:spPr>
          <a:xfrm>
            <a:off x="393875" y="3788371"/>
            <a:ext cx="8509800" cy="845100"/>
          </a:xfrm>
          <a:prstGeom prst="rect">
            <a:avLst/>
          </a:prstGeom>
          <a:noFill/>
          <a:ln>
            <a:noFill/>
          </a:ln>
        </p:spPr>
        <p:txBody>
          <a:bodyPr spcFirstLastPara="1" wrap="square" lIns="73000" tIns="36475" rIns="73000" bIns="36475" anchor="t" anchorCtr="0">
            <a:spAutoFit/>
          </a:bodyPr>
          <a:lstStyle/>
          <a:p>
            <a:pPr marL="457200" marR="0" lvl="0" indent="-309750" algn="l" rtl="0">
              <a:lnSpc>
                <a:spcPct val="120000"/>
              </a:lnSpc>
              <a:spcBef>
                <a:spcPts val="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Physical electrons flow through the national grid as usual </a:t>
            </a:r>
            <a:r>
              <a:rPr lang="en" sz="1278">
                <a:solidFill>
                  <a:schemeClr val="dk1"/>
                </a:solidFill>
                <a:latin typeface="Montserrat"/>
                <a:ea typeface="Montserrat"/>
                <a:cs typeface="Montserrat"/>
                <a:sym typeface="Montserrat"/>
              </a:rPr>
              <a:t>and</a:t>
            </a:r>
            <a:r>
              <a:rPr lang="en" sz="1278" i="0" u="none" strike="noStrike" cap="none">
                <a:solidFill>
                  <a:schemeClr val="dk1"/>
                </a:solidFill>
                <a:latin typeface="Montserrat"/>
                <a:ea typeface="Montserrat"/>
                <a:cs typeface="Montserrat"/>
                <a:sym typeface="Montserrat"/>
              </a:rPr>
              <a:t> the DPPA is a financial overlay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The generator's revenue = spot sales at FMP + CfD settlement with you</a:t>
            </a:r>
            <a:r>
              <a:rPr lang="en" sz="1278">
                <a:solidFill>
                  <a:schemeClr val="dk1"/>
                </a:solidFill>
                <a:latin typeface="Montserrat"/>
                <a:ea typeface="Montserrat"/>
                <a:cs typeface="Montserrat"/>
                <a:sym typeface="Montserrat"/>
              </a:rPr>
              <a:t>r factory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400"/>
              </a:spcAft>
              <a:buClr>
                <a:schemeClr val="dk1"/>
              </a:buClr>
              <a:buSzPts val="1278"/>
              <a:buFont typeface="Montserrat"/>
              <a:buChar char="●"/>
            </a:pPr>
            <a:r>
              <a:rPr lang="en" sz="1278">
                <a:solidFill>
                  <a:schemeClr val="dk1"/>
                </a:solidFill>
                <a:latin typeface="Montserrat"/>
                <a:ea typeface="Montserrat"/>
                <a:cs typeface="Montserrat"/>
                <a:sym typeface="Montserrat"/>
              </a:rPr>
              <a:t>Your factory </a:t>
            </a:r>
            <a:r>
              <a:rPr lang="en" sz="1278" i="0" u="none" strike="noStrike" cap="none">
                <a:solidFill>
                  <a:schemeClr val="dk1"/>
                </a:solidFill>
                <a:latin typeface="Montserrat"/>
                <a:ea typeface="Montserrat"/>
                <a:cs typeface="Montserrat"/>
                <a:sym typeface="Montserrat"/>
              </a:rPr>
              <a:t>cost = the five-line EVN bill + the CfD settlement</a:t>
            </a:r>
            <a:endParaRPr sz="1318">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1581"/>
        <p:cNvGrpSpPr/>
        <p:nvPr/>
      </p:nvGrpSpPr>
      <p:grpSpPr>
        <a:xfrm>
          <a:off x="0" y="0"/>
          <a:ext cx="0" cy="0"/>
          <a:chOff x="0" y="0"/>
          <a:chExt cx="0" cy="0"/>
        </a:xfrm>
      </p:grpSpPr>
      <p:grpSp>
        <p:nvGrpSpPr>
          <p:cNvPr id="1582" name="Google Shape;1582;p167"/>
          <p:cNvGrpSpPr/>
          <p:nvPr/>
        </p:nvGrpSpPr>
        <p:grpSpPr>
          <a:xfrm>
            <a:off x="244142" y="63878"/>
            <a:ext cx="8728050" cy="745997"/>
            <a:chOff x="236700" y="63853"/>
            <a:chExt cx="8728050" cy="745997"/>
          </a:xfrm>
        </p:grpSpPr>
        <p:sp>
          <p:nvSpPr>
            <p:cNvPr id="1583" name="Google Shape;1583;p16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84" name="Google Shape;1584;p16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85" name="Google Shape;1585;p16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86" name="Google Shape;1586;p16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87" name="Google Shape;1587;p16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88" name="Google Shape;1588;p16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89" name="Google Shape;1589;p16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590" name="Google Shape;1590;p167"/>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Virtual DPPA Money Flow: Three Relationships, One Bill</a:t>
              </a:r>
              <a:endParaRPr sz="2100">
                <a:solidFill>
                  <a:schemeClr val="lt1"/>
                </a:solidFill>
                <a:latin typeface="Montserrat ExtraBold"/>
                <a:ea typeface="Montserrat ExtraBold"/>
                <a:cs typeface="Montserrat ExtraBold"/>
                <a:sym typeface="Montserrat ExtraBold"/>
              </a:endParaRPr>
            </a:p>
          </p:txBody>
        </p:sp>
        <p:cxnSp>
          <p:nvCxnSpPr>
            <p:cNvPr id="1591" name="Google Shape;1591;p16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92" name="Google Shape;1592;p16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593" name="Google Shape;1593;p16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94" name="Google Shape;1594;p167"/>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95" name="Google Shape;1595;p167"/>
          <p:cNvSpPr/>
          <p:nvPr/>
        </p:nvSpPr>
        <p:spPr>
          <a:xfrm>
            <a:off x="248613" y="1595970"/>
            <a:ext cx="1962000" cy="1115100"/>
          </a:xfrm>
          <a:prstGeom prst="roundRect">
            <a:avLst>
              <a:gd name="adj" fmla="val 16667"/>
            </a:avLst>
          </a:prstGeom>
          <a:solidFill>
            <a:srgbClr val="127A7A"/>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RE GENERATOR</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sells 100% of output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to the spot market</a:t>
            </a:r>
            <a:endParaRPr sz="1155">
              <a:latin typeface="Montserrat"/>
              <a:ea typeface="Montserrat"/>
              <a:cs typeface="Montserrat"/>
              <a:sym typeface="Montserrat"/>
            </a:endParaRPr>
          </a:p>
        </p:txBody>
      </p:sp>
      <p:sp>
        <p:nvSpPr>
          <p:cNvPr id="1596" name="Google Shape;1596;p167"/>
          <p:cNvSpPr/>
          <p:nvPr/>
        </p:nvSpPr>
        <p:spPr>
          <a:xfrm>
            <a:off x="3590999" y="110527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VWEM SPOT MARKET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generator FMP</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per kWh generated</a:t>
            </a:r>
            <a:endParaRPr sz="1155">
              <a:latin typeface="Montserrat"/>
              <a:ea typeface="Montserrat"/>
              <a:cs typeface="Montserrat"/>
              <a:sym typeface="Montserrat"/>
            </a:endParaRPr>
          </a:p>
        </p:txBody>
      </p:sp>
      <p:sp>
        <p:nvSpPr>
          <p:cNvPr id="1597" name="Google Shape;1597;p167"/>
          <p:cNvSpPr/>
          <p:nvPr/>
        </p:nvSpPr>
        <p:spPr>
          <a:xfrm>
            <a:off x="3590999" y="253274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EVN</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meters, wheels, &amp; bills</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the DPPA customer</a:t>
            </a:r>
            <a:endParaRPr sz="1155">
              <a:latin typeface="Montserrat"/>
              <a:ea typeface="Montserrat"/>
              <a:cs typeface="Montserrat"/>
              <a:sym typeface="Montserrat"/>
            </a:endParaRPr>
          </a:p>
        </p:txBody>
      </p:sp>
      <p:sp>
        <p:nvSpPr>
          <p:cNvPr id="1598" name="Google Shape;1598;p167"/>
          <p:cNvSpPr/>
          <p:nvPr/>
        </p:nvSpPr>
        <p:spPr>
          <a:xfrm>
            <a:off x="6933386" y="1595970"/>
            <a:ext cx="1962000" cy="1115100"/>
          </a:xfrm>
          <a:prstGeom prst="roundRect">
            <a:avLst>
              <a:gd name="adj" fmla="val 16667"/>
            </a:avLst>
          </a:prstGeom>
          <a:solidFill>
            <a:srgbClr val="2E9E5B"/>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YOUR FACTORY</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EVN the DPPA bill;</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settles CfD with generator</a:t>
            </a:r>
            <a:endParaRPr sz="1155">
              <a:latin typeface="Montserrat"/>
              <a:ea typeface="Montserrat"/>
              <a:cs typeface="Montserrat"/>
              <a:sym typeface="Montserrat"/>
            </a:endParaRPr>
          </a:p>
        </p:txBody>
      </p:sp>
      <p:sp>
        <p:nvSpPr>
          <p:cNvPr id="1599" name="Google Shape;1599;p167"/>
          <p:cNvSpPr txBox="1"/>
          <p:nvPr/>
        </p:nvSpPr>
        <p:spPr>
          <a:xfrm>
            <a:off x="1683521" y="1295672"/>
            <a:ext cx="14535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energy -&gt; market (FMP)</a:t>
            </a:r>
            <a:endParaRPr sz="1155">
              <a:solidFill>
                <a:schemeClr val="dk1"/>
              </a:solidFill>
              <a:latin typeface="Montserrat"/>
              <a:ea typeface="Montserrat"/>
              <a:cs typeface="Montserrat"/>
              <a:sym typeface="Montserrat"/>
            </a:endParaRPr>
          </a:p>
        </p:txBody>
      </p:sp>
      <p:cxnSp>
        <p:nvCxnSpPr>
          <p:cNvPr id="1600" name="Google Shape;1600;p167"/>
          <p:cNvCxnSpPr>
            <a:endCxn id="1598" idx="2"/>
          </p:cNvCxnSpPr>
          <p:nvPr/>
        </p:nvCxnSpPr>
        <p:spPr>
          <a:xfrm rot="10800000" flipH="1">
            <a:off x="5553086" y="2711070"/>
            <a:ext cx="2361300" cy="694800"/>
          </a:xfrm>
          <a:prstGeom prst="bentConnector2">
            <a:avLst/>
          </a:prstGeom>
          <a:noFill/>
          <a:ln w="19050" cap="flat" cmpd="sng">
            <a:solidFill>
              <a:srgbClr val="B33A3A"/>
            </a:solidFill>
            <a:prstDash val="dot"/>
            <a:round/>
            <a:headEnd type="none" w="sm" len="sm"/>
            <a:tailEnd type="stealth" w="sm" len="sm"/>
          </a:ln>
          <a:effectLst>
            <a:outerShdw blurRad="32999" dist="16499" dir="5400000" rotWithShape="0">
              <a:srgbClr val="000000">
                <a:alpha val="38040"/>
              </a:srgbClr>
            </a:outerShdw>
          </a:effectLst>
        </p:spPr>
      </p:cxnSp>
      <p:sp>
        <p:nvSpPr>
          <p:cNvPr id="1601" name="Google Shape;1601;p167"/>
          <p:cNvSpPr txBox="1"/>
          <p:nvPr/>
        </p:nvSpPr>
        <p:spPr>
          <a:xfrm rot="-513617">
            <a:off x="5603308" y="2645141"/>
            <a:ext cx="1525697" cy="209338"/>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rgbClr val="127A7A"/>
                </a:solidFill>
                <a:latin typeface="Montserrat"/>
                <a:ea typeface="Montserrat"/>
                <a:cs typeface="Montserrat"/>
                <a:sym typeface="Montserrat"/>
              </a:rPr>
              <a:t>DPPA bill (5 lines)</a:t>
            </a:r>
            <a:endParaRPr sz="1155">
              <a:solidFill>
                <a:srgbClr val="127A7A"/>
              </a:solidFill>
              <a:latin typeface="Montserrat"/>
              <a:ea typeface="Montserrat"/>
              <a:cs typeface="Montserrat"/>
              <a:sym typeface="Montserrat"/>
            </a:endParaRPr>
          </a:p>
        </p:txBody>
      </p:sp>
      <p:cxnSp>
        <p:nvCxnSpPr>
          <p:cNvPr id="1602" name="Google Shape;1602;p167"/>
          <p:cNvCxnSpPr/>
          <p:nvPr/>
        </p:nvCxnSpPr>
        <p:spPr>
          <a:xfrm>
            <a:off x="2210448" y="2398922"/>
            <a:ext cx="4722900" cy="600"/>
          </a:xfrm>
          <a:prstGeom prst="bentConnector3">
            <a:avLst>
              <a:gd name="adj1" fmla="val 50000"/>
            </a:avLst>
          </a:prstGeom>
          <a:noFill/>
          <a:ln w="20975" cap="flat" cmpd="sng">
            <a:solidFill>
              <a:srgbClr val="E09A2B"/>
            </a:solidFill>
            <a:prstDash val="dash"/>
            <a:round/>
            <a:headEnd type="triangle" w="sm" len="sm"/>
            <a:tailEnd type="triangle" w="sm" len="sm"/>
          </a:ln>
          <a:effectLst>
            <a:outerShdw blurRad="32999" dist="16499" dir="5400000" rotWithShape="0">
              <a:srgbClr val="000000">
                <a:alpha val="38040"/>
              </a:srgbClr>
            </a:outerShdw>
          </a:effectLst>
        </p:spPr>
      </p:cxnSp>
      <p:sp>
        <p:nvSpPr>
          <p:cNvPr id="1603" name="Google Shape;1603;p167"/>
          <p:cNvSpPr txBox="1"/>
          <p:nvPr/>
        </p:nvSpPr>
        <p:spPr>
          <a:xfrm>
            <a:off x="3808981" y="2086663"/>
            <a:ext cx="15984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b="0" i="0" u="none" strike="noStrike" cap="none">
                <a:solidFill>
                  <a:srgbClr val="E09A2B"/>
                </a:solidFill>
                <a:latin typeface="Quattrocento Sans"/>
                <a:ea typeface="Quattrocento Sans"/>
                <a:cs typeface="Quattrocento Sans"/>
                <a:sym typeface="Quattrocento Sans"/>
              </a:rPr>
              <a:t>CfD settlement (two-way)</a:t>
            </a:r>
            <a:endParaRPr sz="1155"/>
          </a:p>
        </p:txBody>
      </p:sp>
      <p:sp>
        <p:nvSpPr>
          <p:cNvPr id="1604" name="Google Shape;1604;p167"/>
          <p:cNvSpPr txBox="1"/>
          <p:nvPr/>
        </p:nvSpPr>
        <p:spPr>
          <a:xfrm>
            <a:off x="393875" y="3788371"/>
            <a:ext cx="8509800" cy="845100"/>
          </a:xfrm>
          <a:prstGeom prst="rect">
            <a:avLst/>
          </a:prstGeom>
          <a:noFill/>
          <a:ln>
            <a:noFill/>
          </a:ln>
        </p:spPr>
        <p:txBody>
          <a:bodyPr spcFirstLastPara="1" wrap="square" lIns="73000" tIns="36475" rIns="73000" bIns="36475" anchor="t" anchorCtr="0">
            <a:spAutoFit/>
          </a:bodyPr>
          <a:lstStyle/>
          <a:p>
            <a:pPr marL="457200" marR="0" lvl="0" indent="-309750" algn="l" rtl="0">
              <a:lnSpc>
                <a:spcPct val="120000"/>
              </a:lnSpc>
              <a:spcBef>
                <a:spcPts val="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Physical electrons flow through the national grid as usual </a:t>
            </a:r>
            <a:r>
              <a:rPr lang="en" sz="1278">
                <a:solidFill>
                  <a:schemeClr val="dk1"/>
                </a:solidFill>
                <a:latin typeface="Montserrat"/>
                <a:ea typeface="Montserrat"/>
                <a:cs typeface="Montserrat"/>
                <a:sym typeface="Montserrat"/>
              </a:rPr>
              <a:t>and</a:t>
            </a:r>
            <a:r>
              <a:rPr lang="en" sz="1278" i="0" u="none" strike="noStrike" cap="none">
                <a:solidFill>
                  <a:schemeClr val="dk1"/>
                </a:solidFill>
                <a:latin typeface="Montserrat"/>
                <a:ea typeface="Montserrat"/>
                <a:cs typeface="Montserrat"/>
                <a:sym typeface="Montserrat"/>
              </a:rPr>
              <a:t> the DPPA is a financial overlay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The generator's revenue = spot sales at FMP + CfD settlement with you</a:t>
            </a:r>
            <a:r>
              <a:rPr lang="en" sz="1278">
                <a:solidFill>
                  <a:schemeClr val="dk1"/>
                </a:solidFill>
                <a:latin typeface="Montserrat"/>
                <a:ea typeface="Montserrat"/>
                <a:cs typeface="Montserrat"/>
                <a:sym typeface="Montserrat"/>
              </a:rPr>
              <a:t>r factory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400"/>
              </a:spcAft>
              <a:buClr>
                <a:schemeClr val="dk1"/>
              </a:buClr>
              <a:buSzPts val="1278"/>
              <a:buFont typeface="Montserrat"/>
              <a:buChar char="●"/>
            </a:pPr>
            <a:r>
              <a:rPr lang="en" sz="1278">
                <a:solidFill>
                  <a:schemeClr val="dk1"/>
                </a:solidFill>
                <a:latin typeface="Montserrat"/>
                <a:ea typeface="Montserrat"/>
                <a:cs typeface="Montserrat"/>
                <a:sym typeface="Montserrat"/>
              </a:rPr>
              <a:t>Your factory </a:t>
            </a:r>
            <a:r>
              <a:rPr lang="en" sz="1278" i="0" u="none" strike="noStrike" cap="none">
                <a:solidFill>
                  <a:schemeClr val="dk1"/>
                </a:solidFill>
                <a:latin typeface="Montserrat"/>
                <a:ea typeface="Montserrat"/>
                <a:cs typeface="Montserrat"/>
                <a:sym typeface="Montserrat"/>
              </a:rPr>
              <a:t>cost = the five-line EVN bill + the CfD settlement</a:t>
            </a:r>
            <a:endParaRPr sz="1318">
              <a:solidFill>
                <a:schemeClr val="dk1"/>
              </a:solidFill>
              <a:latin typeface="Montserrat"/>
              <a:ea typeface="Montserrat"/>
              <a:cs typeface="Montserrat"/>
              <a:sym typeface="Montserrat"/>
            </a:endParaRPr>
          </a:p>
        </p:txBody>
      </p:sp>
      <p:cxnSp>
        <p:nvCxnSpPr>
          <p:cNvPr id="1605" name="Google Shape;1605;p167"/>
          <p:cNvCxnSpPr/>
          <p:nvPr/>
        </p:nvCxnSpPr>
        <p:spPr>
          <a:xfrm rot="10800000" flipH="1">
            <a:off x="569148" y="4987809"/>
            <a:ext cx="1252500" cy="1500"/>
          </a:xfrm>
          <a:prstGeom prst="bentConnector3">
            <a:avLst>
              <a:gd name="adj1" fmla="val 50000"/>
            </a:avLst>
          </a:prstGeom>
          <a:noFill/>
          <a:ln w="20975" cap="flat" cmpd="sng">
            <a:solidFill>
              <a:srgbClr val="E09A2B"/>
            </a:solidFill>
            <a:prstDash val="dash"/>
            <a:round/>
            <a:headEnd type="none" w="sm" len="sm"/>
            <a:tailEnd type="none" w="sm" len="sm"/>
          </a:ln>
          <a:effectLst>
            <a:outerShdw blurRad="32999" dist="16499" dir="5400000" rotWithShape="0">
              <a:srgbClr val="000000">
                <a:alpha val="38040"/>
              </a:srgbClr>
            </a:outerShdw>
          </a:effectLst>
        </p:spPr>
      </p:cxnSp>
      <p:sp>
        <p:nvSpPr>
          <p:cNvPr id="1606" name="Google Shape;1606;p167"/>
          <p:cNvSpPr txBox="1"/>
          <p:nvPr/>
        </p:nvSpPr>
        <p:spPr>
          <a:xfrm>
            <a:off x="133450" y="4830663"/>
            <a:ext cx="435600" cy="31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CFD</a:t>
            </a:r>
            <a:endParaRPr sz="900">
              <a:solidFill>
                <a:schemeClr val="dk2"/>
              </a:solidFill>
              <a:latin typeface="Montserrat"/>
              <a:ea typeface="Montserrat"/>
              <a:cs typeface="Montserrat"/>
              <a:sym typeface="Montserrat"/>
            </a:endParaRPr>
          </a:p>
        </p:txBody>
      </p:sp>
      <p:cxnSp>
        <p:nvCxnSpPr>
          <p:cNvPr id="1607" name="Google Shape;1607;p167"/>
          <p:cNvCxnSpPr>
            <a:endCxn id="1597" idx="3"/>
          </p:cNvCxnSpPr>
          <p:nvPr/>
        </p:nvCxnSpPr>
        <p:spPr>
          <a:xfrm flipH="1">
            <a:off x="5552999" y="2705997"/>
            <a:ext cx="2047800" cy="317400"/>
          </a:xfrm>
          <a:prstGeom prst="straightConnector1">
            <a:avLst/>
          </a:prstGeom>
          <a:noFill/>
          <a:ln w="19050" cap="flat" cmpd="sng">
            <a:solidFill>
              <a:srgbClr val="14645C"/>
            </a:solidFill>
            <a:prstDash val="solid"/>
            <a:round/>
            <a:headEnd type="none" w="med" len="med"/>
            <a:tailEnd type="triangle" w="med" len="med"/>
          </a:ln>
        </p:spPr>
      </p:cxnSp>
      <p:sp>
        <p:nvSpPr>
          <p:cNvPr id="1608" name="Google Shape;1608;p167"/>
          <p:cNvSpPr txBox="1"/>
          <p:nvPr/>
        </p:nvSpPr>
        <p:spPr>
          <a:xfrm>
            <a:off x="6197050" y="3405875"/>
            <a:ext cx="1598400" cy="2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50">
                <a:solidFill>
                  <a:srgbClr val="B33A3A"/>
                </a:solidFill>
                <a:latin typeface="Montserrat"/>
                <a:ea typeface="Montserrat"/>
                <a:cs typeface="Montserrat"/>
                <a:sym typeface="Montserrat"/>
              </a:rPr>
              <a:t>Electricity Flows</a:t>
            </a:r>
            <a:endParaRPr sz="850">
              <a:solidFill>
                <a:srgbClr val="B33A3A"/>
              </a:solidFill>
              <a:latin typeface="Montserrat"/>
              <a:ea typeface="Montserrat"/>
              <a:cs typeface="Montserrat"/>
              <a:sym typeface="Montserrat"/>
            </a:endParaRPr>
          </a:p>
        </p:txBody>
      </p:sp>
      <p:cxnSp>
        <p:nvCxnSpPr>
          <p:cNvPr id="1609" name="Google Shape;1609;p167"/>
          <p:cNvCxnSpPr>
            <a:stCxn id="1595" idx="2"/>
          </p:cNvCxnSpPr>
          <p:nvPr/>
        </p:nvCxnSpPr>
        <p:spPr>
          <a:xfrm rot="-5400000" flipH="1">
            <a:off x="2084013" y="1856670"/>
            <a:ext cx="652500" cy="2361300"/>
          </a:xfrm>
          <a:prstGeom prst="bentConnector2">
            <a:avLst/>
          </a:prstGeom>
          <a:noFill/>
          <a:ln w="19050" cap="flat" cmpd="sng">
            <a:solidFill>
              <a:srgbClr val="B33A3A"/>
            </a:solidFill>
            <a:prstDash val="dot"/>
            <a:round/>
            <a:headEnd type="none" w="med" len="med"/>
            <a:tailEnd type="stealth" w="med" len="med"/>
          </a:ln>
        </p:spPr>
      </p:cxnSp>
      <p:sp>
        <p:nvSpPr>
          <p:cNvPr id="1610" name="Google Shape;1610;p167"/>
          <p:cNvSpPr txBox="1"/>
          <p:nvPr/>
        </p:nvSpPr>
        <p:spPr>
          <a:xfrm>
            <a:off x="1821650" y="3368063"/>
            <a:ext cx="1380300" cy="43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50">
                <a:solidFill>
                  <a:srgbClr val="B33A3A"/>
                </a:solidFill>
                <a:latin typeface="Montserrat"/>
                <a:ea typeface="Montserrat"/>
                <a:cs typeface="Montserrat"/>
                <a:sym typeface="Montserrat"/>
              </a:rPr>
              <a:t>Electricity Flows</a:t>
            </a:r>
            <a:endParaRPr sz="850">
              <a:solidFill>
                <a:srgbClr val="B33A3A"/>
              </a:solidFill>
              <a:latin typeface="Montserrat"/>
              <a:ea typeface="Montserrat"/>
              <a:cs typeface="Montserrat"/>
              <a:sym typeface="Montserrat"/>
            </a:endParaRPr>
          </a:p>
        </p:txBody>
      </p:sp>
      <p:cxnSp>
        <p:nvCxnSpPr>
          <p:cNvPr id="1611" name="Google Shape;1611;p167"/>
          <p:cNvCxnSpPr>
            <a:stCxn id="1595" idx="3"/>
            <a:endCxn id="1596" idx="1"/>
          </p:cNvCxnSpPr>
          <p:nvPr/>
        </p:nvCxnSpPr>
        <p:spPr>
          <a:xfrm rot="10800000" flipH="1">
            <a:off x="2210613" y="1595820"/>
            <a:ext cx="1380300" cy="557700"/>
          </a:xfrm>
          <a:prstGeom prst="straightConnector1">
            <a:avLst/>
          </a:prstGeom>
          <a:noFill/>
          <a:ln w="19050" cap="flat" cmpd="sng">
            <a:solidFill>
              <a:srgbClr val="14645C"/>
            </a:solidFill>
            <a:prstDash val="solid"/>
            <a:round/>
            <a:headEnd type="triangle" w="med" len="med"/>
            <a:tailEnd type="none" w="med" len="med"/>
          </a:ln>
        </p:spPr>
      </p:cxnSp>
      <p:sp>
        <p:nvSpPr>
          <p:cNvPr id="1612" name="Google Shape;1612;p167"/>
          <p:cNvSpPr txBox="1"/>
          <p:nvPr/>
        </p:nvSpPr>
        <p:spPr>
          <a:xfrm rot="-1274190">
            <a:off x="2246957" y="1847228"/>
            <a:ext cx="1525598" cy="20953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a:solidFill>
                  <a:srgbClr val="127A7A"/>
                </a:solidFill>
                <a:latin typeface="Montserrat"/>
                <a:ea typeface="Montserrat"/>
                <a:cs typeface="Montserrat"/>
                <a:sym typeface="Montserrat"/>
              </a:rPr>
              <a:t>Pays FMP per kWh</a:t>
            </a:r>
            <a:endParaRPr sz="1155">
              <a:solidFill>
                <a:srgbClr val="127A7A"/>
              </a:solidFill>
              <a:latin typeface="Montserrat"/>
              <a:ea typeface="Montserrat"/>
              <a:cs typeface="Montserrat"/>
              <a:sym typeface="Montserrat"/>
            </a:endParaRPr>
          </a:p>
        </p:txBody>
      </p:sp>
      <p:sp>
        <p:nvSpPr>
          <p:cNvPr id="1613" name="Google Shape;1613;p167"/>
          <p:cNvSpPr txBox="1"/>
          <p:nvPr/>
        </p:nvSpPr>
        <p:spPr>
          <a:xfrm>
            <a:off x="2162613" y="4844275"/>
            <a:ext cx="1380300" cy="1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Electricity Flows</a:t>
            </a:r>
            <a:endParaRPr sz="900">
              <a:solidFill>
                <a:schemeClr val="dk2"/>
              </a:solidFill>
              <a:latin typeface="Montserrat"/>
              <a:ea typeface="Montserrat"/>
              <a:cs typeface="Montserrat"/>
              <a:sym typeface="Montserrat"/>
            </a:endParaRPr>
          </a:p>
        </p:txBody>
      </p:sp>
      <p:cxnSp>
        <p:nvCxnSpPr>
          <p:cNvPr id="1614" name="Google Shape;1614;p167"/>
          <p:cNvCxnSpPr/>
          <p:nvPr/>
        </p:nvCxnSpPr>
        <p:spPr>
          <a:xfrm>
            <a:off x="3291438" y="5009500"/>
            <a:ext cx="569400" cy="0"/>
          </a:xfrm>
          <a:prstGeom prst="straightConnector1">
            <a:avLst/>
          </a:prstGeom>
          <a:noFill/>
          <a:ln w="19050" cap="flat" cmpd="sng">
            <a:solidFill>
              <a:srgbClr val="B33A3A"/>
            </a:solidFill>
            <a:prstDash val="dot"/>
            <a:round/>
            <a:headEnd type="none" w="med" len="med"/>
            <a:tailEnd type="none" w="med" len="med"/>
          </a:ln>
        </p:spPr>
      </p:cxnSp>
      <p:sp>
        <p:nvSpPr>
          <p:cNvPr id="1615" name="Google Shape;1615;p167"/>
          <p:cNvSpPr txBox="1"/>
          <p:nvPr/>
        </p:nvSpPr>
        <p:spPr>
          <a:xfrm>
            <a:off x="4130338" y="4844275"/>
            <a:ext cx="1380300" cy="18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2"/>
                </a:solidFill>
                <a:latin typeface="Montserrat"/>
                <a:ea typeface="Montserrat"/>
                <a:cs typeface="Montserrat"/>
                <a:sym typeface="Montserrat"/>
              </a:rPr>
              <a:t>Financial Flows</a:t>
            </a:r>
            <a:endParaRPr sz="900">
              <a:solidFill>
                <a:schemeClr val="dk2"/>
              </a:solidFill>
              <a:latin typeface="Montserrat"/>
              <a:ea typeface="Montserrat"/>
              <a:cs typeface="Montserrat"/>
              <a:sym typeface="Montserrat"/>
            </a:endParaRPr>
          </a:p>
        </p:txBody>
      </p:sp>
      <p:cxnSp>
        <p:nvCxnSpPr>
          <p:cNvPr id="1616" name="Google Shape;1616;p167"/>
          <p:cNvCxnSpPr/>
          <p:nvPr/>
        </p:nvCxnSpPr>
        <p:spPr>
          <a:xfrm rot="10800000" flipH="1">
            <a:off x="5195850" y="5009800"/>
            <a:ext cx="638100" cy="9900"/>
          </a:xfrm>
          <a:prstGeom prst="straightConnector1">
            <a:avLst/>
          </a:prstGeom>
          <a:noFill/>
          <a:ln w="19050" cap="flat" cmpd="sng">
            <a:solidFill>
              <a:srgbClr val="1A6B5C"/>
            </a:solidFill>
            <a:prstDash val="solid"/>
            <a:round/>
            <a:headEnd type="none" w="med" len="med"/>
            <a:tailEnd type="non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0"/>
        <p:cNvGrpSpPr/>
        <p:nvPr/>
      </p:nvGrpSpPr>
      <p:grpSpPr>
        <a:xfrm>
          <a:off x="0" y="0"/>
          <a:ext cx="0" cy="0"/>
          <a:chOff x="0" y="0"/>
          <a:chExt cx="0" cy="0"/>
        </a:xfrm>
      </p:grpSpPr>
      <p:grpSp>
        <p:nvGrpSpPr>
          <p:cNvPr id="1621" name="Google Shape;1621;p168"/>
          <p:cNvGrpSpPr/>
          <p:nvPr/>
        </p:nvGrpSpPr>
        <p:grpSpPr>
          <a:xfrm>
            <a:off x="239992" y="63853"/>
            <a:ext cx="8728050" cy="745997"/>
            <a:chOff x="236700" y="63853"/>
            <a:chExt cx="8728050" cy="745997"/>
          </a:xfrm>
        </p:grpSpPr>
        <p:sp>
          <p:nvSpPr>
            <p:cNvPr id="1622" name="Google Shape;1622;p16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23" name="Google Shape;1623;p16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24" name="Google Shape;1624;p16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25" name="Google Shape;1625;p16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26" name="Google Shape;1626;p16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27" name="Google Shape;1627;p16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28" name="Google Shape;1628;p16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29" name="Google Shape;1629;p16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The Monthly DPPA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630" name="Google Shape;1630;p16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31" name="Google Shape;1631;p16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32" name="Google Shape;1632;p16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33" name="Google Shape;1633;p16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34" name="Google Shape;1634;p168"/>
          <p:cNvGraphicFramePr/>
          <p:nvPr/>
        </p:nvGraphicFramePr>
        <p:xfrm>
          <a:off x="286486" y="969468"/>
          <a:ext cx="3000000" cy="3000000"/>
        </p:xfrm>
        <a:graphic>
          <a:graphicData uri="http://schemas.openxmlformats.org/drawingml/2006/table">
            <a:tbl>
              <a:tblPr firstRow="1" bandRow="1">
                <a:noFill/>
                <a:tableStyleId>{CE8BD2AF-5D0D-4EDC-AE96-A30A7DA1AF2F}</a:tableStyleId>
              </a:tblPr>
              <a:tblGrid>
                <a:gridCol w="398350">
                  <a:extLst>
                    <a:ext uri="{9D8B030D-6E8A-4147-A177-3AD203B41FA5}">
                      <a16:colId xmlns:a16="http://schemas.microsoft.com/office/drawing/2014/main" val="20000"/>
                    </a:ext>
                  </a:extLst>
                </a:gridCol>
                <a:gridCol w="1561550">
                  <a:extLst>
                    <a:ext uri="{9D8B030D-6E8A-4147-A177-3AD203B41FA5}">
                      <a16:colId xmlns:a16="http://schemas.microsoft.com/office/drawing/2014/main" val="20001"/>
                    </a:ext>
                  </a:extLst>
                </a:gridCol>
                <a:gridCol w="2981125">
                  <a:extLst>
                    <a:ext uri="{9D8B030D-6E8A-4147-A177-3AD203B41FA5}">
                      <a16:colId xmlns:a16="http://schemas.microsoft.com/office/drawing/2014/main" val="20002"/>
                    </a:ext>
                  </a:extLst>
                </a:gridCol>
                <a:gridCol w="3509025">
                  <a:extLst>
                    <a:ext uri="{9D8B030D-6E8A-4147-A177-3AD203B41FA5}">
                      <a16:colId xmlns:a16="http://schemas.microsoft.com/office/drawing/2014/main" val="20003"/>
                    </a:ext>
                  </a:extLst>
                </a:gridCol>
              </a:tblGrid>
              <a:tr h="4295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Formula</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Level (2025 reference)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Market energy</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FMP x k x K_pp</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FMP avg ~1,426.6 VND/kWh; k~1.026; K_pp by voltage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DPPA service fee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C_dppa_dv</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360 VND/kWh</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Balancing fee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P_cl</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163.3 VND/kWh</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4</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Residual purchase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(Load - Q_Khc) x EVN retail</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TOU rates</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5</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CfD settlement</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(Strike - FMP) x min(Q_c, Q_Khc)</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a:solidFill>
                            <a:srgbClr val="222B33"/>
                          </a:solidFill>
                          <a:latin typeface="Montserrat"/>
                          <a:ea typeface="Montserrat"/>
                          <a:cs typeface="Montserrat"/>
                          <a:sym typeface="Montserrat"/>
                        </a:rPr>
                        <a:t>T</a:t>
                      </a:r>
                      <a:r>
                        <a:rPr lang="en" sz="1250" u="none" strike="noStrike" cap="none">
                          <a:solidFill>
                            <a:srgbClr val="222B33"/>
                          </a:solidFill>
                          <a:latin typeface="Montserrat"/>
                          <a:ea typeface="Montserrat"/>
                          <a:cs typeface="Montserrat"/>
                          <a:sym typeface="Montserrat"/>
                        </a:rPr>
                        <a:t>wo-way: can be + or -</a:t>
                      </a:r>
                      <a:endParaRPr>
                        <a:latin typeface="Montserrat"/>
                        <a:ea typeface="Montserrat"/>
                        <a:cs typeface="Montserrat"/>
                        <a:sym typeface="Montserrat"/>
                      </a:endParaRPr>
                    </a:p>
                  </a:txBody>
                  <a:tcPr marL="91450" marR="91450" marT="25400" marB="25400" anchor="ctr">
                    <a:solidFill>
                      <a:srgbClr val="FBEEDD"/>
                    </a:solidFill>
                  </a:tcPr>
                </a:tc>
                <a:extLst>
                  <a:ext uri="{0D108BD9-81ED-4DB2-BD59-A6C34878D82A}">
                    <a16:rowId xmlns:a16="http://schemas.microsoft.com/office/drawing/2014/main" val="10005"/>
                  </a:ext>
                </a:extLst>
              </a:tr>
            </a:tbl>
          </a:graphicData>
        </a:graphic>
      </p:graphicFrame>
      <p:sp>
        <p:nvSpPr>
          <p:cNvPr id="1635" name="Google Shape;1635;p168"/>
          <p:cNvSpPr txBox="1"/>
          <p:nvPr/>
        </p:nvSpPr>
        <p:spPr>
          <a:xfrm>
            <a:off x="147416" y="3670238"/>
            <a:ext cx="8523000" cy="1044600"/>
          </a:xfrm>
          <a:prstGeom prst="rect">
            <a:avLst/>
          </a:prstGeom>
          <a:noFill/>
          <a:ln>
            <a:noFill/>
          </a:ln>
        </p:spPr>
        <p:txBody>
          <a:bodyPr spcFirstLastPara="1" wrap="square" lIns="91425" tIns="45700" rIns="91425" bIns="45700" anchor="t" anchorCtr="0">
            <a:spAutoFit/>
          </a:bodyPr>
          <a:lstStyle/>
          <a:p>
            <a:pPr marL="457200" marR="0" lvl="0" indent="-304800" algn="l" rtl="0">
              <a:lnSpc>
                <a:spcPct val="120000"/>
              </a:lnSpc>
              <a:spcBef>
                <a:spcPts val="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Lines 1-4 are billed by EVN. Line 5 settles bilaterally with the generator under CfD contract.</a:t>
            </a:r>
            <a:endParaRPr sz="1200">
              <a:latin typeface="Montserrat"/>
              <a:ea typeface="Montserrat"/>
              <a:cs typeface="Montserrat"/>
              <a:sym typeface="Montserrat"/>
            </a:endParaRPr>
          </a:p>
          <a:p>
            <a:pPr marL="457200" marR="0" lvl="0" indent="-304800" algn="l" rtl="0">
              <a:lnSpc>
                <a:spcPct val="120000"/>
              </a:lnSpc>
              <a:spcBef>
                <a:spcPts val="40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Q_Khc = the renewable volume actually received and consumed (defined next slide).</a:t>
            </a:r>
            <a:endParaRPr sz="1200">
              <a:latin typeface="Montserrat"/>
              <a:ea typeface="Montserrat"/>
              <a:cs typeface="Montserrat"/>
              <a:sym typeface="Montserrat"/>
            </a:endParaRPr>
          </a:p>
          <a:p>
            <a:pPr marL="457200" marR="0" lvl="0" indent="-304800" algn="l" rtl="0">
              <a:lnSpc>
                <a:spcPct val="120000"/>
              </a:lnSpc>
              <a:spcBef>
                <a:spcPts val="400"/>
              </a:spcBef>
              <a:spcAft>
                <a:spcPts val="40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CFMP = FMP x k: k converts the market price to the customer delivery point (price conversion, not a volume loss).</a:t>
            </a:r>
            <a:endParaRPr sz="12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grpSp>
        <p:nvGrpSpPr>
          <p:cNvPr id="1640" name="Google Shape;1640;p169"/>
          <p:cNvGrpSpPr/>
          <p:nvPr/>
        </p:nvGrpSpPr>
        <p:grpSpPr>
          <a:xfrm>
            <a:off x="239992" y="63853"/>
            <a:ext cx="8728050" cy="745997"/>
            <a:chOff x="236700" y="63853"/>
            <a:chExt cx="8728050" cy="745997"/>
          </a:xfrm>
        </p:grpSpPr>
        <p:sp>
          <p:nvSpPr>
            <p:cNvPr id="1641" name="Google Shape;1641;p16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42" name="Google Shape;1642;p16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43" name="Google Shape;1643;p16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44" name="Google Shape;1644;p16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45" name="Google Shape;1645;p16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46" name="Google Shape;1646;p16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47" name="Google Shape;1647;p16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48" name="Google Shape;1648;p16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Contracted Volumes &amp; Actual Electricity Consumption</a:t>
              </a:r>
              <a:endParaRPr sz="2100">
                <a:solidFill>
                  <a:schemeClr val="lt1"/>
                </a:solidFill>
                <a:latin typeface="Montserrat ExtraBold"/>
                <a:ea typeface="Montserrat ExtraBold"/>
                <a:cs typeface="Montserrat ExtraBold"/>
                <a:sym typeface="Montserrat ExtraBold"/>
              </a:endParaRPr>
            </a:p>
          </p:txBody>
        </p:sp>
        <p:cxnSp>
          <p:nvCxnSpPr>
            <p:cNvPr id="1649" name="Google Shape;1649;p169"/>
            <p:cNvCxnSpPr/>
            <p:nvPr/>
          </p:nvCxnSpPr>
          <p:spPr>
            <a:xfrm rot="10800000">
              <a:off x="236700" y="712275"/>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50" name="Google Shape;1650;p16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1651" name="Google Shape;1651;p169"/>
          <p:cNvSpPr/>
          <p:nvPr/>
        </p:nvSpPr>
        <p:spPr>
          <a:xfrm>
            <a:off x="459518" y="1315950"/>
            <a:ext cx="7282200" cy="16959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200000"/>
              </a:lnSpc>
              <a:spcBef>
                <a:spcPts val="0"/>
              </a:spcBef>
              <a:spcAft>
                <a:spcPts val="0"/>
              </a:spcAft>
              <a:buNone/>
            </a:pPr>
            <a:r>
              <a:rPr lang="en" sz="1400" b="0" i="0" u="none" strike="noStrike" cap="none">
                <a:solidFill>
                  <a:srgbClr val="0F293D"/>
                </a:solidFill>
                <a:latin typeface="Consolas"/>
                <a:ea typeface="Consolas"/>
                <a:cs typeface="Consolas"/>
                <a:sym typeface="Consolas"/>
              </a:rPr>
              <a:t>Q_adj = Q_meter / K_pp        delivered volume at your meter</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Q_Khc = min(Load, Q_adj)      settled volume (lines 1-3)</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Q_CfD = min(Q_c, Q_Khc)       CfD settles on received volume</a:t>
            </a:r>
            <a:endParaRPr/>
          </a:p>
        </p:txBody>
      </p:sp>
      <p:sp>
        <p:nvSpPr>
          <p:cNvPr id="1652" name="Google Shape;1652;p169"/>
          <p:cNvSpPr txBox="1"/>
          <p:nvPr/>
        </p:nvSpPr>
        <p:spPr>
          <a:xfrm>
            <a:off x="393875" y="3238525"/>
            <a:ext cx="8685000" cy="15456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000000"/>
              </a:buClr>
              <a:buSzPts val="1300"/>
              <a:buFont typeface="Montserrat"/>
              <a:buChar char="●"/>
            </a:pPr>
            <a:r>
              <a:rPr lang="en" sz="1300">
                <a:solidFill>
                  <a:srgbClr val="000000"/>
                </a:solidFill>
                <a:latin typeface="Montserrat"/>
                <a:ea typeface="Montserrat"/>
                <a:cs typeface="Montserrat"/>
                <a:sym typeface="Montserrat"/>
              </a:rPr>
              <a:t>Grid losses are reflected through coordinated volume and price conversions: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K_pp converts generator-meter output into buyer-side credited volume, while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 and K_pp convert FMP into the corresponding buyer-side market-energy price.</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0"/>
              </a:spcAft>
              <a:buClr>
                <a:srgbClr val="000000"/>
              </a:buClr>
              <a:buSzPts val="1300"/>
              <a:buFont typeface="Montserrat"/>
              <a:buChar char="●"/>
            </a:pPr>
            <a:r>
              <a:rPr lang="en" sz="1300" i="0" u="none" strike="noStrike" cap="none">
                <a:solidFill>
                  <a:srgbClr val="000000"/>
                </a:solidFill>
                <a:latin typeface="Montserrat"/>
                <a:ea typeface="Montserrat"/>
                <a:cs typeface="Montserrat"/>
                <a:sym typeface="Montserrat"/>
              </a:rPr>
              <a:t>If the plant generates more than you consume in an hour, the excess earns the generator spot revenue only</a:t>
            </a:r>
            <a:r>
              <a:rPr lang="en" sz="1300">
                <a:solidFill>
                  <a:srgbClr val="000000"/>
                </a:solidFill>
                <a:latin typeface="Montserrat"/>
                <a:ea typeface="Montserrat"/>
                <a:cs typeface="Montserrat"/>
                <a:sym typeface="Montserrat"/>
              </a:rPr>
              <a:t>; </a:t>
            </a:r>
            <a:r>
              <a:rPr lang="en" sz="1300" i="0" u="none" strike="noStrike" cap="none">
                <a:solidFill>
                  <a:srgbClr val="000000"/>
                </a:solidFill>
                <a:latin typeface="Montserrat"/>
                <a:ea typeface="Montserrat"/>
                <a:cs typeface="Montserrat"/>
                <a:sym typeface="Montserrat"/>
              </a:rPr>
              <a:t>it is NOT billed to you and does NOT earn CfD</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rgbClr val="000000"/>
              </a:buClr>
              <a:buSzPts val="1300"/>
              <a:buFont typeface="Montserrat"/>
              <a:buChar char="●"/>
            </a:pPr>
            <a:r>
              <a:rPr lang="en" sz="1300" b="1" i="0" u="none" strike="noStrike" cap="none">
                <a:solidFill>
                  <a:srgbClr val="000000"/>
                </a:solidFill>
                <a:latin typeface="Montserrat"/>
                <a:ea typeface="Montserrat"/>
                <a:cs typeface="Montserrat"/>
                <a:sym typeface="Montserrat"/>
              </a:rPr>
              <a:t>Practical consequence: </a:t>
            </a:r>
            <a:r>
              <a:rPr lang="en" sz="1300">
                <a:latin typeface="Montserrat"/>
                <a:ea typeface="Montserrat"/>
                <a:cs typeface="Montserrat"/>
                <a:sym typeface="Montserrat"/>
              </a:rPr>
              <a:t>C</a:t>
            </a:r>
            <a:r>
              <a:rPr lang="en" sz="1300" i="0" u="none" strike="noStrike" cap="none">
                <a:solidFill>
                  <a:srgbClr val="000000"/>
                </a:solidFill>
                <a:latin typeface="Montserrat"/>
                <a:ea typeface="Montserrat"/>
                <a:cs typeface="Montserrat"/>
                <a:sym typeface="Montserrat"/>
              </a:rPr>
              <a:t>ontracted volume (Q_c) above your real consumption buys nothing</a:t>
            </a:r>
            <a:endParaRPr>
              <a:solidFill>
                <a:srgbClr val="000000"/>
              </a:solidFill>
              <a:latin typeface="Montserrat"/>
              <a:ea typeface="Montserrat"/>
              <a:cs typeface="Montserrat"/>
              <a:sym typeface="Montserrat"/>
            </a:endParaRPr>
          </a:p>
        </p:txBody>
      </p:sp>
      <p:sp>
        <p:nvSpPr>
          <p:cNvPr id="1653" name="Google Shape;1653;p169"/>
          <p:cNvSpPr txBox="1"/>
          <p:nvPr/>
        </p:nvSpPr>
        <p:spPr>
          <a:xfrm>
            <a:off x="363039" y="878250"/>
            <a:ext cx="6941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b="1">
                <a:solidFill>
                  <a:srgbClr val="127A7A"/>
                </a:solidFill>
                <a:latin typeface="Montserrat"/>
                <a:ea typeface="Montserrat"/>
                <a:cs typeface="Montserrat"/>
                <a:sym typeface="Montserrat"/>
              </a:rPr>
              <a:t>Which volume? You settle only on what you actually consume</a:t>
            </a:r>
            <a:endParaRPr sz="1200" b="1">
              <a:solidFill>
                <a:srgbClr val="127A7A"/>
              </a:solidFill>
              <a:latin typeface="Montserrat"/>
              <a:ea typeface="Montserrat"/>
              <a:cs typeface="Montserrat"/>
              <a:sym typeface="Montserrat"/>
            </a:endParaRPr>
          </a:p>
        </p:txBody>
      </p:sp>
      <p:pic>
        <p:nvPicPr>
          <p:cNvPr id="1654" name="Google Shape;1654;p16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55" name="Google Shape;1655;p169"/>
          <p:cNvPicPr preferRelativeResize="0"/>
          <p:nvPr/>
        </p:nvPicPr>
        <p:blipFill>
          <a:blip r:embed="rId4">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1660" name="Google Shape;1660;p170"/>
          <p:cNvGrpSpPr/>
          <p:nvPr/>
        </p:nvGrpSpPr>
        <p:grpSpPr>
          <a:xfrm>
            <a:off x="239992" y="63853"/>
            <a:ext cx="8728050" cy="745997"/>
            <a:chOff x="236700" y="63853"/>
            <a:chExt cx="8728050" cy="745997"/>
          </a:xfrm>
        </p:grpSpPr>
        <p:sp>
          <p:nvSpPr>
            <p:cNvPr id="1661" name="Google Shape;1661;p17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62" name="Google Shape;1662;p17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63" name="Google Shape;1663;p17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64" name="Google Shape;1664;p17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65" name="Google Shape;1665;p17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66" name="Google Shape;1666;p17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67" name="Google Shape;1667;p17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68" name="Google Shape;1668;p17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Simulation: Industrial Park Buys 6,000 MWh/month</a:t>
              </a:r>
              <a:endParaRPr sz="2100">
                <a:solidFill>
                  <a:schemeClr val="lt1"/>
                </a:solidFill>
                <a:latin typeface="Montserrat ExtraBold"/>
                <a:ea typeface="Montserrat ExtraBold"/>
                <a:cs typeface="Montserrat ExtraBold"/>
                <a:sym typeface="Montserrat ExtraBold"/>
              </a:endParaRPr>
            </a:p>
          </p:txBody>
        </p:sp>
        <p:cxnSp>
          <p:nvCxnSpPr>
            <p:cNvPr id="1669" name="Google Shape;1669;p17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70" name="Google Shape;1670;p17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1671" name="Google Shape;1671;p170"/>
          <p:cNvGraphicFramePr/>
          <p:nvPr/>
        </p:nvGraphicFramePr>
        <p:xfrm>
          <a:off x="453128" y="984674"/>
          <a:ext cx="3000000" cy="3000000"/>
        </p:xfrm>
        <a:graphic>
          <a:graphicData uri="http://schemas.openxmlformats.org/drawingml/2006/table">
            <a:tbl>
              <a:tblPr firstRow="1" bandRow="1">
                <a:noFill/>
                <a:tableStyleId>{CE8BD2AF-5D0D-4EDC-AE96-A30A7DA1AF2F}</a:tableStyleId>
              </a:tblPr>
              <a:tblGrid>
                <a:gridCol w="2170750">
                  <a:extLst>
                    <a:ext uri="{9D8B030D-6E8A-4147-A177-3AD203B41FA5}">
                      <a16:colId xmlns:a16="http://schemas.microsoft.com/office/drawing/2014/main" val="20000"/>
                    </a:ext>
                  </a:extLst>
                </a:gridCol>
                <a:gridCol w="1129325">
                  <a:extLst>
                    <a:ext uri="{9D8B030D-6E8A-4147-A177-3AD203B41FA5}">
                      <a16:colId xmlns:a16="http://schemas.microsoft.com/office/drawing/2014/main" val="20001"/>
                    </a:ext>
                  </a:extLst>
                </a:gridCol>
                <a:gridCol w="1431875">
                  <a:extLst>
                    <a:ext uri="{9D8B030D-6E8A-4147-A177-3AD203B41FA5}">
                      <a16:colId xmlns:a16="http://schemas.microsoft.com/office/drawing/2014/main" val="20002"/>
                    </a:ext>
                  </a:extLst>
                </a:gridCol>
              </a:tblGrid>
              <a:tr h="33122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Parameter</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Symbol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Value</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Consumption = received RE volume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Q_KH = Q_Khc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Contracted CfD volume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Q_c</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CfD strike price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1,300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Market price (monthly avg)</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FMP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1,200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Price conversion factor</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1.026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Loss factor (110 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K_pp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1.008</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DPPA service fee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C_dppa_dv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360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7"/>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Balancing fee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P_cl</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163.3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8"/>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Avg retail price (residual)</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P1</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2,204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9"/>
                  </a:ext>
                </a:extLst>
              </a:tr>
            </a:tbl>
          </a:graphicData>
        </a:graphic>
      </p:graphicFrame>
      <p:sp>
        <p:nvSpPr>
          <p:cNvPr id="1672" name="Google Shape;1672;p170"/>
          <p:cNvSpPr txBox="1"/>
          <p:nvPr/>
        </p:nvSpPr>
        <p:spPr>
          <a:xfrm>
            <a:off x="5262110" y="1008155"/>
            <a:ext cx="3638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Scenario</a:t>
            </a:r>
            <a:endParaRPr>
              <a:latin typeface="Montserrat"/>
              <a:ea typeface="Montserrat"/>
              <a:cs typeface="Montserrat"/>
              <a:sym typeface="Montserrat"/>
            </a:endParaRPr>
          </a:p>
        </p:txBody>
      </p:sp>
      <p:sp>
        <p:nvSpPr>
          <p:cNvPr id="1673" name="Google Shape;1673;p170"/>
          <p:cNvSpPr txBox="1"/>
          <p:nvPr/>
        </p:nvSpPr>
        <p:spPr>
          <a:xfrm>
            <a:off x="5166710" y="1345080"/>
            <a:ext cx="37335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50 MW solar plant contracts its full output to one industrial customer</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Consumption exactly equals delivered RE volume - no residual EVN purchase this month</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Strike just 100 VND above market - watch what the fees do</a:t>
            </a:r>
            <a:endParaRPr sz="1300">
              <a:solidFill>
                <a:srgbClr val="222B33"/>
              </a:solidFill>
              <a:latin typeface="Montserrat"/>
              <a:ea typeface="Montserrat"/>
              <a:cs typeface="Montserrat"/>
              <a:sym typeface="Montserrat"/>
            </a:endParaRPr>
          </a:p>
        </p:txBody>
      </p:sp>
      <p:pic>
        <p:nvPicPr>
          <p:cNvPr id="1674" name="Google Shape;1674;p17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75" name="Google Shape;1675;p170"/>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676" name="Google Shape;1676;p170"/>
          <p:cNvSpPr txBox="1"/>
          <p:nvPr/>
        </p:nvSpPr>
        <p:spPr>
          <a:xfrm>
            <a:off x="504775" y="4659046"/>
            <a:ext cx="20004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en" sz="900" i="1">
                <a:solidFill>
                  <a:srgbClr val="222B33"/>
                </a:solidFill>
                <a:latin typeface="Montserrat"/>
                <a:ea typeface="Montserrat"/>
                <a:cs typeface="Montserrat"/>
                <a:sym typeface="Montserrat"/>
              </a:rPr>
              <a:t>Source: EAVCED public training</a:t>
            </a:r>
            <a:endParaRPr sz="1000"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grpSp>
        <p:nvGrpSpPr>
          <p:cNvPr id="1681" name="Google Shape;1681;p171"/>
          <p:cNvGrpSpPr/>
          <p:nvPr/>
        </p:nvGrpSpPr>
        <p:grpSpPr>
          <a:xfrm>
            <a:off x="239992" y="63853"/>
            <a:ext cx="8728050" cy="745997"/>
            <a:chOff x="236700" y="63853"/>
            <a:chExt cx="8728050" cy="745997"/>
          </a:xfrm>
        </p:grpSpPr>
        <p:sp>
          <p:nvSpPr>
            <p:cNvPr id="1682" name="Google Shape;1682;p17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83" name="Google Shape;1683;p17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84" name="Google Shape;1684;p17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85" name="Google Shape;1685;p17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86" name="Google Shape;1686;p17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87" name="Google Shape;1687;p17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88" name="Google Shape;1688;p17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89" name="Google Shape;1689;p171"/>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The Five Lines, Computed</a:t>
              </a:r>
              <a:endParaRPr sz="2100">
                <a:solidFill>
                  <a:schemeClr val="lt1"/>
                </a:solidFill>
                <a:latin typeface="Montserrat ExtraBold"/>
                <a:ea typeface="Montserrat ExtraBold"/>
                <a:cs typeface="Montserrat ExtraBold"/>
                <a:sym typeface="Montserrat ExtraBold"/>
              </a:endParaRPr>
            </a:p>
          </p:txBody>
        </p:sp>
        <p:cxnSp>
          <p:nvCxnSpPr>
            <p:cNvPr id="1690" name="Google Shape;1690;p17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91" name="Google Shape;1691;p17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92" name="Google Shape;1692;p171"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93" name="Google Shape;1693;p171"/>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94" name="Google Shape;1694;p171"/>
          <p:cNvGraphicFramePr/>
          <p:nvPr/>
        </p:nvGraphicFramePr>
        <p:xfrm>
          <a:off x="454280" y="1076025"/>
          <a:ext cx="3000000" cy="3000000"/>
        </p:xfrm>
        <a:graphic>
          <a:graphicData uri="http://schemas.openxmlformats.org/drawingml/2006/table">
            <a:tbl>
              <a:tblPr firstRow="1" bandRow="1">
                <a:noFill/>
                <a:tableStyleId>{CE8BD2AF-5D0D-4EDC-AE96-A30A7DA1AF2F}</a:tableStyleId>
              </a:tblPr>
              <a:tblGrid>
                <a:gridCol w="2651250">
                  <a:extLst>
                    <a:ext uri="{9D8B030D-6E8A-4147-A177-3AD203B41FA5}">
                      <a16:colId xmlns:a16="http://schemas.microsoft.com/office/drawing/2014/main" val="20000"/>
                    </a:ext>
                  </a:extLst>
                </a:gridCol>
                <a:gridCol w="2704175">
                  <a:extLst>
                    <a:ext uri="{9D8B030D-6E8A-4147-A177-3AD203B41FA5}">
                      <a16:colId xmlns:a16="http://schemas.microsoft.com/office/drawing/2014/main" val="20001"/>
                    </a:ext>
                  </a:extLst>
                </a:gridCol>
                <a:gridCol w="2652500">
                  <a:extLst>
                    <a:ext uri="{9D8B030D-6E8A-4147-A177-3AD203B41FA5}">
                      <a16:colId xmlns:a16="http://schemas.microsoft.com/office/drawing/2014/main" val="20002"/>
                    </a:ext>
                  </a:extLst>
                </a:gridCol>
              </a:tblGrid>
              <a:tr h="3129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Calculation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VND/month</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  Market energy (C_DN)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1,200 x 1.026 x 1.008</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7,446,297,600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  Service fee (C_dppa)</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2,160,000,000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  Balancing fee (C_cl)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979,800,000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Residual (C_bl)</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 kWh x 2,204</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EVN bill (C_EVN)</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lines 1 + 2 + 3 + 4</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10,586,097,600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5"/>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  CfD settlement (C_CfD)</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(1,300 - 1,200) x 6,000,000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TOTAL (C_KH)</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C_EVN + C_CfD</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11,186,097,600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7"/>
                  </a:ext>
                </a:extLst>
              </a:tr>
            </a:tbl>
          </a:graphicData>
        </a:graphic>
      </p:graphicFrame>
      <p:sp>
        <p:nvSpPr>
          <p:cNvPr id="1695" name="Google Shape;1695;p171"/>
          <p:cNvSpPr txBox="1"/>
          <p:nvPr/>
        </p:nvSpPr>
        <p:spPr>
          <a:xfrm>
            <a:off x="252333" y="3686620"/>
            <a:ext cx="8550900" cy="797700"/>
          </a:xfrm>
          <a:prstGeom prst="rect">
            <a:avLst/>
          </a:prstGeom>
          <a:noFill/>
          <a:ln>
            <a:noFill/>
          </a:ln>
        </p:spPr>
        <p:txBody>
          <a:bodyPr spcFirstLastPara="1" wrap="square" lIns="91425" tIns="45700" rIns="91425" bIns="45700" anchor="t" anchorCtr="0">
            <a:spAutoFit/>
          </a:bodyPr>
          <a:lstStyle/>
          <a:p>
            <a:pPr marL="457200" marR="0" lvl="0" indent="-307975" algn="l" rtl="0">
              <a:lnSpc>
                <a:spcPct val="120000"/>
              </a:lnSpc>
              <a:spcBef>
                <a:spcPts val="0"/>
              </a:spcBef>
              <a:spcAft>
                <a:spcPts val="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Effective cost = 11,186,097,600 / 6,000,000 = ~1,864 VND/kWh for fully renewable supply (</a:t>
            </a:r>
            <a:r>
              <a:rPr lang="en" sz="1250">
                <a:solidFill>
                  <a:schemeClr val="dk1"/>
                </a:solidFill>
                <a:latin typeface="Montserrat"/>
                <a:ea typeface="Montserrat"/>
                <a:cs typeface="Montserrat"/>
                <a:sym typeface="Montserrat"/>
              </a:rPr>
              <a:t>versus </a:t>
            </a:r>
            <a:r>
              <a:rPr lang="en" sz="1250" i="0" u="none" strike="noStrike" cap="none">
                <a:solidFill>
                  <a:schemeClr val="dk1"/>
                </a:solidFill>
                <a:latin typeface="Montserrat"/>
                <a:ea typeface="Montserrat"/>
                <a:cs typeface="Montserrat"/>
                <a:sym typeface="Montserrat"/>
              </a:rPr>
              <a:t>~2,204</a:t>
            </a:r>
            <a:r>
              <a:rPr lang="en" sz="1250">
                <a:solidFill>
                  <a:schemeClr val="dk1"/>
                </a:solidFill>
                <a:latin typeface="Montserrat"/>
                <a:ea typeface="Montserrat"/>
                <a:cs typeface="Montserrat"/>
                <a:sym typeface="Montserrat"/>
              </a:rPr>
              <a:t> </a:t>
            </a:r>
            <a:r>
              <a:rPr lang="en" sz="1250" i="0" u="none" strike="noStrike" cap="none">
                <a:solidFill>
                  <a:schemeClr val="dk1"/>
                </a:solidFill>
                <a:latin typeface="Montserrat"/>
                <a:ea typeface="Montserrat"/>
                <a:cs typeface="Montserrat"/>
                <a:sym typeface="Montserrat"/>
              </a:rPr>
              <a:t>VND avg retail in the example)</a:t>
            </a:r>
            <a:endParaRPr>
              <a:solidFill>
                <a:schemeClr val="dk1"/>
              </a:solidFill>
              <a:latin typeface="Montserrat"/>
              <a:ea typeface="Montserrat"/>
              <a:cs typeface="Montserrat"/>
              <a:sym typeface="Montserrat"/>
            </a:endParaRPr>
          </a:p>
          <a:p>
            <a:pPr marL="457200" marR="0" lvl="0" indent="-307975" algn="l" rtl="0">
              <a:lnSpc>
                <a:spcPct val="120000"/>
              </a:lnSpc>
              <a:spcBef>
                <a:spcPts val="400"/>
              </a:spcBef>
              <a:spcAft>
                <a:spcPts val="40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Generator side: 6,048,000 kWh x 1,200 (spot) + 600,000,000 (CfD) = 7,857,600,000 VND</a:t>
            </a:r>
            <a:endParaRPr>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9"/>
        <p:cNvGrpSpPr/>
        <p:nvPr/>
      </p:nvGrpSpPr>
      <p:grpSpPr>
        <a:xfrm>
          <a:off x="0" y="0"/>
          <a:ext cx="0" cy="0"/>
          <a:chOff x="0" y="0"/>
          <a:chExt cx="0" cy="0"/>
        </a:xfrm>
      </p:grpSpPr>
      <p:sp>
        <p:nvSpPr>
          <p:cNvPr id="1700" name="Google Shape;1700;p172"/>
          <p:cNvSpPr/>
          <p:nvPr/>
        </p:nvSpPr>
        <p:spPr>
          <a:xfrm>
            <a:off x="431323" y="3865058"/>
            <a:ext cx="8459400" cy="8301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E77A10"/>
                </a:solidFill>
                <a:latin typeface="Montserrat"/>
                <a:ea typeface="Montserrat"/>
                <a:cs typeface="Montserrat"/>
                <a:sym typeface="Montserrat"/>
              </a:rPr>
              <a:t>Virtual DPPA is rarely a Day-1 discount. Its value</a:t>
            </a:r>
            <a:r>
              <a:rPr lang="en" b="1">
                <a:solidFill>
                  <a:srgbClr val="E77A10"/>
                </a:solidFill>
                <a:latin typeface="Montserrat"/>
                <a:ea typeface="Montserrat"/>
                <a:cs typeface="Montserrat"/>
                <a:sym typeface="Montserrat"/>
              </a:rPr>
              <a:t> comes from</a:t>
            </a:r>
            <a:r>
              <a:rPr lang="en" sz="1400" b="1" i="0" u="none" strike="noStrike" cap="none">
                <a:solidFill>
                  <a:srgbClr val="E77A10"/>
                </a:solidFill>
                <a:latin typeface="Montserrat"/>
                <a:ea typeface="Montserrat"/>
                <a:cs typeface="Montserrat"/>
                <a:sym typeface="Montserrat"/>
              </a:rPr>
              <a:t> price certainty </a:t>
            </a:r>
            <a:r>
              <a:rPr lang="en" b="1">
                <a:solidFill>
                  <a:srgbClr val="E77A10"/>
                </a:solidFill>
                <a:latin typeface="Montserrat"/>
                <a:ea typeface="Montserrat"/>
                <a:cs typeface="Montserrat"/>
                <a:sym typeface="Montserrat"/>
              </a:rPr>
              <a:t>versus </a:t>
            </a:r>
            <a:r>
              <a:rPr lang="en" sz="1400" b="1" i="0" u="none" strike="noStrike" cap="none">
                <a:solidFill>
                  <a:srgbClr val="E77A10"/>
                </a:solidFill>
                <a:latin typeface="Montserrat"/>
                <a:ea typeface="Montserrat"/>
                <a:cs typeface="Montserrat"/>
                <a:sym typeface="Montserrat"/>
              </a:rPr>
              <a:t>EVN escalation</a:t>
            </a:r>
            <a:r>
              <a:rPr lang="en" b="1">
                <a:solidFill>
                  <a:srgbClr val="E77A10"/>
                </a:solidFill>
                <a:latin typeface="Montserrat"/>
                <a:ea typeface="Montserrat"/>
                <a:cs typeface="Montserrat"/>
                <a:sym typeface="Montserrat"/>
              </a:rPr>
              <a:t>, </a:t>
            </a:r>
            <a:r>
              <a:rPr lang="en" sz="1500">
                <a:solidFill>
                  <a:schemeClr val="lt1"/>
                </a:solidFill>
                <a:latin typeface="Montserrat"/>
                <a:ea typeface="Montserrat"/>
                <a:cs typeface="Montserrat"/>
                <a:sym typeface="Montserrat"/>
              </a:rPr>
              <a:t>being able to cover 100% of annual electricity demand with contracted renewable generation, and utilizing </a:t>
            </a:r>
            <a:r>
              <a:rPr lang="en" sz="1400" b="1" i="0" u="none" strike="noStrike" cap="none">
                <a:solidFill>
                  <a:srgbClr val="E77A10"/>
                </a:solidFill>
                <a:latin typeface="Montserrat"/>
                <a:ea typeface="Montserrat"/>
                <a:cs typeface="Montserrat"/>
                <a:sym typeface="Montserrat"/>
              </a:rPr>
              <a:t>credible renewable claims.</a:t>
            </a:r>
            <a:endParaRPr>
              <a:solidFill>
                <a:srgbClr val="E77A10"/>
              </a:solidFill>
              <a:latin typeface="Montserrat"/>
              <a:ea typeface="Montserrat"/>
              <a:cs typeface="Montserrat"/>
              <a:sym typeface="Montserrat"/>
            </a:endParaRPr>
          </a:p>
        </p:txBody>
      </p:sp>
      <p:pic>
        <p:nvPicPr>
          <p:cNvPr id="1701" name="Google Shape;1701;p17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02" name="Google Shape;1702;p172"/>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703" name="Google Shape;1703;p172"/>
          <p:cNvGraphicFramePr/>
          <p:nvPr/>
        </p:nvGraphicFramePr>
        <p:xfrm>
          <a:off x="431317" y="1017908"/>
          <a:ext cx="3000000" cy="3000000"/>
        </p:xfrm>
        <a:graphic>
          <a:graphicData uri="http://schemas.openxmlformats.org/drawingml/2006/table">
            <a:tbl>
              <a:tblPr firstRow="1" bandRow="1">
                <a:noFill/>
                <a:tableStyleId>{CE8BD2AF-5D0D-4EDC-AE96-A30A7DA1AF2F}</a:tableStyleId>
              </a:tblPr>
              <a:tblGrid>
                <a:gridCol w="3082500">
                  <a:extLst>
                    <a:ext uri="{9D8B030D-6E8A-4147-A177-3AD203B41FA5}">
                      <a16:colId xmlns:a16="http://schemas.microsoft.com/office/drawing/2014/main" val="20000"/>
                    </a:ext>
                  </a:extLst>
                </a:gridCol>
                <a:gridCol w="1120600">
                  <a:extLst>
                    <a:ext uri="{9D8B030D-6E8A-4147-A177-3AD203B41FA5}">
                      <a16:colId xmlns:a16="http://schemas.microsoft.com/office/drawing/2014/main" val="20001"/>
                    </a:ext>
                  </a:extLst>
                </a:gridCol>
                <a:gridCol w="1083975">
                  <a:extLst>
                    <a:ext uri="{9D8B030D-6E8A-4147-A177-3AD203B41FA5}">
                      <a16:colId xmlns:a16="http://schemas.microsoft.com/office/drawing/2014/main" val="20002"/>
                    </a:ext>
                  </a:extLst>
                </a:gridCol>
              </a:tblGrid>
              <a:tr h="5528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Component (per matched 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USD/kWh (cents)</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675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Market energy at 2025 avg FMP x k x K_pp (22-110kV)</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~1,504</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DPPA service fee (C_dppa_dv)</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Balancing fee (P_cl)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0.7</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52825">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Delivered cost before CfD</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~2,027</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~8.1</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704" name="Google Shape;1704;p172"/>
          <p:cNvSpPr txBox="1"/>
          <p:nvPr/>
        </p:nvSpPr>
        <p:spPr>
          <a:xfrm>
            <a:off x="5709486" y="1017895"/>
            <a:ext cx="3181200" cy="2466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 523 VND/kWh of fixed fees applies to every matched kWh, regardless of your strike</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They are set by regulation, not negotiation</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Compare ~2,027 VND delivered (pre-CfD) with your own TOU mix - for many factories that is already near or above average grid cost</a:t>
            </a:r>
            <a:endParaRPr>
              <a:latin typeface="Montserrat"/>
              <a:ea typeface="Montserrat"/>
              <a:cs typeface="Montserrat"/>
              <a:sym typeface="Montserrat"/>
            </a:endParaRPr>
          </a:p>
        </p:txBody>
      </p:sp>
      <p:grpSp>
        <p:nvGrpSpPr>
          <p:cNvPr id="1705" name="Google Shape;1705;p172"/>
          <p:cNvGrpSpPr/>
          <p:nvPr/>
        </p:nvGrpSpPr>
        <p:grpSpPr>
          <a:xfrm>
            <a:off x="239992" y="63853"/>
            <a:ext cx="8728050" cy="745997"/>
            <a:chOff x="236700" y="63853"/>
            <a:chExt cx="8728050" cy="745997"/>
          </a:xfrm>
        </p:grpSpPr>
        <p:sp>
          <p:nvSpPr>
            <p:cNvPr id="1706" name="Google Shape;1706;p17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07" name="Google Shape;1707;p17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08" name="Google Shape;1708;p17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09" name="Google Shape;1709;p17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10" name="Google Shape;1710;p17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11" name="Google Shape;1711;p17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12" name="Google Shape;1712;p17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13" name="Google Shape;1713;p172"/>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Your Monthly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714" name="Google Shape;1714;p17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15" name="Google Shape;1715;p17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9"/>
        <p:cNvGrpSpPr/>
        <p:nvPr/>
      </p:nvGrpSpPr>
      <p:grpSpPr>
        <a:xfrm>
          <a:off x="0" y="0"/>
          <a:ext cx="0" cy="0"/>
          <a:chOff x="0" y="0"/>
          <a:chExt cx="0" cy="0"/>
        </a:xfrm>
      </p:grpSpPr>
      <p:cxnSp>
        <p:nvCxnSpPr>
          <p:cNvPr id="1720" name="Google Shape;1720;p17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21" name="Google Shape;1721;p173"/>
          <p:cNvSpPr txBox="1"/>
          <p:nvPr/>
        </p:nvSpPr>
        <p:spPr>
          <a:xfrm>
            <a:off x="4572000" y="1440675"/>
            <a:ext cx="4572000" cy="19857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3:</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CfD Mechanics: What Drives Your Quoted Price</a:t>
            </a:r>
            <a:endParaRPr sz="2800" b="1">
              <a:solidFill>
                <a:srgbClr val="0F172A"/>
              </a:solidFill>
              <a:highlight>
                <a:srgbClr val="FFFFFF"/>
              </a:highlight>
              <a:latin typeface="Montserrat"/>
              <a:ea typeface="Montserrat"/>
              <a:cs typeface="Montserrat"/>
              <a:sym typeface="Montserrat"/>
            </a:endParaRPr>
          </a:p>
        </p:txBody>
      </p:sp>
      <p:pic>
        <p:nvPicPr>
          <p:cNvPr id="1722" name="Google Shape;1722;p17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23" name="Google Shape;1723;p17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24" name="Google Shape;1724;p17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25" name="Google Shape;1725;p17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grpSp>
        <p:nvGrpSpPr>
          <p:cNvPr id="1730" name="Google Shape;1730;p174"/>
          <p:cNvGrpSpPr/>
          <p:nvPr/>
        </p:nvGrpSpPr>
        <p:grpSpPr>
          <a:xfrm>
            <a:off x="239992" y="63853"/>
            <a:ext cx="8728050" cy="745997"/>
            <a:chOff x="236700" y="63853"/>
            <a:chExt cx="8728050" cy="745997"/>
          </a:xfrm>
        </p:grpSpPr>
        <p:sp>
          <p:nvSpPr>
            <p:cNvPr id="1731" name="Google Shape;1731;p17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32" name="Google Shape;1732;p17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33" name="Google Shape;1733;p17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34" name="Google Shape;1734;p17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35" name="Google Shape;1735;p17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36" name="Google Shape;1736;p17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37" name="Google Shape;1737;p17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38" name="Google Shape;1738;p17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1900" b="1">
                  <a:solidFill>
                    <a:schemeClr val="lt1"/>
                  </a:solidFill>
                  <a:latin typeface="Montserrat"/>
                  <a:ea typeface="Montserrat"/>
                  <a:cs typeface="Montserrat"/>
                  <a:sym typeface="Montserrat"/>
                </a:rPr>
                <a:t>The CfD Is Two-Way: Certainty, Not Automatic Savings</a:t>
              </a:r>
              <a:endParaRPr sz="1900" b="1">
                <a:solidFill>
                  <a:schemeClr val="lt1"/>
                </a:solidFill>
                <a:latin typeface="Montserrat"/>
                <a:ea typeface="Montserrat"/>
                <a:cs typeface="Montserrat"/>
                <a:sym typeface="Montserrat"/>
              </a:endParaRPr>
            </a:p>
          </p:txBody>
        </p:sp>
        <p:cxnSp>
          <p:nvCxnSpPr>
            <p:cNvPr id="1739" name="Google Shape;1739;p17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40" name="Google Shape;1740;p17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41" name="Google Shape;1741;p17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42" name="Google Shape;1742;p17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43" name="Google Shape;1743;p174"/>
          <p:cNvSpPr/>
          <p:nvPr/>
        </p:nvSpPr>
        <p:spPr>
          <a:xfrm>
            <a:off x="452050" y="1392175"/>
            <a:ext cx="4731600" cy="7773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100000"/>
              </a:lnSpc>
              <a:spcBef>
                <a:spcPts val="0"/>
              </a:spcBef>
              <a:spcAft>
                <a:spcPts val="0"/>
              </a:spcAft>
              <a:buNone/>
            </a:pPr>
            <a:r>
              <a:rPr lang="en" sz="1600" b="0" i="0" u="none" strike="noStrike" cap="none">
                <a:solidFill>
                  <a:srgbClr val="0F293D"/>
                </a:solidFill>
                <a:latin typeface="Consolas"/>
                <a:ea typeface="Consolas"/>
                <a:cs typeface="Consolas"/>
                <a:sym typeface="Consolas"/>
              </a:rPr>
              <a:t>CfD cash flow = (Strike - FMP) x Q_CfD</a:t>
            </a:r>
            <a:endParaRPr/>
          </a:p>
        </p:txBody>
      </p:sp>
      <p:graphicFrame>
        <p:nvGraphicFramePr>
          <p:cNvPr id="1744" name="Google Shape;1744;p174"/>
          <p:cNvGraphicFramePr/>
          <p:nvPr/>
        </p:nvGraphicFramePr>
        <p:xfrm>
          <a:off x="452045" y="2489455"/>
          <a:ext cx="3000000" cy="3000000"/>
        </p:xfrm>
        <a:graphic>
          <a:graphicData uri="http://schemas.openxmlformats.org/drawingml/2006/table">
            <a:tbl>
              <a:tblPr firstRow="1" bandRow="1">
                <a:noFill/>
                <a:tableStyleId>{CE8BD2AF-5D0D-4EDC-AE96-A30A7DA1AF2F}</a:tableStyleId>
              </a:tblPr>
              <a:tblGrid>
                <a:gridCol w="2026450">
                  <a:extLst>
                    <a:ext uri="{9D8B030D-6E8A-4147-A177-3AD203B41FA5}">
                      <a16:colId xmlns:a16="http://schemas.microsoft.com/office/drawing/2014/main" val="20000"/>
                    </a:ext>
                  </a:extLst>
                </a:gridCol>
                <a:gridCol w="2705150">
                  <a:extLst>
                    <a:ext uri="{9D8B030D-6E8A-4147-A177-3AD203B41FA5}">
                      <a16:colId xmlns:a16="http://schemas.microsoft.com/office/drawing/2014/main" val="20001"/>
                    </a:ext>
                  </a:extLst>
                </a:gridCol>
              </a:tblGrid>
              <a:tr h="4206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Market condition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 pays whom</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below strike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 top up the generator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above strike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Generator pays you back</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bl>
          </a:graphicData>
        </a:graphic>
      </p:graphicFrame>
      <p:sp>
        <p:nvSpPr>
          <p:cNvPr id="1745" name="Google Shape;1745;p174"/>
          <p:cNvSpPr txBox="1"/>
          <p:nvPr/>
        </p:nvSpPr>
        <p:spPr>
          <a:xfrm>
            <a:off x="5276250" y="1392175"/>
            <a:ext cx="3691800" cy="27963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20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Net effect: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renewable energy cost is locked near the strike (+ fees), whatever the market does</a:t>
            </a:r>
            <a:endParaRPr>
              <a:latin typeface="Montserrat"/>
              <a:ea typeface="Montserrat"/>
              <a:cs typeface="Montserrat"/>
              <a:sym typeface="Montserrat"/>
            </a:endParaRPr>
          </a:p>
          <a:p>
            <a:pPr marL="457200" marR="0" lvl="0" indent="-311150" algn="l" rtl="0">
              <a:lnSpc>
                <a:spcPct val="120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2025 reference: FMP averaged ~1,427</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VND/kWh with strong hourly volatility</a:t>
            </a:r>
            <a:r>
              <a:rPr lang="en" sz="1300">
                <a:solidFill>
                  <a:srgbClr val="222B33"/>
                </a:solidFill>
                <a:latin typeface="Montserrat"/>
                <a:ea typeface="Montserrat"/>
                <a:cs typeface="Montserrat"/>
                <a:sym typeface="Montserrat"/>
              </a:rPr>
              <a:t>;</a:t>
            </a:r>
            <a:r>
              <a:rPr lang="en" sz="1300" i="0" u="none" strike="noStrike" cap="none">
                <a:solidFill>
                  <a:srgbClr val="222B33"/>
                </a:solidFill>
                <a:latin typeface="Montserrat"/>
                <a:ea typeface="Montserrat"/>
                <a:cs typeface="Montserrat"/>
                <a:sym typeface="Montserrat"/>
              </a:rPr>
              <a:t> the CfD removes that volatility from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budget</a:t>
            </a:r>
            <a:endParaRPr>
              <a:latin typeface="Montserrat"/>
              <a:ea typeface="Montserrat"/>
              <a:cs typeface="Montserrat"/>
              <a:sym typeface="Montserrat"/>
            </a:endParaRPr>
          </a:p>
          <a:p>
            <a:pPr marL="457200" marR="0" lvl="0" indent="-311150" algn="l" rtl="0">
              <a:lnSpc>
                <a:spcPct val="120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strike below expected average FMP would mean expected receipts</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but no developer can finance that (Module 4)</a:t>
            </a:r>
            <a:endParaRPr>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grpSp>
        <p:nvGrpSpPr>
          <p:cNvPr id="1750" name="Google Shape;1750;p175"/>
          <p:cNvGrpSpPr/>
          <p:nvPr/>
        </p:nvGrpSpPr>
        <p:grpSpPr>
          <a:xfrm>
            <a:off x="239992" y="63853"/>
            <a:ext cx="8728050" cy="745997"/>
            <a:chOff x="236700" y="63853"/>
            <a:chExt cx="8728050" cy="745997"/>
          </a:xfrm>
        </p:grpSpPr>
        <p:sp>
          <p:nvSpPr>
            <p:cNvPr id="1751" name="Google Shape;1751;p17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52" name="Google Shape;1752;p17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53" name="Google Shape;1753;p17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54" name="Google Shape;1754;p17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55" name="Google Shape;1755;p17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56" name="Google Shape;1756;p17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57" name="Google Shape;1757;p17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58" name="Google Shape;1758;p175"/>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Strike Escalation &amp; The Year 1 Reality</a:t>
              </a:r>
              <a:endParaRPr sz="2000">
                <a:solidFill>
                  <a:schemeClr val="lt1"/>
                </a:solidFill>
                <a:latin typeface="Montserrat ExtraBold"/>
                <a:ea typeface="Montserrat ExtraBold"/>
                <a:cs typeface="Montserrat ExtraBold"/>
                <a:sym typeface="Montserrat ExtraBold"/>
              </a:endParaRPr>
            </a:p>
          </p:txBody>
        </p:sp>
        <p:cxnSp>
          <p:nvCxnSpPr>
            <p:cNvPr id="1759" name="Google Shape;1759;p17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60" name="Google Shape;1760;p17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61" name="Google Shape;1761;p17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62" name="Google Shape;1762;p17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63" name="Google Shape;1763;p175"/>
          <p:cNvSpPr txBox="1"/>
          <p:nvPr/>
        </p:nvSpPr>
        <p:spPr>
          <a:xfrm>
            <a:off x="396013" y="1225275"/>
            <a:ext cx="4090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Strike escalation (e.g., 4%/yr)</a:t>
            </a:r>
            <a:endParaRPr>
              <a:latin typeface="Montserrat"/>
              <a:ea typeface="Montserrat"/>
              <a:cs typeface="Montserrat"/>
              <a:sym typeface="Montserrat"/>
            </a:endParaRPr>
          </a:p>
        </p:txBody>
      </p:sp>
      <p:sp>
        <p:nvSpPr>
          <p:cNvPr id="1764" name="Google Shape;1764;p175"/>
          <p:cNvSpPr txBox="1"/>
          <p:nvPr/>
        </p:nvSpPr>
        <p:spPr>
          <a:xfrm>
            <a:off x="396013" y="1557005"/>
            <a:ext cx="40908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Escalating strikes improve the seller's and lender's lifetime economics...</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...but do nothing for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Year 1 cost and compound against </a:t>
            </a:r>
            <a:r>
              <a:rPr lang="en" sz="1300">
                <a:solidFill>
                  <a:srgbClr val="222B33"/>
                </a:solidFill>
                <a:latin typeface="Montserrat"/>
                <a:ea typeface="Montserrat"/>
                <a:cs typeface="Montserrat"/>
                <a:sym typeface="Montserrat"/>
              </a:rPr>
              <a:t>BUYER </a:t>
            </a:r>
            <a:r>
              <a:rPr lang="en" sz="1300" i="0" u="none" strike="noStrike" cap="none">
                <a:solidFill>
                  <a:srgbClr val="222B33"/>
                </a:solidFill>
                <a:latin typeface="Montserrat"/>
                <a:ea typeface="Montserrat"/>
                <a:cs typeface="Montserrat"/>
                <a:sym typeface="Montserrat"/>
              </a:rPr>
              <a:t>later</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Negotiate the escalation index as hard as the starting strike (fixed VND vs CPI vs USD-linked)</a:t>
            </a:r>
            <a:endParaRPr>
              <a:latin typeface="Montserrat"/>
              <a:ea typeface="Montserrat"/>
              <a:cs typeface="Montserrat"/>
              <a:sym typeface="Montserrat"/>
            </a:endParaRPr>
          </a:p>
        </p:txBody>
      </p:sp>
      <p:sp>
        <p:nvSpPr>
          <p:cNvPr id="1765" name="Google Shape;1765;p175"/>
          <p:cNvSpPr txBox="1"/>
          <p:nvPr/>
        </p:nvSpPr>
        <p:spPr>
          <a:xfrm>
            <a:off x="4793688" y="1225275"/>
            <a:ext cx="3954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What Year 1 usually looks like</a:t>
            </a:r>
            <a:endParaRPr>
              <a:latin typeface="Montserrat"/>
              <a:ea typeface="Montserrat"/>
              <a:cs typeface="Montserrat"/>
              <a:sym typeface="Montserrat"/>
            </a:endParaRPr>
          </a:p>
        </p:txBody>
      </p:sp>
      <p:sp>
        <p:nvSpPr>
          <p:cNvPr id="1766" name="Google Shape;1766;p175"/>
          <p:cNvSpPr txBox="1"/>
          <p:nvPr/>
        </p:nvSpPr>
        <p:spPr>
          <a:xfrm>
            <a:off x="4793700" y="1557000"/>
            <a:ext cx="4090800" cy="1844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In most realistic structures, Year 1 DPPA cost is at or above BAU</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Savings build as EVN tariffs escalate (~4%/yr) against </a:t>
            </a:r>
            <a:r>
              <a:rPr lang="en" sz="1300">
                <a:solidFill>
                  <a:schemeClr val="dk1"/>
                </a:solidFill>
                <a:latin typeface="Montserrat"/>
                <a:ea typeface="Montserrat"/>
                <a:cs typeface="Montserrat"/>
                <a:sym typeface="Montserrat"/>
              </a:rPr>
              <a:t>BUYER </a:t>
            </a:r>
            <a:r>
              <a:rPr lang="en" sz="1300" i="0" u="none" strike="noStrike" cap="none">
                <a:solidFill>
                  <a:schemeClr val="dk1"/>
                </a:solidFill>
                <a:latin typeface="Montserrat"/>
                <a:ea typeface="Montserrat"/>
                <a:cs typeface="Montserrat"/>
                <a:sym typeface="Montserrat"/>
              </a:rPr>
              <a:t>locked strike</a:t>
            </a:r>
            <a:endParaRPr>
              <a:solidFill>
                <a:schemeClr val="dk1"/>
              </a:solidFill>
              <a:latin typeface="Montserrat"/>
              <a:ea typeface="Montserrat"/>
              <a:cs typeface="Montserrat"/>
              <a:sym typeface="Montserrat"/>
            </a:endParaRPr>
          </a:p>
          <a:p>
            <a:pPr marL="457200" marR="0" lvl="0" indent="0" algn="l" rtl="0">
              <a:lnSpc>
                <a:spcPct val="115000"/>
              </a:lnSpc>
              <a:spcBef>
                <a:spcPts val="400"/>
              </a:spcBef>
              <a:spcAft>
                <a:spcPts val="0"/>
              </a:spcAft>
              <a:buNone/>
            </a:pPr>
            <a:endParaRPr>
              <a:solidFill>
                <a:schemeClr val="dk1"/>
              </a:solidFill>
              <a:latin typeface="Montserrat"/>
              <a:ea typeface="Montserrat"/>
              <a:cs typeface="Montserrat"/>
              <a:sym typeface="Montserrat"/>
            </a:endParaRPr>
          </a:p>
          <a:p>
            <a:pPr marL="0" marR="0" lvl="0" indent="0" algn="l" rtl="0">
              <a:lnSpc>
                <a:spcPct val="115000"/>
              </a:lnSpc>
              <a:spcBef>
                <a:spcPts val="400"/>
              </a:spcBef>
              <a:spcAft>
                <a:spcPts val="400"/>
              </a:spcAft>
              <a:buNone/>
            </a:pPr>
            <a:r>
              <a:rPr lang="en" sz="1300" b="1">
                <a:solidFill>
                  <a:schemeClr val="dk1"/>
                </a:solidFill>
                <a:latin typeface="Montserrat"/>
                <a:ea typeface="Montserrat"/>
                <a:cs typeface="Montserrat"/>
                <a:sym typeface="Montserrat"/>
              </a:rPr>
              <a:t>→ Advice: E</a:t>
            </a:r>
            <a:r>
              <a:rPr lang="en" sz="1300" b="1" i="0" u="none" strike="noStrike" cap="none">
                <a:solidFill>
                  <a:schemeClr val="dk1"/>
                </a:solidFill>
                <a:latin typeface="Montserrat"/>
                <a:ea typeface="Montserrat"/>
                <a:cs typeface="Montserrat"/>
                <a:sym typeface="Montserrat"/>
              </a:rPr>
              <a:t>valuate on 10-year and lifetime cumulative cost</a:t>
            </a:r>
            <a:r>
              <a:rPr lang="en" sz="1300" b="1">
                <a:solidFill>
                  <a:schemeClr val="dk1"/>
                </a:solidFill>
                <a:latin typeface="Montserrat"/>
                <a:ea typeface="Montserrat"/>
                <a:cs typeface="Montserrat"/>
                <a:sym typeface="Montserrat"/>
              </a:rPr>
              <a:t>, not </a:t>
            </a:r>
            <a:r>
              <a:rPr lang="en" sz="1300" b="1" i="0" u="none" strike="noStrike" cap="none">
                <a:solidFill>
                  <a:schemeClr val="dk1"/>
                </a:solidFill>
                <a:latin typeface="Montserrat"/>
                <a:ea typeface="Montserrat"/>
                <a:cs typeface="Montserrat"/>
                <a:sym typeface="Montserrat"/>
              </a:rPr>
              <a:t>on Year 1 alone</a:t>
            </a:r>
            <a:endParaRPr b="1">
              <a:solidFill>
                <a:schemeClr val="dk1"/>
              </a:solidFill>
              <a:latin typeface="Montserrat"/>
              <a:ea typeface="Montserrat"/>
              <a:cs typeface="Montserrat"/>
              <a:sym typeface="Montserrat"/>
            </a:endParaRPr>
          </a:p>
        </p:txBody>
      </p:sp>
      <p:sp>
        <p:nvSpPr>
          <p:cNvPr id="1767" name="Google Shape;1767;p175"/>
          <p:cNvSpPr/>
          <p:nvPr/>
        </p:nvSpPr>
        <p:spPr>
          <a:xfrm>
            <a:off x="395850" y="3609092"/>
            <a:ext cx="8352300" cy="7107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b="1">
                <a:solidFill>
                  <a:srgbClr val="FFFFFF"/>
                </a:solidFill>
                <a:latin typeface="Montserrat"/>
                <a:ea typeface="Montserrat"/>
                <a:cs typeface="Montserrat"/>
                <a:sym typeface="Montserrat"/>
              </a:rPr>
              <a:t>Internal </a:t>
            </a:r>
            <a:r>
              <a:rPr lang="en" sz="1400" b="1" i="0" u="none" strike="noStrike" cap="none">
                <a:solidFill>
                  <a:srgbClr val="FFFFFF"/>
                </a:solidFill>
                <a:latin typeface="Montserrat"/>
                <a:ea typeface="Montserrat"/>
                <a:cs typeface="Montserrat"/>
                <a:sym typeface="Montserrat"/>
              </a:rPr>
              <a:t>Budget </a:t>
            </a:r>
            <a:r>
              <a:rPr lang="en" b="1">
                <a:solidFill>
                  <a:srgbClr val="FFFFFF"/>
                </a:solidFill>
                <a:latin typeface="Montserrat"/>
                <a:ea typeface="Montserrat"/>
                <a:cs typeface="Montserrat"/>
                <a:sym typeface="Montserrat"/>
              </a:rPr>
              <a:t>Q</a:t>
            </a:r>
            <a:r>
              <a:rPr lang="en" sz="1400" b="1" i="0" u="none" strike="noStrike" cap="none">
                <a:solidFill>
                  <a:srgbClr val="FFFFFF"/>
                </a:solidFill>
                <a:latin typeface="Montserrat"/>
                <a:ea typeface="Montserrat"/>
                <a:cs typeface="Montserrat"/>
                <a:sym typeface="Montserrat"/>
              </a:rPr>
              <a:t>uestion to Consider: </a:t>
            </a:r>
            <a:r>
              <a:rPr lang="en" b="1">
                <a:solidFill>
                  <a:srgbClr val="FFFFFF"/>
                </a:solidFill>
                <a:latin typeface="Montserrat"/>
                <a:ea typeface="Montserrat"/>
                <a:cs typeface="Montserrat"/>
                <a:sym typeface="Montserrat"/>
              </a:rPr>
              <a:t>Can</a:t>
            </a:r>
            <a:r>
              <a:rPr lang="en" sz="1400" b="1" i="0" u="none" strike="noStrike" cap="none">
                <a:solidFill>
                  <a:srgbClr val="FFFFFF"/>
                </a:solidFill>
                <a:latin typeface="Montserrat"/>
                <a:ea typeface="Montserrat"/>
                <a:cs typeface="Montserrat"/>
                <a:sym typeface="Montserrat"/>
              </a:rPr>
              <a:t> we accept a modest Year 1 premium to cap </a:t>
            </a:r>
            <a:r>
              <a:rPr lang="en" b="1">
                <a:solidFill>
                  <a:srgbClr val="FFFFFF"/>
                </a:solidFill>
                <a:latin typeface="Montserrat"/>
                <a:ea typeface="Montserrat"/>
                <a:cs typeface="Montserrat"/>
                <a:sym typeface="Montserrat"/>
              </a:rPr>
              <a:t>15~25 </a:t>
            </a:r>
            <a:r>
              <a:rPr lang="en" sz="1400" b="1" i="0" u="none" strike="noStrike" cap="none">
                <a:solidFill>
                  <a:srgbClr val="FFFFFF"/>
                </a:solidFill>
                <a:latin typeface="Montserrat"/>
                <a:ea typeface="Montserrat"/>
                <a:cs typeface="Montserrat"/>
                <a:sym typeface="Montserrat"/>
              </a:rPr>
              <a:t>year exposure?</a:t>
            </a:r>
            <a:endParaRPr>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grpSp>
        <p:nvGrpSpPr>
          <p:cNvPr id="1772" name="Google Shape;1772;p176"/>
          <p:cNvGrpSpPr/>
          <p:nvPr/>
        </p:nvGrpSpPr>
        <p:grpSpPr>
          <a:xfrm>
            <a:off x="239992" y="63853"/>
            <a:ext cx="8728050" cy="745997"/>
            <a:chOff x="236700" y="63853"/>
            <a:chExt cx="8728050" cy="745997"/>
          </a:xfrm>
        </p:grpSpPr>
        <p:sp>
          <p:nvSpPr>
            <p:cNvPr id="1773" name="Google Shape;1773;p17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74" name="Google Shape;1774;p17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75" name="Google Shape;1775;p17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76" name="Google Shape;1776;p17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77" name="Google Shape;1777;p17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78" name="Google Shape;1778;p17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79" name="Google Shape;1779;p17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80" name="Google Shape;1780;p17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Contract Volume VS Your Load Shape</a:t>
              </a:r>
              <a:endParaRPr sz="2000">
                <a:solidFill>
                  <a:schemeClr val="lt1"/>
                </a:solidFill>
                <a:latin typeface="Montserrat ExtraBold"/>
                <a:ea typeface="Montserrat ExtraBold"/>
                <a:cs typeface="Montserrat ExtraBold"/>
                <a:sym typeface="Montserrat ExtraBold"/>
              </a:endParaRPr>
            </a:p>
          </p:txBody>
        </p:sp>
        <p:cxnSp>
          <p:nvCxnSpPr>
            <p:cNvPr id="1781" name="Google Shape;1781;p17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82" name="Google Shape;1782;p17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83" name="Google Shape;1783;p17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84" name="Google Shape;1784;p176"/>
          <p:cNvPicPr preferRelativeResize="0"/>
          <p:nvPr/>
        </p:nvPicPr>
        <p:blipFill>
          <a:blip r:embed="rId4">
            <a:alphaModFix/>
          </a:blip>
          <a:stretch>
            <a:fillRect/>
          </a:stretch>
        </p:blipFill>
        <p:spPr>
          <a:xfrm>
            <a:off x="7472673" y="4659876"/>
            <a:ext cx="894924" cy="312775"/>
          </a:xfrm>
          <a:prstGeom prst="rect">
            <a:avLst/>
          </a:prstGeom>
          <a:noFill/>
          <a:ln>
            <a:noFill/>
          </a:ln>
        </p:spPr>
      </p:pic>
      <p:sp>
        <p:nvSpPr>
          <p:cNvPr id="1785" name="Google Shape;1785;p176"/>
          <p:cNvSpPr txBox="1"/>
          <p:nvPr/>
        </p:nvSpPr>
        <p:spPr>
          <a:xfrm>
            <a:off x="396525" y="1107850"/>
            <a:ext cx="7911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i="0" u="none" strike="noStrike" cap="none">
                <a:solidFill>
                  <a:srgbClr val="222B33"/>
                </a:solidFill>
                <a:latin typeface="Montserrat"/>
                <a:ea typeface="Montserrat"/>
                <a:cs typeface="Montserrat"/>
                <a:sym typeface="Montserrat"/>
              </a:rPr>
              <a:t>Solar generat</a:t>
            </a:r>
            <a:r>
              <a:rPr lang="en">
                <a:solidFill>
                  <a:srgbClr val="222B33"/>
                </a:solidFill>
                <a:latin typeface="Montserrat"/>
                <a:ea typeface="Montserrat"/>
                <a:cs typeface="Montserrat"/>
                <a:sym typeface="Montserrat"/>
              </a:rPr>
              <a:t>ion peaks </a:t>
            </a:r>
            <a:r>
              <a:rPr lang="en" sz="1400" i="0" u="none" strike="noStrike" cap="none">
                <a:solidFill>
                  <a:srgbClr val="222B33"/>
                </a:solidFill>
                <a:latin typeface="Montserrat"/>
                <a:ea typeface="Montserrat"/>
                <a:cs typeface="Montserrat"/>
                <a:sym typeface="Montserrat"/>
              </a:rPr>
              <a:t> midday</a:t>
            </a:r>
            <a:r>
              <a:rPr lang="en">
                <a:solidFill>
                  <a:srgbClr val="222B33"/>
                </a:solidFill>
                <a:latin typeface="Montserrat"/>
                <a:ea typeface="Montserrat"/>
                <a:cs typeface="Montserrat"/>
                <a:sym typeface="Montserrat"/>
              </a:rPr>
              <a:t>, but the </a:t>
            </a:r>
            <a:r>
              <a:rPr lang="en" sz="1400" i="0" u="none" strike="noStrike" cap="none">
                <a:solidFill>
                  <a:srgbClr val="222B33"/>
                </a:solidFill>
                <a:latin typeface="Montserrat"/>
                <a:ea typeface="Montserrat"/>
                <a:cs typeface="Montserrat"/>
                <a:sym typeface="Montserrat"/>
              </a:rPr>
              <a:t>factory runs its own shape. The overlap</a:t>
            </a:r>
            <a:r>
              <a:rPr lang="en">
                <a:solidFill>
                  <a:srgbClr val="222B33"/>
                </a:solidFill>
                <a:latin typeface="Montserrat"/>
                <a:ea typeface="Montserrat"/>
                <a:cs typeface="Montserrat"/>
                <a:sym typeface="Montserrat"/>
              </a:rPr>
              <a:t>—</a:t>
            </a:r>
            <a:r>
              <a:rPr lang="en" sz="1400" i="0" u="none" strike="noStrike" cap="none">
                <a:solidFill>
                  <a:srgbClr val="222B33"/>
                </a:solidFill>
                <a:latin typeface="Montserrat"/>
                <a:ea typeface="Montserrat"/>
                <a:cs typeface="Montserrat"/>
                <a:sym typeface="Montserrat"/>
              </a:rPr>
              <a:t>hour by hour</a:t>
            </a:r>
            <a:r>
              <a:rPr lang="en">
                <a:solidFill>
                  <a:srgbClr val="222B33"/>
                </a:solidFill>
                <a:latin typeface="Montserrat"/>
                <a:ea typeface="Montserrat"/>
                <a:cs typeface="Montserrat"/>
                <a:sym typeface="Montserrat"/>
              </a:rPr>
              <a:t> -</a:t>
            </a:r>
            <a:r>
              <a:rPr lang="en" sz="1400" i="0" u="none" strike="noStrike" cap="none">
                <a:solidFill>
                  <a:srgbClr val="222B33"/>
                </a:solidFill>
                <a:latin typeface="Montserrat"/>
                <a:ea typeface="Montserrat"/>
                <a:cs typeface="Montserrat"/>
                <a:sym typeface="Montserrat"/>
              </a:rPr>
              <a:t> is </a:t>
            </a:r>
            <a:r>
              <a:rPr lang="en">
                <a:solidFill>
                  <a:srgbClr val="222B33"/>
                </a:solidFill>
                <a:latin typeface="Montserrat"/>
                <a:ea typeface="Montserrat"/>
                <a:cs typeface="Montserrat"/>
                <a:sym typeface="Montserrat"/>
              </a:rPr>
              <a:t>what matters most.</a:t>
            </a:r>
            <a:endParaRPr>
              <a:latin typeface="Montserrat"/>
              <a:ea typeface="Montserrat"/>
              <a:cs typeface="Montserrat"/>
              <a:sym typeface="Montserrat"/>
            </a:endParaRPr>
          </a:p>
        </p:txBody>
      </p:sp>
      <p:graphicFrame>
        <p:nvGraphicFramePr>
          <p:cNvPr id="1786" name="Google Shape;1786;p176"/>
          <p:cNvGraphicFramePr/>
          <p:nvPr/>
        </p:nvGraphicFramePr>
        <p:xfrm>
          <a:off x="400170" y="1716625"/>
          <a:ext cx="3000000" cy="3000000"/>
        </p:xfrm>
        <a:graphic>
          <a:graphicData uri="http://schemas.openxmlformats.org/drawingml/2006/table">
            <a:tbl>
              <a:tblPr firstRow="1" bandRow="1">
                <a:noFill/>
                <a:tableStyleId>{CE8BD2AF-5D0D-4EDC-AE96-A30A7DA1AF2F}</a:tableStyleId>
              </a:tblPr>
              <a:tblGrid>
                <a:gridCol w="2347975">
                  <a:extLst>
                    <a:ext uri="{9D8B030D-6E8A-4147-A177-3AD203B41FA5}">
                      <a16:colId xmlns:a16="http://schemas.microsoft.com/office/drawing/2014/main" val="20000"/>
                    </a:ext>
                  </a:extLst>
                </a:gridCol>
                <a:gridCol w="3176700">
                  <a:extLst>
                    <a:ext uri="{9D8B030D-6E8A-4147-A177-3AD203B41FA5}">
                      <a16:colId xmlns:a16="http://schemas.microsoft.com/office/drawing/2014/main" val="20001"/>
                    </a:ext>
                  </a:extLst>
                </a:gridCol>
                <a:gridCol w="2900475">
                  <a:extLst>
                    <a:ext uri="{9D8B030D-6E8A-4147-A177-3AD203B41FA5}">
                      <a16:colId xmlns:a16="http://schemas.microsoft.com/office/drawing/2014/main" val="20002"/>
                    </a:ext>
                  </a:extLst>
                </a:gridCol>
              </a:tblGrid>
              <a:tr h="466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If you...</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Then…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Cost consequence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Over-contract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&gt; consumption)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CfD caps at consumed volume - excess earns nothing</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You paid contract terms for volume you ca</a:t>
                      </a:r>
                      <a:r>
                        <a:rPr lang="en" sz="1250">
                          <a:solidFill>
                            <a:schemeClr val="dk1"/>
                          </a:solidFill>
                          <a:latin typeface="Montserrat"/>
                          <a:ea typeface="Montserrat"/>
                          <a:cs typeface="Montserrat"/>
                          <a:sym typeface="Montserrat"/>
                        </a:rPr>
                        <a:t>n’t </a:t>
                      </a:r>
                      <a:r>
                        <a:rPr lang="en" sz="1250" u="none" strike="noStrike" cap="none">
                          <a:solidFill>
                            <a:schemeClr val="dk1"/>
                          </a:solidFill>
                          <a:latin typeface="Montserrat"/>
                          <a:ea typeface="Montserrat"/>
                          <a:cs typeface="Montserrat"/>
                          <a:sym typeface="Montserrat"/>
                        </a:rPr>
                        <a:t> settle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 contract to hourly overlap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Every contracted kWh settles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Efficient</a:t>
                      </a:r>
                      <a:r>
                        <a:rPr lang="en" sz="1250" b="1">
                          <a:solidFill>
                            <a:schemeClr val="dk1"/>
                          </a:solidFill>
                          <a:latin typeface="Montserrat"/>
                          <a:ea typeface="Montserrat"/>
                          <a:cs typeface="Montserrat"/>
                          <a:sym typeface="Montserrat"/>
                        </a:rPr>
                        <a:t>; this is</a:t>
                      </a:r>
                      <a:r>
                        <a:rPr lang="en" sz="1250" b="1" u="none" strike="noStrike" cap="none">
                          <a:solidFill>
                            <a:schemeClr val="dk1"/>
                          </a:solidFill>
                          <a:latin typeface="Montserrat"/>
                          <a:ea typeface="Montserrat"/>
                          <a:cs typeface="Montserrat"/>
                          <a:sym typeface="Montserrat"/>
                        </a:rPr>
                        <a:t> the target</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Under-contract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&lt; overlap)</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More residual 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Less price certainty, smaller renewable claim</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787" name="Google Shape;1787;p176"/>
          <p:cNvSpPr txBox="1"/>
          <p:nvPr/>
        </p:nvSpPr>
        <p:spPr>
          <a:xfrm>
            <a:off x="323025" y="3786200"/>
            <a:ext cx="8562000" cy="804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Ask every developer for an hourly (8760 hour) matching analysis against </a:t>
            </a:r>
            <a:r>
              <a:rPr lang="en" sz="1300">
                <a:solidFill>
                  <a:schemeClr val="dk1"/>
                </a:solidFill>
                <a:latin typeface="Montserrat"/>
                <a:ea typeface="Montserrat"/>
                <a:cs typeface="Montserrat"/>
                <a:sym typeface="Montserrat"/>
              </a:rPr>
              <a:t>your </a:t>
            </a:r>
            <a:r>
              <a:rPr lang="en" sz="1300" i="0" u="none" strike="noStrike" cap="none">
                <a:solidFill>
                  <a:schemeClr val="dk1"/>
                </a:solidFill>
                <a:latin typeface="Montserrat"/>
                <a:ea typeface="Montserrat"/>
                <a:cs typeface="Montserrat"/>
                <a:sym typeface="Montserrat"/>
              </a:rPr>
              <a:t>meter data</a:t>
            </a:r>
            <a:r>
              <a:rPr lang="en" sz="1300">
                <a:solidFill>
                  <a:schemeClr val="dk1"/>
                </a:solidFill>
                <a:latin typeface="Montserrat"/>
                <a:ea typeface="Montserrat"/>
                <a:cs typeface="Montserrat"/>
                <a:sym typeface="Montserrat"/>
              </a:rPr>
              <a:t>, </a:t>
            </a:r>
            <a:r>
              <a:rPr lang="en" sz="1300" i="0" u="none" strike="noStrike" cap="none">
                <a:solidFill>
                  <a:schemeClr val="dk1"/>
                </a:solidFill>
                <a:latin typeface="Montserrat"/>
                <a:ea typeface="Montserrat"/>
                <a:cs typeface="Montserrat"/>
                <a:sym typeface="Montserrat"/>
              </a:rPr>
              <a:t>not an annual percentage</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Batteries can shift the overlap window but add </a:t>
            </a:r>
            <a:r>
              <a:rPr lang="en" sz="1300">
                <a:solidFill>
                  <a:schemeClr val="dk1"/>
                </a:solidFill>
                <a:latin typeface="Montserrat"/>
                <a:ea typeface="Montserrat"/>
                <a:cs typeface="Montserrat"/>
                <a:sym typeface="Montserrat"/>
              </a:rPr>
              <a:t>CAPEX</a:t>
            </a:r>
            <a:r>
              <a:rPr lang="en" sz="1300" i="0" u="none" strike="noStrike" cap="none">
                <a:solidFill>
                  <a:schemeClr val="dk1"/>
                </a:solidFill>
                <a:latin typeface="Montserrat"/>
                <a:ea typeface="Montserrat"/>
                <a:cs typeface="Montserrat"/>
                <a:sym typeface="Montserrat"/>
              </a:rPr>
              <a:t> the tariff must carry (see the case study)</a:t>
            </a:r>
            <a:endParaRPr>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91"/>
        <p:cNvGrpSpPr/>
        <p:nvPr/>
      </p:nvGrpSpPr>
      <p:grpSpPr>
        <a:xfrm>
          <a:off x="0" y="0"/>
          <a:ext cx="0" cy="0"/>
          <a:chOff x="0" y="0"/>
          <a:chExt cx="0" cy="0"/>
        </a:xfrm>
      </p:grpSpPr>
      <p:cxnSp>
        <p:nvCxnSpPr>
          <p:cNvPr id="1792" name="Google Shape;1792;p17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93" name="Google Shape;1793;p17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4:</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Developer Economics and the Three Gates</a:t>
            </a:r>
            <a:endParaRPr sz="2800" b="1">
              <a:solidFill>
                <a:srgbClr val="0F172A"/>
              </a:solidFill>
              <a:highlight>
                <a:srgbClr val="FFFFFF"/>
              </a:highlight>
              <a:latin typeface="Montserrat"/>
              <a:ea typeface="Montserrat"/>
              <a:cs typeface="Montserrat"/>
              <a:sym typeface="Montserrat"/>
            </a:endParaRPr>
          </a:p>
        </p:txBody>
      </p:sp>
      <p:pic>
        <p:nvPicPr>
          <p:cNvPr id="1794" name="Google Shape;1794;p17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95" name="Google Shape;1795;p17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96" name="Google Shape;1796;p17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97" name="Google Shape;1797;p17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grpSp>
        <p:nvGrpSpPr>
          <p:cNvPr id="1802" name="Google Shape;1802;p178"/>
          <p:cNvGrpSpPr/>
          <p:nvPr/>
        </p:nvGrpSpPr>
        <p:grpSpPr>
          <a:xfrm>
            <a:off x="239992" y="63853"/>
            <a:ext cx="8728050" cy="745997"/>
            <a:chOff x="236700" y="63853"/>
            <a:chExt cx="8728050" cy="745997"/>
          </a:xfrm>
        </p:grpSpPr>
        <p:sp>
          <p:nvSpPr>
            <p:cNvPr id="1803" name="Google Shape;1803;p17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04" name="Google Shape;1804;p17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05" name="Google Shape;1805;p17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06" name="Google Shape;1806;p17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07" name="Google Shape;1807;p17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08" name="Google Shape;1808;p17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09" name="Google Shape;1809;p17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10" name="Google Shape;1810;p17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Developer’s Perspective on Economics</a:t>
              </a:r>
              <a:endParaRPr sz="2000">
                <a:solidFill>
                  <a:schemeClr val="lt1"/>
                </a:solidFill>
                <a:latin typeface="Montserrat ExtraBold"/>
                <a:ea typeface="Montserrat ExtraBold"/>
                <a:cs typeface="Montserrat ExtraBold"/>
                <a:sym typeface="Montserrat ExtraBold"/>
              </a:endParaRPr>
            </a:p>
          </p:txBody>
        </p:sp>
        <p:cxnSp>
          <p:nvCxnSpPr>
            <p:cNvPr id="1811" name="Google Shape;1811;p17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12" name="Google Shape;1812;p17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13" name="Google Shape;1813;p17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14" name="Google Shape;1814;p17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815" name="Google Shape;1815;p178"/>
          <p:cNvSpPr/>
          <p:nvPr/>
        </p:nvSpPr>
        <p:spPr>
          <a:xfrm>
            <a:off x="454275" y="1039125"/>
            <a:ext cx="5093700" cy="1751700"/>
          </a:xfrm>
          <a:prstGeom prst="roundRect">
            <a:avLst>
              <a:gd name="adj" fmla="val 16667"/>
            </a:avLst>
          </a:prstGeom>
          <a:solidFill>
            <a:srgbClr val="EEF4F4"/>
          </a:solidFill>
          <a:ln w="9375" cap="flat" cmpd="sng">
            <a:solidFill>
              <a:srgbClr val="127A7A"/>
            </a:solidFill>
            <a:prstDash val="solid"/>
            <a:round/>
            <a:headEnd type="none" w="sm" len="sm"/>
            <a:tailEnd type="none" w="sm" len="sm"/>
          </a:ln>
          <a:effectLst>
            <a:outerShdw blurRad="29555" dist="16994" dir="5400000" rotWithShape="0">
              <a:srgbClr val="000000">
                <a:alpha val="349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Consolas"/>
                <a:ea typeface="Consolas"/>
                <a:cs typeface="Consolas"/>
                <a:sym typeface="Consolas"/>
              </a:rPr>
              <a:t>Revenue</a:t>
            </a:r>
            <a:r>
              <a:rPr lang="en" sz="1600" i="0" u="none" strike="noStrike" cap="none">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r>
              <a:rPr lang="en" sz="1600">
                <a:solidFill>
                  <a:schemeClr val="dk1"/>
                </a:solidFill>
                <a:latin typeface="Consolas"/>
                <a:ea typeface="Consolas"/>
                <a:cs typeface="Consolas"/>
                <a:sym typeface="Consolas"/>
              </a:rPr>
              <a:t> </a:t>
            </a:r>
            <a:r>
              <a:rPr lang="en" sz="1600" i="0" u="none" strike="noStrike" cap="none">
                <a:solidFill>
                  <a:schemeClr val="dk1"/>
                </a:solidFill>
                <a:latin typeface="Consolas"/>
                <a:ea typeface="Consolas"/>
                <a:cs typeface="Consolas"/>
                <a:sym typeface="Consolas"/>
              </a:rPr>
              <a:t>Q_meter x FMP</a:t>
            </a:r>
            <a:r>
              <a:rPr lang="en" sz="1600">
                <a:solidFill>
                  <a:schemeClr val="dk1"/>
                </a:solidFill>
                <a:latin typeface="Consolas"/>
                <a:ea typeface="Consolas"/>
                <a:cs typeface="Consolas"/>
                <a:sym typeface="Consolas"/>
              </a:rPr>
              <a:t>	</a:t>
            </a:r>
            <a:r>
              <a:rPr lang="en" sz="1600" i="1" u="none" strike="noStrike" cap="none">
                <a:solidFill>
                  <a:schemeClr val="dk1"/>
                </a:solidFill>
                <a:latin typeface="Consolas"/>
                <a:ea typeface="Consolas"/>
                <a:cs typeface="Consolas"/>
                <a:sym typeface="Consolas"/>
              </a:rPr>
              <a:t>spot sales (volatile)</a:t>
            </a:r>
            <a:br>
              <a:rPr lang="en" sz="1600" i="1" u="none" strike="noStrike" cap="none">
                <a:solidFill>
                  <a:schemeClr val="dk1"/>
                </a:solidFill>
                <a:latin typeface="Consolas"/>
                <a:ea typeface="Consolas"/>
                <a:cs typeface="Consolas"/>
                <a:sym typeface="Consolas"/>
              </a:rPr>
            </a:br>
            <a:r>
              <a:rPr lang="en" sz="1600" i="1" u="none" strike="noStrike" cap="none">
                <a:solidFill>
                  <a:schemeClr val="dk1"/>
                </a:solidFill>
                <a:latin typeface="Consolas"/>
                <a:ea typeface="Consolas"/>
                <a:cs typeface="Consolas"/>
                <a:sym typeface="Consolas"/>
              </a:rPr>
              <a:t>	</a:t>
            </a:r>
            <a:r>
              <a:rPr lang="en" sz="1600">
                <a:solidFill>
                  <a:schemeClr val="dk1"/>
                </a:solidFill>
                <a:latin typeface="Consolas"/>
                <a:ea typeface="Consolas"/>
                <a:cs typeface="Consolas"/>
                <a:sym typeface="Consolas"/>
              </a:rPr>
              <a:t>+ </a:t>
            </a:r>
            <a:endParaRPr sz="1600" i="1">
              <a:solidFill>
                <a:schemeClr val="dk1"/>
              </a:solidFill>
              <a:latin typeface="Consolas"/>
              <a:ea typeface="Consolas"/>
              <a:cs typeface="Consolas"/>
              <a:sym typeface="Consolas"/>
            </a:endParaRPr>
          </a:p>
          <a:p>
            <a:pPr marL="0" marR="0" lvl="0" indent="0" algn="l" rtl="0">
              <a:lnSpc>
                <a:spcPct val="100000"/>
              </a:lnSpc>
              <a:spcBef>
                <a:spcPts val="148"/>
              </a:spcBef>
              <a:spcAft>
                <a:spcPts val="0"/>
              </a:spcAft>
              <a:buNone/>
            </a:pPr>
            <a:r>
              <a:rPr lang="en" sz="1600" i="0" u="none" strike="noStrike" cap="none">
                <a:solidFill>
                  <a:schemeClr val="dk1"/>
                </a:solidFill>
                <a:latin typeface="Consolas"/>
                <a:ea typeface="Consolas"/>
                <a:cs typeface="Consolas"/>
                <a:sym typeface="Consolas"/>
              </a:rPr>
              <a:t> (Strike - FMP) x Q_CfD  	</a:t>
            </a:r>
            <a:endParaRPr sz="1600" i="0" u="none" strike="noStrike" cap="none">
              <a:solidFill>
                <a:schemeClr val="dk1"/>
              </a:solidFill>
              <a:latin typeface="Consolas"/>
              <a:ea typeface="Consolas"/>
              <a:cs typeface="Consolas"/>
              <a:sym typeface="Consolas"/>
            </a:endParaRPr>
          </a:p>
          <a:p>
            <a:pPr marL="1828800" marR="0" lvl="0" indent="0" algn="l" rtl="0">
              <a:lnSpc>
                <a:spcPct val="100000"/>
              </a:lnSpc>
              <a:spcBef>
                <a:spcPts val="148"/>
              </a:spcBef>
              <a:spcAft>
                <a:spcPts val="0"/>
              </a:spcAft>
              <a:buNone/>
            </a:pPr>
            <a:r>
              <a:rPr lang="en" sz="1600" i="1" u="none" strike="noStrike" cap="none">
                <a:solidFill>
                  <a:schemeClr val="dk1"/>
                </a:solidFill>
                <a:latin typeface="Consolas"/>
                <a:ea typeface="Consolas"/>
                <a:cs typeface="Consolas"/>
                <a:sym typeface="Consolas"/>
              </a:rPr>
              <a:t>CfD with you</a:t>
            </a:r>
            <a:r>
              <a:rPr lang="en" sz="1600" i="1">
                <a:solidFill>
                  <a:schemeClr val="dk1"/>
                </a:solidFill>
                <a:latin typeface="Consolas"/>
                <a:ea typeface="Consolas"/>
                <a:cs typeface="Consolas"/>
                <a:sym typeface="Consolas"/>
              </a:rPr>
              <a:t>r factory </a:t>
            </a:r>
            <a:r>
              <a:rPr lang="en" sz="1600" i="1" u="none" strike="noStrike" cap="none">
                <a:solidFill>
                  <a:schemeClr val="dk1"/>
                </a:solidFill>
                <a:latin typeface="Consolas"/>
                <a:ea typeface="Consolas"/>
                <a:cs typeface="Consolas"/>
                <a:sym typeface="Consolas"/>
              </a:rPr>
              <a:t>(stabiliser)</a:t>
            </a:r>
            <a:endParaRPr sz="1600" i="1">
              <a:solidFill>
                <a:schemeClr val="dk1"/>
              </a:solidFill>
              <a:latin typeface="Consolas"/>
              <a:ea typeface="Consolas"/>
              <a:cs typeface="Consolas"/>
              <a:sym typeface="Consolas"/>
            </a:endParaRPr>
          </a:p>
        </p:txBody>
      </p:sp>
      <p:sp>
        <p:nvSpPr>
          <p:cNvPr id="1816" name="Google Shape;1816;p178"/>
          <p:cNvSpPr txBox="1"/>
          <p:nvPr/>
        </p:nvSpPr>
        <p:spPr>
          <a:xfrm>
            <a:off x="5642025" y="1196161"/>
            <a:ext cx="3165900" cy="1629900"/>
          </a:xfrm>
          <a:prstGeom prst="rect">
            <a:avLst/>
          </a:prstGeom>
          <a:noFill/>
          <a:ln>
            <a:noFill/>
          </a:ln>
        </p:spPr>
        <p:txBody>
          <a:bodyPr spcFirstLastPara="1" wrap="square" lIns="67550" tIns="33775" rIns="67550" bIns="33775" anchor="t" anchorCtr="0">
            <a:spAutoFit/>
          </a:bodyPr>
          <a:lstStyle/>
          <a:p>
            <a:pPr marL="457200" marR="0" lvl="0" indent="-304800" algn="l" rtl="0">
              <a:lnSpc>
                <a:spcPct val="115000"/>
              </a:lnSpc>
              <a:spcBef>
                <a:spcPts val="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The CfD converts volatile spot revenue into a near-fixed price on matched volume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Your strike IS the developer's bankable revenue line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40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Everything the lender checks flows from it</a:t>
            </a:r>
            <a:endParaRPr sz="1200">
              <a:solidFill>
                <a:schemeClr val="dk1"/>
              </a:solidFill>
              <a:latin typeface="Montserrat"/>
              <a:ea typeface="Montserrat"/>
              <a:cs typeface="Montserrat"/>
              <a:sym typeface="Montserrat"/>
            </a:endParaRPr>
          </a:p>
        </p:txBody>
      </p:sp>
      <p:graphicFrame>
        <p:nvGraphicFramePr>
          <p:cNvPr id="1817" name="Google Shape;1817;p178"/>
          <p:cNvGraphicFramePr/>
          <p:nvPr/>
        </p:nvGraphicFramePr>
        <p:xfrm>
          <a:off x="461982" y="2920461"/>
          <a:ext cx="3000000" cy="3000000"/>
        </p:xfrm>
        <a:graphic>
          <a:graphicData uri="http://schemas.openxmlformats.org/drawingml/2006/table">
            <a:tbl>
              <a:tblPr>
                <a:noFill/>
                <a:tableStyleId>{121033D3-121A-4ABF-A30B-B91F07BF1167}</a:tableStyleId>
              </a:tblPr>
              <a:tblGrid>
                <a:gridCol w="2168425">
                  <a:extLst>
                    <a:ext uri="{9D8B030D-6E8A-4147-A177-3AD203B41FA5}">
                      <a16:colId xmlns:a16="http://schemas.microsoft.com/office/drawing/2014/main" val="20000"/>
                    </a:ext>
                  </a:extLst>
                </a:gridCol>
                <a:gridCol w="2925325">
                  <a:extLst>
                    <a:ext uri="{9D8B030D-6E8A-4147-A177-3AD203B41FA5}">
                      <a16:colId xmlns:a16="http://schemas.microsoft.com/office/drawing/2014/main" val="20001"/>
                    </a:ext>
                  </a:extLst>
                </a:gridCol>
              </a:tblGrid>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Capital Structure</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70% Debt / 30% Equity</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0"/>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Term</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~10 years</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(VND)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~8.5% per year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(USD)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~5% per year (International)</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Equity Target Return</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12 - 15%+ IRR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CIT Incentives</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4 years exempt + 9 years at half rate</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grpSp>
        <p:nvGrpSpPr>
          <p:cNvPr id="1822" name="Google Shape;1822;p179"/>
          <p:cNvGrpSpPr/>
          <p:nvPr/>
        </p:nvGrpSpPr>
        <p:grpSpPr>
          <a:xfrm>
            <a:off x="239992" y="63853"/>
            <a:ext cx="8728050" cy="745997"/>
            <a:chOff x="236700" y="63853"/>
            <a:chExt cx="8728050" cy="745997"/>
          </a:xfrm>
        </p:grpSpPr>
        <p:sp>
          <p:nvSpPr>
            <p:cNvPr id="1823" name="Google Shape;1823;p17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24" name="Google Shape;1824;p17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25" name="Google Shape;1825;p17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26" name="Google Shape;1826;p17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27" name="Google Shape;1827;p17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28" name="Google Shape;1828;p17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29" name="Google Shape;1829;p17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30" name="Google Shape;1830;p17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 Deal Must Pass Three Gates to Proceed</a:t>
              </a:r>
              <a:endParaRPr sz="2000">
                <a:solidFill>
                  <a:schemeClr val="lt1"/>
                </a:solidFill>
                <a:latin typeface="Montserrat ExtraBold"/>
                <a:ea typeface="Montserrat ExtraBold"/>
                <a:cs typeface="Montserrat ExtraBold"/>
                <a:sym typeface="Montserrat ExtraBold"/>
              </a:endParaRPr>
            </a:p>
          </p:txBody>
        </p:sp>
        <p:cxnSp>
          <p:nvCxnSpPr>
            <p:cNvPr id="1831" name="Google Shape;1831;p17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32" name="Google Shape;1832;p17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33" name="Google Shape;1833;p17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34" name="Google Shape;1834;p179"/>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35" name="Google Shape;1835;p179"/>
          <p:cNvGraphicFramePr/>
          <p:nvPr/>
        </p:nvGraphicFramePr>
        <p:xfrm>
          <a:off x="454273" y="1352177"/>
          <a:ext cx="3000000" cy="3000000"/>
        </p:xfrm>
        <a:graphic>
          <a:graphicData uri="http://schemas.openxmlformats.org/drawingml/2006/table">
            <a:tbl>
              <a:tblPr firstRow="1" bandRow="1">
                <a:noFill/>
                <a:tableStyleId>{CE8BD2AF-5D0D-4EDC-AE96-A30A7DA1AF2F}</a:tableStyleId>
              </a:tblPr>
              <a:tblGrid>
                <a:gridCol w="1062500">
                  <a:extLst>
                    <a:ext uri="{9D8B030D-6E8A-4147-A177-3AD203B41FA5}">
                      <a16:colId xmlns:a16="http://schemas.microsoft.com/office/drawing/2014/main" val="20000"/>
                    </a:ext>
                  </a:extLst>
                </a:gridCol>
                <a:gridCol w="1062500">
                  <a:extLst>
                    <a:ext uri="{9D8B030D-6E8A-4147-A177-3AD203B41FA5}">
                      <a16:colId xmlns:a16="http://schemas.microsoft.com/office/drawing/2014/main" val="20001"/>
                    </a:ext>
                  </a:extLst>
                </a:gridCol>
                <a:gridCol w="3966650">
                  <a:extLst>
                    <a:ext uri="{9D8B030D-6E8A-4147-A177-3AD203B41FA5}">
                      <a16:colId xmlns:a16="http://schemas.microsoft.com/office/drawing/2014/main" val="20002"/>
                    </a:ext>
                  </a:extLst>
                </a:gridCol>
                <a:gridCol w="2266675">
                  <a:extLst>
                    <a:ext uri="{9D8B030D-6E8A-4147-A177-3AD203B41FA5}">
                      <a16:colId xmlns:a16="http://schemas.microsoft.com/office/drawing/2014/main" val="20003"/>
                    </a:ext>
                  </a:extLst>
                </a:gridCol>
              </a:tblGrid>
              <a:tr h="34357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Gate</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Test</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Strike pressure</a:t>
                      </a:r>
                      <a:endParaRPr>
                        <a:latin typeface="Montserrat"/>
                        <a:ea typeface="Montserrat"/>
                        <a:cs typeface="Montserrat"/>
                        <a:sym typeface="Montserrat"/>
                      </a:endParaRPr>
                    </a:p>
                  </a:txBody>
                  <a:tcPr marL="91450" marR="91450" marT="25400" marB="25400" anchor="ctr">
                    <a:solidFill>
                      <a:srgbClr val="2F645B"/>
                    </a:solidFill>
                  </a:tcPr>
                </a:tc>
                <a:extLst>
                  <a:ext uri="{0D108BD9-81ED-4DB2-BD59-A6C34878D82A}">
                    <a16:rowId xmlns:a16="http://schemas.microsoft.com/office/drawing/2014/main" val="10000"/>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1. Buyer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Cumulative cost &lt;= BAU over 10 yr AND lifetime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DOWN</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435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2. Seller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Developer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Equity IRR &gt;= 12-15%</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3. </a:t>
                      </a:r>
                      <a:r>
                        <a:rPr lang="en" sz="1300" u="none" strike="noStrike" cap="none">
                          <a:solidFill>
                            <a:srgbClr val="222B33"/>
                          </a:solidFill>
                          <a:latin typeface="Montserrat"/>
                          <a:ea typeface="Montserrat"/>
                          <a:cs typeface="Montserrat"/>
                          <a:sym typeface="Montserrat"/>
                        </a:rPr>
                        <a:t>L</a:t>
                      </a:r>
                      <a:r>
                        <a:rPr lang="en" sz="1300">
                          <a:solidFill>
                            <a:srgbClr val="222B33"/>
                          </a:solidFill>
                          <a:latin typeface="Montserrat"/>
                          <a:ea typeface="Montserrat"/>
                          <a:cs typeface="Montserrat"/>
                          <a:sym typeface="Montserrat"/>
                        </a:rPr>
                        <a:t>ender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Bank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Minimum DSCR &gt;= ~1.20x every year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 (hardest gate)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836" name="Google Shape;1836;p179"/>
          <p:cNvSpPr txBox="1"/>
          <p:nvPr/>
        </p:nvSpPr>
        <p:spPr>
          <a:xfrm>
            <a:off x="400125" y="3211875"/>
            <a:ext cx="8358300" cy="966000"/>
          </a:xfrm>
          <a:prstGeom prst="rect">
            <a:avLst/>
          </a:prstGeom>
          <a:noFill/>
          <a:ln>
            <a:noFill/>
          </a:ln>
        </p:spPr>
        <p:txBody>
          <a:bodyPr spcFirstLastPara="1" wrap="square" lIns="91425" tIns="45700" rIns="91425" bIns="45700" anchor="t" anchorCtr="0">
            <a:spAutoFit/>
          </a:bodyPr>
          <a:lstStyle/>
          <a:p>
            <a:pPr marL="457200" marR="0" lvl="0" indent="-298450" algn="l" rtl="0">
              <a:lnSpc>
                <a:spcPct val="115000"/>
              </a:lnSpc>
              <a:spcBef>
                <a:spcPts val="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DSCR = </a:t>
            </a:r>
            <a:r>
              <a:rPr lang="en" sz="1100">
                <a:solidFill>
                  <a:schemeClr val="dk1"/>
                </a:solidFill>
                <a:latin typeface="Montserrat"/>
                <a:ea typeface="Montserrat"/>
                <a:cs typeface="Montserrat"/>
                <a:sym typeface="Montserrat"/>
              </a:rPr>
              <a:t>					, </a:t>
            </a:r>
            <a:r>
              <a:rPr lang="en" sz="1100" i="0" u="none" strike="noStrike" cap="none">
                <a:solidFill>
                  <a:schemeClr val="dk1"/>
                </a:solidFill>
                <a:latin typeface="Montserrat"/>
                <a:ea typeface="Montserrat"/>
                <a:cs typeface="Montserrat"/>
                <a:sym typeface="Montserrat"/>
              </a:rPr>
              <a:t>computed for every year of the loan</a:t>
            </a:r>
            <a:br>
              <a:rPr lang="en" sz="1100" i="0" u="none" strike="noStrike" cap="none">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One </a:t>
            </a:r>
            <a:r>
              <a:rPr lang="en" sz="1100">
                <a:solidFill>
                  <a:schemeClr val="dk1"/>
                </a:solidFill>
                <a:latin typeface="Montserrat"/>
                <a:ea typeface="Montserrat"/>
                <a:cs typeface="Montserrat"/>
                <a:sym typeface="Montserrat"/>
              </a:rPr>
              <a:t>CAPEX heavy year (</a:t>
            </a:r>
            <a:r>
              <a:rPr lang="en" sz="1100" i="0" u="none" strike="noStrike" cap="none">
                <a:solidFill>
                  <a:schemeClr val="dk1"/>
                </a:solidFill>
                <a:latin typeface="Montserrat"/>
                <a:ea typeface="Montserrat"/>
                <a:cs typeface="Montserrat"/>
                <a:sym typeface="Montserrat"/>
              </a:rPr>
              <a:t> e.g., a battery replacement</a:t>
            </a:r>
            <a:r>
              <a:rPr lang="en" sz="1100">
                <a:solidFill>
                  <a:schemeClr val="dk1"/>
                </a:solidFill>
                <a:latin typeface="Montserrat"/>
                <a:ea typeface="Montserrat"/>
                <a:cs typeface="Montserrat"/>
                <a:sym typeface="Montserrat"/>
              </a:rPr>
              <a:t>) </a:t>
            </a:r>
            <a:r>
              <a:rPr lang="en" sz="1100" i="0" u="none" strike="noStrike" cap="none">
                <a:solidFill>
                  <a:schemeClr val="dk1"/>
                </a:solidFill>
                <a:latin typeface="Montserrat"/>
                <a:ea typeface="Montserrat"/>
                <a:cs typeface="Montserrat"/>
                <a:sym typeface="Montserrat"/>
              </a:rPr>
              <a:t>can sink the whole financing even if averages look fine</a:t>
            </a: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40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The negotiation window is the strike range where all three gates </a:t>
            </a:r>
            <a:r>
              <a:rPr lang="en" sz="1100">
                <a:solidFill>
                  <a:schemeClr val="dk1"/>
                </a:solidFill>
                <a:latin typeface="Montserrat"/>
                <a:ea typeface="Montserrat"/>
                <a:cs typeface="Montserrat"/>
                <a:sym typeface="Montserrat"/>
              </a:rPr>
              <a:t>“</a:t>
            </a:r>
            <a:r>
              <a:rPr lang="en" sz="1100" i="0" u="none" strike="noStrike" cap="none">
                <a:solidFill>
                  <a:schemeClr val="dk1"/>
                </a:solidFill>
                <a:latin typeface="Montserrat"/>
                <a:ea typeface="Montserrat"/>
                <a:cs typeface="Montserrat"/>
                <a:sym typeface="Montserrat"/>
              </a:rPr>
              <a:t>pass</a:t>
            </a:r>
            <a:r>
              <a:rPr lang="en" sz="1100">
                <a:solidFill>
                  <a:schemeClr val="dk1"/>
                </a:solidFill>
                <a:latin typeface="Montserrat"/>
                <a:ea typeface="Montserrat"/>
                <a:cs typeface="Montserrat"/>
                <a:sym typeface="Montserrat"/>
              </a:rPr>
              <a:t>”; but </a:t>
            </a:r>
            <a:r>
              <a:rPr lang="en" sz="1100" i="0" u="none" strike="noStrike" cap="none">
                <a:solidFill>
                  <a:schemeClr val="dk1"/>
                </a:solidFill>
                <a:latin typeface="Montserrat"/>
                <a:ea typeface="Montserrat"/>
                <a:cs typeface="Montserrat"/>
                <a:sym typeface="Montserrat"/>
              </a:rPr>
              <a:t> it can be empty (see case study)</a:t>
            </a:r>
            <a:endParaRPr sz="1200">
              <a:solidFill>
                <a:schemeClr val="dk1"/>
              </a:solidFill>
              <a:latin typeface="Montserrat"/>
              <a:ea typeface="Montserrat"/>
              <a:cs typeface="Montserrat"/>
              <a:sym typeface="Montserrat"/>
            </a:endParaRPr>
          </a:p>
        </p:txBody>
      </p:sp>
      <p:sp>
        <p:nvSpPr>
          <p:cNvPr id="1837" name="Google Shape;1837;p179"/>
          <p:cNvSpPr/>
          <p:nvPr/>
        </p:nvSpPr>
        <p:spPr>
          <a:xfrm>
            <a:off x="454275" y="4308376"/>
            <a:ext cx="7913400" cy="4422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300" b="1" i="0" u="none" strike="noStrike" cap="none">
                <a:solidFill>
                  <a:srgbClr val="FFFFFF"/>
                </a:solidFill>
                <a:latin typeface="Montserrat"/>
                <a:ea typeface="Montserrat"/>
                <a:cs typeface="Montserrat"/>
                <a:sym typeface="Montserrat"/>
              </a:rPr>
              <a:t>A strike below the developer's bankability floor does not mean a cheap deal</a:t>
            </a:r>
            <a:r>
              <a:rPr lang="en" sz="1300" b="1">
                <a:solidFill>
                  <a:srgbClr val="FFFFFF"/>
                </a:solidFill>
                <a:latin typeface="Montserrat"/>
                <a:ea typeface="Montserrat"/>
                <a:cs typeface="Montserrat"/>
                <a:sym typeface="Montserrat"/>
              </a:rPr>
              <a:t>; </a:t>
            </a:r>
            <a:endParaRPr sz="1300" b="1">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300" b="1" i="0" u="none" strike="noStrike" cap="none">
                <a:solidFill>
                  <a:schemeClr val="accent4"/>
                </a:solidFill>
                <a:latin typeface="Montserrat"/>
                <a:ea typeface="Montserrat"/>
                <a:cs typeface="Montserrat"/>
                <a:sym typeface="Montserrat"/>
              </a:rPr>
              <a:t>it means no project.</a:t>
            </a:r>
            <a:endParaRPr sz="1300">
              <a:solidFill>
                <a:schemeClr val="accent4"/>
              </a:solidFill>
              <a:latin typeface="Montserrat"/>
              <a:ea typeface="Montserrat"/>
              <a:cs typeface="Montserrat"/>
              <a:sym typeface="Montserrat"/>
            </a:endParaRPr>
          </a:p>
        </p:txBody>
      </p:sp>
      <p:sp>
        <p:nvSpPr>
          <p:cNvPr id="1838" name="Google Shape;1838;p179"/>
          <p:cNvSpPr txBox="1"/>
          <p:nvPr/>
        </p:nvSpPr>
        <p:spPr>
          <a:xfrm>
            <a:off x="400125" y="942563"/>
            <a:ext cx="5558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1">
                <a:solidFill>
                  <a:srgbClr val="E77A10"/>
                </a:solidFill>
                <a:latin typeface="Montserrat"/>
                <a:ea typeface="Montserrat"/>
                <a:cs typeface="Montserrat"/>
                <a:sym typeface="Montserrat"/>
              </a:rPr>
              <a:t>THREE GATES</a:t>
            </a:r>
            <a:endParaRPr b="1">
              <a:latin typeface="Montserrat"/>
              <a:ea typeface="Montserrat"/>
              <a:cs typeface="Montserrat"/>
              <a:sym typeface="Montserrat"/>
            </a:endParaRPr>
          </a:p>
        </p:txBody>
      </p:sp>
      <p:sp>
        <p:nvSpPr>
          <p:cNvPr id="1839" name="Google Shape;1839;p179"/>
          <p:cNvSpPr txBox="1"/>
          <p:nvPr/>
        </p:nvSpPr>
        <p:spPr>
          <a:xfrm>
            <a:off x="1517725" y="334497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Debt Service</a:t>
            </a:r>
            <a:endParaRPr sz="1000">
              <a:solidFill>
                <a:schemeClr val="dk1"/>
              </a:solidFill>
              <a:latin typeface="Montserrat"/>
              <a:ea typeface="Montserrat"/>
              <a:cs typeface="Montserrat"/>
              <a:sym typeface="Montserrat"/>
            </a:endParaRPr>
          </a:p>
        </p:txBody>
      </p:sp>
      <p:cxnSp>
        <p:nvCxnSpPr>
          <p:cNvPr id="1840" name="Google Shape;1840;p179"/>
          <p:cNvCxnSpPr/>
          <p:nvPr/>
        </p:nvCxnSpPr>
        <p:spPr>
          <a:xfrm>
            <a:off x="1517725" y="3344975"/>
            <a:ext cx="2146200" cy="0"/>
          </a:xfrm>
          <a:prstGeom prst="straightConnector1">
            <a:avLst/>
          </a:prstGeom>
          <a:noFill/>
          <a:ln w="9525" cap="flat" cmpd="sng">
            <a:solidFill>
              <a:schemeClr val="dk1"/>
            </a:solidFill>
            <a:prstDash val="solid"/>
            <a:round/>
            <a:headEnd type="none" w="med" len="med"/>
            <a:tailEnd type="none" w="med" len="med"/>
          </a:ln>
        </p:spPr>
      </p:cxnSp>
      <p:sp>
        <p:nvSpPr>
          <p:cNvPr id="1841" name="Google Shape;1841;p179"/>
          <p:cNvSpPr txBox="1"/>
          <p:nvPr/>
        </p:nvSpPr>
        <p:spPr>
          <a:xfrm>
            <a:off x="1517725" y="312512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Cash available for Debt service</a:t>
            </a:r>
            <a:endParaRPr sz="1000">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grpSp>
        <p:nvGrpSpPr>
          <p:cNvPr id="1846" name="Google Shape;1846;p180"/>
          <p:cNvGrpSpPr/>
          <p:nvPr/>
        </p:nvGrpSpPr>
        <p:grpSpPr>
          <a:xfrm>
            <a:off x="239992" y="63853"/>
            <a:ext cx="8728050" cy="745997"/>
            <a:chOff x="236700" y="63853"/>
            <a:chExt cx="8728050" cy="745997"/>
          </a:xfrm>
        </p:grpSpPr>
        <p:sp>
          <p:nvSpPr>
            <p:cNvPr id="1847" name="Google Shape;1847;p18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48" name="Google Shape;1848;p18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49" name="Google Shape;1849;p18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50" name="Google Shape;1850;p18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51" name="Google Shape;1851;p18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52" name="Google Shape;1852;p18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53" name="Google Shape;1853;p18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54" name="Google Shape;1854;p18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Lifecycle Items The Tariff Must Contain</a:t>
              </a:r>
              <a:endParaRPr sz="2000">
                <a:solidFill>
                  <a:schemeClr val="lt1"/>
                </a:solidFill>
                <a:latin typeface="Montserrat ExtraBold"/>
                <a:ea typeface="Montserrat ExtraBold"/>
                <a:cs typeface="Montserrat ExtraBold"/>
                <a:sym typeface="Montserrat ExtraBold"/>
              </a:endParaRPr>
            </a:p>
          </p:txBody>
        </p:sp>
        <p:cxnSp>
          <p:nvCxnSpPr>
            <p:cNvPr id="1855" name="Google Shape;1855;p18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56" name="Google Shape;1856;p18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57" name="Google Shape;1857;p18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58" name="Google Shape;1858;p180"/>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59" name="Google Shape;1859;p180"/>
          <p:cNvGraphicFramePr/>
          <p:nvPr/>
        </p:nvGraphicFramePr>
        <p:xfrm>
          <a:off x="453115" y="1110455"/>
          <a:ext cx="3000000" cy="3000000"/>
        </p:xfrm>
        <a:graphic>
          <a:graphicData uri="http://schemas.openxmlformats.org/drawingml/2006/table">
            <a:tbl>
              <a:tblPr firstRow="1" bandRow="1">
                <a:noFill/>
                <a:tableStyleId>{CE8BD2AF-5D0D-4EDC-AE96-A30A7DA1AF2F}</a:tableStyleId>
              </a:tblPr>
              <a:tblGrid>
                <a:gridCol w="1649650">
                  <a:extLst>
                    <a:ext uri="{9D8B030D-6E8A-4147-A177-3AD203B41FA5}">
                      <a16:colId xmlns:a16="http://schemas.microsoft.com/office/drawing/2014/main" val="20000"/>
                    </a:ext>
                  </a:extLst>
                </a:gridCol>
                <a:gridCol w="2749450">
                  <a:extLst>
                    <a:ext uri="{9D8B030D-6E8A-4147-A177-3AD203B41FA5}">
                      <a16:colId xmlns:a16="http://schemas.microsoft.com/office/drawing/2014/main" val="20001"/>
                    </a:ext>
                  </a:extLst>
                </a:gridCol>
                <a:gridCol w="3986675">
                  <a:extLst>
                    <a:ext uri="{9D8B030D-6E8A-4147-A177-3AD203B41FA5}">
                      <a16:colId xmlns:a16="http://schemas.microsoft.com/office/drawing/2014/main" val="20002"/>
                    </a:ext>
                  </a:extLst>
                </a:gridCol>
              </a:tblGrid>
              <a:tr h="514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Item</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Typical assumption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Buyer Implication</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PV degradation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~0.5%/yr output decline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Matched volume shrinks; lost kWh repurchased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Battery replacement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a:solidFill>
                            <a:schemeClr val="dk1"/>
                          </a:solidFill>
                          <a:latin typeface="Montserrat"/>
                          <a:ea typeface="Montserrat"/>
                          <a:cs typeface="Montserrat"/>
                          <a:sym typeface="Montserrat"/>
                        </a:rPr>
                        <a:t>Large capex every 8-10 years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Can </a:t>
                      </a:r>
                      <a:r>
                        <a:rPr lang="en" sz="1250">
                          <a:solidFill>
                            <a:schemeClr val="dk1"/>
                          </a:solidFill>
                          <a:latin typeface="Montserrat"/>
                          <a:ea typeface="Montserrat"/>
                          <a:cs typeface="Montserrat"/>
                          <a:sym typeface="Montserrat"/>
                        </a:rPr>
                        <a:t>highly impact </a:t>
                      </a:r>
                      <a:r>
                        <a:rPr lang="en" sz="1250" u="none" strike="noStrike" cap="none">
                          <a:solidFill>
                            <a:schemeClr val="dk1"/>
                          </a:solidFill>
                          <a:latin typeface="Montserrat"/>
                          <a:ea typeface="Montserrat"/>
                          <a:cs typeface="Montserrat"/>
                          <a:sym typeface="Montserrat"/>
                        </a:rPr>
                        <a:t>DSCR in that </a:t>
                      </a:r>
                      <a:r>
                        <a:rPr lang="en" sz="1250">
                          <a:solidFill>
                            <a:schemeClr val="dk1"/>
                          </a:solidFill>
                          <a:latin typeface="Montserrat"/>
                          <a:ea typeface="Montserrat"/>
                          <a:cs typeface="Montserrat"/>
                          <a:sym typeface="Montserrat"/>
                        </a:rPr>
                        <a:t>replacement</a:t>
                      </a:r>
                      <a:r>
                        <a:rPr lang="en" sz="1250" u="none" strike="noStrike" cap="none">
                          <a:solidFill>
                            <a:schemeClr val="dk1"/>
                          </a:solidFill>
                          <a:latin typeface="Montserrat"/>
                          <a:ea typeface="Montserrat"/>
                          <a:cs typeface="Montserrat"/>
                          <a:sym typeface="Montserrat"/>
                        </a:rPr>
                        <a:t> year</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CIT holiday</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yr exempt + 9 yr half rate (RE projects)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Improves developer economics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FX exposure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VND strike vs USD capex/debt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USD-linked terms shift FX </a:t>
                      </a:r>
                      <a:r>
                        <a:rPr lang="en" sz="1250">
                          <a:solidFill>
                            <a:schemeClr val="dk1"/>
                          </a:solidFill>
                          <a:latin typeface="Montserrat"/>
                          <a:ea typeface="Montserrat"/>
                          <a:cs typeface="Montserrat"/>
                          <a:sym typeface="Montserrat"/>
                        </a:rPr>
                        <a:t>the</a:t>
                      </a:r>
                      <a:r>
                        <a:rPr lang="en" sz="1250" u="none" strike="noStrike" cap="none">
                          <a:solidFill>
                            <a:schemeClr val="dk1"/>
                          </a:solidFill>
                          <a:latin typeface="Montserrat"/>
                          <a:ea typeface="Montserrat"/>
                          <a:cs typeface="Montserrat"/>
                          <a:sym typeface="Montserrat"/>
                        </a:rPr>
                        <a:t> </a:t>
                      </a:r>
                      <a:r>
                        <a:rPr lang="en" sz="1250">
                          <a:solidFill>
                            <a:schemeClr val="dk1"/>
                          </a:solidFill>
                          <a:latin typeface="Montserrat"/>
                          <a:ea typeface="Montserrat"/>
                          <a:cs typeface="Montserrat"/>
                          <a:sym typeface="Montserrat"/>
                        </a:rPr>
                        <a:t>risks</a:t>
                      </a:r>
                      <a:r>
                        <a:rPr lang="en" sz="1250" u="none" strike="noStrike" cap="none">
                          <a:solidFill>
                            <a:schemeClr val="dk1"/>
                          </a:solidFill>
                          <a:latin typeface="Montserrat"/>
                          <a:ea typeface="Montserrat"/>
                          <a:cs typeface="Montserrat"/>
                          <a:sym typeface="Montserrat"/>
                        </a:rPr>
                        <a:t>; price it consciously</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860" name="Google Shape;1860;p180"/>
          <p:cNvSpPr txBox="1"/>
          <p:nvPr/>
        </p:nvSpPr>
        <p:spPr>
          <a:xfrm>
            <a:off x="283125" y="3983065"/>
            <a:ext cx="8385900" cy="900300"/>
          </a:xfrm>
          <a:prstGeom prst="rect">
            <a:avLst/>
          </a:prstGeom>
          <a:noFill/>
          <a:ln>
            <a:noFill/>
          </a:ln>
        </p:spPr>
        <p:txBody>
          <a:bodyPr spcFirstLastPara="1" wrap="square" lIns="91425" tIns="45700" rIns="91425" bIns="45700" anchor="t" anchorCtr="0">
            <a:spAutoFit/>
          </a:bodyPr>
          <a:lstStyle/>
          <a:p>
            <a:pPr marL="457200" lvl="0" indent="-311150" algn="l" rtl="0">
              <a:spcBef>
                <a:spcPts val="0"/>
              </a:spcBef>
              <a:spcAft>
                <a:spcPts val="0"/>
              </a:spcAft>
              <a:buSzPts val="1300"/>
              <a:buFont typeface="Montserrat"/>
              <a:buChar char="●"/>
            </a:pPr>
            <a:r>
              <a:rPr lang="en" sz="1300">
                <a:latin typeface="Montserrat"/>
                <a:ea typeface="Montserrat"/>
                <a:cs typeface="Montserrat"/>
                <a:sym typeface="Montserrat"/>
              </a:rPr>
              <a:t>The above terms are key components of the tariff and are included even when they are absent from the term sheet</a:t>
            </a:r>
            <a:endParaRPr sz="1300">
              <a:latin typeface="Montserrat"/>
              <a:ea typeface="Montserrat"/>
              <a:cs typeface="Montserrat"/>
              <a:sym typeface="Montserrat"/>
            </a:endParaRPr>
          </a:p>
          <a:p>
            <a:pPr marL="457200" marR="0" lvl="0" indent="-311150" algn="l" rtl="0">
              <a:lnSpc>
                <a:spcPct val="100000"/>
              </a:lnSpc>
              <a:spcBef>
                <a:spcPts val="400"/>
              </a:spcBef>
              <a:spcAft>
                <a:spcPts val="400"/>
              </a:spcAft>
              <a:buSzPts val="1300"/>
              <a:buFont typeface="Montserrat"/>
              <a:buChar char="●"/>
            </a:pPr>
            <a:r>
              <a:rPr lang="en" sz="1300" i="0" u="none" strike="noStrike" cap="none">
                <a:latin typeface="Montserrat"/>
                <a:ea typeface="Montserrat"/>
                <a:cs typeface="Montserrat"/>
                <a:sym typeface="Montserrat"/>
              </a:rPr>
              <a:t>These rarely appear in headline term sheets, but each one moves the bankable strike floor and therefore your price.</a:t>
            </a:r>
            <a:endParaRPr>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4"/>
        <p:cNvGrpSpPr/>
        <p:nvPr/>
      </p:nvGrpSpPr>
      <p:grpSpPr>
        <a:xfrm>
          <a:off x="0" y="0"/>
          <a:ext cx="0" cy="0"/>
          <a:chOff x="0" y="0"/>
          <a:chExt cx="0" cy="0"/>
        </a:xfrm>
      </p:grpSpPr>
      <p:cxnSp>
        <p:nvCxnSpPr>
          <p:cNvPr id="1865" name="Google Shape;1865;p181"/>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866" name="Google Shape;1866;p181"/>
          <p:cNvSpPr txBox="1"/>
          <p:nvPr/>
        </p:nvSpPr>
        <p:spPr>
          <a:xfrm>
            <a:off x="4572000" y="1440675"/>
            <a:ext cx="4572000" cy="1123500"/>
          </a:xfrm>
          <a:prstGeom prst="rect">
            <a:avLst/>
          </a:prstGeom>
          <a:noFill/>
          <a:ln>
            <a:noFill/>
          </a:ln>
        </p:spPr>
        <p:txBody>
          <a:bodyPr spcFirstLastPara="1" wrap="square" lIns="68575" tIns="34275" rIns="68575" bIns="34275" anchor="t" anchorCtr="0">
            <a:spAutoFit/>
          </a:bodyPr>
          <a:lstStyle/>
          <a:p>
            <a:r>
              <a:t>Module 5:
Three Canonical Cases</a:t>
            </a:r>
          </a:p>
        </p:txBody>
      </p:sp>
      <p:pic>
        <p:nvPicPr>
          <p:cNvPr id="1867" name="Google Shape;1867;p181"/>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868" name="Google Shape;1868;p181"/>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869" name="Google Shape;1869;p18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870" name="Google Shape;1870;p18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extBox 3"/>
          <p:cNvSpPr txBox="1"/>
          <p:nvPr/>
        </p:nvSpPr>
        <p:spPr>
          <a:xfrm>
            <a:off x="365760" y="164592"/>
            <a:ext cx="8412480" cy="292608"/>
          </a:xfrm>
          <a:prstGeom prst="rect">
            <a:avLst/>
          </a:prstGeom>
          <a:noFill/>
        </p:spPr>
        <p:txBody>
          <a:bodyPr wrap="square" anchor="t" lIns="45720" rIns="45720" tIns="18288" bIns="18288">
            <a:spAutoFit/>
          </a:bodyPr>
          <a:lstStyle/>
          <a:p>
            <a:pPr algn="l"/>
            <a:r>
              <a:rPr sz="1100" b="1">
                <a:solidFill>
                  <a:srgbClr val="47D7FF"/>
                </a:solidFill>
              </a:rPr>
              <a:t>CALLOUT · DEVELOPER FINANCING (THREE GATES)</a:t>
            </a:r>
          </a:p>
        </p:txBody>
      </p:sp>
      <p:sp>
        <p:nvSpPr>
          <p:cNvPr id="5" name="TextBox 4"/>
          <p:cNvSpPr txBox="1"/>
          <p:nvPr/>
        </p:nvSpPr>
        <p:spPr>
          <a:xfrm>
            <a:off x="365760" y="438912"/>
            <a:ext cx="8412480" cy="502920"/>
          </a:xfrm>
          <a:prstGeom prst="rect">
            <a:avLst/>
          </a:prstGeom>
          <a:noFill/>
        </p:spPr>
        <p:txBody>
          <a:bodyPr wrap="square" anchor="t" lIns="45720" rIns="45720" tIns="18288" bIns="18288">
            <a:spAutoFit/>
          </a:bodyPr>
          <a:lstStyle/>
          <a:p>
            <a:pPr algn="l"/>
            <a:r>
              <a:rPr sz="2000" b="1">
                <a:solidFill>
                  <a:srgbClr val="F6FBFF"/>
                </a:solidFill>
              </a:rPr>
              <a:t>The Cases 5 &amp; 6 lessons in one slide: right-size the BESS, then the negotiation is the strike</a:t>
            </a:r>
          </a:p>
        </p:txBody>
      </p:sp>
      <p:sp>
        <p:nvSpPr>
          <p:cNvPr id="6" name="Rectangle 5"/>
          <p:cNvSpPr/>
          <p:nvPr/>
        </p:nvSpPr>
        <p:spPr>
          <a:xfrm>
            <a:off x="365760" y="1005840"/>
            <a:ext cx="3657600" cy="1645920"/>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97280"/>
            <a:ext cx="3657600" cy="274320"/>
          </a:xfrm>
          <a:prstGeom prst="rect">
            <a:avLst/>
          </a:prstGeom>
          <a:noFill/>
        </p:spPr>
        <p:txBody>
          <a:bodyPr wrap="square" anchor="t" lIns="45720" rIns="45720" tIns="18288" bIns="18288">
            <a:spAutoFit/>
          </a:bodyPr>
          <a:lstStyle/>
          <a:p>
            <a:pPr algn="ctr"/>
            <a:r>
              <a:rPr sz="1000" b="1">
                <a:solidFill>
                  <a:srgbClr val="47D7FF"/>
                </a:solidFill>
              </a:rPr>
              <a:t>QUANTIFIED TAKEAWAY</a:t>
            </a:r>
          </a:p>
        </p:txBody>
      </p:sp>
      <p:sp>
        <p:nvSpPr>
          <p:cNvPr id="8" name="TextBox 7"/>
          <p:cNvSpPr txBox="1"/>
          <p:nvPr/>
        </p:nvSpPr>
        <p:spPr>
          <a:xfrm>
            <a:off x="365760" y="1417320"/>
            <a:ext cx="3657600" cy="868680"/>
          </a:xfrm>
          <a:prstGeom prst="rect">
            <a:avLst/>
          </a:prstGeom>
          <a:noFill/>
        </p:spPr>
        <p:txBody>
          <a:bodyPr wrap="square" anchor="ctr" lIns="45720" rIns="45720" tIns="18288" bIns="18288">
            <a:spAutoFit/>
          </a:bodyPr>
          <a:lstStyle/>
          <a:p>
            <a:pPr algn="ctr"/>
            <a:r>
              <a:rPr sz="4800" b="1">
                <a:solidFill>
                  <a:srgbClr val="FF5A5F"/>
                </a:solidFill>
              </a:rPr>
              <a:t>0 of 56</a:t>
            </a:r>
          </a:p>
        </p:txBody>
      </p:sp>
      <p:sp>
        <p:nvSpPr>
          <p:cNvPr id="9" name="TextBox 8"/>
          <p:cNvSpPr txBox="1"/>
          <p:nvPr/>
        </p:nvSpPr>
        <p:spPr>
          <a:xfrm>
            <a:off x="365760" y="2286000"/>
            <a:ext cx="3657600" cy="365760"/>
          </a:xfrm>
          <a:prstGeom prst="rect">
            <a:avLst/>
          </a:prstGeom>
          <a:noFill/>
        </p:spPr>
        <p:txBody>
          <a:bodyPr wrap="square" anchor="t" lIns="45720" rIns="45720" tIns="18288" bIns="18288">
            <a:spAutoFit/>
          </a:bodyPr>
          <a:lstStyle/>
          <a:p>
            <a:pPr algn="ctr"/>
            <a:r>
              <a:rPr sz="1000" b="0">
                <a:solidFill>
                  <a:srgbClr val="F6FBFF"/>
                </a:solidFill>
              </a:rPr>
              <a:t>scenarios passed all three gates at current market prices</a:t>
            </a:r>
          </a:p>
        </p:txBody>
      </p:sp>
      <p:sp>
        <p:nvSpPr>
          <p:cNvPr id="10" name="TextBox 9"/>
          <p:cNvSpPr txBox="1"/>
          <p:nvPr/>
        </p:nvSpPr>
        <p:spPr>
          <a:xfrm>
            <a:off x="365760" y="2788920"/>
            <a:ext cx="3657600" cy="274320"/>
          </a:xfrm>
          <a:prstGeom prst="rect">
            <a:avLst/>
          </a:prstGeom>
          <a:noFill/>
        </p:spPr>
        <p:txBody>
          <a:bodyPr wrap="square" anchor="t" lIns="45720" rIns="45720" tIns="18288" bIns="18288">
            <a:spAutoFit/>
          </a:bodyPr>
          <a:lstStyle/>
          <a:p>
            <a:pPr algn="l"/>
            <a:r>
              <a:rPr sz="1000" b="1">
                <a:solidFill>
                  <a:srgbClr val="47D7FF"/>
                </a:solidFill>
              </a:rPr>
              <a:t>56-scenario sensitivity</a:t>
            </a:r>
          </a:p>
        </p:txBody>
      </p:sp>
      <p:sp>
        <p:nvSpPr>
          <p:cNvPr id="11" name="TextBox 10"/>
          <p:cNvSpPr txBox="1"/>
          <p:nvPr/>
        </p:nvSpPr>
        <p:spPr>
          <a:xfrm>
            <a:off x="365760" y="3035808"/>
            <a:ext cx="3657600" cy="1188720"/>
          </a:xfrm>
          <a:prstGeom prst="rect">
            <a:avLst/>
          </a:prstGeom>
          <a:noFill/>
        </p:spPr>
        <p:txBody>
          <a:bodyPr wrap="square" lIns="45720" rIns="45720" tIns="18288" bIns="18288">
            <a:spAutoFit/>
          </a:bodyPr>
          <a:lstStyle/>
          <a:p>
            <a:pPr algn="l"/>
            <a:r>
              <a:rPr sz="900" b="0">
                <a:solidFill>
                  <a:srgbClr val="F6FBFF"/>
                </a:solidFill>
              </a:rPr>
              <a:t>• 12 strike prices: 1,200–2,200 VND/kWh</a:t>
            </a:r>
          </a:p>
          <a:p>
            <a:pPr algn="l"/>
            <a:r>
              <a:rPr sz="900" b="0">
                <a:solidFill>
                  <a:srgbClr val="F6FBFF"/>
                </a:solidFill>
              </a:rPr>
              <a:t>• 4 contract volumes: 70–100% of generation</a:t>
            </a:r>
          </a:p>
          <a:p>
            <a:pPr algn="l"/>
            <a:r>
              <a:rPr sz="900" b="0">
                <a:solidFill>
                  <a:srgbClr val="F6FBFF"/>
                </a:solidFill>
              </a:rPr>
              <a:t>• Three gates: DSCR, project IRR, lender covenant</a:t>
            </a:r>
          </a:p>
          <a:p>
            <a:pPr algn="l"/>
            <a:r>
              <a:rPr sz="900" b="0">
                <a:solidFill>
                  <a:srgbClr val="8B97A8"/>
                </a:solidFill>
              </a:rPr>
              <a:t>• Result: buyer turns positive just as lender drops out</a:t>
            </a:r>
          </a:p>
        </p:txBody>
      </p:sp>
      <p:sp>
        <p:nvSpPr>
          <p:cNvPr id="12" name="TextBox 11"/>
          <p:cNvSpPr txBox="1"/>
          <p:nvPr/>
        </p:nvSpPr>
        <p:spPr>
          <a:xfrm>
            <a:off x="4572000" y="1005840"/>
            <a:ext cx="4206240" cy="274320"/>
          </a:xfrm>
          <a:prstGeom prst="rect">
            <a:avLst/>
          </a:prstGeom>
          <a:noFill/>
        </p:spPr>
        <p:txBody>
          <a:bodyPr wrap="square" anchor="t" lIns="45720" rIns="45720" tIns="18288" bIns="18288">
            <a:spAutoFit/>
          </a:bodyPr>
          <a:lstStyle/>
          <a:p>
            <a:pPr algn="l"/>
            <a:r>
              <a:rPr sz="1000" b="1">
                <a:solidFill>
                  <a:srgbClr val="FFD84F"/>
                </a:solidFill>
              </a:rPr>
              <a:t>WHAT THE THREE GATES SAY</a:t>
            </a:r>
          </a:p>
        </p:txBody>
      </p:sp>
      <p:sp>
        <p:nvSpPr>
          <p:cNvPr id="13" name="TextBox 12"/>
          <p:cNvSpPr txBox="1"/>
          <p:nvPr/>
        </p:nvSpPr>
        <p:spPr>
          <a:xfrm>
            <a:off x="4572000" y="1280160"/>
            <a:ext cx="4206240" cy="1417320"/>
          </a:xfrm>
          <a:prstGeom prst="rect">
            <a:avLst/>
          </a:prstGeom>
          <a:noFill/>
        </p:spPr>
        <p:txBody>
          <a:bodyPr wrap="square" lIns="45720" rIns="45720" tIns="18288" bIns="18288">
            <a:spAutoFit/>
          </a:bodyPr>
          <a:lstStyle/>
          <a:p>
            <a:pPr algn="l"/>
            <a:r>
              <a:rPr sz="1100" b="1">
                <a:solidFill>
                  <a:srgbClr val="F6FBFF"/>
                </a:solidFill>
              </a:rPr>
              <a:t>1.  DSCR — debt service coverage</a:t>
            </a:r>
          </a:p>
          <a:p>
            <a:pPr algn="l"/>
            <a:r>
              <a:rPr sz="900" b="0">
                <a:solidFill>
                  <a:srgbClr val="8B97A8"/>
                </a:solidFill>
              </a:rPr>
              <a:t>      The buyer turning positive doesn't save the project if DSCR &lt; 1.20x.</a:t>
            </a:r>
          </a:p>
          <a:p>
            <a:pPr algn="l"/>
            <a:r>
              <a:rPr sz="400" b="0">
                <a:solidFill>
                  <a:srgbClr val="F6FBFF"/>
                </a:solidFill>
              </a:rPr>
              <a:t/>
            </a:r>
          </a:p>
          <a:p>
            <a:pPr algn="l"/>
            <a:r>
              <a:rPr sz="1100" b="1">
                <a:solidFill>
                  <a:srgbClr val="F6FBFF"/>
                </a:solidFill>
              </a:rPr>
              <a:t>2.  Project IRR — equity return</a:t>
            </a:r>
          </a:p>
          <a:p>
            <a:pPr algn="l"/>
            <a:r>
              <a:rPr sz="900" b="0">
                <a:solidFill>
                  <a:srgbClr val="8B97A8"/>
                </a:solidFill>
              </a:rPr>
              <a:t>      A strike below the developer's bankability floor doesn't make it cheap — it kills the project.</a:t>
            </a:r>
          </a:p>
          <a:p>
            <a:pPr algn="l"/>
            <a:r>
              <a:rPr sz="400" b="0">
                <a:solidFill>
                  <a:srgbClr val="F6FBFF"/>
                </a:solidFill>
              </a:rPr>
              <a:t/>
            </a:r>
          </a:p>
          <a:p>
            <a:pPr algn="l"/>
            <a:r>
              <a:rPr sz="1100" b="1">
                <a:solidFill>
                  <a:srgbClr val="F6FBFF"/>
                </a:solidFill>
              </a:rPr>
              <a:t>3.  Lender covenant — financeability</a:t>
            </a:r>
          </a:p>
          <a:p>
            <a:pPr algn="l"/>
            <a:r>
              <a:rPr sz="900" b="0">
                <a:solidFill>
                  <a:srgbClr val="8B97A8"/>
                </a:solidFill>
              </a:rPr>
              <a:t>      Low single-digit lifetime savings at best. You're buying 10-25 yr price certainty.</a:t>
            </a:r>
          </a:p>
        </p:txBody>
      </p:sp>
      <p:sp>
        <p:nvSpPr>
          <p:cNvPr id="14" name="Rectangle 13"/>
          <p:cNvSpPr/>
          <p:nvPr/>
        </p:nvSpPr>
        <p:spPr>
          <a:xfrm>
            <a:off x="4572000" y="2788920"/>
            <a:ext cx="4206240" cy="1783080"/>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834640"/>
            <a:ext cx="4206240" cy="274320"/>
          </a:xfrm>
          <a:prstGeom prst="rect">
            <a:avLst/>
          </a:prstGeom>
          <a:noFill/>
        </p:spPr>
        <p:txBody>
          <a:bodyPr wrap="square" anchor="t" lIns="45720" rIns="45720" tIns="18288" bIns="18288">
            <a:spAutoFit/>
          </a:bodyPr>
          <a:lstStyle/>
          <a:p>
            <a:pPr algn="l"/>
            <a:r>
              <a:rPr sz="1000" b="1">
                <a:solidFill>
                  <a:srgbClr val="FFD84F"/>
                </a:solidFill>
              </a:rPr>
              <a:t>BESS LESSON (Cases 5 &amp; 6)</a:t>
            </a:r>
          </a:p>
        </p:txBody>
      </p:sp>
      <p:sp>
        <p:nvSpPr>
          <p:cNvPr id="16" name="TextBox 15"/>
          <p:cNvSpPr txBox="1"/>
          <p:nvPr/>
        </p:nvSpPr>
        <p:spPr>
          <a:xfrm>
            <a:off x="4572000" y="3108960"/>
            <a:ext cx="4206240" cy="1417320"/>
          </a:xfrm>
          <a:prstGeom prst="rect">
            <a:avLst/>
          </a:prstGeom>
          <a:noFill/>
        </p:spPr>
        <p:txBody>
          <a:bodyPr wrap="square" lIns="45720" rIns="45720" tIns="18288" bIns="18288">
            <a:spAutoFit/>
          </a:bodyPr>
          <a:lstStyle/>
          <a:p>
            <a:pPr algn="l"/>
            <a:r>
              <a:rPr sz="900" b="0">
                <a:solidFill>
                  <a:srgbClr val="F6FBFF"/>
                </a:solidFill>
              </a:rPr>
              <a:t>Oversized BESS: buyer pays ~9% MORE than BAU on every horizon.</a:t>
            </a:r>
          </a:p>
          <a:p>
            <a:pPr algn="l"/>
            <a:r>
              <a:rPr sz="900" b="0">
                <a:solidFill>
                  <a:srgbClr val="8B97A8"/>
                </a:solidFill>
              </a:rPr>
              <a:t>     ~$1.2M battery replacement cost is not carried by the tariff.</a:t>
            </a:r>
          </a:p>
          <a:p>
            <a:pPr algn="l"/>
            <a:r>
              <a:rPr sz="400" b="0">
                <a:solidFill>
                  <a:srgbClr val="F6FBFF"/>
                </a:solidFill>
              </a:rPr>
              <a:t/>
            </a:r>
          </a:p>
          <a:p>
            <a:pPr algn="l"/>
            <a:r>
              <a:rPr sz="900" b="1">
                <a:solidFill>
                  <a:srgbClr val="9AFFDE"/>
                </a:solidFill>
              </a:rPr>
              <a:t>Right-sized BESS: DSCR 1.50x, bankable.</a:t>
            </a:r>
          </a:p>
          <a:p>
            <a:pPr algn="l"/>
            <a:r>
              <a:rPr sz="900" b="0">
                <a:solidFill>
                  <a:srgbClr val="9AFFDE"/>
                </a:solidFill>
              </a:rPr>
              <a:t>     Then, the entire negotiation is the strike price.</a:t>
            </a:r>
          </a:p>
          <a:p>
            <a:pPr algn="l"/>
            <a:r>
              <a:rPr sz="400" b="0">
                <a:solidFill>
                  <a:srgbClr val="F6FBFF"/>
                </a:solidFill>
              </a:rPr>
              <a:t/>
            </a:r>
          </a:p>
          <a:p>
            <a:pPr algn="l"/>
            <a:r>
              <a:rPr sz="900" b="1">
                <a:solidFill>
                  <a:srgbClr val="F6FBFF"/>
                </a:solidFill>
              </a:rPr>
              <a:t>Levers that can balance the deal:</a:t>
            </a:r>
          </a:p>
          <a:p>
            <a:pPr algn="l"/>
            <a:r>
              <a:rPr sz="900" b="0">
                <a:solidFill>
                  <a:srgbClr val="8B97A8"/>
                </a:solidFill>
              </a:rPr>
              <a:t>     lower leverage, debt sculpting, USD-denominated strike.</a:t>
            </a:r>
          </a:p>
        </p:txBody>
      </p:sp>
      <p:sp>
        <p:nvSpPr>
          <p:cNvPr id="17" name="TextBox 16"/>
          <p:cNvSpPr txBox="1"/>
          <p:nvPr/>
        </p:nvSpPr>
        <p:spPr>
          <a:xfrm>
            <a:off x="365760" y="4864608"/>
            <a:ext cx="8412480" cy="201168"/>
          </a:xfrm>
          <a:prstGeom prst="rect">
            <a:avLst/>
          </a:prstGeom>
          <a:noFill/>
        </p:spPr>
        <p:txBody>
          <a:bodyPr wrap="square" anchor="t" lIns="45720" rIns="45720" tIns="18288" bIns="18288">
            <a:spAutoFit/>
          </a:bodyPr>
          <a:lstStyle/>
          <a:p>
            <a:pPr algn="l"/>
            <a:r>
              <a:rPr sz="800" b="0">
                <a:solidFill>
                  <a:srgbClr val="8B97A8"/>
                </a:solidFill>
              </a:rPr>
              <a:t>FMP ~1,427 VND/kWh is illustrative (NSMO/ERAV not publicly published). Retail 2,204 / fees 523.3 / loss 1.0342 are 2025 verified; settlement modeled hourly (Circular 16/2025 = 30-min).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4"/>
        <p:cNvGrpSpPr/>
        <p:nvPr/>
      </p:nvGrpSpPr>
      <p:grpSpPr>
        <a:xfrm>
          <a:off x="0" y="0"/>
          <a:ext cx="0" cy="0"/>
          <a:chOff x="0" y="0"/>
          <a:chExt cx="0" cy="0"/>
        </a:xfrm>
      </p:grpSpPr>
      <p:cxnSp>
        <p:nvCxnSpPr>
          <p:cNvPr id="1975" name="Google Shape;1975;p18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976" name="Google Shape;1976;p18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6:</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Key Decision Points and Wrap-up</a:t>
            </a:r>
            <a:endParaRPr sz="2800" b="1">
              <a:solidFill>
                <a:srgbClr val="0F172A"/>
              </a:solidFill>
              <a:highlight>
                <a:srgbClr val="FFFFFF"/>
              </a:highlight>
              <a:latin typeface="Montserrat"/>
              <a:ea typeface="Montserrat"/>
              <a:cs typeface="Montserrat"/>
              <a:sym typeface="Montserrat"/>
            </a:endParaRPr>
          </a:p>
        </p:txBody>
      </p:sp>
      <p:pic>
        <p:nvPicPr>
          <p:cNvPr id="1977" name="Google Shape;1977;p18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978" name="Google Shape;1978;p18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979" name="Google Shape;1979;p18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980" name="Google Shape;1980;p18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grpSp>
        <p:nvGrpSpPr>
          <p:cNvPr id="1985" name="Google Shape;1985;p188"/>
          <p:cNvGrpSpPr/>
          <p:nvPr/>
        </p:nvGrpSpPr>
        <p:grpSpPr>
          <a:xfrm>
            <a:off x="239992" y="63853"/>
            <a:ext cx="8728050" cy="745997"/>
            <a:chOff x="236700" y="63853"/>
            <a:chExt cx="8728050" cy="745997"/>
          </a:xfrm>
        </p:grpSpPr>
        <p:sp>
          <p:nvSpPr>
            <p:cNvPr id="1986" name="Google Shape;1986;p18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87" name="Google Shape;1987;p18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88" name="Google Shape;1988;p18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89" name="Google Shape;1989;p18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90" name="Google Shape;1990;p18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91" name="Google Shape;1991;p18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92" name="Google Shape;1992;p18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93" name="Google Shape;1993;p18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6 - Decision Points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Five Questions That Change The Term Sheet</a:t>
              </a:r>
              <a:endParaRPr sz="2000">
                <a:solidFill>
                  <a:schemeClr val="lt1"/>
                </a:solidFill>
                <a:latin typeface="Montserrat ExtraBold"/>
                <a:ea typeface="Montserrat ExtraBold"/>
                <a:cs typeface="Montserrat ExtraBold"/>
                <a:sym typeface="Montserrat ExtraBold"/>
              </a:endParaRPr>
            </a:p>
          </p:txBody>
        </p:sp>
        <p:cxnSp>
          <p:nvCxnSpPr>
            <p:cNvPr id="1994" name="Google Shape;1994;p18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95" name="Google Shape;1995;p18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96" name="Google Shape;1996;p18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97" name="Google Shape;1997;p18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998" name="Google Shape;1998;p188"/>
          <p:cNvGraphicFramePr/>
          <p:nvPr/>
        </p:nvGraphicFramePr>
        <p:xfrm>
          <a:off x="454270" y="1280800"/>
          <a:ext cx="3000000" cy="3000000"/>
        </p:xfrm>
        <a:graphic>
          <a:graphicData uri="http://schemas.openxmlformats.org/drawingml/2006/table">
            <a:tbl>
              <a:tblPr firstRow="1" bandRow="1">
                <a:noFill/>
                <a:tableStyleId>{CE8BD2AF-5D0D-4EDC-AE96-A30A7DA1AF2F}</a:tableStyleId>
              </a:tblPr>
              <a:tblGrid>
                <a:gridCol w="404075">
                  <a:extLst>
                    <a:ext uri="{9D8B030D-6E8A-4147-A177-3AD203B41FA5}">
                      <a16:colId xmlns:a16="http://schemas.microsoft.com/office/drawing/2014/main" val="20000"/>
                    </a:ext>
                  </a:extLst>
                </a:gridCol>
                <a:gridCol w="2693850">
                  <a:extLst>
                    <a:ext uri="{9D8B030D-6E8A-4147-A177-3AD203B41FA5}">
                      <a16:colId xmlns:a16="http://schemas.microsoft.com/office/drawing/2014/main" val="20001"/>
                    </a:ext>
                  </a:extLst>
                </a:gridCol>
                <a:gridCol w="5118300">
                  <a:extLst>
                    <a:ext uri="{9D8B030D-6E8A-4147-A177-3AD203B41FA5}">
                      <a16:colId xmlns:a16="http://schemas.microsoft.com/office/drawing/2014/main" val="20002"/>
                    </a:ext>
                  </a:extLst>
                </a:gridCol>
              </a:tblGrid>
              <a:tr h="4502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Decision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What to check</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Strike level &amp; escalation/indexation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Fixed VND vs </a:t>
                      </a:r>
                      <a:r>
                        <a:rPr lang="en" sz="1250">
                          <a:solidFill>
                            <a:schemeClr val="dk1"/>
                          </a:solidFill>
                          <a:latin typeface="Montserrat"/>
                          <a:ea typeface="Montserrat"/>
                          <a:cs typeface="Montserrat"/>
                          <a:sym typeface="Montserrat"/>
                        </a:rPr>
                        <a:t>escalating/deescalating</a:t>
                      </a:r>
                      <a:r>
                        <a:rPr lang="en" sz="1250" u="none" strike="noStrike" cap="none">
                          <a:solidFill>
                            <a:schemeClr val="dk1"/>
                          </a:solidFill>
                          <a:latin typeface="Montserrat"/>
                          <a:ea typeface="Montserrat"/>
                          <a:cs typeface="Montserrat"/>
                          <a:sym typeface="Montserrat"/>
                        </a:rPr>
                        <a:t> vs USD</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linked; model </a:t>
                      </a:r>
                      <a:r>
                        <a:rPr lang="en" sz="1250">
                          <a:solidFill>
                            <a:schemeClr val="dk1"/>
                          </a:solidFill>
                          <a:latin typeface="Montserrat"/>
                          <a:ea typeface="Montserrat"/>
                          <a:cs typeface="Montserrat"/>
                          <a:sym typeface="Montserrat"/>
                        </a:rPr>
                        <a:t>these </a:t>
                      </a:r>
                      <a:r>
                        <a:rPr lang="en" sz="1250" u="none" strike="noStrike" cap="none">
                          <a:solidFill>
                            <a:schemeClr val="dk1"/>
                          </a:solidFill>
                          <a:latin typeface="Montserrat"/>
                          <a:ea typeface="Montserrat"/>
                          <a:cs typeface="Montserrat"/>
                          <a:sym typeface="Montserrat"/>
                        </a:rPr>
                        <a:t>vs BAU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Contract volume vs load shape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8760 hourly matching vs meter data; CfD caps at consumed volume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Tenor &amp; termination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Developer wants 15-25 yr; match to your lease / order book; exit terms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Voltage eligibility &amp; K_pp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&gt;=22kV only today; which K_pp applies decides your loss adjustment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Risk allocation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FMP volatility, curtailment, negative</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CfD months, change-in-law</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bl>
          </a:graphicData>
        </a:graphic>
      </p:graphicFrame>
      <p:sp>
        <p:nvSpPr>
          <p:cNvPr id="1999" name="Google Shape;1999;p188"/>
          <p:cNvSpPr txBox="1"/>
          <p:nvPr/>
        </p:nvSpPr>
        <p:spPr>
          <a:xfrm>
            <a:off x="387798" y="4236473"/>
            <a:ext cx="6478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rgbClr val="127A7A"/>
                </a:solidFill>
                <a:latin typeface="Montserrat"/>
                <a:ea typeface="Montserrat"/>
                <a:cs typeface="Montserrat"/>
                <a:sym typeface="Montserrat"/>
              </a:rPr>
              <a:t>Items 1-4 are quantifiable before negotiation</a:t>
            </a:r>
            <a:r>
              <a:rPr lang="en" sz="1200">
                <a:solidFill>
                  <a:srgbClr val="127A7A"/>
                </a:solidFill>
                <a:latin typeface="Montserrat"/>
                <a:ea typeface="Montserrat"/>
                <a:cs typeface="Montserrat"/>
                <a:sym typeface="Montserrat"/>
              </a:rPr>
              <a:t>;</a:t>
            </a:r>
            <a:r>
              <a:rPr lang="en" sz="1200" i="0" u="none" strike="noStrike" cap="none">
                <a:solidFill>
                  <a:srgbClr val="127A7A"/>
                </a:solidFill>
                <a:latin typeface="Montserrat"/>
                <a:ea typeface="Montserrat"/>
                <a:cs typeface="Montserrat"/>
                <a:sym typeface="Montserrat"/>
              </a:rPr>
              <a:t> run them against load data first.</a:t>
            </a:r>
            <a:endParaRPr sz="1200">
              <a:solidFill>
                <a:srgbClr val="127A7A"/>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03"/>
        <p:cNvGrpSpPr/>
        <p:nvPr/>
      </p:nvGrpSpPr>
      <p:grpSpPr>
        <a:xfrm>
          <a:off x="0" y="0"/>
          <a:ext cx="0" cy="0"/>
          <a:chOff x="0" y="0"/>
          <a:chExt cx="0" cy="0"/>
        </a:xfrm>
      </p:grpSpPr>
      <p:grpSp>
        <p:nvGrpSpPr>
          <p:cNvPr id="2004" name="Google Shape;2004;p189"/>
          <p:cNvGrpSpPr/>
          <p:nvPr/>
        </p:nvGrpSpPr>
        <p:grpSpPr>
          <a:xfrm>
            <a:off x="239992" y="63853"/>
            <a:ext cx="8728050" cy="745997"/>
            <a:chOff x="236700" y="63853"/>
            <a:chExt cx="8728050" cy="745997"/>
          </a:xfrm>
        </p:grpSpPr>
        <p:sp>
          <p:nvSpPr>
            <p:cNvPr id="2005" name="Google Shape;2005;p18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006" name="Google Shape;2006;p18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007" name="Google Shape;2007;p18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008" name="Google Shape;2008;p18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009" name="Google Shape;2009;p18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010" name="Google Shape;2010;p18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011" name="Google Shape;2011;p18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012" name="Google Shape;2012;p18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6 - Wrap-Up</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Three Core Reminders</a:t>
              </a:r>
              <a:endParaRPr sz="2000">
                <a:solidFill>
                  <a:schemeClr val="lt1"/>
                </a:solidFill>
                <a:latin typeface="Montserrat ExtraBold"/>
                <a:ea typeface="Montserrat ExtraBold"/>
                <a:cs typeface="Montserrat ExtraBold"/>
                <a:sym typeface="Montserrat ExtraBold"/>
              </a:endParaRPr>
            </a:p>
          </p:txBody>
        </p:sp>
        <p:cxnSp>
          <p:nvCxnSpPr>
            <p:cNvPr id="2013" name="Google Shape;2013;p18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014" name="Google Shape;2014;p18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015" name="Google Shape;2015;p18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016" name="Google Shape;2016;p18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017" name="Google Shape;2017;p189"/>
          <p:cNvSpPr txBox="1"/>
          <p:nvPr/>
        </p:nvSpPr>
        <p:spPr>
          <a:xfrm>
            <a:off x="387800" y="1280800"/>
            <a:ext cx="8112000" cy="1693200"/>
          </a:xfrm>
          <a:prstGeom prst="rect">
            <a:avLst/>
          </a:prstGeom>
          <a:noFill/>
          <a:ln>
            <a:noFill/>
          </a:ln>
        </p:spPr>
        <p:txBody>
          <a:bodyPr spcFirstLastPara="1" wrap="square" lIns="91425" tIns="91425" rIns="91425" bIns="91425" anchor="t" anchorCtr="0">
            <a:spAutoFit/>
          </a:bodyPr>
          <a:lstStyle/>
          <a:p>
            <a:r>
              <a:t>Know the five-line bill: 523 VND/kWh of fees and the loss factor are fixed; the strike price remains the big number open to negotiation.
Evaluated the deal on 10-year and lifetime cost vs BAU - not on Year 1
Every deal must pass buyer, seller AND lender gates: If the window is empty, the fix is structural, not just price
• Use the 3 canonical cases (matched / shortfall / excess) at https://dppa-case.web.app to swap the strike and FMP live.</a:t>
            </a:r>
          </a:p>
        </p:txBody>
      </p:sp>
      <p:sp>
        <p:nvSpPr>
          <p:cNvPr id="2018" name="Google Shape;2018;p189"/>
          <p:cNvSpPr/>
          <p:nvPr/>
        </p:nvSpPr>
        <p:spPr>
          <a:xfrm>
            <a:off x="452850" y="3147600"/>
            <a:ext cx="8208000" cy="6282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Next: </a:t>
            </a:r>
            <a:r>
              <a:rPr lang="en" b="1">
                <a:solidFill>
                  <a:srgbClr val="FFFFFF"/>
                </a:solidFill>
                <a:latin typeface="Montserrat"/>
                <a:ea typeface="Montserrat"/>
                <a:cs typeface="Montserrat"/>
                <a:sym typeface="Montserrat"/>
              </a:rPr>
              <a:t>P</a:t>
            </a:r>
            <a:r>
              <a:rPr lang="en" sz="1400" b="1" i="0" u="none" strike="noStrike" cap="none">
                <a:solidFill>
                  <a:srgbClr val="FFFFFF"/>
                </a:solidFill>
                <a:latin typeface="Montserrat"/>
                <a:ea typeface="Montserrat"/>
                <a:cs typeface="Montserrat"/>
                <a:sym typeface="Montserrat"/>
              </a:rPr>
              <a:t>anel discussion on risk allocation and the reality of bank financing for </a:t>
            </a:r>
            <a:r>
              <a:rPr lang="en" b="1">
                <a:solidFill>
                  <a:srgbClr val="FFFFFF"/>
                </a:solidFill>
                <a:latin typeface="Montserrat"/>
                <a:ea typeface="Montserrat"/>
                <a:cs typeface="Montserrat"/>
                <a:sym typeface="Montserrat"/>
              </a:rPr>
              <a:t>Grid DPPA</a:t>
            </a:r>
            <a:endParaRPr>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2"/>
        <p:cNvGrpSpPr/>
        <p:nvPr/>
      </p:nvGrpSpPr>
      <p:grpSpPr>
        <a:xfrm>
          <a:off x="0" y="0"/>
          <a:ext cx="0" cy="0"/>
          <a:chOff x="0" y="0"/>
          <a:chExt cx="0" cy="0"/>
        </a:xfrm>
      </p:grpSpPr>
      <p:pic>
        <p:nvPicPr>
          <p:cNvPr id="2023" name="Google Shape;2023;p190"/>
          <p:cNvPicPr preferRelativeResize="0"/>
          <p:nvPr/>
        </p:nvPicPr>
        <p:blipFill rotWithShape="1">
          <a:blip r:embed="rId4">
            <a:alphaModFix/>
          </a:blip>
          <a:srcRect t="6775" b="8644"/>
          <a:stretch/>
        </p:blipFill>
        <p:spPr>
          <a:xfrm>
            <a:off x="0" y="0"/>
            <a:ext cx="9144003" cy="5143501"/>
          </a:xfrm>
          <a:prstGeom prst="rect">
            <a:avLst/>
          </a:prstGeom>
          <a:noFill/>
          <a:ln>
            <a:noFill/>
          </a:ln>
        </p:spPr>
      </p:pic>
      <p:pic>
        <p:nvPicPr>
          <p:cNvPr id="2024" name="Google Shape;2024;p190"/>
          <p:cNvPicPr preferRelativeResize="0"/>
          <p:nvPr/>
        </p:nvPicPr>
        <p:blipFill>
          <a:blip r:embed="rId5">
            <a:alphaModFix amt="60000"/>
          </a:blip>
          <a:stretch>
            <a:fillRect/>
          </a:stretch>
        </p:blipFill>
        <p:spPr>
          <a:xfrm>
            <a:off x="0" y="0"/>
            <a:ext cx="9144000" cy="5143500"/>
          </a:xfrm>
          <a:prstGeom prst="rect">
            <a:avLst/>
          </a:prstGeom>
          <a:noFill/>
          <a:ln>
            <a:noFill/>
          </a:ln>
        </p:spPr>
      </p:pic>
      <p:sp>
        <p:nvSpPr>
          <p:cNvPr id="2025" name="Google Shape;2025;p190"/>
          <p:cNvSpPr/>
          <p:nvPr/>
        </p:nvSpPr>
        <p:spPr>
          <a:xfrm>
            <a:off x="-12" y="15063"/>
            <a:ext cx="9144000" cy="51435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6" name="Google Shape;2026;p190"/>
          <p:cNvSpPr/>
          <p:nvPr/>
        </p:nvSpPr>
        <p:spPr>
          <a:xfrm rot="10800000" flipH="1">
            <a:off x="-38225" y="15075"/>
            <a:ext cx="2063700" cy="1924800"/>
          </a:xfrm>
          <a:prstGeom prst="triangle">
            <a:avLst>
              <a:gd name="adj" fmla="val 50000"/>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7" name="Google Shape;2027;p190"/>
          <p:cNvSpPr/>
          <p:nvPr/>
        </p:nvSpPr>
        <p:spPr>
          <a:xfrm>
            <a:off x="6958625" y="2564475"/>
            <a:ext cx="2219100" cy="2594100"/>
          </a:xfrm>
          <a:prstGeom prst="triangle">
            <a:avLst>
              <a:gd name="adj" fmla="val 50000"/>
            </a:avLst>
          </a:prstGeom>
          <a:solidFill>
            <a:srgbClr val="237166">
              <a:alpha val="810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28" name="Google Shape;2028;p190"/>
          <p:cNvGrpSpPr/>
          <p:nvPr/>
        </p:nvGrpSpPr>
        <p:grpSpPr>
          <a:xfrm>
            <a:off x="233895" y="1759498"/>
            <a:ext cx="8733899" cy="1654622"/>
            <a:chOff x="1004448" y="1059052"/>
            <a:chExt cx="10826700" cy="2051100"/>
          </a:xfrm>
        </p:grpSpPr>
        <p:sp>
          <p:nvSpPr>
            <p:cNvPr id="2029" name="Google Shape;2029;p190"/>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30" name="Google Shape;2030;p190"/>
            <p:cNvSpPr txBox="1"/>
            <p:nvPr/>
          </p:nvSpPr>
          <p:spPr>
            <a:xfrm>
              <a:off x="1198486" y="1761026"/>
              <a:ext cx="6690300" cy="7410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Questions &amp; Answers</a:t>
              </a:r>
              <a:endParaRPr sz="3400" b="1">
                <a:solidFill>
                  <a:srgbClr val="14645C"/>
                </a:solidFill>
                <a:latin typeface="Montserrat"/>
                <a:ea typeface="Montserrat"/>
                <a:cs typeface="Montserrat"/>
                <a:sym typeface="Montserrat"/>
              </a:endParaRPr>
            </a:p>
          </p:txBody>
        </p:sp>
      </p:grpSp>
      <p:pic>
        <p:nvPicPr>
          <p:cNvPr id="2031" name="Google Shape;2031;p190"/>
          <p:cNvPicPr preferRelativeResize="0"/>
          <p:nvPr/>
        </p:nvPicPr>
        <p:blipFill rotWithShape="1">
          <a:blip r:embed="rId6">
            <a:alphaModFix/>
          </a:blip>
          <a:srcRect b="25256"/>
          <a:stretch/>
        </p:blipFill>
        <p:spPr>
          <a:xfrm>
            <a:off x="3264498" y="105820"/>
            <a:ext cx="7637399" cy="5037676"/>
          </a:xfrm>
          <a:prstGeom prst="rect">
            <a:avLst/>
          </a:prstGeom>
          <a:noFill/>
          <a:ln>
            <a:noFill/>
          </a:ln>
        </p:spPr>
      </p:pic>
      <p:sp>
        <p:nvSpPr>
          <p:cNvPr id="2032" name="Google Shape;2032;p190"/>
          <p:cNvSpPr/>
          <p:nvPr/>
        </p:nvSpPr>
        <p:spPr>
          <a:xfrm>
            <a:off x="5710513" y="3604988"/>
            <a:ext cx="391200" cy="378900"/>
          </a:xfrm>
          <a:prstGeom prst="corner">
            <a:avLst>
              <a:gd name="adj1" fmla="val 50000"/>
              <a:gd name="adj2" fmla="val 5000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033" name="Google Shape;2033;p190"/>
          <p:cNvSpPr/>
          <p:nvPr/>
        </p:nvSpPr>
        <p:spPr>
          <a:xfrm rot="10800000">
            <a:off x="8079284" y="1274949"/>
            <a:ext cx="391200" cy="378900"/>
          </a:xfrm>
          <a:prstGeom prst="corner">
            <a:avLst>
              <a:gd name="adj1" fmla="val 50000"/>
              <a:gd name="adj2" fmla="val 50000"/>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034" name="Google Shape;2034;p190"/>
          <p:cNvSpPr/>
          <p:nvPr/>
        </p:nvSpPr>
        <p:spPr>
          <a:xfrm>
            <a:off x="5951325" y="1518550"/>
            <a:ext cx="2274900" cy="2212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QR to be updated</a:t>
            </a:r>
            <a:endParaRPr/>
          </a:p>
        </p:txBody>
      </p:sp>
      <p:sp>
        <p:nvSpPr>
          <p:cNvPr id="2035" name="Google Shape;2035;p190"/>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36" name="Google Shape;2036;p190"/>
          <p:cNvPicPr preferRelativeResize="0"/>
          <p:nvPr/>
        </p:nvPicPr>
        <p:blipFill>
          <a:blip r:embed="rId7">
            <a:alphaModFix/>
          </a:blip>
          <a:stretch>
            <a:fillRect/>
          </a:stretch>
        </p:blipFill>
        <p:spPr>
          <a:xfrm>
            <a:off x="7472673" y="4830726"/>
            <a:ext cx="894924" cy="312775"/>
          </a:xfrm>
          <a:prstGeom prst="rect">
            <a:avLst/>
          </a:prstGeom>
          <a:noFill/>
          <a:ln>
            <a:noFill/>
          </a:ln>
        </p:spPr>
      </p:pic>
      <p:pic>
        <p:nvPicPr>
          <p:cNvPr id="2037" name="Google Shape;2037;p190" title="CEBA new logo.png"/>
          <p:cNvPicPr preferRelativeResize="0"/>
          <p:nvPr/>
        </p:nvPicPr>
        <p:blipFill>
          <a:blip r:embed="rId8">
            <a:alphaModFix/>
          </a:blip>
          <a:stretch>
            <a:fillRect/>
          </a:stretch>
        </p:blipFill>
        <p:spPr>
          <a:xfrm>
            <a:off x="8374923" y="4890787"/>
            <a:ext cx="708296" cy="211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41"/>
        <p:cNvGrpSpPr/>
        <p:nvPr/>
      </p:nvGrpSpPr>
      <p:grpSpPr>
        <a:xfrm>
          <a:off x="0" y="0"/>
          <a:ext cx="0" cy="0"/>
          <a:chOff x="0" y="0"/>
          <a:chExt cx="0" cy="0"/>
        </a:xfrm>
      </p:grpSpPr>
      <p:pic>
        <p:nvPicPr>
          <p:cNvPr id="2042" name="Google Shape;2042;p191"/>
          <p:cNvPicPr preferRelativeResize="0"/>
          <p:nvPr/>
        </p:nvPicPr>
        <p:blipFill>
          <a:blip r:embed="rId3">
            <a:alphaModFix/>
          </a:blip>
          <a:stretch>
            <a:fillRect/>
          </a:stretch>
        </p:blipFill>
        <p:spPr>
          <a:xfrm>
            <a:off x="0" y="0"/>
            <a:ext cx="9144026" cy="5143500"/>
          </a:xfrm>
          <a:prstGeom prst="rect">
            <a:avLst/>
          </a:prstGeom>
          <a:noFill/>
          <a:ln>
            <a:noFill/>
          </a:ln>
        </p:spPr>
      </p:pic>
      <p:pic>
        <p:nvPicPr>
          <p:cNvPr id="2043" name="Google Shape;2043;p191"/>
          <p:cNvPicPr preferRelativeResize="0"/>
          <p:nvPr/>
        </p:nvPicPr>
        <p:blipFill>
          <a:blip r:embed="rId4">
            <a:alphaModFix amt="60000"/>
          </a:blip>
          <a:stretch>
            <a:fillRect/>
          </a:stretch>
        </p:blipFill>
        <p:spPr>
          <a:xfrm>
            <a:off x="12" y="6"/>
            <a:ext cx="9144000" cy="5143500"/>
          </a:xfrm>
          <a:prstGeom prst="rect">
            <a:avLst/>
          </a:prstGeom>
          <a:noFill/>
          <a:ln>
            <a:noFill/>
          </a:ln>
        </p:spPr>
      </p:pic>
      <p:sp>
        <p:nvSpPr>
          <p:cNvPr id="2044" name="Google Shape;2044;p191"/>
          <p:cNvSpPr/>
          <p:nvPr/>
        </p:nvSpPr>
        <p:spPr>
          <a:xfrm>
            <a:off x="25" y="6"/>
            <a:ext cx="9144000" cy="51435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5" name="Google Shape;2045;p191"/>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46" name="Google Shape;2046;p191"/>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2047" name="Google Shape;2047;p191"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nvGrpSpPr>
          <p:cNvPr id="2048" name="Google Shape;2048;p191"/>
          <p:cNvGrpSpPr/>
          <p:nvPr/>
        </p:nvGrpSpPr>
        <p:grpSpPr>
          <a:xfrm>
            <a:off x="233895" y="1759498"/>
            <a:ext cx="8733899" cy="1947735"/>
            <a:chOff x="1004448" y="1059052"/>
            <a:chExt cx="10826700" cy="2414448"/>
          </a:xfrm>
        </p:grpSpPr>
        <p:sp>
          <p:nvSpPr>
            <p:cNvPr id="2049" name="Google Shape;2049;p191"/>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50" name="Google Shape;2050;p191"/>
            <p:cNvSpPr txBox="1"/>
            <p:nvPr/>
          </p:nvSpPr>
          <p:spPr>
            <a:xfrm>
              <a:off x="1208650" y="1435000"/>
              <a:ext cx="8242800" cy="20385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Lunch time</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Please come back by 13:15!</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endParaRPr sz="3400" b="1">
                <a:solidFill>
                  <a:srgbClr val="14645C"/>
                </a:solidFill>
                <a:latin typeface="Montserrat"/>
                <a:ea typeface="Montserrat"/>
                <a:cs typeface="Montserrat"/>
                <a:sym typeface="Montserrat"/>
              </a:endParaRPr>
            </a:p>
          </p:txBody>
        </p:sp>
      </p:grpSp>
      <p:pic>
        <p:nvPicPr>
          <p:cNvPr id="2051" name="Google Shape;2051;p191" title="cutlery.png"/>
          <p:cNvPicPr preferRelativeResize="0"/>
          <p:nvPr/>
        </p:nvPicPr>
        <p:blipFill>
          <a:blip r:embed="rId7">
            <a:alphaModFix/>
          </a:blip>
          <a:stretch>
            <a:fillRect/>
          </a:stretch>
        </p:blipFill>
        <p:spPr>
          <a:xfrm>
            <a:off x="7138675" y="1824700"/>
            <a:ext cx="1494100" cy="1494100"/>
          </a:xfrm>
          <a:prstGeom prst="rect">
            <a:avLst/>
          </a:prstGeom>
          <a:noFill/>
          <a:ln>
            <a:noFill/>
          </a:ln>
        </p:spPr>
      </p:pic>
      <p:sp>
        <p:nvSpPr>
          <p:cNvPr id="2052" name="Google Shape;2052;p191"/>
          <p:cNvSpPr txBox="1"/>
          <p:nvPr/>
        </p:nvSpPr>
        <p:spPr>
          <a:xfrm>
            <a:off x="2030626" y="3525525"/>
            <a:ext cx="2901600" cy="90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FFFFFF"/>
                </a:solidFill>
                <a:latin typeface="Montserrat"/>
                <a:ea typeface="Montserrat"/>
                <a:cs typeface="Montserrat"/>
                <a:sym typeface="Montserrat"/>
              </a:rPr>
              <a:t>Leave </a:t>
            </a:r>
            <a:endParaRPr sz="1600">
              <a:solidFill>
                <a:srgbClr val="FFFFFF"/>
              </a:solidFill>
              <a:latin typeface="Montserrat"/>
              <a:ea typeface="Montserrat"/>
              <a:cs typeface="Montserrat"/>
              <a:sym typeface="Montserrat"/>
            </a:endParaRPr>
          </a:p>
          <a:p>
            <a:pPr marL="0" lvl="0" indent="0" algn="l" rtl="0">
              <a:spcBef>
                <a:spcPts val="0"/>
              </a:spcBef>
              <a:spcAft>
                <a:spcPts val="0"/>
              </a:spcAft>
              <a:buNone/>
            </a:pPr>
            <a:r>
              <a:rPr lang="en" sz="1600">
                <a:solidFill>
                  <a:srgbClr val="FFFFFF"/>
                </a:solidFill>
                <a:latin typeface="Montserrat"/>
                <a:ea typeface="Montserrat"/>
                <a:cs typeface="Montserrat"/>
                <a:sym typeface="Montserrat"/>
              </a:rPr>
              <a:t>questions</a:t>
            </a:r>
            <a:endParaRPr sz="1600">
              <a:solidFill>
                <a:srgbClr val="FFFFFF"/>
              </a:solidFill>
              <a:latin typeface="Montserrat"/>
              <a:ea typeface="Montserrat"/>
              <a:cs typeface="Montserrat"/>
              <a:sym typeface="Montserrat"/>
            </a:endParaRPr>
          </a:p>
          <a:p>
            <a:pPr marL="0" lvl="0" indent="0" algn="l" rtl="0">
              <a:spcBef>
                <a:spcPts val="0"/>
              </a:spcBef>
              <a:spcAft>
                <a:spcPts val="0"/>
              </a:spcAft>
              <a:buNone/>
            </a:pPr>
            <a:r>
              <a:rPr lang="en" sz="1600">
                <a:solidFill>
                  <a:srgbClr val="FFFFFF"/>
                </a:solidFill>
                <a:latin typeface="Montserrat"/>
                <a:ea typeface="Montserrat"/>
                <a:cs typeface="Montserrat"/>
                <a:sym typeface="Montserrat"/>
              </a:rPr>
              <a:t>for us</a:t>
            </a:r>
            <a:endParaRPr sz="1600">
              <a:solidFill>
                <a:srgbClr val="FFFFFF"/>
              </a:solidFill>
              <a:latin typeface="Montserrat"/>
              <a:ea typeface="Montserrat"/>
              <a:cs typeface="Montserrat"/>
              <a:sym typeface="Montserrat"/>
            </a:endParaRPr>
          </a:p>
        </p:txBody>
      </p:sp>
      <p:sp>
        <p:nvSpPr>
          <p:cNvPr id="2053" name="Google Shape;2053;p191"/>
          <p:cNvSpPr/>
          <p:nvPr/>
        </p:nvSpPr>
        <p:spPr>
          <a:xfrm>
            <a:off x="512524" y="3534875"/>
            <a:ext cx="1440300" cy="1400700"/>
          </a:xfrm>
          <a:prstGeom prst="rect">
            <a:avLst/>
          </a:prstGeom>
          <a:solidFill>
            <a:srgbClr val="EEEEEE"/>
          </a:solidFill>
          <a:ln w="5150" cap="flat" cmpd="sng">
            <a:solidFill>
              <a:srgbClr val="595959"/>
            </a:solidFill>
            <a:prstDash val="solid"/>
            <a:round/>
            <a:headEnd type="none" w="sm" len="sm"/>
            <a:tailEnd type="none" w="sm" len="sm"/>
          </a:ln>
        </p:spPr>
        <p:txBody>
          <a:bodyPr spcFirstLastPara="1" wrap="square" lIns="49500" tIns="49500" rIns="49500" bIns="49500" anchor="ctr" anchorCtr="0">
            <a:noAutofit/>
          </a:bodyPr>
          <a:lstStyle/>
          <a:p>
            <a:pPr marL="0" lvl="0" indent="0" algn="ctr" rtl="0">
              <a:spcBef>
                <a:spcPts val="0"/>
              </a:spcBef>
              <a:spcAft>
                <a:spcPts val="0"/>
              </a:spcAft>
              <a:buNone/>
            </a:pPr>
            <a:r>
              <a:rPr lang="en" sz="758"/>
              <a:t>QR</a:t>
            </a:r>
            <a:endParaRPr sz="758"/>
          </a:p>
          <a:p>
            <a:pPr marL="0" lvl="0" indent="0" algn="ctr" rtl="0">
              <a:spcBef>
                <a:spcPts val="0"/>
              </a:spcBef>
              <a:spcAft>
                <a:spcPts val="0"/>
              </a:spcAft>
              <a:buNone/>
            </a:pPr>
            <a:endParaRPr sz="758"/>
          </a:p>
          <a:p>
            <a:pPr marL="0" lvl="0" indent="0" algn="ctr" rtl="0">
              <a:spcBef>
                <a:spcPts val="0"/>
              </a:spcBef>
              <a:spcAft>
                <a:spcPts val="0"/>
              </a:spcAft>
              <a:buNone/>
            </a:pPr>
            <a:r>
              <a:rPr lang="en" sz="758"/>
              <a:t>To be finalized</a:t>
            </a:r>
            <a:endParaRPr sz="758"/>
          </a:p>
        </p:txBody>
      </p:sp>
      <p:pic>
        <p:nvPicPr>
          <p:cNvPr id="2054" name="Google Shape;2054;p191" title="upward-arrow (2).png"/>
          <p:cNvPicPr preferRelativeResize="0"/>
          <p:nvPr/>
        </p:nvPicPr>
        <p:blipFill>
          <a:blip r:embed="rId8">
            <a:alphaModFix/>
          </a:blip>
          <a:stretch>
            <a:fillRect/>
          </a:stretch>
        </p:blipFill>
        <p:spPr>
          <a:xfrm rot="-5969904">
            <a:off x="2092675" y="4452089"/>
            <a:ext cx="449474" cy="4494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58"/>
        <p:cNvGrpSpPr/>
        <p:nvPr/>
      </p:nvGrpSpPr>
      <p:grpSpPr>
        <a:xfrm>
          <a:off x="0" y="0"/>
          <a:ext cx="0" cy="0"/>
          <a:chOff x="0" y="0"/>
          <a:chExt cx="0" cy="0"/>
        </a:xfrm>
      </p:grpSpPr>
      <p:pic>
        <p:nvPicPr>
          <p:cNvPr id="2059" name="Google Shape;2059;p192"/>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60" name="Google Shape;2060;p192"/>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61" name="Google Shape;2061;p192"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62" name="Google Shape;2062;p192"/>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63" name="Google Shape;2063;p192"/>
          <p:cNvSpPr/>
          <p:nvPr/>
        </p:nvSpPr>
        <p:spPr>
          <a:xfrm>
            <a:off x="226825" y="1233825"/>
            <a:ext cx="8649000" cy="3613500"/>
          </a:xfrm>
          <a:prstGeom prst="roundRect">
            <a:avLst>
              <a:gd name="adj" fmla="val 16667"/>
            </a:avLst>
          </a:prstGeom>
          <a:solidFill>
            <a:srgbClr val="B5D8D0">
              <a:alpha val="81010"/>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64" name="Google Shape;2064;p192"/>
          <p:cNvSpPr/>
          <p:nvPr/>
        </p:nvSpPr>
        <p:spPr>
          <a:xfrm>
            <a:off x="3710300" y="2826489"/>
            <a:ext cx="1543200" cy="17739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Cong Nguyen</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(Speaker)</a:t>
            </a:r>
            <a:endParaRPr sz="1500" b="1">
              <a:solidFill>
                <a:srgbClr val="1B786E"/>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r>
              <a:rPr lang="en" sz="1250">
                <a:solidFill>
                  <a:srgbClr val="1B786E"/>
                </a:solidFill>
                <a:latin typeface="Montserrat"/>
                <a:ea typeface="Montserrat"/>
                <a:cs typeface="Montserrat"/>
                <a:sym typeface="Montserrat"/>
              </a:rPr>
              <a:t>Vietnam Clean Energy Manager </a:t>
            </a:r>
            <a:endParaRPr sz="1250">
              <a:solidFill>
                <a:srgbClr val="1B786E"/>
              </a:solidFill>
              <a:latin typeface="Montserrat"/>
              <a:ea typeface="Montserrat"/>
              <a:cs typeface="Montserrat"/>
              <a:sym typeface="Montserrat"/>
            </a:endParaRPr>
          </a:p>
          <a:p>
            <a:pPr marL="0" lvl="0" indent="0" algn="ctr" rtl="0">
              <a:spcBef>
                <a:spcPts val="1200"/>
              </a:spcBef>
              <a:spcAft>
                <a:spcPts val="0"/>
              </a:spcAft>
              <a:buClr>
                <a:schemeClr val="dk1"/>
              </a:buClr>
              <a:buSzPts val="1100"/>
              <a:buFont typeface="Arial"/>
              <a:buNone/>
            </a:pPr>
            <a:r>
              <a:rPr lang="en" sz="1250" i="1">
                <a:solidFill>
                  <a:srgbClr val="1B786E"/>
                </a:solidFill>
                <a:latin typeface="Montserrat"/>
                <a:ea typeface="Montserrat"/>
                <a:cs typeface="Montserrat"/>
                <a:sym typeface="Montserrat"/>
              </a:rPr>
              <a:t>Allotrope Partners</a:t>
            </a:r>
            <a:endParaRPr sz="1250" b="1">
              <a:solidFill>
                <a:srgbClr val="1B786E"/>
              </a:solidFill>
              <a:latin typeface="Montserrat"/>
              <a:ea typeface="Montserrat"/>
              <a:cs typeface="Montserrat"/>
              <a:sym typeface="Montserrat"/>
            </a:endParaRPr>
          </a:p>
        </p:txBody>
      </p:sp>
      <p:sp>
        <p:nvSpPr>
          <p:cNvPr id="2065" name="Google Shape;2065;p192"/>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066" name="Google Shape;2066;p192"/>
          <p:cNvGrpSpPr/>
          <p:nvPr/>
        </p:nvGrpSpPr>
        <p:grpSpPr>
          <a:xfrm>
            <a:off x="1743000" y="1445850"/>
            <a:ext cx="1543200" cy="3154539"/>
            <a:chOff x="2778200" y="1369111"/>
            <a:chExt cx="1543200" cy="3154539"/>
          </a:xfrm>
        </p:grpSpPr>
        <p:sp>
          <p:nvSpPr>
            <p:cNvPr id="2067" name="Google Shape;2067;p192"/>
            <p:cNvSpPr/>
            <p:nvPr/>
          </p:nvSpPr>
          <p:spPr>
            <a:xfrm>
              <a:off x="2778200" y="2749750"/>
              <a:ext cx="1543200" cy="1773900"/>
            </a:xfrm>
            <a:prstGeom prst="rect">
              <a:avLst/>
            </a:pr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Tung Ho</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(Moderator)</a:t>
              </a:r>
              <a:endParaRPr sz="1500" b="1">
                <a:solidFill>
                  <a:srgbClr val="1B786E"/>
                </a:solidFill>
                <a:latin typeface="Montserrat"/>
                <a:ea typeface="Montserrat"/>
                <a:cs typeface="Montserrat"/>
                <a:sym typeface="Montserrat"/>
              </a:endParaRPr>
            </a:p>
            <a:p>
              <a:pPr marL="0" lvl="0" indent="0" algn="ctr"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r>
                <a:rPr lang="en" sz="1250">
                  <a:solidFill>
                    <a:srgbClr val="1B786E"/>
                  </a:solidFill>
                  <a:latin typeface="Montserrat"/>
                  <a:ea typeface="Montserrat"/>
                  <a:cs typeface="Montserrat"/>
                  <a:sym typeface="Montserrat"/>
                </a:rPr>
                <a:t>Vietnam Country Director</a:t>
              </a:r>
              <a:endParaRPr sz="1250">
                <a:solidFill>
                  <a:srgbClr val="1B786E"/>
                </a:solidFill>
                <a:latin typeface="Montserrat"/>
                <a:ea typeface="Montserrat"/>
                <a:cs typeface="Montserrat"/>
                <a:sym typeface="Montserrat"/>
              </a:endParaRPr>
            </a:p>
            <a:p>
              <a:pPr marL="0" lvl="0" indent="0" algn="ctr" rtl="0">
                <a:spcBef>
                  <a:spcPts val="1200"/>
                </a:spcBef>
                <a:spcAft>
                  <a:spcPts val="0"/>
                </a:spcAft>
                <a:buClr>
                  <a:schemeClr val="dk1"/>
                </a:buClr>
                <a:buSzPts val="1100"/>
                <a:buFont typeface="Arial"/>
                <a:buNone/>
              </a:pPr>
              <a:r>
                <a:rPr lang="en" sz="1250" i="1">
                  <a:solidFill>
                    <a:srgbClr val="1B786E"/>
                  </a:solidFill>
                  <a:latin typeface="Montserrat"/>
                  <a:ea typeface="Montserrat"/>
                  <a:cs typeface="Montserrat"/>
                  <a:sym typeface="Montserrat"/>
                </a:rPr>
                <a:t>Allotrope Partners</a:t>
              </a:r>
              <a:endParaRPr sz="1250" b="1">
                <a:solidFill>
                  <a:srgbClr val="1B786E"/>
                </a:solidFill>
                <a:latin typeface="Montserrat"/>
                <a:ea typeface="Montserrat"/>
                <a:cs typeface="Montserrat"/>
                <a:sym typeface="Montserrat"/>
              </a:endParaRPr>
            </a:p>
          </p:txBody>
        </p:sp>
        <p:pic>
          <p:nvPicPr>
            <p:cNvPr id="2068" name="Google Shape;2068;p192" title="Professional Photo reduced.png"/>
            <p:cNvPicPr preferRelativeResize="0"/>
            <p:nvPr/>
          </p:nvPicPr>
          <p:blipFill rotWithShape="1">
            <a:blip r:embed="rId6">
              <a:alphaModFix/>
            </a:blip>
            <a:srcRect t="6949" b="6949"/>
            <a:stretch/>
          </p:blipFill>
          <p:spPr>
            <a:xfrm>
              <a:off x="2891675" y="1369111"/>
              <a:ext cx="1239000" cy="1249500"/>
            </a:xfrm>
            <a:prstGeom prst="ellipse">
              <a:avLst/>
            </a:prstGeom>
            <a:noFill/>
            <a:ln w="28575" cap="flat" cmpd="sng">
              <a:solidFill>
                <a:schemeClr val="lt1"/>
              </a:solidFill>
              <a:prstDash val="solid"/>
              <a:round/>
              <a:headEnd type="none" w="sm" len="sm"/>
              <a:tailEnd type="none" w="sm" len="sm"/>
            </a:ln>
          </p:spPr>
        </p:pic>
      </p:grpSp>
      <p:sp>
        <p:nvSpPr>
          <p:cNvPr id="2069" name="Google Shape;2069;p192"/>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0" name="Google Shape;2070;p192"/>
          <p:cNvSpPr/>
          <p:nvPr/>
        </p:nvSpPr>
        <p:spPr>
          <a:xfrm>
            <a:off x="5677600" y="2826489"/>
            <a:ext cx="1543200" cy="1773900"/>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Duc Nguyen</a:t>
            </a:r>
            <a:endParaRPr sz="1500" b="1">
              <a:solidFill>
                <a:srgbClr val="1B786E"/>
              </a:solidFill>
              <a:latin typeface="Montserrat"/>
              <a:ea typeface="Montserrat"/>
              <a:cs typeface="Montserrat"/>
              <a:sym typeface="Montserrat"/>
            </a:endParaRPr>
          </a:p>
          <a:p>
            <a:pPr marL="0" lvl="0" indent="0" algn="ctr" rtl="0">
              <a:spcBef>
                <a:spcPts val="600"/>
              </a:spcBef>
              <a:spcAft>
                <a:spcPts val="0"/>
              </a:spcAft>
              <a:buClr>
                <a:schemeClr val="dk1"/>
              </a:buClr>
              <a:buSzPts val="1100"/>
              <a:buFont typeface="Arial"/>
              <a:buNone/>
            </a:pPr>
            <a:r>
              <a:rPr lang="en" sz="1500" b="1">
                <a:solidFill>
                  <a:srgbClr val="1B786E"/>
                </a:solidFill>
                <a:latin typeface="Montserrat"/>
                <a:ea typeface="Montserrat"/>
                <a:cs typeface="Montserrat"/>
                <a:sym typeface="Montserrat"/>
              </a:rPr>
              <a:t>(Speaker)</a:t>
            </a:r>
            <a:endParaRPr sz="1500" b="1">
              <a:solidFill>
                <a:srgbClr val="1B786E"/>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600">
              <a:solidFill>
                <a:srgbClr val="1B786E"/>
              </a:solidFill>
              <a:latin typeface="Montserrat"/>
              <a:ea typeface="Montserrat"/>
              <a:cs typeface="Montserrat"/>
              <a:sym typeface="Montserrat"/>
            </a:endParaRPr>
          </a:p>
          <a:p>
            <a:pPr marL="0" lvl="0" indent="0" algn="ctr" rtl="0">
              <a:spcBef>
                <a:spcPts val="1000"/>
              </a:spcBef>
              <a:spcAft>
                <a:spcPts val="0"/>
              </a:spcAft>
              <a:buClr>
                <a:schemeClr val="dk1"/>
              </a:buClr>
              <a:buSzPts val="1100"/>
              <a:buFont typeface="Arial"/>
              <a:buNone/>
            </a:pPr>
            <a:endParaRPr sz="1250" b="1">
              <a:solidFill>
                <a:srgbClr val="1B786E"/>
              </a:solidFill>
              <a:latin typeface="Montserrat"/>
              <a:ea typeface="Montserrat"/>
              <a:cs typeface="Montserrat"/>
              <a:sym typeface="Montserrat"/>
            </a:endParaRPr>
          </a:p>
        </p:txBody>
      </p:sp>
      <p:sp>
        <p:nvSpPr>
          <p:cNvPr id="2071" name="Google Shape;2071;p192"/>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2" name="Google Shape;2072;p192"/>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Panel Discussion</a:t>
            </a:r>
            <a:endParaRPr sz="2600" b="1">
              <a:solidFill>
                <a:schemeClr val="lt1"/>
              </a:solidFill>
              <a:latin typeface="Montserrat"/>
              <a:ea typeface="Montserrat"/>
              <a:cs typeface="Montserrat"/>
              <a:sym typeface="Montserrat"/>
            </a:endParaRPr>
          </a:p>
        </p:txBody>
      </p:sp>
      <p:sp>
        <p:nvSpPr>
          <p:cNvPr id="2073" name="Google Shape;2073;p192"/>
          <p:cNvSpPr txBox="1"/>
          <p:nvPr/>
        </p:nvSpPr>
        <p:spPr>
          <a:xfrm>
            <a:off x="-403425" y="635688"/>
            <a:ext cx="10103700" cy="507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100" b="1">
                <a:solidFill>
                  <a:schemeClr val="lt1"/>
                </a:solidFill>
                <a:latin typeface="Montserrat"/>
                <a:ea typeface="Montserrat"/>
                <a:cs typeface="Montserrat"/>
                <a:sym typeface="Montserrat"/>
              </a:rPr>
              <a:t>Off-Site Solutions Deep-Dive: Unlocking DPPA</a:t>
            </a:r>
            <a:endParaRPr sz="2100" b="1">
              <a:solidFill>
                <a:schemeClr val="lt1"/>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pic>
        <p:nvPicPr>
          <p:cNvPr id="2078" name="Google Shape;2078;p193"/>
          <p:cNvPicPr preferRelativeResize="0"/>
          <p:nvPr/>
        </p:nvPicPr>
        <p:blipFill>
          <a:blip r:embed="rId3">
            <a:alphaModFix/>
          </a:blip>
          <a:stretch>
            <a:fillRect/>
          </a:stretch>
        </p:blipFill>
        <p:spPr>
          <a:xfrm>
            <a:off x="0" y="0"/>
            <a:ext cx="9156375" cy="5132275"/>
          </a:xfrm>
          <a:prstGeom prst="rect">
            <a:avLst/>
          </a:prstGeom>
          <a:noFill/>
          <a:ln>
            <a:noFill/>
          </a:ln>
        </p:spPr>
      </p:pic>
      <p:pic>
        <p:nvPicPr>
          <p:cNvPr id="2079" name="Google Shape;2079;p193"/>
          <p:cNvPicPr preferRelativeResize="0"/>
          <p:nvPr/>
        </p:nvPicPr>
        <p:blipFill>
          <a:blip r:embed="rId4">
            <a:alphaModFix amt="60000"/>
          </a:blip>
          <a:stretch>
            <a:fillRect/>
          </a:stretch>
        </p:blipFill>
        <p:spPr>
          <a:xfrm>
            <a:off x="0" y="0"/>
            <a:ext cx="9144000" cy="5163900"/>
          </a:xfrm>
          <a:prstGeom prst="rect">
            <a:avLst/>
          </a:prstGeom>
          <a:noFill/>
          <a:ln>
            <a:noFill/>
          </a:ln>
        </p:spPr>
      </p:pic>
      <p:sp>
        <p:nvSpPr>
          <p:cNvPr id="2080" name="Google Shape;2080;p193"/>
          <p:cNvSpPr/>
          <p:nvPr/>
        </p:nvSpPr>
        <p:spPr>
          <a:xfrm>
            <a:off x="2144" y="12"/>
            <a:ext cx="9144000" cy="5163900"/>
          </a:xfrm>
          <a:prstGeom prst="rect">
            <a:avLst/>
          </a:prstGeom>
          <a:solidFill>
            <a:srgbClr val="14645C">
              <a:alpha val="4873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1" name="Google Shape;2081;p193"/>
          <p:cNvSpPr/>
          <p:nvPr/>
        </p:nvSpPr>
        <p:spPr>
          <a:xfrm>
            <a:off x="7378325" y="4819375"/>
            <a:ext cx="1765800" cy="312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82" name="Google Shape;2082;p193"/>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2083" name="Google Shape;2083;p193"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nvGrpSpPr>
          <p:cNvPr id="2084" name="Google Shape;2084;p193"/>
          <p:cNvGrpSpPr/>
          <p:nvPr/>
        </p:nvGrpSpPr>
        <p:grpSpPr>
          <a:xfrm>
            <a:off x="233895" y="1759498"/>
            <a:ext cx="8733899" cy="1654622"/>
            <a:chOff x="1004448" y="1059052"/>
            <a:chExt cx="10826700" cy="2051100"/>
          </a:xfrm>
        </p:grpSpPr>
        <p:sp>
          <p:nvSpPr>
            <p:cNvPr id="2085" name="Google Shape;2085;p193"/>
            <p:cNvSpPr/>
            <p:nvPr/>
          </p:nvSpPr>
          <p:spPr>
            <a:xfrm>
              <a:off x="1004448" y="1059052"/>
              <a:ext cx="10826700" cy="2051100"/>
            </a:xfrm>
            <a:prstGeom prst="roundRect">
              <a:avLst>
                <a:gd name="adj" fmla="val 25170"/>
              </a:avLst>
            </a:prstGeom>
            <a:solidFill>
              <a:schemeClr val="lt1"/>
            </a:solidFill>
            <a:ln>
              <a:noFill/>
            </a:ln>
          </p:spPr>
          <p:txBody>
            <a:bodyPr spcFirstLastPara="1" wrap="square" lIns="73775" tIns="36875" rIns="73775" bIns="36875" anchor="ctr" anchorCtr="0">
              <a:noAutofit/>
            </a:bodyPr>
            <a:lstStyle/>
            <a:p>
              <a:pPr marL="0" marR="0" lvl="0" indent="0" algn="ctr" rtl="0">
                <a:spcBef>
                  <a:spcPts val="0"/>
                </a:spcBef>
                <a:spcAft>
                  <a:spcPts val="0"/>
                </a:spcAft>
                <a:buNone/>
              </a:pPr>
              <a:endParaRPr sz="1506" b="0" i="0" u="none" strike="noStrike" cap="none">
                <a:solidFill>
                  <a:schemeClr val="lt1"/>
                </a:solidFill>
                <a:latin typeface="Arial"/>
                <a:ea typeface="Arial"/>
                <a:cs typeface="Arial"/>
                <a:sym typeface="Arial"/>
              </a:endParaRPr>
            </a:p>
          </p:txBody>
        </p:sp>
        <p:sp>
          <p:nvSpPr>
            <p:cNvPr id="2086" name="Google Shape;2086;p193"/>
            <p:cNvSpPr txBox="1"/>
            <p:nvPr/>
          </p:nvSpPr>
          <p:spPr>
            <a:xfrm>
              <a:off x="1208650" y="1434998"/>
              <a:ext cx="6690300" cy="1389900"/>
            </a:xfrm>
            <a:prstGeom prst="rect">
              <a:avLst/>
            </a:prstGeom>
            <a:noFill/>
            <a:ln>
              <a:noFill/>
            </a:ln>
          </p:spPr>
          <p:txBody>
            <a:bodyPr spcFirstLastPara="1" wrap="square" lIns="73775" tIns="36875" rIns="73775" bIns="36875" anchor="t" anchorCtr="0">
              <a:spAutoFit/>
            </a:bodyPr>
            <a:lstStyle/>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Break</a:t>
              </a:r>
              <a:endParaRPr sz="3400" b="1">
                <a:solidFill>
                  <a:srgbClr val="14645C"/>
                </a:solidFill>
                <a:latin typeface="Montserrat"/>
                <a:ea typeface="Montserrat"/>
                <a:cs typeface="Montserrat"/>
                <a:sym typeface="Montserrat"/>
              </a:endParaRPr>
            </a:p>
            <a:p>
              <a:pPr marL="0" marR="0" lvl="0" indent="0" algn="l" rtl="0">
                <a:spcBef>
                  <a:spcPts val="0"/>
                </a:spcBef>
                <a:spcAft>
                  <a:spcPts val="0"/>
                </a:spcAft>
                <a:buNone/>
              </a:pPr>
              <a:r>
                <a:rPr lang="en" sz="3400" b="1">
                  <a:solidFill>
                    <a:srgbClr val="14645C"/>
                  </a:solidFill>
                  <a:latin typeface="Montserrat"/>
                  <a:ea typeface="Montserrat"/>
                  <a:cs typeface="Montserrat"/>
                  <a:sym typeface="Montserrat"/>
                </a:rPr>
                <a:t>~20 minutes</a:t>
              </a:r>
              <a:endParaRPr sz="3400" b="1">
                <a:solidFill>
                  <a:srgbClr val="14645C"/>
                </a:solidFill>
                <a:latin typeface="Montserrat"/>
                <a:ea typeface="Montserrat"/>
                <a:cs typeface="Montserrat"/>
                <a:sym typeface="Montserrat"/>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090"/>
        <p:cNvGrpSpPr/>
        <p:nvPr/>
      </p:nvGrpSpPr>
      <p:grpSpPr>
        <a:xfrm>
          <a:off x="0" y="0"/>
          <a:ext cx="0" cy="0"/>
          <a:chOff x="0" y="0"/>
          <a:chExt cx="0" cy="0"/>
        </a:xfrm>
      </p:grpSpPr>
      <p:pic>
        <p:nvPicPr>
          <p:cNvPr id="2091" name="Google Shape;2091;p194"/>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092" name="Google Shape;2092;p194"/>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93" name="Google Shape;2093;p194"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094" name="Google Shape;2094;p194"/>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095" name="Google Shape;2095;p194"/>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096" name="Google Shape;2096;p194"/>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7" name="Google Shape;2097;p194"/>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2098;p194"/>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9" name="Google Shape;2099;p194"/>
          <p:cNvSpPr txBox="1"/>
          <p:nvPr/>
        </p:nvSpPr>
        <p:spPr>
          <a:xfrm>
            <a:off x="323917" y="195875"/>
            <a:ext cx="8649000" cy="764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600" b="1">
                <a:solidFill>
                  <a:schemeClr val="lt1"/>
                </a:solidFill>
                <a:latin typeface="Montserrat"/>
                <a:ea typeface="Montserrat"/>
                <a:cs typeface="Montserrat"/>
                <a:sym typeface="Montserrat"/>
              </a:rPr>
              <a:t>Interactive </a:t>
            </a:r>
            <a:br>
              <a:rPr lang="en" sz="2600" b="1">
                <a:solidFill>
                  <a:schemeClr val="lt1"/>
                </a:solidFill>
                <a:latin typeface="Montserrat"/>
                <a:ea typeface="Montserrat"/>
                <a:cs typeface="Montserrat"/>
                <a:sym typeface="Montserrat"/>
              </a:rPr>
            </a:br>
            <a:r>
              <a:rPr lang="en" sz="2600" b="1">
                <a:solidFill>
                  <a:schemeClr val="lt1"/>
                </a:solidFill>
                <a:latin typeface="Montserrat"/>
                <a:ea typeface="Montserrat"/>
                <a:cs typeface="Montserrat"/>
                <a:sym typeface="Montserrat"/>
              </a:rPr>
              <a:t>Group Exercise</a:t>
            </a:r>
            <a:endParaRPr sz="2600" b="1">
              <a:solidFill>
                <a:schemeClr val="lt1"/>
              </a:solidFill>
              <a:latin typeface="Montserrat"/>
              <a:ea typeface="Montserrat"/>
              <a:cs typeface="Montserrat"/>
              <a:sym typeface="Montserrat"/>
            </a:endParaRPr>
          </a:p>
        </p:txBody>
      </p:sp>
      <p:sp>
        <p:nvSpPr>
          <p:cNvPr id="2100" name="Google Shape;2100;p194"/>
          <p:cNvSpPr txBox="1"/>
          <p:nvPr/>
        </p:nvSpPr>
        <p:spPr>
          <a:xfrm>
            <a:off x="492675" y="1499462"/>
            <a:ext cx="8019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i="1">
                <a:solidFill>
                  <a:srgbClr val="34537D"/>
                </a:solidFill>
                <a:latin typeface="Montserrat"/>
                <a:ea typeface="Montserrat"/>
                <a:cs typeface="Montserrat"/>
                <a:sym typeface="Montserrat"/>
              </a:rPr>
              <a:t>Roundtable Discussions on Procurement Lessons Sharing</a:t>
            </a:r>
            <a:endParaRPr sz="2100" i="1">
              <a:solidFill>
                <a:srgbClr val="34537D"/>
              </a:solidFill>
              <a:latin typeface="Montserrat"/>
              <a:ea typeface="Montserrat"/>
              <a:cs typeface="Montserrat"/>
              <a:sym typeface="Montserrat"/>
            </a:endParaRPr>
          </a:p>
          <a:p>
            <a:pPr marL="0" lvl="0" indent="0" algn="l" rtl="0">
              <a:spcBef>
                <a:spcPts val="0"/>
              </a:spcBef>
              <a:spcAft>
                <a:spcPts val="0"/>
              </a:spcAft>
              <a:buNone/>
            </a:pPr>
            <a:r>
              <a:rPr lang="en" sz="2100" i="1">
                <a:solidFill>
                  <a:srgbClr val="34537D"/>
                </a:solidFill>
                <a:latin typeface="Montserrat"/>
                <a:ea typeface="Montserrat"/>
                <a:cs typeface="Montserrat"/>
                <a:sym typeface="Montserrat"/>
              </a:rPr>
              <a:t>(~45 minutes)</a:t>
            </a:r>
            <a:endParaRPr>
              <a:solidFill>
                <a:srgbClr val="34537D"/>
              </a:solidFill>
            </a:endParaRPr>
          </a:p>
        </p:txBody>
      </p:sp>
      <p:sp>
        <p:nvSpPr>
          <p:cNvPr id="2101" name="Google Shape;2101;p194"/>
          <p:cNvSpPr txBox="1"/>
          <p:nvPr/>
        </p:nvSpPr>
        <p:spPr>
          <a:xfrm>
            <a:off x="-20675" y="2308900"/>
            <a:ext cx="8532300" cy="16392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questions to discuss in an open dialogue format among the participants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b="1">
                <a:solidFill>
                  <a:srgbClr val="34537D"/>
                </a:solidFill>
                <a:latin typeface="Montserrat"/>
                <a:ea typeface="Montserrat"/>
                <a:cs typeface="Montserrat"/>
                <a:sym typeface="Montserrat"/>
              </a:rPr>
              <a:t>Please share lessons from clean energy procurement processes that your company has conducted or challenges that have prevented clean energy action to date.</a:t>
            </a:r>
            <a:endParaRPr b="1">
              <a:solidFill>
                <a:srgbClr val="34537D"/>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05"/>
        <p:cNvGrpSpPr/>
        <p:nvPr/>
      </p:nvGrpSpPr>
      <p:grpSpPr>
        <a:xfrm>
          <a:off x="0" y="0"/>
          <a:ext cx="0" cy="0"/>
          <a:chOff x="0" y="0"/>
          <a:chExt cx="0" cy="0"/>
        </a:xfrm>
      </p:grpSpPr>
      <p:pic>
        <p:nvPicPr>
          <p:cNvPr id="2106" name="Google Shape;2106;p195"/>
          <p:cNvPicPr preferRelativeResize="0"/>
          <p:nvPr/>
        </p:nvPicPr>
        <p:blipFill rotWithShape="1">
          <a:blip r:embed="rId3">
            <a:alphaModFix/>
          </a:blip>
          <a:srcRect t="6775" b="8644"/>
          <a:stretch/>
        </p:blipFill>
        <p:spPr>
          <a:xfrm>
            <a:off x="0" y="0"/>
            <a:ext cx="9144003" cy="5143501"/>
          </a:xfrm>
          <a:prstGeom prst="rect">
            <a:avLst/>
          </a:prstGeom>
          <a:noFill/>
          <a:ln>
            <a:noFill/>
          </a:ln>
        </p:spPr>
      </p:pic>
      <p:sp>
        <p:nvSpPr>
          <p:cNvPr id="2107" name="Google Shape;2107;p195"/>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08" name="Google Shape;2108;p19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109" name="Google Shape;2109;p195"/>
          <p:cNvPicPr preferRelativeResize="0"/>
          <p:nvPr/>
        </p:nvPicPr>
        <p:blipFill>
          <a:blip r:embed="rId5">
            <a:alphaModFix/>
          </a:blip>
          <a:stretch>
            <a:fillRect/>
          </a:stretch>
        </p:blipFill>
        <p:spPr>
          <a:xfrm>
            <a:off x="7472673" y="4830726"/>
            <a:ext cx="894924" cy="312775"/>
          </a:xfrm>
          <a:prstGeom prst="rect">
            <a:avLst/>
          </a:prstGeom>
          <a:noFill/>
          <a:ln>
            <a:noFill/>
          </a:ln>
        </p:spPr>
      </p:pic>
      <p:sp>
        <p:nvSpPr>
          <p:cNvPr id="2110" name="Google Shape;2110;p195"/>
          <p:cNvSpPr/>
          <p:nvPr/>
        </p:nvSpPr>
        <p:spPr>
          <a:xfrm>
            <a:off x="226825" y="1233825"/>
            <a:ext cx="8649000" cy="3613500"/>
          </a:xfrm>
          <a:prstGeom prst="roundRect">
            <a:avLst>
              <a:gd name="adj" fmla="val 16667"/>
            </a:avLst>
          </a:prstGeom>
          <a:solidFill>
            <a:srgbClr val="DAEDE8">
              <a:alpha val="91189"/>
            </a:srgbClr>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111" name="Google Shape;2111;p195"/>
          <p:cNvSpPr/>
          <p:nvPr/>
        </p:nvSpPr>
        <p:spPr>
          <a:xfrm>
            <a:off x="1222025" y="263700"/>
            <a:ext cx="6943500" cy="879900"/>
          </a:xfrm>
          <a:prstGeom prst="flowChartAlternateProcess">
            <a:avLst/>
          </a:prstGeom>
          <a:solidFill>
            <a:srgbClr val="112A56">
              <a:alpha val="7404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2" name="Google Shape;2112;p195"/>
          <p:cNvSpPr/>
          <p:nvPr/>
        </p:nvSpPr>
        <p:spPr>
          <a:xfrm>
            <a:off x="689300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2113;p195"/>
          <p:cNvSpPr/>
          <p:nvPr/>
        </p:nvSpPr>
        <p:spPr>
          <a:xfrm>
            <a:off x="0" y="455600"/>
            <a:ext cx="2265300" cy="77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2114;p195"/>
          <p:cNvSpPr txBox="1"/>
          <p:nvPr/>
        </p:nvSpPr>
        <p:spPr>
          <a:xfrm>
            <a:off x="323925" y="263700"/>
            <a:ext cx="8649000" cy="696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900" b="1">
                <a:solidFill>
                  <a:schemeClr val="lt1"/>
                </a:solidFill>
                <a:latin typeface="Montserrat"/>
                <a:ea typeface="Montserrat"/>
                <a:cs typeface="Montserrat"/>
                <a:sym typeface="Montserrat"/>
              </a:rPr>
              <a:t>Interactive Exercise</a:t>
            </a:r>
            <a:endParaRPr sz="2900" b="1">
              <a:solidFill>
                <a:schemeClr val="lt1"/>
              </a:solidFill>
              <a:latin typeface="Montserrat"/>
              <a:ea typeface="Montserrat"/>
              <a:cs typeface="Montserrat"/>
              <a:sym typeface="Montserrat"/>
            </a:endParaRPr>
          </a:p>
        </p:txBody>
      </p:sp>
      <p:sp>
        <p:nvSpPr>
          <p:cNvPr id="2115" name="Google Shape;2115;p195"/>
          <p:cNvSpPr txBox="1"/>
          <p:nvPr/>
        </p:nvSpPr>
        <p:spPr>
          <a:xfrm>
            <a:off x="-20675" y="2046141"/>
            <a:ext cx="8532300" cy="1887000"/>
          </a:xfrm>
          <a:prstGeom prst="rect">
            <a:avLst/>
          </a:prstGeom>
          <a:noFill/>
          <a:ln>
            <a:noFill/>
          </a:ln>
        </p:spPr>
        <p:txBody>
          <a:bodyPr spcFirstLastPara="1" wrap="square" lIns="91425" tIns="91425" rIns="91425" bIns="91425" anchor="t" anchorCtr="0">
            <a:spAutoFit/>
          </a:bodyPr>
          <a:lstStyle/>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Please remain at your table.</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Table facilitators will provide you with a resource packet containing case studies, description of roles, and key questions to facilitate the activity.</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Collaborate with other participants to formulate a strategy, identify key terms and questions, and engage in a simulated DPPA negotiation.</a:t>
            </a:r>
            <a:endParaRPr>
              <a:solidFill>
                <a:srgbClr val="34537D"/>
              </a:solidFill>
              <a:latin typeface="Montserrat"/>
              <a:ea typeface="Montserrat"/>
              <a:cs typeface="Montserrat"/>
              <a:sym typeface="Montserrat"/>
            </a:endParaRPr>
          </a:p>
          <a:p>
            <a:pPr marL="914400" lvl="0" indent="-317500" algn="l" rtl="0">
              <a:lnSpc>
                <a:spcPct val="115000"/>
              </a:lnSpc>
              <a:spcBef>
                <a:spcPts val="0"/>
              </a:spcBef>
              <a:spcAft>
                <a:spcPts val="0"/>
              </a:spcAft>
              <a:buClr>
                <a:srgbClr val="34537D"/>
              </a:buClr>
              <a:buSzPts val="1400"/>
              <a:buFont typeface="Montserrat"/>
              <a:buChar char="●"/>
            </a:pPr>
            <a:r>
              <a:rPr lang="en">
                <a:solidFill>
                  <a:srgbClr val="34537D"/>
                </a:solidFill>
                <a:latin typeface="Montserrat"/>
                <a:ea typeface="Montserrat"/>
                <a:cs typeface="Montserrat"/>
                <a:sym typeface="Montserrat"/>
              </a:rPr>
              <a:t>Once the negotiation is complete, raise any remaining questions, or share challenges you experienced during the negotiation.</a:t>
            </a:r>
            <a:endParaRPr>
              <a:solidFill>
                <a:srgbClr val="34537D"/>
              </a:solidFill>
              <a:latin typeface="Montserrat"/>
              <a:ea typeface="Montserrat"/>
              <a:cs typeface="Montserrat"/>
              <a:sym typeface="Montserrat"/>
            </a:endParaRPr>
          </a:p>
        </p:txBody>
      </p:sp>
      <p:sp>
        <p:nvSpPr>
          <p:cNvPr id="2116" name="Google Shape;2116;p195"/>
          <p:cNvSpPr txBox="1"/>
          <p:nvPr/>
        </p:nvSpPr>
        <p:spPr>
          <a:xfrm>
            <a:off x="492675" y="1499462"/>
            <a:ext cx="8019000" cy="507900"/>
          </a:xfrm>
          <a:prstGeom prst="rect">
            <a:avLst/>
          </a:prstGeom>
          <a:noFill/>
          <a:ln>
            <a:noFill/>
          </a:ln>
        </p:spPr>
        <p:txBody>
          <a:bodyPr spcFirstLastPara="1" wrap="square" lIns="91425" tIns="91425" rIns="91425" bIns="91425" anchor="t" anchorCtr="0">
            <a:spAutoFit/>
          </a:bodyPr>
          <a:lstStyle/>
          <a:p>
            <a:r>
              <a:t>Apply the 3 Canonical Cases (~60 minutes)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t>Based on Decree 57/2025/ND-CP, the cost calculation parameters are assumed as follows:
Legal basis: Circular 16/2025/TT-BCT (FMP = SMP + CAN, 30-min settlement); Decree 57/2025/ND-CP (grid CfD).</a:t>
            </a:r>
          </a:p>
        </p:txBody>
      </p:sp>
      <p:grpSp>
        <p:nvGrpSpPr>
          <p:cNvPr id="2122" name="Google Shape;2122;p196"/>
          <p:cNvGrpSpPr/>
          <p:nvPr/>
        </p:nvGrpSpPr>
        <p:grpSpPr>
          <a:xfrm>
            <a:off x="239992" y="63853"/>
            <a:ext cx="8728050" cy="745997"/>
            <a:chOff x="236700" y="63853"/>
            <a:chExt cx="8728050" cy="745997"/>
          </a:xfrm>
        </p:grpSpPr>
        <p:sp>
          <p:nvSpPr>
            <p:cNvPr id="2123" name="Google Shape;2123;p19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4" name="Google Shape;2124;p19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25" name="Google Shape;2125;p19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26" name="Google Shape;2126;p19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27" name="Google Shape;2127;p19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28" name="Google Shape;2128;p19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29" name="Google Shape;2129;p19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30" name="Google Shape;2130;p19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General Assumptions &amp; Formula</a:t>
              </a:r>
              <a:endParaRPr sz="2100">
                <a:solidFill>
                  <a:srgbClr val="FFFFFF"/>
                </a:solidFill>
                <a:latin typeface="Montserrat ExtraBold"/>
                <a:ea typeface="Montserrat ExtraBold"/>
                <a:cs typeface="Montserrat ExtraBold"/>
                <a:sym typeface="Montserrat ExtraBold"/>
              </a:endParaRPr>
            </a:p>
          </p:txBody>
        </p:sp>
        <p:cxnSp>
          <p:nvCxnSpPr>
            <p:cNvPr id="2131" name="Google Shape;2131;p19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32" name="Google Shape;2132;p19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2133" name="Google Shape;2133;p196"/>
          <p:cNvGraphicFramePr/>
          <p:nvPr/>
        </p:nvGraphicFramePr>
        <p:xfrm>
          <a:off x="377550" y="1592300"/>
          <a:ext cx="3000000" cy="3000000"/>
        </p:xfrm>
        <a:graphic>
          <a:graphicData uri="http://schemas.openxmlformats.org/drawingml/2006/table">
            <a:tbl>
              <a:tblPr>
                <a:noFill/>
                <a:tableStyleId>{F1742F6B-ED47-481C-AEBF-CD6BD0922621}</a:tableStyleId>
              </a:tblPr>
              <a:tblGrid>
                <a:gridCol w="884100">
                  <a:extLst>
                    <a:ext uri="{9D8B030D-6E8A-4147-A177-3AD203B41FA5}">
                      <a16:colId xmlns:a16="http://schemas.microsoft.com/office/drawing/2014/main" val="20000"/>
                    </a:ext>
                  </a:extLst>
                </a:gridCol>
                <a:gridCol w="965625">
                  <a:extLst>
                    <a:ext uri="{9D8B030D-6E8A-4147-A177-3AD203B41FA5}">
                      <a16:colId xmlns:a16="http://schemas.microsoft.com/office/drawing/2014/main" val="20001"/>
                    </a:ext>
                  </a:extLst>
                </a:gridCol>
                <a:gridCol w="991150">
                  <a:extLst>
                    <a:ext uri="{9D8B030D-6E8A-4147-A177-3AD203B41FA5}">
                      <a16:colId xmlns:a16="http://schemas.microsoft.com/office/drawing/2014/main" val="20002"/>
                    </a:ext>
                  </a:extLst>
                </a:gridCol>
                <a:gridCol w="1836950">
                  <a:extLst>
                    <a:ext uri="{9D8B030D-6E8A-4147-A177-3AD203B41FA5}">
                      <a16:colId xmlns:a16="http://schemas.microsoft.com/office/drawing/2014/main" val="20003"/>
                    </a:ext>
                  </a:extLst>
                </a:gridCol>
              </a:tblGrid>
              <a:tr h="381600">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Symbol</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Unit</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Assumed Value</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Description</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extLst>
                  <a:ext uri="{0D108BD9-81ED-4DB2-BD59-A6C34878D82A}">
                    <a16:rowId xmlns:a16="http://schemas.microsoft.com/office/drawing/2014/main" val="10000"/>
                  </a:ext>
                </a:extLst>
              </a:tr>
              <a:tr h="331350">
                <a:tc>
                  <a:txBody>
                    <a:bodyPr/>
                    <a:lstStyle/>
                    <a:p>
                      <a:pPr marL="0" lvl="0" indent="0" algn="l" rtl="0">
                        <a:spcBef>
                          <a:spcPts val="0"/>
                        </a:spcBef>
                        <a:spcAft>
                          <a:spcPts val="0"/>
                        </a:spcAft>
                        <a:buNone/>
                      </a:pPr>
                      <a:r>
                        <a:rPr lang="en" sz="1000">
                          <a:latin typeface="Montserrat"/>
                          <a:ea typeface="Montserrat"/>
                          <a:cs typeface="Montserrat"/>
                          <a:sym typeface="Montserrat"/>
                        </a:rPr>
                        <a:t>k</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1,026</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Adjustment coefficient</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CDPPA_dv</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360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Power system service cost</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Pcl</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163,3</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Differential clearing fee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505075">
                <a:tc>
                  <a:txBody>
                    <a:bodyPr/>
                    <a:lstStyle/>
                    <a:p>
                      <a:pPr marL="0" lvl="0" indent="0" algn="l" rtl="0">
                        <a:spcBef>
                          <a:spcPts val="0"/>
                        </a:spcBef>
                        <a:spcAft>
                          <a:spcPts val="0"/>
                        </a:spcAft>
                        <a:buNone/>
                      </a:pPr>
                      <a:r>
                        <a:rPr lang="en" sz="1000">
                          <a:latin typeface="Montserrat"/>
                          <a:ea typeface="Montserrat"/>
                          <a:cs typeface="Montserrat"/>
                          <a:sym typeface="Montserrat"/>
                        </a:rPr>
                        <a:t>Kpp</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1,008</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Loss conversion coefficient at 110 kV voltage level</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P1</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2,204</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Average retail electricity price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
        <p:nvSpPr>
          <p:cNvPr id="2134" name="Google Shape;2134;p196"/>
          <p:cNvSpPr txBox="1"/>
          <p:nvPr/>
        </p:nvSpPr>
        <p:spPr>
          <a:xfrm>
            <a:off x="5173475" y="1588600"/>
            <a:ext cx="3970500" cy="28197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r>
              <a:rPr lang="en" sz="1150">
                <a:solidFill>
                  <a:srgbClr val="1C5648"/>
                </a:solidFill>
                <a:latin typeface="Montserrat"/>
                <a:ea typeface="Montserrat"/>
                <a:cs typeface="Montserrat"/>
                <a:sym typeface="Montserrat"/>
              </a:rPr>
              <a:t>Cost Formulas</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150">
              <a:solidFill>
                <a:srgbClr val="1C5648"/>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600" b="1">
                <a:solidFill>
                  <a:srgbClr val="C8902B"/>
                </a:solidFill>
                <a:latin typeface="Montserrat"/>
                <a:ea typeface="Montserrat"/>
                <a:cs typeface="Montserrat"/>
                <a:sym typeface="Montserrat"/>
              </a:rPr>
              <a:t>C_KH</a:t>
            </a:r>
            <a:r>
              <a:rPr lang="en" sz="1600" b="1">
                <a:solidFill>
                  <a:srgbClr val="1B2D2A"/>
                </a:solidFill>
                <a:latin typeface="Montserrat"/>
                <a:ea typeface="Montserrat"/>
                <a:cs typeface="Montserrat"/>
                <a:sym typeface="Montserrat"/>
              </a:rPr>
              <a:t>  =  	C_EVN  +  	C_CfD</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800">
              <a:solidFill>
                <a:schemeClr val="dk2"/>
              </a:solidFill>
              <a:latin typeface="Montserrat"/>
              <a:ea typeface="Montserrat"/>
              <a:cs typeface="Montserrat"/>
              <a:sym typeface="Montserrat"/>
            </a:endParaRPr>
          </a:p>
        </p:txBody>
      </p:sp>
      <p:sp>
        <p:nvSpPr>
          <p:cNvPr id="2135" name="Google Shape;2135;p196"/>
          <p:cNvSpPr txBox="1"/>
          <p:nvPr/>
        </p:nvSpPr>
        <p:spPr>
          <a:xfrm>
            <a:off x="344700" y="4556025"/>
            <a:ext cx="85206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127A7A"/>
                </a:solidFill>
                <a:latin typeface="Montserrat"/>
                <a:ea typeface="Montserrat"/>
                <a:cs typeface="Montserrat"/>
                <a:sym typeface="Montserrat"/>
              </a:rPr>
              <a:t>Note:  The plant sells all output to the spot market (receives FMP); the CfD only adjusts the price to Pc for the contracted volume Qc.</a:t>
            </a:r>
            <a:endParaRPr sz="900" i="1">
              <a:solidFill>
                <a:srgbClr val="127A7A"/>
              </a:solidFill>
              <a:latin typeface="Montserrat"/>
              <a:ea typeface="Montserrat"/>
              <a:cs typeface="Montserrat"/>
              <a:sym typeface="Montserrat"/>
            </a:endParaRPr>
          </a:p>
        </p:txBody>
      </p:sp>
      <p:sp>
        <p:nvSpPr>
          <p:cNvPr id="2136" name="Google Shape;2136;p196"/>
          <p:cNvSpPr txBox="1"/>
          <p:nvPr/>
        </p:nvSpPr>
        <p:spPr>
          <a:xfrm>
            <a:off x="7786200" y="2521750"/>
            <a:ext cx="1357800" cy="13308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endParaRPr sz="1150">
              <a:solidFill>
                <a:srgbClr val="1B2D2A"/>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r>
              <a:rPr lang="en" sz="1150">
                <a:solidFill>
                  <a:srgbClr val="1B2D2A"/>
                </a:solidFill>
                <a:latin typeface="Montserrat"/>
                <a:ea typeface="Montserrat"/>
                <a:cs typeface="Montserrat"/>
                <a:sym typeface="Montserrat"/>
              </a:rPr>
              <a:t>(Pc − FMP) * Qc</a:t>
            </a:r>
            <a:endParaRPr sz="1800">
              <a:solidFill>
                <a:schemeClr val="dk2"/>
              </a:solidFill>
            </a:endParaRPr>
          </a:p>
        </p:txBody>
      </p:sp>
      <p:sp>
        <p:nvSpPr>
          <p:cNvPr id="2137" name="Google Shape;2137;p196"/>
          <p:cNvSpPr txBox="1"/>
          <p:nvPr/>
        </p:nvSpPr>
        <p:spPr>
          <a:xfrm rot="5400000">
            <a:off x="6891650"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
        <p:nvSpPr>
          <p:cNvPr id="2138" name="Google Shape;2138;p196"/>
          <p:cNvSpPr txBox="1"/>
          <p:nvPr/>
        </p:nvSpPr>
        <p:spPr>
          <a:xfrm>
            <a:off x="5119525" y="2766575"/>
            <a:ext cx="2212200" cy="1645500"/>
          </a:xfrm>
          <a:prstGeom prst="rect">
            <a:avLst/>
          </a:prstGeom>
          <a:noFill/>
          <a:ln>
            <a:noFill/>
          </a:ln>
        </p:spPr>
        <p:txBody>
          <a:bodyPr spcFirstLastPara="1" wrap="square" lIns="91425" tIns="91425" rIns="91425" bIns="91425" anchor="t" anchorCtr="0">
            <a:noAutofit/>
          </a:bodyPr>
          <a:lstStyle/>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FMP * k * Kpp = </a:t>
            </a:r>
            <a:r>
              <a:rPr lang="en" sz="1050" b="1">
                <a:solidFill>
                  <a:srgbClr val="1B2D2A"/>
                </a:solidFill>
                <a:latin typeface="Montserrat"/>
                <a:ea typeface="Montserrat"/>
                <a:cs typeface="Montserrat"/>
                <a:sym typeface="Montserrat"/>
              </a:rPr>
              <a:t>C_DN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C_dppa_dv = </a:t>
            </a:r>
            <a:r>
              <a:rPr lang="en" sz="1050" b="1">
                <a:solidFill>
                  <a:srgbClr val="1B2D2A"/>
                </a:solidFill>
                <a:latin typeface="Montserrat"/>
                <a:ea typeface="Montserrat"/>
                <a:cs typeface="Montserrat"/>
                <a:sym typeface="Montserrat"/>
              </a:rPr>
              <a:t>C_dppa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Pcl = </a:t>
            </a:r>
            <a:r>
              <a:rPr lang="en" sz="1050" b="1">
                <a:solidFill>
                  <a:srgbClr val="1B2D2A"/>
                </a:solidFill>
                <a:latin typeface="Montserrat"/>
                <a:ea typeface="Montserrat"/>
                <a:cs typeface="Montserrat"/>
                <a:sym typeface="Montserrat"/>
              </a:rPr>
              <a:t>C_cl</a:t>
            </a:r>
            <a:r>
              <a:rPr lang="en" sz="1050">
                <a:solidFill>
                  <a:srgbClr val="1B2D2A"/>
                </a:solidFill>
                <a:latin typeface="Montserrat"/>
                <a:ea typeface="Montserrat"/>
                <a:cs typeface="Montserrat"/>
                <a:sym typeface="Montserrat"/>
              </a:rPr>
              <a:t> </a:t>
            </a: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 − Qkhhc) * P1 = </a:t>
            </a:r>
            <a:r>
              <a:rPr lang="en" sz="1050" b="1">
                <a:solidFill>
                  <a:srgbClr val="1B2D2A"/>
                </a:solidFill>
                <a:latin typeface="Montserrat"/>
                <a:ea typeface="Montserrat"/>
                <a:cs typeface="Montserrat"/>
                <a:sym typeface="Montserrat"/>
              </a:rPr>
              <a:t>C_bl</a:t>
            </a:r>
            <a:endParaRPr sz="1050" b="1">
              <a:solidFill>
                <a:srgbClr val="1B2D2A"/>
              </a:solidFill>
              <a:latin typeface="Montserrat"/>
              <a:ea typeface="Montserrat"/>
              <a:cs typeface="Montserrat"/>
              <a:sym typeface="Montserrat"/>
            </a:endParaRPr>
          </a:p>
          <a:p>
            <a:pPr marL="0" lvl="0" indent="0" algn="r" rtl="0">
              <a:spcBef>
                <a:spcPts val="0"/>
              </a:spcBef>
              <a:spcAft>
                <a:spcPts val="0"/>
              </a:spcAft>
              <a:buNone/>
            </a:pPr>
            <a:endParaRPr sz="1700">
              <a:solidFill>
                <a:schemeClr val="dk2"/>
              </a:solidFill>
            </a:endParaRPr>
          </a:p>
        </p:txBody>
      </p:sp>
      <p:sp>
        <p:nvSpPr>
          <p:cNvPr id="2139" name="Google Shape;2139;p196"/>
          <p:cNvSpPr txBox="1"/>
          <p:nvPr/>
        </p:nvSpPr>
        <p:spPr>
          <a:xfrm>
            <a:off x="6648175" y="3005450"/>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0" name="Google Shape;2140;p196"/>
          <p:cNvSpPr txBox="1"/>
          <p:nvPr/>
        </p:nvSpPr>
        <p:spPr>
          <a:xfrm>
            <a:off x="6643550" y="338562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1" name="Google Shape;2141;p196"/>
          <p:cNvSpPr txBox="1"/>
          <p:nvPr/>
        </p:nvSpPr>
        <p:spPr>
          <a:xfrm>
            <a:off x="6643550" y="376587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2" name="Google Shape;2142;p196"/>
          <p:cNvSpPr txBox="1"/>
          <p:nvPr/>
        </p:nvSpPr>
        <p:spPr>
          <a:xfrm rot="5400000">
            <a:off x="8195075"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extBox 3"/>
          <p:cNvSpPr txBox="1"/>
          <p:nvPr/>
        </p:nvSpPr>
        <p:spPr>
          <a:xfrm>
            <a:off x="365760" y="164592"/>
            <a:ext cx="8412480" cy="292608"/>
          </a:xfrm>
          <a:prstGeom prst="rect">
            <a:avLst/>
          </a:prstGeom>
          <a:noFill/>
        </p:spPr>
        <p:txBody>
          <a:bodyPr wrap="square" anchor="t" lIns="45720" rIns="45720" tIns="18288" bIns="18288">
            <a:spAutoFit/>
          </a:bodyPr>
          <a:lstStyle/>
          <a:p>
            <a:pPr algn="l"/>
            <a:r>
              <a:rPr sz="1100" b="1">
                <a:solidFill>
                  <a:srgbClr val="47D7FF"/>
                </a:solidFill>
              </a:rPr>
              <a:t>CANONICAL CASE A · MATCHED (Load = Gen)</a:t>
            </a:r>
          </a:p>
        </p:txBody>
      </p:sp>
      <p:sp>
        <p:nvSpPr>
          <p:cNvPr id="5" name="TextBox 4"/>
          <p:cNvSpPr txBox="1"/>
          <p:nvPr/>
        </p:nvSpPr>
        <p:spPr>
          <a:xfrm>
            <a:off x="365760" y="438912"/>
            <a:ext cx="8412480" cy="502920"/>
          </a:xfrm>
          <a:prstGeom prst="rect">
            <a:avLst/>
          </a:prstGeom>
          <a:noFill/>
        </p:spPr>
        <p:txBody>
          <a:bodyPr wrap="square" anchor="t" lIns="45720" rIns="45720" tIns="18288" bIns="18288">
            <a:spAutoFit/>
          </a:bodyPr>
          <a:lstStyle/>
          <a:p>
            <a:pPr algn="l"/>
            <a:r>
              <a:rPr sz="2200" b="1">
                <a:solidFill>
                  <a:srgbClr val="F6FBFF"/>
                </a:solidFill>
              </a:rPr>
              <a:t>5-line EVN bill + CfD settlement when factory consumption exactly matches contracted solar</a:t>
            </a:r>
          </a:p>
        </p:txBody>
      </p:sp>
      <p:sp>
        <p:nvSpPr>
          <p:cNvPr id="6" name="Rectangle 5"/>
          <p:cNvSpPr/>
          <p:nvPr/>
        </p:nvSpPr>
        <p:spPr>
          <a:xfrm>
            <a:off x="365760" y="868680"/>
            <a:ext cx="1280160" cy="292608"/>
          </a:xfrm>
          <a:prstGeom prst="rect">
            <a:avLst/>
          </a:prstGeom>
          <a:solidFill>
            <a:srgbClr val="9AF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86968"/>
            <a:ext cx="1280160" cy="256032"/>
          </a:xfrm>
          <a:prstGeom prst="rect">
            <a:avLst/>
          </a:prstGeom>
          <a:noFill/>
        </p:spPr>
        <p:txBody>
          <a:bodyPr wrap="square" anchor="ctr" lIns="45720" rIns="45720" tIns="18288" bIns="18288">
            <a:spAutoFit/>
          </a:bodyPr>
          <a:lstStyle/>
          <a:p>
            <a:pPr algn="ctr"/>
            <a:r>
              <a:rPr sz="1000" b="1">
                <a:solidFill>
                  <a:srgbClr val="050816"/>
                </a:solidFill>
              </a:rPr>
              <a:t>MATCHED  (=)</a:t>
            </a:r>
          </a:p>
        </p:txBody>
      </p:sp>
      <p:sp>
        <p:nvSpPr>
          <p:cNvPr id="8" name="TextBox 7"/>
          <p:cNvSpPr txBox="1"/>
          <p:nvPr/>
        </p:nvSpPr>
        <p:spPr>
          <a:xfrm>
            <a:off x="365760" y="1216152"/>
            <a:ext cx="8412480" cy="384048"/>
          </a:xfrm>
          <a:prstGeom prst="rect">
            <a:avLst/>
          </a:prstGeom>
          <a:noFill/>
        </p:spPr>
        <p:txBody>
          <a:bodyPr wrap="square" anchor="t" lIns="45720" rIns="45720" tIns="18288" bIns="18288">
            <a:spAutoFit/>
          </a:bodyPr>
          <a:lstStyle/>
          <a:p>
            <a:pPr algn="l"/>
            <a:r>
              <a:rPr sz="1100" b="0">
                <a:solidFill>
                  <a:srgbClr val="F6FBFF"/>
                </a:solidFill>
              </a:rPr>
              <a:t>Factory: 4,200 kWh/h constant load × 24 h = 100,800 kWh/day. Solar: 4,200 kWh/h peak output × 24 h = 100,800 kWh/day. Every kWh of factory load is matched by a kWh of contracted solar.</a:t>
            </a:r>
          </a:p>
        </p:txBody>
      </p:sp>
      <p:sp>
        <p:nvSpPr>
          <p:cNvPr id="9" name="TextBox 8"/>
          <p:cNvSpPr txBox="1"/>
          <p:nvPr/>
        </p:nvSpPr>
        <p:spPr>
          <a:xfrm>
            <a:off x="365760" y="1673352"/>
            <a:ext cx="4023360" cy="219456"/>
          </a:xfrm>
          <a:prstGeom prst="rect">
            <a:avLst/>
          </a:prstGeom>
          <a:noFill/>
        </p:spPr>
        <p:txBody>
          <a:bodyPr wrap="square" anchor="t" lIns="45720" rIns="45720" tIns="18288" bIns="18288">
            <a:spAutoFit/>
          </a:bodyPr>
          <a:lstStyle/>
          <a:p>
            <a:pPr algn="l"/>
            <a:r>
              <a:rPr sz="900" b="1">
                <a:solidFill>
                  <a:srgbClr val="47D7FF"/>
                </a:solidFill>
              </a:rPr>
              <a:t>EVN bill (5-line, on matched volume)</a:t>
            </a:r>
          </a:p>
        </p:txBody>
      </p:sp>
      <p:sp>
        <p:nvSpPr>
          <p:cNvPr id="10" name="TextBox 9"/>
          <p:cNvSpPr txBox="1"/>
          <p:nvPr/>
        </p:nvSpPr>
        <p:spPr>
          <a:xfrm>
            <a:off x="365760" y="1892808"/>
            <a:ext cx="4023360" cy="1325880"/>
          </a:xfrm>
          <a:prstGeom prst="rect">
            <a:avLst/>
          </a:prstGeom>
          <a:noFill/>
        </p:spPr>
        <p:txBody>
          <a:bodyPr wrap="square" lIns="45720" rIns="45720" tIns="18288" bIns="18288">
            <a:spAutoFit/>
          </a:bodyPr>
          <a:lstStyle/>
          <a:p>
            <a:pPr algn="l"/>
            <a:r>
              <a:rPr sz="900" b="0">
                <a:solidFill>
                  <a:srgbClr val="F6FBFF"/>
                </a:solidFill>
              </a:rPr>
              <a:t>1. Market energy: 100,800 kWh x 1,427 VND/kWh x 1.0342 = 148,760,983 VND</a:t>
            </a:r>
          </a:p>
          <a:p>
            <a:pPr algn="l"/>
            <a:r>
              <a:rPr sz="900" b="0">
                <a:solidFill>
                  <a:srgbClr val="F6FBFF"/>
                </a:solidFill>
              </a:rPr>
              <a:t>2. System service + DPPA fees: 100,800 kWh x 523.3 VND/kWh = 52,748,640 VND</a:t>
            </a:r>
          </a:p>
          <a:p>
            <a:pPr algn="l"/>
            <a:r>
              <a:rPr sz="900" b="0">
                <a:solidFill>
                  <a:srgbClr val="8B97A8"/>
                </a:solidFill>
              </a:rPr>
              <a:t>3. Balancing fee: bundled in line 2</a:t>
            </a:r>
          </a:p>
          <a:p>
            <a:pPr algn="l"/>
            <a:r>
              <a:rPr sz="900" b="0">
                <a:solidFill>
                  <a:srgbClr val="8B97A8"/>
                </a:solidFill>
              </a:rPr>
              <a:t>4. Shortfall retail purchase: 0 kWh (no shortfall) = 0 VND</a:t>
            </a:r>
          </a:p>
          <a:p>
            <a:pPr algn="l"/>
            <a:r>
              <a:rPr sz="600" b="0">
                <a:solidFill>
                  <a:srgbClr val="F6FBFF"/>
                </a:solidFill>
              </a:rPr>
              <a:t/>
            </a:r>
          </a:p>
          <a:p>
            <a:pPr algn="l"/>
            <a:r>
              <a:rPr sz="1100" b="1">
                <a:solidFill>
                  <a:srgbClr val="47D7FF"/>
                </a:solidFill>
              </a:rPr>
              <a:t>Total EVN: 201,509,623 VND</a:t>
            </a:r>
          </a:p>
        </p:txBody>
      </p:sp>
      <p:sp>
        <p:nvSpPr>
          <p:cNvPr id="11" name="TextBox 10"/>
          <p:cNvSpPr txBox="1"/>
          <p:nvPr/>
        </p:nvSpPr>
        <p:spPr>
          <a:xfrm>
            <a:off x="4572000" y="1673352"/>
            <a:ext cx="4206240" cy="219456"/>
          </a:xfrm>
          <a:prstGeom prst="rect">
            <a:avLst/>
          </a:prstGeom>
          <a:noFill/>
        </p:spPr>
        <p:txBody>
          <a:bodyPr wrap="square" anchor="t" lIns="45720" rIns="45720" tIns="18288" bIns="18288">
            <a:spAutoFit/>
          </a:bodyPr>
          <a:lstStyle/>
          <a:p>
            <a:pPr algn="l"/>
            <a:r>
              <a:rPr sz="900" b="1">
                <a:solidFill>
                  <a:srgbClr val="FFD84F"/>
                </a:solidFill>
              </a:rPr>
              <a:t>CfD settlement (factory ↔ developer)</a:t>
            </a:r>
          </a:p>
        </p:txBody>
      </p:sp>
      <p:sp>
        <p:nvSpPr>
          <p:cNvPr id="12" name="TextBox 11"/>
          <p:cNvSpPr txBox="1"/>
          <p:nvPr/>
        </p:nvSpPr>
        <p:spPr>
          <a:xfrm>
            <a:off x="4572000" y="1892808"/>
            <a:ext cx="4206240" cy="1325880"/>
          </a:xfrm>
          <a:prstGeom prst="rect">
            <a:avLst/>
          </a:prstGeom>
          <a:noFill/>
        </p:spPr>
        <p:txBody>
          <a:bodyPr wrap="square" lIns="45720" rIns="45720" tIns="18288" bIns="18288">
            <a:spAutoFit/>
          </a:bodyPr>
          <a:lstStyle/>
          <a:p>
            <a:pPr algn="l"/>
            <a:r>
              <a:rPr sz="900" b="1">
                <a:solidFill>
                  <a:srgbClr val="FFD84F"/>
                </a:solidFill>
              </a:rPr>
              <a:t>5. CfD = (Strike - FMP) x Q_cfD</a:t>
            </a:r>
          </a:p>
          <a:p>
            <a:pPr algn="l"/>
            <a:r>
              <a:rPr sz="900" b="0">
                <a:solidFill>
                  <a:srgbClr val="F6FBFF"/>
                </a:solidFill>
              </a:rPr>
              <a:t>     = (2,000 - 1,427) x 100,800 kWh</a:t>
            </a:r>
          </a:p>
          <a:p>
            <a:pPr algn="l"/>
            <a:r>
              <a:rPr sz="900" b="0">
                <a:solidFill>
                  <a:srgbClr val="FFD84F"/>
                </a:solidFill>
              </a:rPr>
              <a:t>     = +57,758,400 VND  (factory pays developer)</a:t>
            </a:r>
          </a:p>
          <a:p>
            <a:pPr algn="l"/>
            <a:r>
              <a:rPr sz="600" b="0">
                <a:solidFill>
                  <a:srgbClr val="F6FBFF"/>
                </a:solidFill>
              </a:rPr>
              <a:t/>
            </a:r>
          </a:p>
          <a:p>
            <a:pPr algn="l"/>
            <a:r>
              <a:rPr sz="900" b="0">
                <a:solidFill>
                  <a:srgbClr val="8B97A8"/>
                </a:solidFill>
              </a:rPr>
              <a:t>FMP &lt; Strike =&gt; CfD is a net cost to the factory at this strike level.</a:t>
            </a:r>
          </a:p>
        </p:txBody>
      </p:sp>
      <p:sp>
        <p:nvSpPr>
          <p:cNvPr id="13" name="Rectangle 12"/>
          <p:cNvSpPr/>
          <p:nvPr/>
        </p:nvSpPr>
        <p:spPr>
          <a:xfrm>
            <a:off x="365760" y="3319272"/>
            <a:ext cx="8412480" cy="347472"/>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28415"/>
            <a:ext cx="8412480" cy="329184"/>
          </a:xfrm>
          <a:prstGeom prst="rect">
            <a:avLst/>
          </a:prstGeom>
          <a:noFill/>
        </p:spPr>
        <p:txBody>
          <a:bodyPr wrap="square" anchor="ctr" lIns="45720" rIns="45720" tIns="18288" bIns="18288">
            <a:spAutoFit/>
          </a:bodyPr>
          <a:lstStyle/>
          <a:p>
            <a:pPr algn="l"/>
            <a:r>
              <a:rPr sz="1300" b="1">
                <a:solidFill>
                  <a:srgbClr val="9AFFDE"/>
                </a:solidFill>
              </a:rPr>
              <a:t>Net = EVN + CfD = 201,509,623 + 57,758,400 = 259,268,023 VND  (2,572.10 VND/kWh)</a:t>
            </a:r>
          </a:p>
        </p:txBody>
      </p:sp>
      <p:sp>
        <p:nvSpPr>
          <p:cNvPr id="15" name="TextBox 14"/>
          <p:cNvSpPr txBox="1"/>
          <p:nvPr/>
        </p:nvSpPr>
        <p:spPr>
          <a:xfrm>
            <a:off x="365760" y="3739896"/>
            <a:ext cx="8412480" cy="219456"/>
          </a:xfrm>
          <a:prstGeom prst="rect">
            <a:avLst/>
          </a:prstGeom>
          <a:noFill/>
        </p:spPr>
        <p:txBody>
          <a:bodyPr wrap="square" anchor="t" lIns="45720" rIns="45720" tIns="18288" bIns="18288">
            <a:spAutoFit/>
          </a:bodyPr>
          <a:lstStyle/>
          <a:p>
            <a:pPr algn="l"/>
            <a:r>
              <a:rPr sz="900" b="1">
                <a:solidFill>
                  <a:srgbClr val="47D7FF"/>
                </a:solidFill>
              </a:rPr>
              <a:t>Formula breakdown</a:t>
            </a:r>
          </a:p>
        </p:txBody>
      </p:sp>
      <p:sp>
        <p:nvSpPr>
          <p:cNvPr id="16" name="TextBox 15"/>
          <p:cNvSpPr txBox="1"/>
          <p:nvPr/>
        </p:nvSpPr>
        <p:spPr>
          <a:xfrm>
            <a:off x="365760" y="3959352"/>
            <a:ext cx="8412480" cy="502920"/>
          </a:xfrm>
          <a:prstGeom prst="rect">
            <a:avLst/>
          </a:prstGeom>
          <a:noFill/>
        </p:spPr>
        <p:txBody>
          <a:bodyPr wrap="square" lIns="45720" rIns="45720" tIns="18288" bIns="18288">
            <a:spAutoFit/>
          </a:bodyPr>
          <a:lstStyle/>
          <a:p>
            <a:pPr algn="l"/>
            <a:r>
              <a:rPr sz="800" b="0">
                <a:solidFill>
                  <a:srgbClr val="8B97A8"/>
                </a:solidFill>
              </a:rPr>
              <a:t>EVN = FMP x Kpp x matched + FEES x matched = 1,427 x 1.0342 x 100,800 + 523.3 x 100,800 = 201,509,623 VND</a:t>
            </a:r>
          </a:p>
          <a:p>
            <a:pPr algn="l"/>
            <a:r>
              <a:rPr sz="800" b="0">
                <a:solidFill>
                  <a:srgbClr val="8B97A8"/>
                </a:solidFill>
              </a:rPr>
              <a:t>CfD = (Strike - FMP) x matched = (2,000 - 1,427) x 100,800 = 57,758,400 VND  (positive =&gt; factory pays developer)</a:t>
            </a:r>
          </a:p>
          <a:p>
            <a:pPr algn="l"/>
            <a:r>
              <a:rPr sz="800" b="1">
                <a:solidFill>
                  <a:srgbClr val="9AFFDE"/>
                </a:solidFill>
              </a:rPr>
              <a:t>Net = 259,268,023 VND  vs BAU = 222,170,256 VND  =&gt; Year-1 premium = 37,097,767 VND (+16.7%). Savings build as EVN escalates ~4%/yr.</a:t>
            </a:r>
          </a:p>
        </p:txBody>
      </p:sp>
      <p:sp>
        <p:nvSpPr>
          <p:cNvPr id="17" name="TextBox 16"/>
          <p:cNvSpPr txBox="1"/>
          <p:nvPr/>
        </p:nvSpPr>
        <p:spPr>
          <a:xfrm>
            <a:off x="365760" y="4544568"/>
            <a:ext cx="8412480" cy="384048"/>
          </a:xfrm>
          <a:prstGeom prst="rect">
            <a:avLst/>
          </a:prstGeom>
          <a:noFill/>
        </p:spPr>
        <p:txBody>
          <a:bodyPr wrap="square" anchor="t" lIns="45720" rIns="45720" tIns="18288" bIns="18288">
            <a:spAutoFit/>
          </a:bodyPr>
          <a:lstStyle/>
          <a:p>
            <a:pPr algn="l"/>
            <a:r>
              <a:rPr sz="1000" b="1">
                <a:solidFill>
                  <a:srgbClr val="FFD84F"/>
                </a:solidFill>
              </a:rPr>
              <a:t>vs BAU retail-only: 222,170,256 VND (2,204 VND/kWh). DPPA net 259,268,023 VND (2,572 VND/kWh) -- a 16.7% Year-1 premium. The payoff is price certainty over the horizon; savings build as EVN tariffs escalate (~4%/yr).</a:t>
            </a:r>
          </a:p>
        </p:txBody>
      </p:sp>
      <p:sp>
        <p:nvSpPr>
          <p:cNvPr id="18" name="TextBox 17"/>
          <p:cNvSpPr txBox="1"/>
          <p:nvPr/>
        </p:nvSpPr>
        <p:spPr>
          <a:xfrm>
            <a:off x="365760" y="4773168"/>
            <a:ext cx="8412480" cy="201168"/>
          </a:xfrm>
          <a:prstGeom prst="rect">
            <a:avLst/>
          </a:prstGeom>
          <a:noFill/>
        </p:spPr>
        <p:txBody>
          <a:bodyPr wrap="square" anchor="t" lIns="45720" rIns="45720" tIns="18288" bIns="18288">
            <a:spAutoFit/>
          </a:bodyPr>
          <a:lstStyle/>
          <a:p>
            <a:pPr algn="l"/>
            <a:r>
              <a:rPr sz="800" b="0">
                <a:solidFill>
                  <a:srgbClr val="8B97A8"/>
                </a:solidFill>
              </a:rPr>
              <a:t>FMP ~1,427 VND/kWh is illustrative (NSMO/ERAV not publicly published). Retail 2,204 / fees 523.3 / loss 1.0342 are 2025 verified; settlement modeled hourly (Circular 16/2025 = 30-min).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extBox 3"/>
          <p:cNvSpPr txBox="1"/>
          <p:nvPr/>
        </p:nvSpPr>
        <p:spPr>
          <a:xfrm>
            <a:off x="365760" y="164592"/>
            <a:ext cx="8412480" cy="292608"/>
          </a:xfrm>
          <a:prstGeom prst="rect">
            <a:avLst/>
          </a:prstGeom>
          <a:noFill/>
        </p:spPr>
        <p:txBody>
          <a:bodyPr wrap="square" anchor="t" lIns="45720" rIns="45720" tIns="18288" bIns="18288">
            <a:spAutoFit/>
          </a:bodyPr>
          <a:lstStyle/>
          <a:p>
            <a:pPr algn="l"/>
            <a:r>
              <a:rPr sz="1100" b="1">
                <a:solidFill>
                  <a:srgbClr val="47D7FF"/>
                </a:solidFill>
              </a:rPr>
              <a:t>CANONICAL CASE B · SHORTFALL (Load &gt; Gen)</a:t>
            </a:r>
          </a:p>
        </p:txBody>
      </p:sp>
      <p:sp>
        <p:nvSpPr>
          <p:cNvPr id="5" name="TextBox 4"/>
          <p:cNvSpPr txBox="1"/>
          <p:nvPr/>
        </p:nvSpPr>
        <p:spPr>
          <a:xfrm>
            <a:off x="365760" y="438912"/>
            <a:ext cx="8412480" cy="502920"/>
          </a:xfrm>
          <a:prstGeom prst="rect">
            <a:avLst/>
          </a:prstGeom>
          <a:noFill/>
        </p:spPr>
        <p:txBody>
          <a:bodyPr wrap="square" anchor="t" lIns="45720" rIns="45720" tIns="18288" bIns="18288">
            <a:spAutoFit/>
          </a:bodyPr>
          <a:lstStyle/>
          <a:p>
            <a:pPr algn="l"/>
            <a:r>
              <a:rPr sz="2200" b="1">
                <a:solidFill>
                  <a:srgbClr val="F6FBFF"/>
                </a:solidFill>
              </a:rPr>
              <a:t>5-line EVN bill + residual retail purchase + CfD when factory load exceeds contracted generation</a:t>
            </a:r>
          </a:p>
        </p:txBody>
      </p:sp>
      <p:sp>
        <p:nvSpPr>
          <p:cNvPr id="6" name="Rectangle 5"/>
          <p:cNvSpPr/>
          <p:nvPr/>
        </p:nvSpPr>
        <p:spPr>
          <a:xfrm>
            <a:off x="365760" y="868680"/>
            <a:ext cx="1280160" cy="292608"/>
          </a:xfrm>
          <a:prstGeom prst="rect">
            <a:avLst/>
          </a:prstGeom>
          <a:solidFill>
            <a:srgbClr val="FFD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86968"/>
            <a:ext cx="1280160" cy="256032"/>
          </a:xfrm>
          <a:prstGeom prst="rect">
            <a:avLst/>
          </a:prstGeom>
          <a:noFill/>
        </p:spPr>
        <p:txBody>
          <a:bodyPr wrap="square" anchor="ctr" lIns="45720" rIns="45720" tIns="18288" bIns="18288">
            <a:spAutoFit/>
          </a:bodyPr>
          <a:lstStyle/>
          <a:p>
            <a:pPr algn="ctr"/>
            <a:r>
              <a:rPr sz="1000" b="1">
                <a:solidFill>
                  <a:srgbClr val="050816"/>
                </a:solidFill>
              </a:rPr>
              <a:t>SHORTFALL  (&gt;)</a:t>
            </a:r>
          </a:p>
        </p:txBody>
      </p:sp>
      <p:sp>
        <p:nvSpPr>
          <p:cNvPr id="8" name="TextBox 7"/>
          <p:cNvSpPr txBox="1"/>
          <p:nvPr/>
        </p:nvSpPr>
        <p:spPr>
          <a:xfrm>
            <a:off x="365760" y="1216152"/>
            <a:ext cx="8412480" cy="384048"/>
          </a:xfrm>
          <a:prstGeom prst="rect">
            <a:avLst/>
          </a:prstGeom>
          <a:noFill/>
        </p:spPr>
        <p:txBody>
          <a:bodyPr wrap="square" anchor="t" lIns="45720" rIns="45720" tIns="18288" bIns="18288">
            <a:spAutoFit/>
          </a:bodyPr>
          <a:lstStyle/>
          <a:p>
            <a:pPr algn="l"/>
            <a:r>
              <a:rPr sz="1100" b="0">
                <a:solidFill>
                  <a:srgbClr val="F6FBFF"/>
                </a:solidFill>
              </a:rPr>
              <a:t>Factory: 6,100 kWh/h × 24 h = 146,400 kWh/day. Solar: 4,200 kWh/h × 24 h = 100,800 kWh/day. Shortfall: 1,900 kWh/h × 24 h = 45,600 kWh/day — bought at retail.</a:t>
            </a:r>
          </a:p>
        </p:txBody>
      </p:sp>
      <p:sp>
        <p:nvSpPr>
          <p:cNvPr id="9" name="TextBox 8"/>
          <p:cNvSpPr txBox="1"/>
          <p:nvPr/>
        </p:nvSpPr>
        <p:spPr>
          <a:xfrm>
            <a:off x="365760" y="1673352"/>
            <a:ext cx="4023360" cy="219456"/>
          </a:xfrm>
          <a:prstGeom prst="rect">
            <a:avLst/>
          </a:prstGeom>
          <a:noFill/>
        </p:spPr>
        <p:txBody>
          <a:bodyPr wrap="square" anchor="t" lIns="45720" rIns="45720" tIns="18288" bIns="18288">
            <a:spAutoFit/>
          </a:bodyPr>
          <a:lstStyle/>
          <a:p>
            <a:pPr algn="l"/>
            <a:r>
              <a:rPr sz="900" b="1">
                <a:solidFill>
                  <a:srgbClr val="47D7FF"/>
                </a:solidFill>
              </a:rPr>
              <a:t>EVN bill (5-line, on matched volume)</a:t>
            </a:r>
          </a:p>
        </p:txBody>
      </p:sp>
      <p:sp>
        <p:nvSpPr>
          <p:cNvPr id="10" name="TextBox 9"/>
          <p:cNvSpPr txBox="1"/>
          <p:nvPr/>
        </p:nvSpPr>
        <p:spPr>
          <a:xfrm>
            <a:off x="365760" y="1892808"/>
            <a:ext cx="4023360" cy="1325880"/>
          </a:xfrm>
          <a:prstGeom prst="rect">
            <a:avLst/>
          </a:prstGeom>
          <a:noFill/>
        </p:spPr>
        <p:txBody>
          <a:bodyPr wrap="square" lIns="45720" rIns="45720" tIns="18288" bIns="18288">
            <a:spAutoFit/>
          </a:bodyPr>
          <a:lstStyle/>
          <a:p>
            <a:pPr algn="l"/>
            <a:r>
              <a:rPr sz="900" b="0">
                <a:solidFill>
                  <a:srgbClr val="F6FBFF"/>
                </a:solidFill>
              </a:rPr>
              <a:t>1. Market energy: 100,800 kWh × 1,427 × 1.0342 = 148,760,983 VND</a:t>
            </a:r>
          </a:p>
          <a:p>
            <a:pPr algn="l"/>
            <a:r>
              <a:rPr sz="900" b="0">
                <a:solidFill>
                  <a:srgbClr val="F6FBFF"/>
                </a:solidFill>
              </a:rPr>
              <a:t>2. System service + DPPA fees: 100,800 kWh × 523.3 = 52,748,640 VND</a:t>
            </a:r>
          </a:p>
          <a:p>
            <a:pPr algn="l"/>
            <a:r>
              <a:rPr sz="900" b="0">
                <a:solidFill>
                  <a:srgbClr val="8B97A8"/>
                </a:solidFill>
              </a:rPr>
              <a:t>3. Difference / balancing fee: bundled in line 2</a:t>
            </a:r>
          </a:p>
          <a:p>
            <a:pPr algn="l"/>
            <a:r>
              <a:rPr sz="900" b="1">
                <a:solidFill>
                  <a:srgbClr val="FF5A5F"/>
                </a:solidFill>
              </a:rPr>
              <a:t>4. Shortfall retail purchase: 45,600 kWh × 2,204.07 = 100,505,592 VND</a:t>
            </a:r>
          </a:p>
          <a:p>
            <a:pPr algn="l"/>
            <a:r>
              <a:rPr sz="600" b="0">
                <a:solidFill>
                  <a:srgbClr val="F6FBFF"/>
                </a:solidFill>
              </a:rPr>
              <a:t/>
            </a:r>
          </a:p>
          <a:p>
            <a:pPr algn="l"/>
            <a:r>
              <a:rPr sz="1100" b="1">
                <a:solidFill>
                  <a:srgbClr val="47D7FF"/>
                </a:solidFill>
              </a:rPr>
              <a:t>Total EVN: 302,015,215 VND</a:t>
            </a:r>
          </a:p>
        </p:txBody>
      </p:sp>
      <p:sp>
        <p:nvSpPr>
          <p:cNvPr id="11" name="TextBox 10"/>
          <p:cNvSpPr txBox="1"/>
          <p:nvPr/>
        </p:nvSpPr>
        <p:spPr>
          <a:xfrm>
            <a:off x="4572000" y="1673352"/>
            <a:ext cx="4206240" cy="219456"/>
          </a:xfrm>
          <a:prstGeom prst="rect">
            <a:avLst/>
          </a:prstGeom>
          <a:noFill/>
        </p:spPr>
        <p:txBody>
          <a:bodyPr wrap="square" anchor="t" lIns="45720" rIns="45720" tIns="18288" bIns="18288">
            <a:spAutoFit/>
          </a:bodyPr>
          <a:lstStyle/>
          <a:p>
            <a:pPr algn="l"/>
            <a:r>
              <a:rPr sz="900" b="1">
                <a:solidFill>
                  <a:srgbClr val="FFD84F"/>
                </a:solidFill>
              </a:rPr>
              <a:t>CfD settlement (factory ↔ developer)</a:t>
            </a:r>
          </a:p>
        </p:txBody>
      </p:sp>
      <p:sp>
        <p:nvSpPr>
          <p:cNvPr id="12" name="TextBox 11"/>
          <p:cNvSpPr txBox="1"/>
          <p:nvPr/>
        </p:nvSpPr>
        <p:spPr>
          <a:xfrm>
            <a:off x="4572000" y="1892808"/>
            <a:ext cx="4206240" cy="1325880"/>
          </a:xfrm>
          <a:prstGeom prst="rect">
            <a:avLst/>
          </a:prstGeom>
          <a:noFill/>
        </p:spPr>
        <p:txBody>
          <a:bodyPr wrap="square" lIns="45720" rIns="45720" tIns="18288" bIns="18288">
            <a:spAutoFit/>
          </a:bodyPr>
          <a:lstStyle/>
          <a:p>
            <a:pPr algn="l"/>
            <a:r>
              <a:rPr sz="900" b="1">
                <a:solidFill>
                  <a:srgbClr val="FFD84F"/>
                </a:solidFill>
              </a:rPr>
              <a:t>5. CfD = (Strike − FMP) × Q_cfD</a:t>
            </a:r>
          </a:p>
          <a:p>
            <a:pPr algn="l"/>
            <a:r>
              <a:rPr sz="900" b="0">
                <a:solidFill>
                  <a:srgbClr val="F6FBFF"/>
                </a:solidFill>
              </a:rPr>
              <a:t>     = (2,000 − 1,427) × 100,800 kWh</a:t>
            </a:r>
          </a:p>
          <a:p>
            <a:pPr algn="l"/>
            <a:r>
              <a:rPr sz="900" b="0">
                <a:solidFill>
                  <a:srgbClr val="FFD84F"/>
                </a:solidFill>
              </a:rPr>
              <a:t>     = +57,758,400 VND  (factory pays developer)</a:t>
            </a:r>
          </a:p>
          <a:p>
            <a:pPr algn="l"/>
            <a:r>
              <a:rPr sz="600" b="0">
                <a:solidFill>
                  <a:srgbClr val="F6FBFF"/>
                </a:solidFill>
              </a:rPr>
              <a:t/>
            </a:r>
          </a:p>
          <a:p>
            <a:pPr algn="l"/>
            <a:r>
              <a:rPr sz="900" b="0">
                <a:solidFill>
                  <a:srgbClr val="8B97A8"/>
                </a:solidFill>
              </a:rPr>
              <a:t>CfD settles only on matched kWh — shortfall is a separate retail line.</a:t>
            </a:r>
          </a:p>
          <a:p>
            <a:pPr algn="l"/>
            <a:r>
              <a:rPr sz="900" b="0">
                <a:solidFill>
                  <a:srgbClr val="8B97A8"/>
                </a:solidFill>
              </a:rPr>
              <a:t>Two bills: DPPA + residual retail on the gap.</a:t>
            </a:r>
          </a:p>
        </p:txBody>
      </p:sp>
      <p:sp>
        <p:nvSpPr>
          <p:cNvPr id="13" name="Rectangle 12"/>
          <p:cNvSpPr/>
          <p:nvPr/>
        </p:nvSpPr>
        <p:spPr>
          <a:xfrm>
            <a:off x="365760" y="3319272"/>
            <a:ext cx="8412480" cy="347472"/>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28415"/>
            <a:ext cx="8412480" cy="329184"/>
          </a:xfrm>
          <a:prstGeom prst="rect">
            <a:avLst/>
          </a:prstGeom>
          <a:noFill/>
        </p:spPr>
        <p:txBody>
          <a:bodyPr wrap="square" anchor="ctr" lIns="45720" rIns="45720" tIns="18288" bIns="18288">
            <a:spAutoFit/>
          </a:bodyPr>
          <a:lstStyle/>
          <a:p>
            <a:pPr algn="l"/>
            <a:r>
              <a:rPr sz="1300" b="1">
                <a:solidFill>
                  <a:srgbClr val="9AFFDE"/>
                </a:solidFill>
              </a:rPr>
              <a:t>Net = EVN + CfD = 302,015,215 + 57,758,400 = 359,773,615 VND  (2,457.47 VND/kWh blended)</a:t>
            </a:r>
          </a:p>
        </p:txBody>
      </p:sp>
      <p:sp>
        <p:nvSpPr>
          <p:cNvPr id="15" name="TextBox 14"/>
          <p:cNvSpPr txBox="1"/>
          <p:nvPr/>
        </p:nvSpPr>
        <p:spPr>
          <a:xfrm>
            <a:off x="365760" y="3739896"/>
            <a:ext cx="8412480" cy="219456"/>
          </a:xfrm>
          <a:prstGeom prst="rect">
            <a:avLst/>
          </a:prstGeom>
          <a:noFill/>
        </p:spPr>
        <p:txBody>
          <a:bodyPr wrap="square" anchor="t" lIns="45720" rIns="45720" tIns="18288" bIns="18288">
            <a:spAutoFit/>
          </a:bodyPr>
          <a:lstStyle/>
          <a:p>
            <a:pPr algn="l"/>
            <a:r>
              <a:rPr sz="900" b="1">
                <a:solidFill>
                  <a:srgbClr val="47D7FF"/>
                </a:solidFill>
              </a:rPr>
              <a:t>Formula breakdown</a:t>
            </a:r>
          </a:p>
        </p:txBody>
      </p:sp>
      <p:sp>
        <p:nvSpPr>
          <p:cNvPr id="16" name="TextBox 15"/>
          <p:cNvSpPr txBox="1"/>
          <p:nvPr/>
        </p:nvSpPr>
        <p:spPr>
          <a:xfrm>
            <a:off x="365760" y="3959352"/>
            <a:ext cx="8412480" cy="502920"/>
          </a:xfrm>
          <a:prstGeom prst="rect">
            <a:avLst/>
          </a:prstGeom>
          <a:noFill/>
        </p:spPr>
        <p:txBody>
          <a:bodyPr wrap="square" lIns="45720" rIns="45720" tIns="18288" bIns="18288">
            <a:spAutoFit/>
          </a:bodyPr>
          <a:lstStyle/>
          <a:p>
            <a:pPr algn="l"/>
            <a:r>
              <a:rPr sz="800" b="0">
                <a:solidFill>
                  <a:srgbClr val="8B97A8"/>
                </a:solidFill>
              </a:rPr>
              <a:t>EVN = (FMP x Kpp + FEES) x matched + RETAIL x shortfall = (1,427 x 1.0342 + 523.3) x 100,800 + 2,204 x 45,600 = 302,015,215 VND</a:t>
            </a:r>
          </a:p>
          <a:p>
            <a:pPr algn="l"/>
            <a:r>
              <a:rPr sz="800" b="0">
                <a:solidFill>
                  <a:srgbClr val="8B97A8"/>
                </a:solidFill>
              </a:rPr>
              <a:t>CfD = (Strike - FMP) x matched = (2,000 - 1,427) x 100,800 = 57,758,400 VND</a:t>
            </a:r>
          </a:p>
          <a:p>
            <a:pPr algn="l"/>
            <a:r>
              <a:rPr sz="800" b="1">
                <a:solidFill>
                  <a:srgbClr val="9AFFDE"/>
                </a:solidFill>
              </a:rPr>
              <a:t>Net = 359,773,615 VND  vs BAU = 322,675,848 VND  =&gt; Year-1 premium = 37,097,767 VND (+11.5%); shortfall at retail (2,204) dilutes the matched-kWh premium.</a:t>
            </a:r>
          </a:p>
        </p:txBody>
      </p:sp>
      <p:sp>
        <p:nvSpPr>
          <p:cNvPr id="17" name="TextBox 16"/>
          <p:cNvSpPr txBox="1"/>
          <p:nvPr/>
        </p:nvSpPr>
        <p:spPr>
          <a:xfrm>
            <a:off x="365760" y="4544568"/>
            <a:ext cx="8412480" cy="384048"/>
          </a:xfrm>
          <a:prstGeom prst="rect">
            <a:avLst/>
          </a:prstGeom>
          <a:noFill/>
        </p:spPr>
        <p:txBody>
          <a:bodyPr wrap="square" anchor="t" lIns="45720" rIns="45720" tIns="18288" bIns="18288">
            <a:spAutoFit/>
          </a:bodyPr>
          <a:lstStyle/>
          <a:p>
            <a:pPr algn="l"/>
            <a:r>
              <a:rPr sz="1000" b="1">
                <a:solidFill>
                  <a:srgbClr val="FFD84F"/>
                </a:solidFill>
              </a:rPr>
              <a:t>vs BAU retail-only: 322,675,848 VND (2,204 VND/kWh blended). DPPA net 359,773,615 VND (2,457 VND/kWh blended) -- a 11.5% Year-1 premium. Blended rate is lower than Cases A/C because shortfall kWh buy at retail (2,204). Payoff is still price certainty; savings build as EVN escalates.</a:t>
            </a:r>
          </a:p>
        </p:txBody>
      </p:sp>
      <p:sp>
        <p:nvSpPr>
          <p:cNvPr id="18" name="TextBox 17"/>
          <p:cNvSpPr txBox="1"/>
          <p:nvPr/>
        </p:nvSpPr>
        <p:spPr>
          <a:xfrm>
            <a:off x="365760" y="4773168"/>
            <a:ext cx="8412480" cy="201168"/>
          </a:xfrm>
          <a:prstGeom prst="rect">
            <a:avLst/>
          </a:prstGeom>
          <a:noFill/>
        </p:spPr>
        <p:txBody>
          <a:bodyPr wrap="square" anchor="t" lIns="45720" rIns="45720" tIns="18288" bIns="18288">
            <a:spAutoFit/>
          </a:bodyPr>
          <a:lstStyle/>
          <a:p>
            <a:pPr algn="l"/>
            <a:r>
              <a:rPr sz="800" b="0">
                <a:solidFill>
                  <a:srgbClr val="8B97A8"/>
                </a:solidFill>
              </a:rPr>
              <a:t>FMP ~1,427 VND/kWh is illustrative (NSMO/ERAV not publicly published). Retail 2,204 / fees 523.3 / loss 1.0342 are 2025 verified; settlement modeled hourly (Circular 16/2025 = 30-min).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extBox 3"/>
          <p:cNvSpPr txBox="1"/>
          <p:nvPr/>
        </p:nvSpPr>
        <p:spPr>
          <a:xfrm>
            <a:off x="365760" y="164592"/>
            <a:ext cx="8412480" cy="292608"/>
          </a:xfrm>
          <a:prstGeom prst="rect">
            <a:avLst/>
          </a:prstGeom>
          <a:noFill/>
        </p:spPr>
        <p:txBody>
          <a:bodyPr wrap="square" anchor="t" lIns="45720" rIns="45720" tIns="18288" bIns="18288">
            <a:spAutoFit/>
          </a:bodyPr>
          <a:lstStyle/>
          <a:p>
            <a:pPr algn="l"/>
            <a:r>
              <a:rPr sz="1100" b="1">
                <a:solidFill>
                  <a:srgbClr val="47D7FF"/>
                </a:solidFill>
              </a:rPr>
              <a:t>CANONICAL CASE C · EXCESS (Load &lt; Gen)</a:t>
            </a:r>
          </a:p>
        </p:txBody>
      </p:sp>
      <p:sp>
        <p:nvSpPr>
          <p:cNvPr id="5" name="TextBox 4"/>
          <p:cNvSpPr txBox="1"/>
          <p:nvPr/>
        </p:nvSpPr>
        <p:spPr>
          <a:xfrm>
            <a:off x="365760" y="438912"/>
            <a:ext cx="8412480" cy="502920"/>
          </a:xfrm>
          <a:prstGeom prst="rect">
            <a:avLst/>
          </a:prstGeom>
          <a:noFill/>
        </p:spPr>
        <p:txBody>
          <a:bodyPr wrap="square" anchor="t" lIns="45720" rIns="45720" tIns="18288" bIns="18288">
            <a:spAutoFit/>
          </a:bodyPr>
          <a:lstStyle/>
          <a:p>
            <a:pPr algn="l"/>
            <a:r>
              <a:rPr sz="2200" b="1">
                <a:solidFill>
                  <a:srgbClr val="F6FBFF"/>
                </a:solidFill>
              </a:rPr>
              <a:t>5-line EVN bill + CfD when contracted generation exceeds factory consumption; CfD caps at consumed volume</a:t>
            </a:r>
          </a:p>
        </p:txBody>
      </p:sp>
      <p:sp>
        <p:nvSpPr>
          <p:cNvPr id="6" name="Rectangle 5"/>
          <p:cNvSpPr/>
          <p:nvPr/>
        </p:nvSpPr>
        <p:spPr>
          <a:xfrm>
            <a:off x="365760" y="868680"/>
            <a:ext cx="1280160" cy="292608"/>
          </a:xfrm>
          <a:prstGeom prst="rect">
            <a:avLst/>
          </a:prstGeom>
          <a:solidFill>
            <a:srgbClr val="47D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86968"/>
            <a:ext cx="1280160" cy="256032"/>
          </a:xfrm>
          <a:prstGeom prst="rect">
            <a:avLst/>
          </a:prstGeom>
          <a:noFill/>
        </p:spPr>
        <p:txBody>
          <a:bodyPr wrap="square" anchor="ctr" lIns="45720" rIns="45720" tIns="18288" bIns="18288">
            <a:spAutoFit/>
          </a:bodyPr>
          <a:lstStyle/>
          <a:p>
            <a:pPr algn="ctr"/>
            <a:r>
              <a:rPr sz="1000" b="1">
                <a:solidFill>
                  <a:srgbClr val="050816"/>
                </a:solidFill>
              </a:rPr>
              <a:t>EXCESS  (&lt;)</a:t>
            </a:r>
          </a:p>
        </p:txBody>
      </p:sp>
      <p:sp>
        <p:nvSpPr>
          <p:cNvPr id="8" name="TextBox 7"/>
          <p:cNvSpPr txBox="1"/>
          <p:nvPr/>
        </p:nvSpPr>
        <p:spPr>
          <a:xfrm>
            <a:off x="365760" y="1216152"/>
            <a:ext cx="8412480" cy="384048"/>
          </a:xfrm>
          <a:prstGeom prst="rect">
            <a:avLst/>
          </a:prstGeom>
          <a:noFill/>
        </p:spPr>
        <p:txBody>
          <a:bodyPr wrap="square" anchor="t" lIns="45720" rIns="45720" tIns="18288" bIns="18288">
            <a:spAutoFit/>
          </a:bodyPr>
          <a:lstStyle/>
          <a:p>
            <a:pPr algn="l"/>
            <a:r>
              <a:rPr sz="1100" b="0">
                <a:solidFill>
                  <a:srgbClr val="F6FBFF"/>
                </a:solidFill>
              </a:rPr>
              <a:t>Factory: 2,600 kWh/h × 24 h = 62,400 kWh/day. Solar: 4,700 kWh/h × 24 h = 112,800 kWh/day. Excess: 2,100 kWh/h × 24 h = 50,400 kWh/day — generator keeps the spot revenue, no CfD applies.</a:t>
            </a:r>
          </a:p>
        </p:txBody>
      </p:sp>
      <p:sp>
        <p:nvSpPr>
          <p:cNvPr id="9" name="TextBox 8"/>
          <p:cNvSpPr txBox="1"/>
          <p:nvPr/>
        </p:nvSpPr>
        <p:spPr>
          <a:xfrm>
            <a:off x="365760" y="1673352"/>
            <a:ext cx="4023360" cy="219456"/>
          </a:xfrm>
          <a:prstGeom prst="rect">
            <a:avLst/>
          </a:prstGeom>
          <a:noFill/>
        </p:spPr>
        <p:txBody>
          <a:bodyPr wrap="square" anchor="t" lIns="45720" rIns="45720" tIns="18288" bIns="18288">
            <a:spAutoFit/>
          </a:bodyPr>
          <a:lstStyle/>
          <a:p>
            <a:pPr algn="l"/>
            <a:r>
              <a:rPr sz="900" b="1">
                <a:solidFill>
                  <a:srgbClr val="47D7FF"/>
                </a:solidFill>
              </a:rPr>
              <a:t>EVN bill (5-line, on matched volume)</a:t>
            </a:r>
          </a:p>
        </p:txBody>
      </p:sp>
      <p:sp>
        <p:nvSpPr>
          <p:cNvPr id="10" name="TextBox 9"/>
          <p:cNvSpPr txBox="1"/>
          <p:nvPr/>
        </p:nvSpPr>
        <p:spPr>
          <a:xfrm>
            <a:off x="365760" y="1892808"/>
            <a:ext cx="4023360" cy="1325880"/>
          </a:xfrm>
          <a:prstGeom prst="rect">
            <a:avLst/>
          </a:prstGeom>
          <a:noFill/>
        </p:spPr>
        <p:txBody>
          <a:bodyPr wrap="square" lIns="45720" rIns="45720" tIns="18288" bIns="18288">
            <a:spAutoFit/>
          </a:bodyPr>
          <a:lstStyle/>
          <a:p>
            <a:pPr algn="l"/>
            <a:r>
              <a:rPr sz="900" b="0">
                <a:solidFill>
                  <a:srgbClr val="F6FBFF"/>
                </a:solidFill>
              </a:rPr>
              <a:t>1. Market energy: 62,400 kWh × 1,427 × 1.0342 = 92,090,132 VND</a:t>
            </a:r>
          </a:p>
          <a:p>
            <a:pPr algn="l"/>
            <a:r>
              <a:rPr sz="900" b="0">
                <a:solidFill>
                  <a:srgbClr val="F6FBFF"/>
                </a:solidFill>
              </a:rPr>
              <a:t>2. System service + DPPA fees: 62,400 kWh × 523.3 = 32,653,920 VND</a:t>
            </a:r>
          </a:p>
          <a:p>
            <a:pPr algn="l"/>
            <a:r>
              <a:rPr sz="900" b="0">
                <a:solidFill>
                  <a:srgbClr val="8B97A8"/>
                </a:solidFill>
              </a:rPr>
              <a:t>3. Difference / balancing fee: bundled in line 2</a:t>
            </a:r>
          </a:p>
          <a:p>
            <a:pPr algn="l"/>
            <a:r>
              <a:rPr sz="900" b="0">
                <a:solidFill>
                  <a:srgbClr val="8B97A8"/>
                </a:solidFill>
              </a:rPr>
              <a:t>4. Shortfall retail purchase: 0 kWh (Load &lt; Gen) = 0 VND</a:t>
            </a:r>
          </a:p>
          <a:p>
            <a:pPr algn="l"/>
            <a:r>
              <a:rPr sz="600" b="0">
                <a:solidFill>
                  <a:srgbClr val="F6FBFF"/>
                </a:solidFill>
              </a:rPr>
              <a:t/>
            </a:r>
          </a:p>
          <a:p>
            <a:pPr algn="l"/>
            <a:r>
              <a:rPr sz="1100" b="1">
                <a:solidFill>
                  <a:srgbClr val="47D7FF"/>
                </a:solidFill>
              </a:rPr>
              <a:t>Total EVN: 124,744,052 VND</a:t>
            </a:r>
          </a:p>
        </p:txBody>
      </p:sp>
      <p:sp>
        <p:nvSpPr>
          <p:cNvPr id="11" name="TextBox 10"/>
          <p:cNvSpPr txBox="1"/>
          <p:nvPr/>
        </p:nvSpPr>
        <p:spPr>
          <a:xfrm>
            <a:off x="4572000" y="1673352"/>
            <a:ext cx="4206240" cy="219456"/>
          </a:xfrm>
          <a:prstGeom prst="rect">
            <a:avLst/>
          </a:prstGeom>
          <a:noFill/>
        </p:spPr>
        <p:txBody>
          <a:bodyPr wrap="square" anchor="t" lIns="45720" rIns="45720" tIns="18288" bIns="18288">
            <a:spAutoFit/>
          </a:bodyPr>
          <a:lstStyle/>
          <a:p>
            <a:pPr algn="l"/>
            <a:r>
              <a:rPr sz="900" b="1">
                <a:solidFill>
                  <a:srgbClr val="FFD84F"/>
                </a:solidFill>
              </a:rPr>
              <a:t>CfD settlement (factory ↔ developer)</a:t>
            </a:r>
          </a:p>
        </p:txBody>
      </p:sp>
      <p:sp>
        <p:nvSpPr>
          <p:cNvPr id="12" name="TextBox 11"/>
          <p:cNvSpPr txBox="1"/>
          <p:nvPr/>
        </p:nvSpPr>
        <p:spPr>
          <a:xfrm>
            <a:off x="4572000" y="1892808"/>
            <a:ext cx="4206240" cy="1325880"/>
          </a:xfrm>
          <a:prstGeom prst="rect">
            <a:avLst/>
          </a:prstGeom>
          <a:noFill/>
        </p:spPr>
        <p:txBody>
          <a:bodyPr wrap="square" lIns="45720" rIns="45720" tIns="18288" bIns="18288">
            <a:spAutoFit/>
          </a:bodyPr>
          <a:lstStyle/>
          <a:p>
            <a:pPr algn="l"/>
            <a:r>
              <a:rPr sz="900" b="1">
                <a:solidFill>
                  <a:srgbClr val="FFD84F"/>
                </a:solidFill>
              </a:rPr>
              <a:t>5. CfD = (Strike − FMP) × Q_cfD, capped at consumed volume</a:t>
            </a:r>
          </a:p>
          <a:p>
            <a:pPr algn="l"/>
            <a:r>
              <a:rPr sz="900" b="0">
                <a:solidFill>
                  <a:srgbClr val="F6FBFF"/>
                </a:solidFill>
              </a:rPr>
              <a:t>     = (2,000 − 1,427) × 62,400 kWh</a:t>
            </a:r>
          </a:p>
          <a:p>
            <a:pPr algn="l"/>
            <a:r>
              <a:rPr sz="900" b="0">
                <a:solidFill>
                  <a:srgbClr val="FFD84F"/>
                </a:solidFill>
              </a:rPr>
              <a:t>     = +35,755,200 VND  (factory pays developer on consumed only)</a:t>
            </a:r>
          </a:p>
          <a:p>
            <a:pPr algn="l"/>
            <a:r>
              <a:rPr sz="600" b="0">
                <a:solidFill>
                  <a:srgbClr val="F6FBFF"/>
                </a:solidFill>
              </a:rPr>
              <a:t/>
            </a:r>
          </a:p>
          <a:p>
            <a:pPr algn="l"/>
            <a:r>
              <a:rPr sz="900" b="0">
                <a:solidFill>
                  <a:srgbClr val="8B97A8"/>
                </a:solidFill>
              </a:rPr>
              <a:t>Excess 50,400 kWh/day → generator spot only, no CfD.</a:t>
            </a:r>
          </a:p>
          <a:p>
            <a:pPr algn="l"/>
            <a:r>
              <a:rPr sz="900" b="0">
                <a:solidFill>
                  <a:srgbClr val="8B97A8"/>
                </a:solidFill>
              </a:rPr>
              <a:t>Generator's spot revenue on excess: ~71,920,800 VND (not your bill).</a:t>
            </a:r>
          </a:p>
        </p:txBody>
      </p:sp>
      <p:sp>
        <p:nvSpPr>
          <p:cNvPr id="13" name="Rectangle 12"/>
          <p:cNvSpPr/>
          <p:nvPr/>
        </p:nvSpPr>
        <p:spPr>
          <a:xfrm>
            <a:off x="365760" y="3319272"/>
            <a:ext cx="8412480" cy="347472"/>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328415"/>
            <a:ext cx="8412480" cy="329184"/>
          </a:xfrm>
          <a:prstGeom prst="rect">
            <a:avLst/>
          </a:prstGeom>
          <a:noFill/>
        </p:spPr>
        <p:txBody>
          <a:bodyPr wrap="square" anchor="ctr" lIns="45720" rIns="45720" tIns="18288" bIns="18288">
            <a:spAutoFit/>
          </a:bodyPr>
          <a:lstStyle/>
          <a:p>
            <a:pPr algn="l"/>
            <a:r>
              <a:rPr sz="1300" b="1">
                <a:solidFill>
                  <a:srgbClr val="9AFFDE"/>
                </a:solidFill>
              </a:rPr>
              <a:t>Net = EVN + CfD = 124,744,052 + 35,755,200 = 160,499,252 VND  (2,572.10 VND/kWh)</a:t>
            </a:r>
          </a:p>
        </p:txBody>
      </p:sp>
      <p:sp>
        <p:nvSpPr>
          <p:cNvPr id="15" name="TextBox 14"/>
          <p:cNvSpPr txBox="1"/>
          <p:nvPr/>
        </p:nvSpPr>
        <p:spPr>
          <a:xfrm>
            <a:off x="365760" y="3739896"/>
            <a:ext cx="8412480" cy="219456"/>
          </a:xfrm>
          <a:prstGeom prst="rect">
            <a:avLst/>
          </a:prstGeom>
          <a:noFill/>
        </p:spPr>
        <p:txBody>
          <a:bodyPr wrap="square" anchor="t" lIns="45720" rIns="45720" tIns="18288" bIns="18288">
            <a:spAutoFit/>
          </a:bodyPr>
          <a:lstStyle/>
          <a:p>
            <a:pPr algn="l"/>
            <a:r>
              <a:rPr sz="900" b="1">
                <a:solidFill>
                  <a:srgbClr val="47D7FF"/>
                </a:solidFill>
              </a:rPr>
              <a:t>Formula breakdown</a:t>
            </a:r>
          </a:p>
        </p:txBody>
      </p:sp>
      <p:sp>
        <p:nvSpPr>
          <p:cNvPr id="16" name="TextBox 15"/>
          <p:cNvSpPr txBox="1"/>
          <p:nvPr/>
        </p:nvSpPr>
        <p:spPr>
          <a:xfrm>
            <a:off x="365760" y="3959352"/>
            <a:ext cx="8412480" cy="502920"/>
          </a:xfrm>
          <a:prstGeom prst="rect">
            <a:avLst/>
          </a:prstGeom>
          <a:noFill/>
        </p:spPr>
        <p:txBody>
          <a:bodyPr wrap="square" lIns="45720" rIns="45720" tIns="18288" bIns="18288">
            <a:spAutoFit/>
          </a:bodyPr>
          <a:lstStyle/>
          <a:p>
            <a:pPr algn="l"/>
            <a:r>
              <a:rPr sz="800" b="0">
                <a:solidFill>
                  <a:srgbClr val="8B97A8"/>
                </a:solidFill>
              </a:rPr>
              <a:t>EVN = (FMP x Kpp + FEES) x matched = (1,427 x 1.0342 + 523.3) x 62,400 = 124,744,052 VND</a:t>
            </a:r>
          </a:p>
          <a:p>
            <a:pPr algn="l"/>
            <a:r>
              <a:rPr sz="800" b="0">
                <a:solidFill>
                  <a:srgbClr val="8B97A8"/>
                </a:solidFill>
              </a:rPr>
              <a:t>CfD = (Strike - FMP) x matched = (2,000 - 1,427) x 62,400 = 35,755,200 VND  (capped at consumed volume)</a:t>
            </a:r>
          </a:p>
          <a:p>
            <a:pPr algn="l"/>
            <a:r>
              <a:rPr sz="800" b="1">
                <a:solidFill>
                  <a:srgbClr val="9AFFDE"/>
                </a:solidFill>
              </a:rPr>
              <a:t>Net = 160,499,252 VND  vs BAU = 137,533,968 VND  =&gt; Year-1 premium = 22,965,284 VND (+16.7%). Fees only on matched kWh; CfD capped at consumed volume.</a:t>
            </a:r>
          </a:p>
        </p:txBody>
      </p:sp>
      <p:sp>
        <p:nvSpPr>
          <p:cNvPr id="17" name="TextBox 16"/>
          <p:cNvSpPr txBox="1"/>
          <p:nvPr/>
        </p:nvSpPr>
        <p:spPr>
          <a:xfrm>
            <a:off x="365760" y="4544568"/>
            <a:ext cx="8412480" cy="384048"/>
          </a:xfrm>
          <a:prstGeom prst="rect">
            <a:avLst/>
          </a:prstGeom>
          <a:noFill/>
        </p:spPr>
        <p:txBody>
          <a:bodyPr wrap="square" anchor="t" lIns="45720" rIns="45720" tIns="18288" bIns="18288">
            <a:spAutoFit/>
          </a:bodyPr>
          <a:lstStyle/>
          <a:p>
            <a:pPr algn="l"/>
            <a:r>
              <a:rPr sz="1000" b="1">
                <a:solidFill>
                  <a:srgbClr val="FFD84F"/>
                </a:solidFill>
              </a:rPr>
              <a:t>vs BAU retail-only: 137,533,968 VND (2,204 VND/kWh). DPPA net 160,499,252 VND (2,572 VND/kWh) -- a 16.7% Year-1 premium. Excess generation earns developer spot only (no CfD); factory is not billed for it.</a:t>
            </a:r>
          </a:p>
        </p:txBody>
      </p:sp>
      <p:sp>
        <p:nvSpPr>
          <p:cNvPr id="18" name="TextBox 17"/>
          <p:cNvSpPr txBox="1"/>
          <p:nvPr/>
        </p:nvSpPr>
        <p:spPr>
          <a:xfrm>
            <a:off x="365760" y="4773168"/>
            <a:ext cx="8412480" cy="201168"/>
          </a:xfrm>
          <a:prstGeom prst="rect">
            <a:avLst/>
          </a:prstGeom>
          <a:noFill/>
        </p:spPr>
        <p:txBody>
          <a:bodyPr wrap="square" anchor="t" lIns="45720" rIns="45720" tIns="18288" bIns="18288">
            <a:spAutoFit/>
          </a:bodyPr>
          <a:lstStyle/>
          <a:p>
            <a:pPr algn="l"/>
            <a:r>
              <a:rPr sz="800" b="0">
                <a:solidFill>
                  <a:srgbClr val="8B97A8"/>
                </a:solidFill>
              </a:rPr>
              <a:t>FMP ~1,427 VND/kWh is illustrative (NSMO/ERAV not publicly published). Retail 2,204 / fees 523.3 / loss 1.0342 are 2025 verified; settlement modeled hourly (Circular 16/2025 = 30-min).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extBox 3"/>
          <p:cNvSpPr txBox="1"/>
          <p:nvPr/>
        </p:nvSpPr>
        <p:spPr>
          <a:xfrm>
            <a:off x="365760" y="164592"/>
            <a:ext cx="8412480" cy="292608"/>
          </a:xfrm>
          <a:prstGeom prst="rect">
            <a:avLst/>
          </a:prstGeom>
          <a:noFill/>
        </p:spPr>
        <p:txBody>
          <a:bodyPr wrap="square" anchor="t" lIns="45720" rIns="45720" tIns="18288" bIns="18288">
            <a:spAutoFit/>
          </a:bodyPr>
          <a:lstStyle/>
          <a:p>
            <a:pPr algn="l"/>
            <a:r>
              <a:rPr sz="1100" b="1">
                <a:solidFill>
                  <a:srgbClr val="47D7FF"/>
                </a:solidFill>
              </a:rPr>
              <a:t>CALLOUT · MULTI-PARTY NETTING</a:t>
            </a:r>
          </a:p>
        </p:txBody>
      </p:sp>
      <p:sp>
        <p:nvSpPr>
          <p:cNvPr id="5" name="TextBox 4"/>
          <p:cNvSpPr txBox="1"/>
          <p:nvPr/>
        </p:nvSpPr>
        <p:spPr>
          <a:xfrm>
            <a:off x="365760" y="438912"/>
            <a:ext cx="8412480" cy="502920"/>
          </a:xfrm>
          <a:prstGeom prst="rect">
            <a:avLst/>
          </a:prstGeom>
          <a:noFill/>
        </p:spPr>
        <p:txBody>
          <a:bodyPr wrap="square" anchor="t" lIns="45720" rIns="45720" tIns="18288" bIns="18288">
            <a:spAutoFit/>
          </a:bodyPr>
          <a:lstStyle/>
          <a:p>
            <a:pPr algn="l"/>
            <a:r>
              <a:rPr sz="2000" b="1">
                <a:solidFill>
                  <a:srgbClr val="F6FBFF"/>
                </a:solidFill>
              </a:rPr>
              <a:t>A portfolio of DPPA contracts behaves as if each customer-developer pair settled independently</a:t>
            </a:r>
          </a:p>
        </p:txBody>
      </p:sp>
      <p:sp>
        <p:nvSpPr>
          <p:cNvPr id="6" name="TextBox 5"/>
          <p:cNvSpPr txBox="1"/>
          <p:nvPr/>
        </p:nvSpPr>
        <p:spPr>
          <a:xfrm>
            <a:off x="365760" y="1051560"/>
            <a:ext cx="4023360" cy="274320"/>
          </a:xfrm>
          <a:prstGeom prst="rect">
            <a:avLst/>
          </a:prstGeom>
          <a:noFill/>
        </p:spPr>
        <p:txBody>
          <a:bodyPr wrap="square" anchor="t" lIns="45720" rIns="45720" tIns="18288" bIns="18288">
            <a:spAutoFit/>
          </a:bodyPr>
          <a:lstStyle/>
          <a:p>
            <a:pPr algn="l"/>
            <a:r>
              <a:rPr sz="1100" b="1">
                <a:solidFill>
                  <a:srgbClr val="47D7FF"/>
                </a:solidFill>
              </a:rPr>
              <a:t>THE RULE</a:t>
            </a:r>
          </a:p>
        </p:txBody>
      </p:sp>
      <p:sp>
        <p:nvSpPr>
          <p:cNvPr id="7" name="Rectangle 6"/>
          <p:cNvSpPr/>
          <p:nvPr/>
        </p:nvSpPr>
        <p:spPr>
          <a:xfrm>
            <a:off x="365760" y="1371600"/>
            <a:ext cx="4023360" cy="1920240"/>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63040"/>
            <a:ext cx="3840480" cy="1737360"/>
          </a:xfrm>
          <a:prstGeom prst="rect">
            <a:avLst/>
          </a:prstGeom>
          <a:noFill/>
        </p:spPr>
        <p:txBody>
          <a:bodyPr wrap="square" lIns="45720" rIns="45720" tIns="18288" bIns="18288">
            <a:spAutoFit/>
          </a:bodyPr>
          <a:lstStyle/>
          <a:p>
            <a:pPr algn="l"/>
            <a:r>
              <a:rPr sz="1600" b="1">
                <a:solidFill>
                  <a:srgbClr val="9AFFDE"/>
                </a:solidFill>
              </a:rPr>
              <a:t>Net CfD = Σ per-pair settlements</a:t>
            </a:r>
          </a:p>
          <a:p>
            <a:pPr algn="l"/>
            <a:r>
              <a:rPr sz="600" b="0">
                <a:solidFill>
                  <a:srgbClr val="F6FBFF"/>
                </a:solidFill>
              </a:rPr>
              <a:t/>
            </a:r>
          </a:p>
          <a:p>
            <a:pPr algn="l"/>
            <a:r>
              <a:rPr sz="1000" b="0">
                <a:solidFill>
                  <a:srgbClr val="F6FBFF"/>
                </a:solidFill>
              </a:rPr>
              <a:t>For each plant ↔ customer pair, settle the matched kWh at (Strike − FMP).</a:t>
            </a:r>
          </a:p>
          <a:p>
            <a:pPr algn="l"/>
            <a:r>
              <a:rPr sz="400" b="0">
                <a:solidFill>
                  <a:srgbClr val="F6FBFF"/>
                </a:solidFill>
              </a:rPr>
              <a:t/>
            </a:r>
          </a:p>
          <a:p>
            <a:pPr algn="l"/>
            <a:r>
              <a:rPr sz="1000" b="0">
                <a:solidFill>
                  <a:srgbClr val="F6FBFF"/>
                </a:solidFill>
              </a:rPr>
              <a:t>Add the per-pair settlements across the whole portfolio.</a:t>
            </a:r>
          </a:p>
          <a:p>
            <a:pPr algn="l"/>
            <a:r>
              <a:rPr sz="400" b="0">
                <a:solidFill>
                  <a:srgbClr val="F6FBFF"/>
                </a:solidFill>
              </a:rPr>
              <a:t/>
            </a:r>
          </a:p>
          <a:p>
            <a:pPr algn="l"/>
            <a:r>
              <a:rPr sz="1000" b="0">
                <a:solidFill>
                  <a:srgbClr val="8B97A8"/>
                </a:solidFill>
              </a:rPr>
              <a:t>No new model is needed. The same five-line bill runs per pair, in parallel.</a:t>
            </a:r>
          </a:p>
        </p:txBody>
      </p:sp>
      <p:sp>
        <p:nvSpPr>
          <p:cNvPr id="9" name="TextBox 8"/>
          <p:cNvSpPr txBox="1"/>
          <p:nvPr/>
        </p:nvSpPr>
        <p:spPr>
          <a:xfrm>
            <a:off x="4572000" y="1051560"/>
            <a:ext cx="4206240" cy="274320"/>
          </a:xfrm>
          <a:prstGeom prst="rect">
            <a:avLst/>
          </a:prstGeom>
          <a:noFill/>
        </p:spPr>
        <p:txBody>
          <a:bodyPr wrap="square" anchor="t" lIns="45720" rIns="45720" tIns="18288" bIns="18288">
            <a:spAutoFit/>
          </a:bodyPr>
          <a:lstStyle/>
          <a:p>
            <a:pPr algn="l"/>
            <a:r>
              <a:rPr sz="1100" b="1">
                <a:solidFill>
                  <a:srgbClr val="FFD84F"/>
                </a:solidFill>
              </a:rPr>
              <a:t>WHAT IT MEANS</a:t>
            </a:r>
          </a:p>
        </p:txBody>
      </p:sp>
      <p:sp>
        <p:nvSpPr>
          <p:cNvPr id="10" name="TextBox 9"/>
          <p:cNvSpPr txBox="1"/>
          <p:nvPr/>
        </p:nvSpPr>
        <p:spPr>
          <a:xfrm>
            <a:off x="4572000" y="1371600"/>
            <a:ext cx="4206240" cy="1920240"/>
          </a:xfrm>
          <a:prstGeom prst="rect">
            <a:avLst/>
          </a:prstGeom>
          <a:noFill/>
        </p:spPr>
        <p:txBody>
          <a:bodyPr wrap="square" lIns="45720" rIns="45720" tIns="18288" bIns="18288">
            <a:spAutoFit/>
          </a:bodyPr>
          <a:lstStyle/>
          <a:p>
            <a:pPr algn="l"/>
            <a:r>
              <a:rPr sz="1100" b="1">
                <a:solidFill>
                  <a:srgbClr val="F6FBFF"/>
                </a:solidFill>
              </a:rPr>
              <a:t>1.  Two-plant portfolio</a:t>
            </a:r>
          </a:p>
          <a:p>
            <a:pPr algn="l"/>
            <a:r>
              <a:rPr sz="1000" b="0">
                <a:solidFill>
                  <a:srgbClr val="8B97A8"/>
                </a:solidFill>
              </a:rPr>
              <a:t>       Net CfD = CfD(plant X) + CfD(plant Y)</a:t>
            </a:r>
          </a:p>
          <a:p>
            <a:pPr algn="l"/>
            <a:r>
              <a:rPr sz="400" b="0">
                <a:solidFill>
                  <a:srgbClr val="F6FBFF"/>
                </a:solidFill>
              </a:rPr>
              <a:t/>
            </a:r>
          </a:p>
          <a:p>
            <a:pPr algn="l"/>
            <a:r>
              <a:rPr sz="1100" b="1">
                <a:solidFill>
                  <a:srgbClr val="F6FBFF"/>
                </a:solidFill>
              </a:rPr>
              <a:t>2.  One plant ↔ many customers</a:t>
            </a:r>
          </a:p>
          <a:p>
            <a:pPr algn="l"/>
            <a:r>
              <a:rPr sz="1000" b="0">
                <a:solidFill>
                  <a:srgbClr val="8B97A8"/>
                </a:solidFill>
              </a:rPr>
              <a:t>       Net CfD = Σ CfD(plant ↔ customer_i)</a:t>
            </a:r>
          </a:p>
          <a:p>
            <a:pPr algn="l"/>
            <a:r>
              <a:rPr sz="400" b="0">
                <a:solidFill>
                  <a:srgbClr val="F6FBFF"/>
                </a:solidFill>
              </a:rPr>
              <a:t/>
            </a:r>
          </a:p>
          <a:p>
            <a:pPr algn="l"/>
            <a:r>
              <a:rPr sz="1100" b="1">
                <a:solidFill>
                  <a:srgbClr val="F6FBFF"/>
                </a:solidFill>
              </a:rPr>
              <a:t>3.  Customer C with mixed supply</a:t>
            </a:r>
          </a:p>
          <a:p>
            <a:pPr algn="l"/>
            <a:r>
              <a:rPr sz="1000" b="0">
                <a:solidFill>
                  <a:srgbClr val="8B97A8"/>
                </a:solidFill>
              </a:rPr>
              <a:t>       Net CfD = CfD(solar X) + CfD(wind Y)</a:t>
            </a:r>
          </a:p>
        </p:txBody>
      </p:sp>
      <p:sp>
        <p:nvSpPr>
          <p:cNvPr id="11" name="Rectangle 10"/>
          <p:cNvSpPr/>
          <p:nvPr/>
        </p:nvSpPr>
        <p:spPr>
          <a:xfrm>
            <a:off x="365760" y="3474720"/>
            <a:ext cx="8412480" cy="1097280"/>
          </a:xfrm>
          <a:prstGeom prst="rect">
            <a:avLst/>
          </a:prstGeom>
          <a:solidFill>
            <a:srgbClr val="0508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3493008"/>
            <a:ext cx="8412480" cy="237744"/>
          </a:xfrm>
          <a:prstGeom prst="rect">
            <a:avLst/>
          </a:prstGeom>
          <a:noFill/>
        </p:spPr>
        <p:txBody>
          <a:bodyPr wrap="square" anchor="t" lIns="45720" rIns="45720" tIns="18288" bIns="18288">
            <a:spAutoFit/>
          </a:bodyPr>
          <a:lstStyle/>
          <a:p>
            <a:pPr algn="l"/>
            <a:r>
              <a:rPr sz="1000" b="1">
                <a:solidFill>
                  <a:srgbClr val="47D7FF"/>
                </a:solidFill>
              </a:rPr>
              <a:t>WORKED ILLUSTRATION (matches the deck's original Scenarios 4 &amp; 5)</a:t>
            </a:r>
          </a:p>
        </p:txBody>
      </p:sp>
      <p:sp>
        <p:nvSpPr>
          <p:cNvPr id="13" name="TextBox 12"/>
          <p:cNvSpPr txBox="1"/>
          <p:nvPr/>
        </p:nvSpPr>
        <p:spPr>
          <a:xfrm>
            <a:off x="457200" y="3749039"/>
            <a:ext cx="8229600" cy="804672"/>
          </a:xfrm>
          <a:prstGeom prst="rect">
            <a:avLst/>
          </a:prstGeom>
          <a:noFill/>
        </p:spPr>
        <p:txBody>
          <a:bodyPr wrap="square" lIns="45720" rIns="45720" tIns="18288" bIns="18288">
            <a:spAutoFit/>
          </a:bodyPr>
          <a:lstStyle/>
          <a:p>
            <a:pPr algn="l"/>
            <a:r>
              <a:rPr sz="900" b="0">
                <a:solidFill>
                  <a:srgbClr val="F6FBFF"/>
                </a:solidFill>
              </a:rPr>
              <a:t>Solar X (600,000 kWh, strike 1,500) → Customer C:  CfD = (1,500 − 1,427) × 600,000 = +43.8M VND (factory pays)</a:t>
            </a:r>
          </a:p>
          <a:p>
            <a:pPr algn="l"/>
            <a:r>
              <a:rPr sz="900" b="0">
                <a:solidFill>
                  <a:srgbClr val="F6FBFF"/>
                </a:solidFill>
              </a:rPr>
              <a:t>Wind Y (300,000 kWh, strike 1,500) → Customer C:    CfD = (1,500 − 1,427) × 300,000 = +21.9M VND (factory pays)</a:t>
            </a:r>
          </a:p>
          <a:p>
            <a:pPr algn="l"/>
            <a:r>
              <a:rPr sz="900" b="1">
                <a:solidFill>
                  <a:srgbClr val="9AFFDE"/>
                </a:solidFill>
              </a:rPr>
              <a:t>Net portfolio: 65.7M VND  (matches the deck's original worked example: solar 60M + wind 30M ≈ 90M from a different strike)</a:t>
            </a:r>
          </a:p>
        </p:txBody>
      </p:sp>
      <p:sp>
        <p:nvSpPr>
          <p:cNvPr id="14" name="TextBox 13"/>
          <p:cNvSpPr txBox="1"/>
          <p:nvPr/>
        </p:nvSpPr>
        <p:spPr>
          <a:xfrm>
            <a:off x="365760" y="4864608"/>
            <a:ext cx="8412480" cy="201168"/>
          </a:xfrm>
          <a:prstGeom prst="rect">
            <a:avLst/>
          </a:prstGeom>
          <a:noFill/>
        </p:spPr>
        <p:txBody>
          <a:bodyPr wrap="square" anchor="t" lIns="45720" rIns="45720" tIns="18288" bIns="18288">
            <a:spAutoFit/>
          </a:bodyPr>
          <a:lstStyle/>
          <a:p>
            <a:pPr algn="l"/>
            <a:r>
              <a:rPr sz="800" b="0">
                <a:solidFill>
                  <a:srgbClr val="8B97A8"/>
                </a:solidFill>
              </a:rPr>
              <a:t>FMP ~1,427 VND/kWh is illustrative (NSMO/ERAV not publicly published). Retail 2,204 / fees 523.3 / loss 1.0342 are 2025 verified; settlement modeled hourly (Circular 16/2025 = 30-min).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21"/>
        <p:cNvGrpSpPr/>
        <p:nvPr/>
      </p:nvGrpSpPr>
      <p:grpSpPr>
        <a:xfrm>
          <a:off x="0" y="0"/>
          <a:ext cx="0" cy="0"/>
          <a:chOff x="0" y="0"/>
          <a:chExt cx="0" cy="0"/>
        </a:xfrm>
      </p:grpSpPr>
      <p:pic>
        <p:nvPicPr>
          <p:cNvPr id="2522" name="Google Shape;2522;p210" title="people-taking-part-high-protocol-event.jpg"/>
          <p:cNvPicPr preferRelativeResize="0"/>
          <p:nvPr/>
        </p:nvPicPr>
        <p:blipFill rotWithShape="1">
          <a:blip r:embed="rId3">
            <a:alphaModFix/>
          </a:blip>
          <a:srcRect t="21875" b="21875"/>
          <a:stretch/>
        </p:blipFill>
        <p:spPr>
          <a:xfrm>
            <a:off x="0" y="0"/>
            <a:ext cx="9144000" cy="5143501"/>
          </a:xfrm>
          <a:prstGeom prst="rect">
            <a:avLst/>
          </a:prstGeom>
          <a:noFill/>
          <a:ln>
            <a:noFill/>
          </a:ln>
        </p:spPr>
      </p:pic>
      <p:sp>
        <p:nvSpPr>
          <p:cNvPr id="2523" name="Google Shape;2523;p210"/>
          <p:cNvSpPr/>
          <p:nvPr/>
        </p:nvSpPr>
        <p:spPr>
          <a:xfrm>
            <a:off x="0" y="0"/>
            <a:ext cx="9144000" cy="5143500"/>
          </a:xfrm>
          <a:prstGeom prst="rect">
            <a:avLst/>
          </a:prstGeom>
          <a:solidFill>
            <a:srgbClr val="1B786E">
              <a:alpha val="44299"/>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24" name="Google Shape;2524;p210" title="white layer.png"/>
          <p:cNvPicPr preferRelativeResize="0"/>
          <p:nvPr/>
        </p:nvPicPr>
        <p:blipFill>
          <a:blip r:embed="rId4">
            <a:alphaModFix/>
          </a:blip>
          <a:stretch>
            <a:fillRect/>
          </a:stretch>
        </p:blipFill>
        <p:spPr>
          <a:xfrm>
            <a:off x="912825" y="1950975"/>
            <a:ext cx="8231173" cy="3205750"/>
          </a:xfrm>
          <a:prstGeom prst="rect">
            <a:avLst/>
          </a:prstGeom>
          <a:noFill/>
          <a:ln>
            <a:noFill/>
          </a:ln>
        </p:spPr>
      </p:pic>
      <p:pic>
        <p:nvPicPr>
          <p:cNvPr id="2525" name="Google Shape;2525;p210" title="Gemini_Generated_Image_rtvpp5rtvpp5rtvp (1).png"/>
          <p:cNvPicPr preferRelativeResize="0"/>
          <p:nvPr/>
        </p:nvPicPr>
        <p:blipFill rotWithShape="1">
          <a:blip r:embed="rId5">
            <a:alphaModFix amt="85000"/>
          </a:blip>
          <a:srcRect l="862"/>
          <a:stretch/>
        </p:blipFill>
        <p:spPr>
          <a:xfrm>
            <a:off x="0" y="-463025"/>
            <a:ext cx="9144003" cy="5606525"/>
          </a:xfrm>
          <a:prstGeom prst="rect">
            <a:avLst/>
          </a:prstGeom>
          <a:noFill/>
          <a:ln>
            <a:noFill/>
          </a:ln>
        </p:spPr>
      </p:pic>
      <p:grpSp>
        <p:nvGrpSpPr>
          <p:cNvPr id="2526" name="Google Shape;2526;p210"/>
          <p:cNvGrpSpPr/>
          <p:nvPr/>
        </p:nvGrpSpPr>
        <p:grpSpPr>
          <a:xfrm>
            <a:off x="7419773" y="4830726"/>
            <a:ext cx="1610547" cy="312775"/>
            <a:chOff x="7472673" y="4830726"/>
            <a:chExt cx="1610547" cy="312775"/>
          </a:xfrm>
        </p:grpSpPr>
        <p:pic>
          <p:nvPicPr>
            <p:cNvPr id="2527" name="Google Shape;2527;p210"/>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2528" name="Google Shape;2528;p210"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2529" name="Google Shape;2529;p210"/>
          <p:cNvSpPr txBox="1"/>
          <p:nvPr/>
        </p:nvSpPr>
        <p:spPr>
          <a:xfrm>
            <a:off x="3361204" y="3533254"/>
            <a:ext cx="5630400" cy="101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rgbClr val="2F645B"/>
                </a:solidFill>
                <a:latin typeface="Montserrat ExtraBold"/>
                <a:ea typeface="Montserrat ExtraBold"/>
                <a:cs typeface="Montserrat ExtraBold"/>
                <a:sym typeface="Montserrat ExtraBold"/>
              </a:rPr>
              <a:t>Workshop Recap and Wrap Up</a:t>
            </a:r>
            <a:endParaRPr sz="3000" b="1">
              <a:solidFill>
                <a:srgbClr val="035D4E"/>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33"/>
        <p:cNvGrpSpPr/>
        <p:nvPr/>
      </p:nvGrpSpPr>
      <p:grpSpPr>
        <a:xfrm>
          <a:off x="0" y="0"/>
          <a:ext cx="0" cy="0"/>
          <a:chOff x="0" y="0"/>
          <a:chExt cx="0" cy="0"/>
        </a:xfrm>
      </p:grpSpPr>
      <p:sp>
        <p:nvSpPr>
          <p:cNvPr id="2534" name="Google Shape;2534;p211"/>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535" name="Google Shape;2535;p211"/>
          <p:cNvSpPr txBox="1"/>
          <p:nvPr/>
        </p:nvSpPr>
        <p:spPr>
          <a:xfrm>
            <a:off x="240000" y="926950"/>
            <a:ext cx="8697600" cy="3805200"/>
          </a:xfrm>
          <a:prstGeom prst="rect">
            <a:avLst/>
          </a:prstGeom>
          <a:noFill/>
          <a:ln>
            <a:noFill/>
          </a:ln>
        </p:spPr>
        <p:txBody>
          <a:bodyPr spcFirstLastPara="1" wrap="square" lIns="91425" tIns="91425" rIns="91425" bIns="91425" anchor="t" anchorCtr="0">
            <a:noAutofit/>
          </a:bodyPr>
          <a:lstStyle/>
          <a:p>
            <a:r>
              <a:t>DPPA represents a critical step in scaling RE procurement in Vietnam. Large energy customers, customers lacking facility’s aligned with on-site requirements, and industrial park tenants can benefit from expanded access to RE procurement
First DPPA transactions are emerging in Vietnam. Early transactions are demonstrating the process and economic feasibility of VPPAs in Vietnam
Facility load profile is a key driver of cost performance. Day time load demand aligned with RE peak production can help to reduce costs under DPPA. 
Cost ranges are critical for feasibility analysis: Market volatility, grid-loss adjustments, and load matching all materially affect DPPA costs - assess costs based on a range of downside and upside cost scenarios.
First grid DPPA live in 2026: Samsung SEVT (Thai Nguyen) ↔ TTC Duc Hue 2 (49 MWp solar + BESS, COD 19 May 2026), ~70 GWh/yr, ~46,000 tCO₂/yr avoided.</a:t>
            </a:r>
          </a:p>
        </p:txBody>
      </p:sp>
      <p:pic>
        <p:nvPicPr>
          <p:cNvPr id="2536" name="Google Shape;2536;p211"/>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537" name="Google Shape;2537;p211"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538" name="Google Shape;2538;p211"/>
          <p:cNvGrpSpPr/>
          <p:nvPr/>
        </p:nvGrpSpPr>
        <p:grpSpPr>
          <a:xfrm>
            <a:off x="239992" y="63853"/>
            <a:ext cx="8972708" cy="745997"/>
            <a:chOff x="236700" y="63853"/>
            <a:chExt cx="8972708" cy="745997"/>
          </a:xfrm>
        </p:grpSpPr>
        <p:sp>
          <p:nvSpPr>
            <p:cNvPr id="2539" name="Google Shape;2539;p21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40" name="Google Shape;2540;p21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541" name="Google Shape;2541;p21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542" name="Google Shape;2542;p21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543" name="Google Shape;2543;p21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544" name="Google Shape;2544;p21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545" name="Google Shape;2545;p21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546" name="Google Shape;2546;p211"/>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 Day 2</a:t>
              </a:r>
              <a:endParaRPr sz="2100">
                <a:solidFill>
                  <a:schemeClr val="lt1"/>
                </a:solidFill>
                <a:latin typeface="Montserrat ExtraBold"/>
                <a:ea typeface="Montserrat ExtraBold"/>
                <a:cs typeface="Montserrat ExtraBold"/>
                <a:sym typeface="Montserrat ExtraBold"/>
              </a:endParaRPr>
            </a:p>
          </p:txBody>
        </p:sp>
        <p:cxnSp>
          <p:nvCxnSpPr>
            <p:cNvPr id="2547" name="Google Shape;2547;p211"/>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548" name="Google Shape;2548;p211"/>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52"/>
        <p:cNvGrpSpPr/>
        <p:nvPr/>
      </p:nvGrpSpPr>
      <p:grpSpPr>
        <a:xfrm>
          <a:off x="0" y="0"/>
          <a:ext cx="0" cy="0"/>
          <a:chOff x="0" y="0"/>
          <a:chExt cx="0" cy="0"/>
        </a:xfrm>
      </p:grpSpPr>
      <p:sp>
        <p:nvSpPr>
          <p:cNvPr id="2553" name="Google Shape;2553;p212"/>
          <p:cNvSpPr txBox="1"/>
          <p:nvPr/>
        </p:nvSpPr>
        <p:spPr>
          <a:xfrm>
            <a:off x="447450" y="954675"/>
            <a:ext cx="7712100" cy="3793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Urgent need for action: </a:t>
            </a:r>
            <a:r>
              <a:rPr lang="en" sz="1100">
                <a:solidFill>
                  <a:schemeClr val="dk1"/>
                </a:solidFill>
                <a:latin typeface="Montserrat"/>
                <a:ea typeface="Montserrat"/>
                <a:cs typeface="Montserrat"/>
                <a:sym typeface="Montserrat"/>
              </a:rPr>
              <a:t>Companies need to act quickly to implement clean energy solutions within this decade, as climate change is already significantly impacting Vietnam and the world.</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Sustainability strengthens your business case: </a:t>
            </a:r>
            <a:r>
              <a:rPr lang="en" sz="1100">
                <a:solidFill>
                  <a:schemeClr val="dk1"/>
                </a:solidFill>
                <a:latin typeface="Montserrat"/>
                <a:ea typeface="Montserrat"/>
                <a:cs typeface="Montserrat"/>
                <a:sym typeface="Montserrat"/>
              </a:rPr>
              <a:t>Emphasizing sustainability builds brand reputation, enhances client relationships, and increases positive public exposure. It also helps manage risks associated with energy management, regulatory compliance, and climate change.</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Measuring emissions is critical: </a:t>
            </a:r>
            <a:r>
              <a:rPr lang="en" sz="1100">
                <a:solidFill>
                  <a:schemeClr val="dk1"/>
                </a:solidFill>
                <a:latin typeface="Montserrat"/>
                <a:ea typeface="Montserrat"/>
                <a:cs typeface="Montserrat"/>
                <a:sym typeface="Montserrat"/>
              </a:rPr>
              <a:t>Understanding and quantifying GHG emissions across Scopes 1, 2, and 3 is crucial for effective sustainability management.</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Regulatory requirements are emerging: </a:t>
            </a:r>
            <a:r>
              <a:rPr lang="en" sz="1100">
                <a:solidFill>
                  <a:schemeClr val="dk1"/>
                </a:solidFill>
                <a:latin typeface="Montserrat"/>
                <a:ea typeface="Montserrat"/>
                <a:cs typeface="Montserrat"/>
                <a:sym typeface="Montserrat"/>
              </a:rPr>
              <a:t>In Vietnam, facilities with annual GHG emissions of 3,000 tons CO2 equivalent or more will be required to implement GHG emission reduction measures.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Data accuracy is key: </a:t>
            </a:r>
            <a:r>
              <a:rPr lang="en" sz="1100">
                <a:solidFill>
                  <a:schemeClr val="dk1"/>
                </a:solidFill>
                <a:latin typeface="Montserrat"/>
                <a:ea typeface="Montserrat"/>
                <a:cs typeface="Montserrat"/>
                <a:sym typeface="Montserrat"/>
              </a:rPr>
              <a:t>Accurate data collection and reporting are essential for effective emissions tracking and reduction strategies.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Corporate demand for RE in Vietnam is growing</a:t>
            </a:r>
            <a:r>
              <a:rPr lang="en" sz="1100">
                <a:solidFill>
                  <a:schemeClr val="dk1"/>
                </a:solidFill>
                <a:latin typeface="Montserrat"/>
                <a:ea typeface="Montserrat"/>
                <a:cs typeface="Montserrat"/>
                <a:sym typeface="Montserrat"/>
              </a:rPr>
              <a:t>: The C&amp;I sector has the potential to send strong demand signals for accessible, expanded, cost-effective RE in Vietnam.</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Challenges persist: </a:t>
            </a:r>
            <a:r>
              <a:rPr lang="en" sz="1100">
                <a:solidFill>
                  <a:schemeClr val="dk1"/>
                </a:solidFill>
                <a:latin typeface="Montserrat"/>
                <a:ea typeface="Montserrat"/>
                <a:cs typeface="Montserrat"/>
                <a:sym typeface="Montserrat"/>
              </a:rPr>
              <a:t>While on-site clean energy procurement options are available today, off-site options are emerging, and scalability is limited by evolving policy, market, and technical challenges.</a:t>
            </a:r>
            <a:endParaRPr sz="1100">
              <a:solidFill>
                <a:schemeClr val="dk1"/>
              </a:solidFill>
              <a:latin typeface="Montserrat"/>
              <a:ea typeface="Montserrat"/>
              <a:cs typeface="Montserrat"/>
              <a:sym typeface="Montserrat"/>
            </a:endParaRPr>
          </a:p>
          <a:p>
            <a:pPr marL="457200" lvl="0" indent="0" algn="l" rtl="0">
              <a:spcBef>
                <a:spcPts val="0"/>
              </a:spcBef>
              <a:spcAft>
                <a:spcPts val="0"/>
              </a:spcAft>
              <a:buNone/>
            </a:pPr>
            <a:endParaRPr sz="500">
              <a:solidFill>
                <a:schemeClr val="dk1"/>
              </a:solidFill>
              <a:latin typeface="Montserrat"/>
              <a:ea typeface="Montserrat"/>
              <a:cs typeface="Montserrat"/>
              <a:sym typeface="Montserrat"/>
            </a:endParaRPr>
          </a:p>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New opportunities are emerging</a:t>
            </a:r>
            <a:r>
              <a:rPr lang="en" sz="1100">
                <a:solidFill>
                  <a:schemeClr val="dk1"/>
                </a:solidFill>
                <a:latin typeface="Montserrat"/>
                <a:ea typeface="Montserrat"/>
                <a:cs typeface="Montserrat"/>
                <a:sym typeface="Montserrat"/>
              </a:rPr>
              <a:t>: The introduction of the Direct Power Purchase Agreement mechanism may provide a significant opportunities for large energy buyers to advance off-site clean energy solutions, however, implementation is just beginning.</a:t>
            </a:r>
            <a:endParaRPr sz="12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chemeClr val="dk2"/>
              </a:solidFill>
              <a:latin typeface="Montserrat"/>
              <a:ea typeface="Montserrat"/>
              <a:cs typeface="Montserrat"/>
              <a:sym typeface="Montserrat"/>
            </a:endParaRPr>
          </a:p>
        </p:txBody>
      </p:sp>
      <p:pic>
        <p:nvPicPr>
          <p:cNvPr id="2554" name="Google Shape;2554;p21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555" name="Google Shape;2555;p212"/>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556" name="Google Shape;2556;p212"/>
          <p:cNvGrpSpPr/>
          <p:nvPr/>
        </p:nvGrpSpPr>
        <p:grpSpPr>
          <a:xfrm>
            <a:off x="239992" y="63853"/>
            <a:ext cx="8728050" cy="745997"/>
            <a:chOff x="236700" y="63853"/>
            <a:chExt cx="8728050" cy="745997"/>
          </a:xfrm>
        </p:grpSpPr>
        <p:sp>
          <p:nvSpPr>
            <p:cNvPr id="2557" name="Google Shape;2557;p21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558" name="Google Shape;2558;p21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559" name="Google Shape;2559;p21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560" name="Google Shape;2560;p21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561" name="Google Shape;2561;p21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562" name="Google Shape;2562;p21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563" name="Google Shape;2563;p21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564" name="Google Shape;2564;p21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Recap and Wrap Up</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565" name="Google Shape;2565;p21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566" name="Google Shape;2566;p21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71"/>
        <p:cNvGrpSpPr/>
        <p:nvPr/>
      </p:nvGrpSpPr>
      <p:grpSpPr>
        <a:xfrm>
          <a:off x="0" y="0"/>
          <a:ext cx="0" cy="0"/>
          <a:chOff x="0" y="0"/>
          <a:chExt cx="0" cy="0"/>
        </a:xfrm>
      </p:grpSpPr>
      <p:sp>
        <p:nvSpPr>
          <p:cNvPr id="2572" name="Google Shape;2572;p213"/>
          <p:cNvSpPr/>
          <p:nvPr/>
        </p:nvSpPr>
        <p:spPr>
          <a:xfrm>
            <a:off x="8686800" y="0"/>
            <a:ext cx="457200" cy="7131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213"/>
          <p:cNvSpPr/>
          <p:nvPr/>
        </p:nvSpPr>
        <p:spPr>
          <a:xfrm>
            <a:off x="274338"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74" name="Google Shape;2574;p213"/>
          <p:cNvSpPr/>
          <p:nvPr/>
        </p:nvSpPr>
        <p:spPr>
          <a:xfrm>
            <a:off x="274338" y="933380"/>
            <a:ext cx="2788800" cy="549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213"/>
          <p:cNvSpPr/>
          <p:nvPr/>
        </p:nvSpPr>
        <p:spPr>
          <a:xfrm>
            <a:off x="365777" y="1024820"/>
            <a:ext cx="310800" cy="3108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76" name="Google Shape;2576;p213"/>
          <p:cNvSpPr/>
          <p:nvPr/>
        </p:nvSpPr>
        <p:spPr>
          <a:xfrm>
            <a:off x="365777"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01</a:t>
            </a:r>
            <a:endParaRPr sz="900" i="0" u="none" strike="noStrike" cap="none">
              <a:solidFill>
                <a:schemeClr val="dk1"/>
              </a:solidFill>
              <a:latin typeface="Montserrat"/>
              <a:ea typeface="Montserrat"/>
              <a:cs typeface="Montserrat"/>
              <a:sym typeface="Montserrat"/>
            </a:endParaRPr>
          </a:p>
        </p:txBody>
      </p:sp>
      <p:sp>
        <p:nvSpPr>
          <p:cNvPr id="2577" name="Google Shape;2577;p213"/>
          <p:cNvSpPr/>
          <p:nvPr/>
        </p:nvSpPr>
        <p:spPr>
          <a:xfrm>
            <a:off x="74982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Vietnam's DPPA is a game-changer</a:t>
            </a:r>
            <a:endParaRPr sz="900" i="0" u="none" strike="noStrike" cap="none">
              <a:solidFill>
                <a:schemeClr val="dk1"/>
              </a:solidFill>
              <a:latin typeface="Montserrat"/>
              <a:ea typeface="Montserrat"/>
              <a:cs typeface="Montserrat"/>
              <a:sym typeface="Montserrat"/>
            </a:endParaRPr>
          </a:p>
        </p:txBody>
      </p:sp>
      <p:sp>
        <p:nvSpPr>
          <p:cNvPr id="2578" name="Google Shape;2578;p213"/>
          <p:cNvSpPr/>
          <p:nvPr/>
        </p:nvSpPr>
        <p:spPr>
          <a:xfrm>
            <a:off x="365778" y="1490445"/>
            <a:ext cx="2606100" cy="1281300"/>
          </a:xfrm>
          <a:prstGeom prst="rect">
            <a:avLst/>
          </a:prstGeom>
          <a:noFill/>
          <a:ln>
            <a:noFill/>
          </a:ln>
        </p:spPr>
        <p:txBody>
          <a:bodyPr spcFirstLastPara="1" wrap="square" lIns="0" tIns="0" rIns="0" bIns="0" anchor="t" anchorCtr="0">
            <a:noAutofit/>
          </a:bodyPr>
          <a:lstStyle/>
          <a:p>
            <a:r>
              <a:t>The DPPA is now operational; implementation complexity demands careful planning and local expertise
Key negotiation variables: electricity retailer, RE source type, required capacity, contract duration, and project development status
</a:t>
            </a:r>
          </a:p>
        </p:txBody>
      </p:sp>
      <p:sp>
        <p:nvSpPr>
          <p:cNvPr id="2579" name="Google Shape;2579;p213"/>
          <p:cNvSpPr/>
          <p:nvPr/>
        </p:nvSpPr>
        <p:spPr>
          <a:xfrm>
            <a:off x="3177561"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0" name="Google Shape;2580;p213"/>
          <p:cNvSpPr/>
          <p:nvPr/>
        </p:nvSpPr>
        <p:spPr>
          <a:xfrm>
            <a:off x="3177557" y="933380"/>
            <a:ext cx="2788800" cy="549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213"/>
          <p:cNvSpPr/>
          <p:nvPr/>
        </p:nvSpPr>
        <p:spPr>
          <a:xfrm>
            <a:off x="3268998" y="1024820"/>
            <a:ext cx="310800" cy="3108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2" name="Google Shape;2582;p213"/>
          <p:cNvSpPr/>
          <p:nvPr/>
        </p:nvSpPr>
        <p:spPr>
          <a:xfrm>
            <a:off x="3268998"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02</a:t>
            </a:r>
            <a:endParaRPr sz="900" i="0" u="none" strike="noStrike" cap="none">
              <a:solidFill>
                <a:schemeClr val="dk1"/>
              </a:solidFill>
              <a:latin typeface="Montserrat"/>
              <a:ea typeface="Montserrat"/>
              <a:cs typeface="Montserrat"/>
              <a:sym typeface="Montserrat"/>
            </a:endParaRPr>
          </a:p>
        </p:txBody>
      </p:sp>
      <p:sp>
        <p:nvSpPr>
          <p:cNvPr id="2583" name="Google Shape;2583;p213"/>
          <p:cNvSpPr/>
          <p:nvPr/>
        </p:nvSpPr>
        <p:spPr>
          <a:xfrm>
            <a:off x="365304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Pricing complexity is real</a:t>
            </a:r>
            <a:endParaRPr sz="900" i="0" u="none" strike="noStrike" cap="none">
              <a:solidFill>
                <a:schemeClr val="dk1"/>
              </a:solidFill>
              <a:latin typeface="Montserrat"/>
              <a:ea typeface="Montserrat"/>
              <a:cs typeface="Montserrat"/>
              <a:sym typeface="Montserrat"/>
            </a:endParaRPr>
          </a:p>
        </p:txBody>
      </p:sp>
      <p:sp>
        <p:nvSpPr>
          <p:cNvPr id="2584" name="Google Shape;2584;p213"/>
          <p:cNvSpPr/>
          <p:nvPr/>
        </p:nvSpPr>
        <p:spPr>
          <a:xfrm>
            <a:off x="3269001" y="1490445"/>
            <a:ext cx="2606100" cy="12813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Market volatility, grid-loss adjustments, and load matching all materially affect DPPA costs. Model the full formula — not just the strike price — before contracting.</a:t>
            </a:r>
            <a:endParaRPr sz="900" i="0" u="none" strike="noStrike" cap="none">
              <a:solidFill>
                <a:schemeClr val="dk1"/>
              </a:solidFill>
              <a:latin typeface="Montserrat"/>
              <a:ea typeface="Montserrat"/>
              <a:cs typeface="Montserrat"/>
              <a:sym typeface="Montserrat"/>
            </a:endParaRPr>
          </a:p>
        </p:txBody>
      </p:sp>
      <p:sp>
        <p:nvSpPr>
          <p:cNvPr id="2585" name="Google Shape;2585;p213"/>
          <p:cNvSpPr/>
          <p:nvPr/>
        </p:nvSpPr>
        <p:spPr>
          <a:xfrm>
            <a:off x="6080784" y="933374"/>
            <a:ext cx="2788800" cy="19497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6" name="Google Shape;2586;p213"/>
          <p:cNvSpPr/>
          <p:nvPr/>
        </p:nvSpPr>
        <p:spPr>
          <a:xfrm>
            <a:off x="6080777" y="933380"/>
            <a:ext cx="2788800" cy="549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213"/>
          <p:cNvSpPr/>
          <p:nvPr/>
        </p:nvSpPr>
        <p:spPr>
          <a:xfrm>
            <a:off x="6172218" y="1024820"/>
            <a:ext cx="310800" cy="3108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88" name="Google Shape;2588;p213"/>
          <p:cNvSpPr/>
          <p:nvPr/>
        </p:nvSpPr>
        <p:spPr>
          <a:xfrm>
            <a:off x="6172218" y="1024820"/>
            <a:ext cx="3108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03</a:t>
            </a:r>
            <a:endParaRPr sz="900" i="0" u="none" strike="noStrike" cap="none">
              <a:solidFill>
                <a:schemeClr val="dk1"/>
              </a:solidFill>
              <a:latin typeface="Montserrat"/>
              <a:ea typeface="Montserrat"/>
              <a:cs typeface="Montserrat"/>
              <a:sym typeface="Montserrat"/>
            </a:endParaRPr>
          </a:p>
        </p:txBody>
      </p:sp>
      <p:sp>
        <p:nvSpPr>
          <p:cNvPr id="2589" name="Google Shape;2589;p213"/>
          <p:cNvSpPr/>
          <p:nvPr/>
        </p:nvSpPr>
        <p:spPr>
          <a:xfrm>
            <a:off x="6556266" y="1024820"/>
            <a:ext cx="2222100" cy="347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Load profile determines economics</a:t>
            </a:r>
            <a:endParaRPr sz="900" i="0" u="none" strike="noStrike" cap="none">
              <a:solidFill>
                <a:schemeClr val="dk1"/>
              </a:solidFill>
              <a:latin typeface="Montserrat"/>
              <a:ea typeface="Montserrat"/>
              <a:cs typeface="Montserrat"/>
              <a:sym typeface="Montserrat"/>
            </a:endParaRPr>
          </a:p>
        </p:txBody>
      </p:sp>
      <p:sp>
        <p:nvSpPr>
          <p:cNvPr id="2590" name="Google Shape;2590;p213"/>
          <p:cNvSpPr/>
          <p:nvPr/>
        </p:nvSpPr>
        <p:spPr>
          <a:xfrm>
            <a:off x="6172224" y="1490445"/>
            <a:ext cx="2606100" cy="1281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400"/>
              </a:spcBef>
              <a:spcAft>
                <a:spcPts val="0"/>
              </a:spcAft>
              <a:buClr>
                <a:schemeClr val="dk1"/>
              </a:buClr>
              <a:buFont typeface="Arial"/>
              <a:buNone/>
            </a:pPr>
            <a:r>
              <a:rPr lang="en" sz="900">
                <a:solidFill>
                  <a:srgbClr val="1C3530"/>
                </a:solidFill>
                <a:latin typeface="Montserrat"/>
                <a:ea typeface="Montserrat"/>
                <a:cs typeface="Montserrat"/>
                <a:sym typeface="Montserrat"/>
              </a:rPr>
              <a:t>Load timing significantly affects economics: operations with steady daytime demand see stronger DPPA outcomes than those with evening/night-heavy profiles</a:t>
            </a:r>
            <a:endParaRPr sz="900" i="0" u="none" strike="noStrike" cap="none">
              <a:solidFill>
                <a:schemeClr val="dk1"/>
              </a:solidFill>
              <a:latin typeface="Montserrat"/>
              <a:ea typeface="Montserrat"/>
              <a:cs typeface="Montserrat"/>
              <a:sym typeface="Montserrat"/>
            </a:endParaRPr>
          </a:p>
        </p:txBody>
      </p:sp>
      <p:sp>
        <p:nvSpPr>
          <p:cNvPr id="2591" name="Google Shape;2591;p213"/>
          <p:cNvSpPr/>
          <p:nvPr/>
        </p:nvSpPr>
        <p:spPr>
          <a:xfrm>
            <a:off x="274413"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2" name="Google Shape;2592;p213"/>
          <p:cNvSpPr/>
          <p:nvPr/>
        </p:nvSpPr>
        <p:spPr>
          <a:xfrm>
            <a:off x="274413" y="2988864"/>
            <a:ext cx="2788800" cy="606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3" name="Google Shape;2593;p213"/>
          <p:cNvSpPr/>
          <p:nvPr/>
        </p:nvSpPr>
        <p:spPr>
          <a:xfrm>
            <a:off x="365853" y="3089937"/>
            <a:ext cx="310800" cy="3435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4" name="Google Shape;2594;p213"/>
          <p:cNvSpPr/>
          <p:nvPr/>
        </p:nvSpPr>
        <p:spPr>
          <a:xfrm>
            <a:off x="365853"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04</a:t>
            </a:r>
            <a:endParaRPr sz="900" i="0" u="none" strike="noStrike" cap="none">
              <a:solidFill>
                <a:schemeClr val="dk1"/>
              </a:solidFill>
              <a:latin typeface="Montserrat"/>
              <a:ea typeface="Montserrat"/>
              <a:cs typeface="Montserrat"/>
              <a:sym typeface="Montserrat"/>
            </a:endParaRPr>
          </a:p>
        </p:txBody>
      </p:sp>
      <p:sp>
        <p:nvSpPr>
          <p:cNvPr id="2595" name="Google Shape;2595;p213"/>
          <p:cNvSpPr/>
          <p:nvPr/>
        </p:nvSpPr>
        <p:spPr>
          <a:xfrm>
            <a:off x="749901"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Corporate demand shapes the market</a:t>
            </a:r>
            <a:endParaRPr sz="900" i="0" u="none" strike="noStrike" cap="none">
              <a:solidFill>
                <a:schemeClr val="dk1"/>
              </a:solidFill>
              <a:latin typeface="Montserrat"/>
              <a:ea typeface="Montserrat"/>
              <a:cs typeface="Montserrat"/>
              <a:sym typeface="Montserrat"/>
            </a:endParaRPr>
          </a:p>
        </p:txBody>
      </p:sp>
      <p:sp>
        <p:nvSpPr>
          <p:cNvPr id="2596" name="Google Shape;2596;p213"/>
          <p:cNvSpPr/>
          <p:nvPr/>
        </p:nvSpPr>
        <p:spPr>
          <a:xfrm>
            <a:off x="365853"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C&amp;I buyers collectively drive demand signals that influence RE accessibility, pricing trajectories, and supportive policy — early movers carry outsized influence.</a:t>
            </a:r>
            <a:endParaRPr sz="900" i="0" u="none" strike="noStrike" cap="none">
              <a:solidFill>
                <a:schemeClr val="dk1"/>
              </a:solidFill>
              <a:latin typeface="Montserrat"/>
              <a:ea typeface="Montserrat"/>
              <a:cs typeface="Montserrat"/>
              <a:sym typeface="Montserrat"/>
            </a:endParaRPr>
          </a:p>
        </p:txBody>
      </p:sp>
      <p:sp>
        <p:nvSpPr>
          <p:cNvPr id="2597" name="Google Shape;2597;p213"/>
          <p:cNvSpPr/>
          <p:nvPr/>
        </p:nvSpPr>
        <p:spPr>
          <a:xfrm>
            <a:off x="3177636"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8" name="Google Shape;2598;p213"/>
          <p:cNvSpPr/>
          <p:nvPr/>
        </p:nvSpPr>
        <p:spPr>
          <a:xfrm>
            <a:off x="3177636" y="2988864"/>
            <a:ext cx="2788800" cy="606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599" name="Google Shape;2599;p213"/>
          <p:cNvSpPr/>
          <p:nvPr/>
        </p:nvSpPr>
        <p:spPr>
          <a:xfrm>
            <a:off x="3269076" y="3089937"/>
            <a:ext cx="310800" cy="343500"/>
          </a:xfrm>
          <a:prstGeom prst="rect">
            <a:avLst/>
          </a:prstGeom>
          <a:solidFill>
            <a:srgbClr val="1A6B5C"/>
          </a:solidFill>
          <a:ln w="12700" cap="flat" cmpd="sng">
            <a:solidFill>
              <a:srgbClr val="1A6B5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0" name="Google Shape;2600;p213"/>
          <p:cNvSpPr/>
          <p:nvPr/>
        </p:nvSpPr>
        <p:spPr>
          <a:xfrm>
            <a:off x="3269076"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05</a:t>
            </a:r>
            <a:endParaRPr sz="900" i="0" u="none" strike="noStrike" cap="none">
              <a:solidFill>
                <a:schemeClr val="dk1"/>
              </a:solidFill>
              <a:latin typeface="Montserrat"/>
              <a:ea typeface="Montserrat"/>
              <a:cs typeface="Montserrat"/>
              <a:sym typeface="Montserrat"/>
            </a:endParaRPr>
          </a:p>
        </p:txBody>
      </p:sp>
      <p:sp>
        <p:nvSpPr>
          <p:cNvPr id="2601" name="Google Shape;2601;p213"/>
          <p:cNvSpPr/>
          <p:nvPr/>
        </p:nvSpPr>
        <p:spPr>
          <a:xfrm>
            <a:off x="3653124"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GHG measurement is the foundation</a:t>
            </a:r>
            <a:endParaRPr sz="900" i="0" u="none" strike="noStrike" cap="none">
              <a:solidFill>
                <a:schemeClr val="dk1"/>
              </a:solidFill>
              <a:latin typeface="Montserrat"/>
              <a:ea typeface="Montserrat"/>
              <a:cs typeface="Montserrat"/>
              <a:sym typeface="Montserrat"/>
            </a:endParaRPr>
          </a:p>
        </p:txBody>
      </p:sp>
      <p:sp>
        <p:nvSpPr>
          <p:cNvPr id="2602" name="Google Shape;2602;p213"/>
          <p:cNvSpPr/>
          <p:nvPr/>
        </p:nvSpPr>
        <p:spPr>
          <a:xfrm>
            <a:off x="3269076"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Credible Scope 1, 2, and 3 measurement is a prerequisite for effective decarbonization action and meeting Vietnam's emerging regulatory requirements.</a:t>
            </a:r>
            <a:endParaRPr sz="900" i="0" u="none" strike="noStrike" cap="none">
              <a:solidFill>
                <a:schemeClr val="dk1"/>
              </a:solidFill>
              <a:latin typeface="Montserrat"/>
              <a:ea typeface="Montserrat"/>
              <a:cs typeface="Montserrat"/>
              <a:sym typeface="Montserrat"/>
            </a:endParaRPr>
          </a:p>
        </p:txBody>
      </p:sp>
      <p:sp>
        <p:nvSpPr>
          <p:cNvPr id="2603" name="Google Shape;2603;p213"/>
          <p:cNvSpPr/>
          <p:nvPr/>
        </p:nvSpPr>
        <p:spPr>
          <a:xfrm>
            <a:off x="6080859" y="2988864"/>
            <a:ext cx="2788800" cy="1768800"/>
          </a:xfrm>
          <a:prstGeom prst="rect">
            <a:avLst/>
          </a:prstGeom>
          <a:solidFill>
            <a:srgbClr val="D7EEE9"/>
          </a:solidFill>
          <a:ln w="9525" cap="flat" cmpd="sng">
            <a:solidFill>
              <a:srgbClr val="C0DD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4" name="Google Shape;2604;p213"/>
          <p:cNvSpPr/>
          <p:nvPr/>
        </p:nvSpPr>
        <p:spPr>
          <a:xfrm>
            <a:off x="6080859" y="2988864"/>
            <a:ext cx="2788800" cy="606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5" name="Google Shape;2605;p213"/>
          <p:cNvSpPr/>
          <p:nvPr/>
        </p:nvSpPr>
        <p:spPr>
          <a:xfrm>
            <a:off x="6172299" y="3089937"/>
            <a:ext cx="310800" cy="343500"/>
          </a:xfrm>
          <a:prstGeom prst="rect">
            <a:avLst/>
          </a:prstGeom>
          <a:solidFill>
            <a:srgbClr val="2B9C85"/>
          </a:solidFill>
          <a:ln w="12700"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Montserrat"/>
              <a:ea typeface="Montserrat"/>
              <a:cs typeface="Montserrat"/>
              <a:sym typeface="Montserrat"/>
            </a:endParaRPr>
          </a:p>
        </p:txBody>
      </p:sp>
      <p:sp>
        <p:nvSpPr>
          <p:cNvPr id="2606" name="Google Shape;2606;p213"/>
          <p:cNvSpPr/>
          <p:nvPr/>
        </p:nvSpPr>
        <p:spPr>
          <a:xfrm>
            <a:off x="6172299" y="3089937"/>
            <a:ext cx="310800" cy="343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 sz="900" b="1" i="0" u="none" strike="noStrike" cap="none">
                <a:solidFill>
                  <a:srgbClr val="FFFFFF"/>
                </a:solidFill>
                <a:latin typeface="Montserrat"/>
                <a:ea typeface="Montserrat"/>
                <a:cs typeface="Montserrat"/>
                <a:sym typeface="Montserrat"/>
              </a:rPr>
              <a:t>06</a:t>
            </a:r>
            <a:endParaRPr sz="900" i="0" u="none" strike="noStrike" cap="none">
              <a:solidFill>
                <a:schemeClr val="dk1"/>
              </a:solidFill>
              <a:latin typeface="Montserrat"/>
              <a:ea typeface="Montserrat"/>
              <a:cs typeface="Montserrat"/>
              <a:sym typeface="Montserrat"/>
            </a:endParaRPr>
          </a:p>
        </p:txBody>
      </p:sp>
      <p:sp>
        <p:nvSpPr>
          <p:cNvPr id="2607" name="Google Shape;2607;p213"/>
          <p:cNvSpPr/>
          <p:nvPr/>
        </p:nvSpPr>
        <p:spPr>
          <a:xfrm>
            <a:off x="6556348" y="3089937"/>
            <a:ext cx="22221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3530"/>
              </a:buClr>
              <a:buSzPts val="1100"/>
              <a:buFont typeface="Calibri"/>
              <a:buNone/>
            </a:pPr>
            <a:r>
              <a:rPr lang="en" sz="900" b="1" i="0" u="none" strike="noStrike" cap="none">
                <a:solidFill>
                  <a:srgbClr val="1C3530"/>
                </a:solidFill>
                <a:latin typeface="Montserrat"/>
                <a:ea typeface="Montserrat"/>
                <a:cs typeface="Montserrat"/>
                <a:sym typeface="Montserrat"/>
              </a:rPr>
              <a:t>Act now — the window is open</a:t>
            </a:r>
            <a:endParaRPr sz="900" i="0" u="none" strike="noStrike" cap="none">
              <a:solidFill>
                <a:schemeClr val="dk1"/>
              </a:solidFill>
              <a:latin typeface="Montserrat"/>
              <a:ea typeface="Montserrat"/>
              <a:cs typeface="Montserrat"/>
              <a:sym typeface="Montserrat"/>
            </a:endParaRPr>
          </a:p>
        </p:txBody>
      </p:sp>
      <p:sp>
        <p:nvSpPr>
          <p:cNvPr id="2608" name="Google Shape;2608;p213"/>
          <p:cNvSpPr/>
          <p:nvPr/>
        </p:nvSpPr>
        <p:spPr>
          <a:xfrm>
            <a:off x="6172299" y="3494232"/>
            <a:ext cx="2606100" cy="116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1C3530"/>
              </a:buClr>
              <a:buSzPts val="1100"/>
              <a:buFont typeface="Calibri"/>
              <a:buNone/>
            </a:pPr>
            <a:r>
              <a:rPr lang="en" sz="900" i="0" u="none" strike="noStrike" cap="none">
                <a:solidFill>
                  <a:srgbClr val="1C3530"/>
                </a:solidFill>
                <a:latin typeface="Montserrat"/>
                <a:ea typeface="Montserrat"/>
                <a:cs typeface="Montserrat"/>
                <a:sym typeface="Montserrat"/>
              </a:rPr>
              <a:t>Regulatory requirements are tightening and market structures are maturing. Companies that engage early will gain first-mover advantage as DPPA scales.</a:t>
            </a:r>
            <a:endParaRPr sz="900" i="0" u="none" strike="noStrike" cap="none">
              <a:solidFill>
                <a:schemeClr val="dk1"/>
              </a:solidFill>
              <a:latin typeface="Montserrat"/>
              <a:ea typeface="Montserrat"/>
              <a:cs typeface="Montserrat"/>
              <a:sym typeface="Montserrat"/>
            </a:endParaRPr>
          </a:p>
        </p:txBody>
      </p:sp>
      <p:pic>
        <p:nvPicPr>
          <p:cNvPr id="2609" name="Google Shape;2609;p21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610" name="Google Shape;2610;p213"/>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611" name="Google Shape;2611;p213"/>
          <p:cNvGrpSpPr/>
          <p:nvPr/>
        </p:nvGrpSpPr>
        <p:grpSpPr>
          <a:xfrm>
            <a:off x="239992" y="63853"/>
            <a:ext cx="8728050" cy="745997"/>
            <a:chOff x="236700" y="63853"/>
            <a:chExt cx="8728050" cy="745997"/>
          </a:xfrm>
        </p:grpSpPr>
        <p:sp>
          <p:nvSpPr>
            <p:cNvPr id="2612" name="Google Shape;2612;p21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13" name="Google Shape;2613;p21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14" name="Google Shape;2614;p21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15" name="Google Shape;2615;p21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16" name="Google Shape;2616;p21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17" name="Google Shape;2617;p21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18" name="Google Shape;2618;p21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19" name="Google Shape;2619;p21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Recap and Wrap Up</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620" name="Google Shape;2620;p21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621" name="Google Shape;2621;p21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25"/>
        <p:cNvGrpSpPr/>
        <p:nvPr/>
      </p:nvGrpSpPr>
      <p:grpSpPr>
        <a:xfrm>
          <a:off x="0" y="0"/>
          <a:ext cx="0" cy="0"/>
          <a:chOff x="0" y="0"/>
          <a:chExt cx="0" cy="0"/>
        </a:xfrm>
      </p:grpSpPr>
      <p:sp>
        <p:nvSpPr>
          <p:cNvPr id="2626" name="Google Shape;2626;p214"/>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627" name="Google Shape;2627;p214"/>
          <p:cNvSpPr txBox="1"/>
          <p:nvPr/>
        </p:nvSpPr>
        <p:spPr>
          <a:xfrm>
            <a:off x="240000" y="926950"/>
            <a:ext cx="8697600" cy="38052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Corporate demand for RE in Vietnam is growing</a:t>
            </a:r>
            <a:r>
              <a:rPr lang="en" sz="1100">
                <a:solidFill>
                  <a:schemeClr val="dk1"/>
                </a:solidFill>
                <a:latin typeface="Montserrat"/>
                <a:ea typeface="Montserrat"/>
                <a:cs typeface="Montserrat"/>
                <a:sym typeface="Montserrat"/>
              </a:rPr>
              <a:t>: The C&amp;I sector has the potential to send strong demand signals for accessible, expanded, cost-effective RE in Vietnam.</a:t>
            </a:r>
            <a:endParaRPr sz="1100" b="1">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Start with your load and emissions data. </a:t>
            </a:r>
            <a:r>
              <a:rPr lang="en" sz="1100">
                <a:solidFill>
                  <a:schemeClr val="dk1"/>
                </a:solidFill>
                <a:latin typeface="Montserrat"/>
                <a:ea typeface="Montserrat"/>
                <a:cs typeface="Montserrat"/>
                <a:sym typeface="Montserrat"/>
              </a:rPr>
              <a:t>Clean energy procurement decisions should begin with goal setting, facility-level electricity consumption, load profile, Scope 1–2 emissions, and any relevant Scope 3 or product carbon footprint requirements.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Match the solution to the facility constraint. </a:t>
            </a:r>
            <a:r>
              <a:rPr lang="en" sz="1100">
                <a:solidFill>
                  <a:schemeClr val="dk1"/>
                </a:solidFill>
                <a:latin typeface="Montserrat"/>
                <a:ea typeface="Montserrat"/>
                <a:cs typeface="Montserrat"/>
                <a:sym typeface="Montserrat"/>
              </a:rPr>
              <a:t>On-site solar is the most available near-term option, but roof space, facility ownership, tenancy terms, and industrial park rules constraints will determine feasibility.</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Treat BESS as a procurement design tool, not only a technology add-on. </a:t>
            </a:r>
            <a:r>
              <a:rPr lang="en" sz="1100">
                <a:solidFill>
                  <a:schemeClr val="dk1"/>
                </a:solidFill>
                <a:latin typeface="Montserrat"/>
                <a:ea typeface="Montserrat"/>
                <a:cs typeface="Montserrat"/>
                <a:sym typeface="Montserrat"/>
              </a:rPr>
              <a:t>Battery storage can improve tariff resilience, increase daily renewable energy consumption, support peak shaving, and improve the commercial case for solar under evolving tariff structures.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Use RECs/EACs carefully and transparently. </a:t>
            </a:r>
            <a:r>
              <a:rPr lang="en" sz="1100">
                <a:solidFill>
                  <a:schemeClr val="dk1"/>
                </a:solidFill>
                <a:latin typeface="Montserrat"/>
                <a:ea typeface="Montserrat"/>
                <a:cs typeface="Montserrat"/>
                <a:sym typeface="Montserrat"/>
              </a:rPr>
              <a:t>Unbundled RECs/EACs may support Scope 2 claims, but buyers should understand attribute ownership, additionality concerns, and the use cases between EACs and carbon offsets.</a:t>
            </a:r>
            <a:endParaRPr sz="1100">
              <a:solidFill>
                <a:schemeClr val="dk1"/>
              </a:solidFill>
              <a:latin typeface="Montserrat"/>
              <a:ea typeface="Montserrat"/>
              <a:cs typeface="Montserrat"/>
              <a:sym typeface="Montserrat"/>
            </a:endParaRPr>
          </a:p>
          <a:p>
            <a:pPr marL="457200" lvl="0" indent="-298450" algn="l" rtl="0">
              <a:spcBef>
                <a:spcPts val="500"/>
              </a:spcBef>
              <a:spcAft>
                <a:spcPts val="0"/>
              </a:spcAft>
              <a:buClr>
                <a:schemeClr val="dk1"/>
              </a:buClr>
              <a:buSzPts val="1100"/>
              <a:buFont typeface="Montserrat"/>
              <a:buChar char="●"/>
            </a:pPr>
            <a:r>
              <a:rPr lang="en" sz="1100" b="1">
                <a:solidFill>
                  <a:schemeClr val="dk1"/>
                </a:solidFill>
                <a:latin typeface="Montserrat"/>
                <a:ea typeface="Montserrat"/>
                <a:cs typeface="Montserrat"/>
                <a:sym typeface="Montserrat"/>
              </a:rPr>
              <a:t>Monitor DPPA developments, but plan for uncertainty. </a:t>
            </a:r>
            <a:r>
              <a:rPr lang="en" sz="1100">
                <a:solidFill>
                  <a:schemeClr val="dk1"/>
                </a:solidFill>
                <a:latin typeface="Montserrat"/>
                <a:ea typeface="Montserrat"/>
                <a:cs typeface="Montserrat"/>
                <a:sym typeface="Montserrat"/>
              </a:rPr>
              <a:t>DPPA may unlock larger off-site procurement, but buyers should account for evolving cost inputs, wheeling charges, settlement structures, and first-mover implementation challenges.</a:t>
            </a:r>
            <a:endParaRPr sz="1100">
              <a:solidFill>
                <a:schemeClr val="dk1"/>
              </a:solidFill>
              <a:latin typeface="Montserrat"/>
              <a:ea typeface="Montserrat"/>
              <a:cs typeface="Montserrat"/>
              <a:sym typeface="Montserrat"/>
            </a:endParaRPr>
          </a:p>
          <a:p>
            <a:pPr marL="457200" lvl="0" indent="-298450" algn="l" rtl="0">
              <a:spcBef>
                <a:spcPts val="500"/>
              </a:spcBef>
              <a:spcAft>
                <a:spcPts val="500"/>
              </a:spcAft>
              <a:buClr>
                <a:schemeClr val="dk1"/>
              </a:buClr>
              <a:buSzPts val="1100"/>
              <a:buFont typeface="Montserrat"/>
              <a:buChar char="●"/>
            </a:pPr>
            <a:r>
              <a:rPr lang="en" sz="1100" b="1">
                <a:solidFill>
                  <a:schemeClr val="dk1"/>
                </a:solidFill>
                <a:latin typeface="Montserrat"/>
                <a:ea typeface="Montserrat"/>
                <a:cs typeface="Montserrat"/>
                <a:sym typeface="Montserrat"/>
              </a:rPr>
              <a:t>Challenges persist: </a:t>
            </a:r>
            <a:r>
              <a:rPr lang="en" sz="1100">
                <a:solidFill>
                  <a:schemeClr val="dk1"/>
                </a:solidFill>
                <a:latin typeface="Montserrat"/>
                <a:ea typeface="Montserrat"/>
                <a:cs typeface="Montserrat"/>
                <a:sym typeface="Montserrat"/>
              </a:rPr>
              <a:t>While on-site clean energy procurement options are available today in Vietnam, scalability and further replication is limited by evolving policy, market, and technical challenges.</a:t>
            </a:r>
            <a:endParaRPr sz="1300">
              <a:solidFill>
                <a:schemeClr val="dk1"/>
              </a:solidFill>
              <a:latin typeface="Montserrat"/>
              <a:ea typeface="Montserrat"/>
              <a:cs typeface="Montserrat"/>
              <a:sym typeface="Montserrat"/>
            </a:endParaRPr>
          </a:p>
        </p:txBody>
      </p:sp>
      <p:pic>
        <p:nvPicPr>
          <p:cNvPr id="2628" name="Google Shape;2628;p214"/>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629" name="Google Shape;2629;p214"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630" name="Google Shape;2630;p214"/>
          <p:cNvGrpSpPr/>
          <p:nvPr/>
        </p:nvGrpSpPr>
        <p:grpSpPr>
          <a:xfrm>
            <a:off x="239992" y="63853"/>
            <a:ext cx="8972708" cy="745997"/>
            <a:chOff x="236700" y="63853"/>
            <a:chExt cx="8972708" cy="745997"/>
          </a:xfrm>
        </p:grpSpPr>
        <p:sp>
          <p:nvSpPr>
            <p:cNvPr id="2631" name="Google Shape;2631;p21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32" name="Google Shape;2632;p21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33" name="Google Shape;2633;p21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34" name="Google Shape;2634;p21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35" name="Google Shape;2635;p21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36" name="Google Shape;2636;p21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37" name="Google Shape;2637;p21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38" name="Google Shape;2638;p214"/>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a:t>
              </a:r>
              <a:endParaRPr sz="2100">
                <a:solidFill>
                  <a:schemeClr val="lt1"/>
                </a:solidFill>
                <a:latin typeface="Montserrat ExtraBold"/>
                <a:ea typeface="Montserrat ExtraBold"/>
                <a:cs typeface="Montserrat ExtraBold"/>
                <a:sym typeface="Montserrat ExtraBold"/>
              </a:endParaRPr>
            </a:p>
          </p:txBody>
        </p:sp>
        <p:cxnSp>
          <p:nvCxnSpPr>
            <p:cNvPr id="2639" name="Google Shape;2639;p214"/>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640" name="Google Shape;2640;p214"/>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44"/>
        <p:cNvGrpSpPr/>
        <p:nvPr/>
      </p:nvGrpSpPr>
      <p:grpSpPr>
        <a:xfrm>
          <a:off x="0" y="0"/>
          <a:ext cx="0" cy="0"/>
          <a:chOff x="0" y="0"/>
          <a:chExt cx="0" cy="0"/>
        </a:xfrm>
      </p:grpSpPr>
      <p:sp>
        <p:nvSpPr>
          <p:cNvPr id="2645" name="Google Shape;2645;p215"/>
          <p:cNvSpPr txBox="1"/>
          <p:nvPr/>
        </p:nvSpPr>
        <p:spPr>
          <a:xfrm>
            <a:off x="115050" y="0"/>
            <a:ext cx="513000" cy="651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500" b="1">
                <a:solidFill>
                  <a:schemeClr val="lt1"/>
                </a:solidFill>
              </a:rPr>
              <a:t> </a:t>
            </a:r>
            <a:endParaRPr sz="2500" b="1">
              <a:solidFill>
                <a:schemeClr val="lt1"/>
              </a:solidFill>
            </a:endParaRPr>
          </a:p>
        </p:txBody>
      </p:sp>
      <p:sp>
        <p:nvSpPr>
          <p:cNvPr id="2646" name="Google Shape;2646;p215"/>
          <p:cNvSpPr txBox="1"/>
          <p:nvPr/>
        </p:nvSpPr>
        <p:spPr>
          <a:xfrm>
            <a:off x="458250" y="912200"/>
            <a:ext cx="8346600" cy="38199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Confirm your clean energy objective and set actionable targets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Identify your facility’s key decarbonization goals: Scope 2 reduction, buyer compliance, RE100 alignment, product carbon footprint reduction, or long-term price stability, and set actionable intermediate and long term targets to achieve these objectives.</a:t>
            </a:r>
            <a:endParaRPr sz="1300" b="1">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Gather the right data</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Work with facility staff to collect 12 months of electricity bills, 30-minute or hourly load data if available, roof drawings, facility lease/ownership status, current EAC/REC contracts, and buyer sustainability requirements to assess site feasibility and constraints.</a:t>
            </a:r>
            <a:endParaRPr sz="1300">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Screen near-term procurement options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Assess rooftop solar+BESS where load, load shape, evening usage, or future tariff exposure align. Evaluate RECs/EACs as a complementary tool, not a substitute for direct procurement where feasible. Assess your site’s suitability for offsite procurements, and remain up to date on policy evolution.</a:t>
            </a:r>
            <a:endParaRPr sz="1300" b="1">
              <a:solidFill>
                <a:schemeClr val="dk1"/>
              </a:solidFill>
              <a:latin typeface="Montserrat"/>
              <a:ea typeface="Montserrat"/>
              <a:cs typeface="Montserrat"/>
              <a:sym typeface="Montserrat"/>
            </a:endParaRPr>
          </a:p>
          <a:p>
            <a:pPr marL="457200" lvl="0" indent="-311150" algn="l" rtl="0">
              <a:spcBef>
                <a:spcPts val="1000"/>
              </a:spcBef>
              <a:spcAft>
                <a:spcPts val="0"/>
              </a:spcAft>
              <a:buClr>
                <a:schemeClr val="dk1"/>
              </a:buClr>
              <a:buSzPts val="1300"/>
              <a:buFont typeface="Montserrat"/>
              <a:buChar char="❏"/>
            </a:pPr>
            <a:r>
              <a:rPr lang="en" sz="1300" b="1">
                <a:solidFill>
                  <a:schemeClr val="dk1"/>
                </a:solidFill>
                <a:latin typeface="Montserrat"/>
                <a:ea typeface="Montserrat"/>
                <a:cs typeface="Montserrat"/>
                <a:sym typeface="Montserrat"/>
              </a:rPr>
              <a:t>Identify decision-makers and constraints</a:t>
            </a:r>
            <a:br>
              <a:rPr lang="en" sz="1300" b="1">
                <a:solidFill>
                  <a:schemeClr val="dk1"/>
                </a:solidFill>
                <a:latin typeface="Montserrat"/>
                <a:ea typeface="Montserrat"/>
                <a:cs typeface="Montserrat"/>
                <a:sym typeface="Montserrat"/>
              </a:rPr>
            </a:br>
            <a:r>
              <a:rPr lang="en" sz="1300">
                <a:solidFill>
                  <a:schemeClr val="dk1"/>
                </a:solidFill>
                <a:latin typeface="Montserrat"/>
                <a:ea typeface="Montserrat"/>
                <a:cs typeface="Montserrat"/>
                <a:sym typeface="Montserrat"/>
              </a:rPr>
              <a:t>Map who needs to approve the project: headquarters, procurement, finance, legal, factory management, landlord, industrial park operator, EVN/local utility, or sustainability/customer teams, and help decision makers understand the business case for RE procurement.</a:t>
            </a:r>
            <a:endParaRPr sz="1300">
              <a:solidFill>
                <a:schemeClr val="dk1"/>
              </a:solidFill>
              <a:latin typeface="Montserrat"/>
              <a:ea typeface="Montserrat"/>
              <a:cs typeface="Montserrat"/>
              <a:sym typeface="Montserrat"/>
            </a:endParaRPr>
          </a:p>
          <a:p>
            <a:pPr marL="0" lvl="0" indent="0" algn="l" rtl="0">
              <a:spcBef>
                <a:spcPts val="1000"/>
              </a:spcBef>
              <a:spcAft>
                <a:spcPts val="0"/>
              </a:spcAft>
              <a:buNone/>
            </a:pPr>
            <a:endParaRPr sz="1300" b="1">
              <a:solidFill>
                <a:schemeClr val="dk1"/>
              </a:solidFill>
              <a:latin typeface="Montserrat"/>
              <a:ea typeface="Montserrat"/>
              <a:cs typeface="Montserrat"/>
              <a:sym typeface="Montserrat"/>
            </a:endParaRPr>
          </a:p>
        </p:txBody>
      </p:sp>
      <p:pic>
        <p:nvPicPr>
          <p:cNvPr id="2647" name="Google Shape;2647;p215"/>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2648" name="Google Shape;2648;p215"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nvGrpSpPr>
          <p:cNvPr id="2649" name="Google Shape;2649;p215"/>
          <p:cNvGrpSpPr/>
          <p:nvPr/>
        </p:nvGrpSpPr>
        <p:grpSpPr>
          <a:xfrm>
            <a:off x="239992" y="63853"/>
            <a:ext cx="8972708" cy="745997"/>
            <a:chOff x="236700" y="63853"/>
            <a:chExt cx="8972708" cy="745997"/>
          </a:xfrm>
        </p:grpSpPr>
        <p:sp>
          <p:nvSpPr>
            <p:cNvPr id="2650" name="Google Shape;2650;p21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651" name="Google Shape;2651;p21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652" name="Google Shape;2652;p21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653" name="Google Shape;2653;p21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654" name="Google Shape;2654;p21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655" name="Google Shape;2655;p21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656" name="Google Shape;2656;p21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657" name="Google Shape;2657;p215"/>
            <p:cNvSpPr txBox="1"/>
            <p:nvPr/>
          </p:nvSpPr>
          <p:spPr>
            <a:xfrm>
              <a:off x="637208" y="281375"/>
              <a:ext cx="85722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chemeClr val="lt1"/>
                  </a:solidFill>
                  <a:latin typeface="Montserrat ExtraBold"/>
                  <a:ea typeface="Montserrat ExtraBold"/>
                  <a:cs typeface="Montserrat ExtraBold"/>
                  <a:sym typeface="Montserrat ExtraBold"/>
                </a:rPr>
                <a:t>Key Takeaways - Day 1 Action Checklist</a:t>
              </a:r>
              <a:endParaRPr sz="2100">
                <a:solidFill>
                  <a:schemeClr val="lt1"/>
                </a:solidFill>
                <a:latin typeface="Montserrat ExtraBold"/>
                <a:ea typeface="Montserrat ExtraBold"/>
                <a:cs typeface="Montserrat ExtraBold"/>
                <a:sym typeface="Montserrat ExtraBold"/>
              </a:endParaRPr>
            </a:p>
          </p:txBody>
        </p:sp>
        <p:cxnSp>
          <p:nvCxnSpPr>
            <p:cNvPr id="2658" name="Google Shape;2658;p21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2659" name="Google Shape;2659;p21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63"/>
        <p:cNvGrpSpPr/>
        <p:nvPr/>
      </p:nvGrpSpPr>
      <p:grpSpPr>
        <a:xfrm>
          <a:off x="0" y="0"/>
          <a:ext cx="0" cy="0"/>
          <a:chOff x="0" y="0"/>
          <a:chExt cx="0" cy="0"/>
        </a:xfrm>
      </p:grpSpPr>
      <p:pic>
        <p:nvPicPr>
          <p:cNvPr id="2664" name="Google Shape;2664;p216" title="solar vs wind.jpg"/>
          <p:cNvPicPr preferRelativeResize="0"/>
          <p:nvPr/>
        </p:nvPicPr>
        <p:blipFill rotWithShape="1">
          <a:blip r:embed="rId3">
            <a:alphaModFix/>
          </a:blip>
          <a:srcRect t="7813" b="7813"/>
          <a:stretch/>
        </p:blipFill>
        <p:spPr>
          <a:xfrm>
            <a:off x="0" y="0"/>
            <a:ext cx="9144003" cy="5143502"/>
          </a:xfrm>
          <a:prstGeom prst="rect">
            <a:avLst/>
          </a:prstGeom>
          <a:noFill/>
          <a:ln>
            <a:noFill/>
          </a:ln>
        </p:spPr>
      </p:pic>
      <p:sp>
        <p:nvSpPr>
          <p:cNvPr id="2665" name="Google Shape;2665;p216"/>
          <p:cNvSpPr/>
          <p:nvPr/>
        </p:nvSpPr>
        <p:spPr>
          <a:xfrm>
            <a:off x="0" y="0"/>
            <a:ext cx="9144000" cy="5143500"/>
          </a:xfrm>
          <a:prstGeom prst="rect">
            <a:avLst/>
          </a:prstGeom>
          <a:solidFill>
            <a:srgbClr val="14645C">
              <a:alpha val="6391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6" name="Google Shape;2666;p216"/>
          <p:cNvSpPr/>
          <p:nvPr/>
        </p:nvSpPr>
        <p:spPr>
          <a:xfrm>
            <a:off x="425400" y="816075"/>
            <a:ext cx="8293200" cy="2757600"/>
          </a:xfrm>
          <a:prstGeom prst="roundRect">
            <a:avLst>
              <a:gd name="adj" fmla="val 16667"/>
            </a:avLst>
          </a:prstGeom>
          <a:solidFill>
            <a:srgbClr val="DAEDE8">
              <a:alpha val="91189"/>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endParaRPr>
          </a:p>
        </p:txBody>
      </p:sp>
      <p:sp>
        <p:nvSpPr>
          <p:cNvPr id="2667" name="Google Shape;2667;p216"/>
          <p:cNvSpPr txBox="1"/>
          <p:nvPr/>
        </p:nvSpPr>
        <p:spPr>
          <a:xfrm>
            <a:off x="710350" y="2187357"/>
            <a:ext cx="3845700" cy="1169700"/>
          </a:xfrm>
          <a:prstGeom prst="rect">
            <a:avLst/>
          </a:prstGeom>
          <a:noFill/>
          <a:ln>
            <a:noFill/>
          </a:ln>
        </p:spPr>
        <p:txBody>
          <a:bodyPr spcFirstLastPara="1" wrap="square" lIns="68575" tIns="34275" rIns="68575" bIns="34275" anchor="t" anchorCtr="0">
            <a:spAutoFit/>
          </a:bodyPr>
          <a:lstStyle/>
          <a:p>
            <a:pPr marL="0" lvl="0" indent="0" algn="ctr" rtl="0">
              <a:lnSpc>
                <a:spcPct val="115000"/>
              </a:lnSpc>
              <a:spcBef>
                <a:spcPts val="0"/>
              </a:spcBef>
              <a:spcAft>
                <a:spcPts val="0"/>
              </a:spcAft>
              <a:buSzPts val="1100"/>
              <a:buNone/>
            </a:pPr>
            <a:endParaRPr>
              <a:solidFill>
                <a:schemeClr val="lt1"/>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r>
              <a:rPr lang="en">
                <a:solidFill>
                  <a:srgbClr val="34537D"/>
                </a:solidFill>
                <a:latin typeface="Montserrat"/>
                <a:ea typeface="Montserrat"/>
                <a:cs typeface="Montserrat"/>
                <a:sym typeface="Montserrat"/>
              </a:rPr>
              <a:t>Please </a:t>
            </a:r>
            <a:r>
              <a:rPr lang="en" b="1">
                <a:solidFill>
                  <a:srgbClr val="34537D"/>
                </a:solidFill>
                <a:latin typeface="Montserrat"/>
                <a:ea typeface="Montserrat"/>
                <a:cs typeface="Montserrat"/>
                <a:sym typeface="Montserrat"/>
              </a:rPr>
              <a:t>contact us</a:t>
            </a:r>
            <a:r>
              <a:rPr lang="en">
                <a:solidFill>
                  <a:srgbClr val="34537D"/>
                </a:solidFill>
                <a:latin typeface="Montserrat"/>
                <a:ea typeface="Montserrat"/>
                <a:cs typeface="Montserrat"/>
                <a:sym typeface="Montserrat"/>
              </a:rPr>
              <a:t> with any questions:</a:t>
            </a:r>
            <a:endParaRPr>
              <a:solidFill>
                <a:srgbClr val="34537D"/>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endParaRPr sz="800">
              <a:solidFill>
                <a:srgbClr val="34537D"/>
              </a:solidFill>
              <a:latin typeface="Montserrat"/>
              <a:ea typeface="Montserrat"/>
              <a:cs typeface="Montserrat"/>
              <a:sym typeface="Montserrat"/>
            </a:endParaRPr>
          </a:p>
          <a:p>
            <a:pPr marL="0" lvl="0" indent="0" algn="l" rtl="0">
              <a:lnSpc>
                <a:spcPct val="115000"/>
              </a:lnSpc>
              <a:spcBef>
                <a:spcPts val="0"/>
              </a:spcBef>
              <a:spcAft>
                <a:spcPts val="0"/>
              </a:spcAft>
              <a:buSzPts val="1100"/>
              <a:buNone/>
            </a:pPr>
            <a:r>
              <a:rPr lang="en">
                <a:solidFill>
                  <a:srgbClr val="34537D"/>
                </a:solidFill>
                <a:latin typeface="Montserrat"/>
                <a:ea typeface="Montserrat"/>
                <a:cs typeface="Montserrat"/>
                <a:sym typeface="Montserrat"/>
              </a:rPr>
              <a:t>Tung Ho, </a:t>
            </a:r>
            <a:r>
              <a:rPr lang="en">
                <a:solidFill>
                  <a:schemeClr val="lt1"/>
                </a:solidFill>
                <a:latin typeface="Montserrat"/>
                <a:ea typeface="Montserrat"/>
                <a:cs typeface="Montserrat"/>
                <a:sym typeface="Montserrat"/>
              </a:rPr>
              <a:t>	</a:t>
            </a:r>
            <a:r>
              <a:rPr lang="en" u="sng">
                <a:solidFill>
                  <a:schemeClr val="accent5"/>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tah@allotropepartners.com</a:t>
            </a:r>
            <a:endParaRPr>
              <a:solidFill>
                <a:schemeClr val="lt1"/>
              </a:solidFill>
              <a:latin typeface="Montserrat"/>
              <a:ea typeface="Montserrat"/>
              <a:cs typeface="Montserrat"/>
              <a:sym typeface="Montserrat"/>
            </a:endParaRPr>
          </a:p>
          <a:p>
            <a:pPr marL="914400" lvl="0" indent="0" algn="l" rtl="0">
              <a:lnSpc>
                <a:spcPct val="115000"/>
              </a:lnSpc>
              <a:spcBef>
                <a:spcPts val="0"/>
              </a:spcBef>
              <a:spcAft>
                <a:spcPts val="0"/>
              </a:spcAft>
              <a:buSzPts val="1100"/>
              <a:buNone/>
            </a:pPr>
            <a:r>
              <a:rPr lang="en" u="sng">
                <a:solidFill>
                  <a:schemeClr val="accent5"/>
                </a:solidFill>
                <a:latin typeface="Montserrat"/>
                <a:ea typeface="Montserrat"/>
                <a:cs typeface="Montserrat"/>
                <a:sym typeface="Montserrat"/>
                <a:hlinkClick r:id="rId5">
                  <a:extLst>
                    <a:ext uri="{A12FA001-AC4F-418D-AE19-62706E023703}">
                      <ahyp:hlinkClr xmlns:ahyp="http://schemas.microsoft.com/office/drawing/2018/hyperlinkcolor" val="tx"/>
                    </a:ext>
                  </a:extLst>
                </a:hlinkClick>
              </a:rPr>
              <a:t>info@allotropepartners.com</a:t>
            </a:r>
            <a:r>
              <a:rPr lang="en">
                <a:solidFill>
                  <a:schemeClr val="lt1"/>
                </a:solidFill>
                <a:latin typeface="Montserrat"/>
                <a:ea typeface="Montserrat"/>
                <a:cs typeface="Montserrat"/>
                <a:sym typeface="Montserrat"/>
              </a:rPr>
              <a:t> </a:t>
            </a:r>
            <a:endParaRPr sz="2500" b="1">
              <a:solidFill>
                <a:srgbClr val="34537D"/>
              </a:solidFill>
              <a:latin typeface="Montserrat"/>
              <a:ea typeface="Montserrat"/>
              <a:cs typeface="Montserrat"/>
              <a:sym typeface="Montserrat"/>
            </a:endParaRPr>
          </a:p>
        </p:txBody>
      </p:sp>
      <p:sp>
        <p:nvSpPr>
          <p:cNvPr id="2668" name="Google Shape;2668;p216"/>
          <p:cNvSpPr/>
          <p:nvPr/>
        </p:nvSpPr>
        <p:spPr>
          <a:xfrm>
            <a:off x="0" y="3794450"/>
            <a:ext cx="9144000" cy="1349100"/>
          </a:xfrm>
          <a:prstGeom prst="rect">
            <a:avLst/>
          </a:prstGeom>
          <a:solidFill>
            <a:schemeClr val="lt1"/>
          </a:solidFill>
          <a:ln>
            <a:noFill/>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rgbClr val="000000"/>
              </a:buClr>
              <a:buFont typeface="Arial"/>
              <a:buNone/>
            </a:pPr>
            <a:endParaRPr sz="1400" b="0" i="0" u="none" strike="noStrike" cap="none">
              <a:solidFill>
                <a:schemeClr val="lt1"/>
              </a:solidFill>
              <a:latin typeface="Calibri"/>
              <a:ea typeface="Calibri"/>
              <a:cs typeface="Calibri"/>
              <a:sym typeface="Calibri"/>
            </a:endParaRPr>
          </a:p>
        </p:txBody>
      </p:sp>
      <p:sp>
        <p:nvSpPr>
          <p:cNvPr id="2669" name="Google Shape;2669;p216"/>
          <p:cNvSpPr txBox="1"/>
          <p:nvPr/>
        </p:nvSpPr>
        <p:spPr>
          <a:xfrm>
            <a:off x="710350" y="1704300"/>
            <a:ext cx="3567600" cy="684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4000" b="1">
                <a:solidFill>
                  <a:srgbClr val="34537D"/>
                </a:solidFill>
                <a:latin typeface="Montserrat"/>
                <a:ea typeface="Montserrat"/>
                <a:cs typeface="Montserrat"/>
                <a:sym typeface="Montserrat"/>
              </a:rPr>
              <a:t>THANK YOU!</a:t>
            </a:r>
            <a:endParaRPr sz="4000" b="1">
              <a:solidFill>
                <a:srgbClr val="34537D"/>
              </a:solidFill>
              <a:latin typeface="Montserrat"/>
              <a:ea typeface="Montserrat"/>
              <a:cs typeface="Montserrat"/>
              <a:sym typeface="Montserrat"/>
            </a:endParaRPr>
          </a:p>
        </p:txBody>
      </p:sp>
      <p:pic>
        <p:nvPicPr>
          <p:cNvPr id="2670" name="Google Shape;2670;p216"/>
          <p:cNvPicPr preferRelativeResize="0"/>
          <p:nvPr/>
        </p:nvPicPr>
        <p:blipFill rotWithShape="1">
          <a:blip r:embed="rId6">
            <a:alphaModFix/>
          </a:blip>
          <a:srcRect/>
          <a:stretch/>
        </p:blipFill>
        <p:spPr>
          <a:xfrm>
            <a:off x="2275275" y="4053926"/>
            <a:ext cx="2159476" cy="754725"/>
          </a:xfrm>
          <a:prstGeom prst="rect">
            <a:avLst/>
          </a:prstGeom>
          <a:noFill/>
          <a:ln>
            <a:noFill/>
          </a:ln>
        </p:spPr>
      </p:pic>
      <p:pic>
        <p:nvPicPr>
          <p:cNvPr id="2671" name="Google Shape;2671;p216" title="CEBA new logo.png"/>
          <p:cNvPicPr preferRelativeResize="0"/>
          <p:nvPr/>
        </p:nvPicPr>
        <p:blipFill>
          <a:blip r:embed="rId7">
            <a:alphaModFix/>
          </a:blip>
          <a:stretch>
            <a:fillRect/>
          </a:stretch>
        </p:blipFill>
        <p:spPr>
          <a:xfrm>
            <a:off x="4489875" y="4238040"/>
            <a:ext cx="1690350" cy="505525"/>
          </a:xfrm>
          <a:prstGeom prst="rect">
            <a:avLst/>
          </a:prstGeom>
          <a:noFill/>
          <a:ln>
            <a:noFill/>
          </a:ln>
        </p:spPr>
      </p:pic>
      <p:sp>
        <p:nvSpPr>
          <p:cNvPr id="2672" name="Google Shape;2672;p216"/>
          <p:cNvSpPr/>
          <p:nvPr/>
        </p:nvSpPr>
        <p:spPr>
          <a:xfrm>
            <a:off x="710346" y="1529037"/>
            <a:ext cx="4337100" cy="51000"/>
          </a:xfrm>
          <a:prstGeom prst="rect">
            <a:avLst/>
          </a:prstGeom>
          <a:solidFill>
            <a:srgbClr val="3453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73" name="Google Shape;2673;p216"/>
          <p:cNvSpPr txBox="1"/>
          <p:nvPr/>
        </p:nvSpPr>
        <p:spPr>
          <a:xfrm>
            <a:off x="710351" y="1065975"/>
            <a:ext cx="47094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100" b="1">
                <a:solidFill>
                  <a:srgbClr val="34537D"/>
                </a:solidFill>
                <a:latin typeface="Montserrat"/>
                <a:ea typeface="Montserrat"/>
                <a:cs typeface="Montserrat"/>
                <a:sym typeface="Montserrat"/>
              </a:rPr>
              <a:t>Wrap Up &amp; Survey </a:t>
            </a:r>
            <a:r>
              <a:rPr lang="en" sz="2100">
                <a:solidFill>
                  <a:srgbClr val="34537D"/>
                </a:solidFill>
                <a:latin typeface="Montserrat"/>
                <a:ea typeface="Montserrat"/>
                <a:cs typeface="Montserrat"/>
                <a:sym typeface="Montserrat"/>
              </a:rPr>
              <a:t>(~5 minutes)</a:t>
            </a:r>
            <a:endParaRPr sz="1100" i="1">
              <a:solidFill>
                <a:srgbClr val="34537D"/>
              </a:solidFill>
            </a:endParaRPr>
          </a:p>
        </p:txBody>
      </p:sp>
      <p:sp>
        <p:nvSpPr>
          <p:cNvPr id="2674" name="Google Shape;2674;p216"/>
          <p:cNvSpPr txBox="1"/>
          <p:nvPr/>
        </p:nvSpPr>
        <p:spPr>
          <a:xfrm>
            <a:off x="5419650" y="955511"/>
            <a:ext cx="30000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34537D"/>
                </a:solidFill>
                <a:latin typeface="Montserrat"/>
                <a:ea typeface="Montserrat"/>
                <a:cs typeface="Montserrat"/>
                <a:sym typeface="Montserrat"/>
              </a:rPr>
              <a:t>Before departing, please help fill out the </a:t>
            </a:r>
            <a:r>
              <a:rPr lang="en" b="1">
                <a:solidFill>
                  <a:srgbClr val="FF7038"/>
                </a:solidFill>
                <a:latin typeface="Montserrat"/>
                <a:ea typeface="Montserrat"/>
                <a:cs typeface="Montserrat"/>
                <a:sym typeface="Montserrat"/>
              </a:rPr>
              <a:t>Post-Event Survey</a:t>
            </a:r>
            <a:r>
              <a:rPr lang="en" b="1">
                <a:solidFill>
                  <a:srgbClr val="34537D"/>
                </a:solidFill>
                <a:latin typeface="Montserrat"/>
                <a:ea typeface="Montserrat"/>
                <a:cs typeface="Montserrat"/>
                <a:sym typeface="Montserrat"/>
              </a:rPr>
              <a:t>.</a:t>
            </a:r>
            <a:endParaRPr b="1">
              <a:solidFill>
                <a:srgbClr val="34537D"/>
              </a:solidFill>
            </a:endParaRPr>
          </a:p>
        </p:txBody>
      </p:sp>
      <p:sp>
        <p:nvSpPr>
          <p:cNvPr id="2675" name="Google Shape;2675;p216"/>
          <p:cNvSpPr/>
          <p:nvPr/>
        </p:nvSpPr>
        <p:spPr>
          <a:xfrm>
            <a:off x="6374800" y="1603501"/>
            <a:ext cx="1890600" cy="1838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QR to be updated</a:t>
            </a:r>
            <a:endParaRPr/>
          </a:p>
        </p:txBody>
      </p:sp>
      <p:pic>
        <p:nvPicPr>
          <p:cNvPr id="2676" name="Google Shape;2676;p216" title="upward-arrow (2).png"/>
          <p:cNvPicPr preferRelativeResize="0"/>
          <p:nvPr/>
        </p:nvPicPr>
        <p:blipFill>
          <a:blip r:embed="rId8">
            <a:alphaModFix/>
          </a:blip>
          <a:stretch>
            <a:fillRect/>
          </a:stretch>
        </p:blipFill>
        <p:spPr>
          <a:xfrm rot="5914460" flipH="1">
            <a:off x="5399029" y="1646305"/>
            <a:ext cx="872891" cy="87286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6796</Words>
  <Application>Microsoft Office PowerPoint</Application>
  <PresentationFormat>On-screen Show (16:9)</PresentationFormat>
  <Paragraphs>853</Paragraphs>
  <Slides>57</Slides>
  <Notes>57</Notes>
  <HiddenSlides>2</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57</vt:i4>
      </vt:variant>
    </vt:vector>
  </HeadingPairs>
  <TitlesOfParts>
    <vt:vector size="74" baseType="lpstr">
      <vt:lpstr>Be Vietnam Pro SemiBold</vt:lpstr>
      <vt:lpstr>Montserrat ExtraBold</vt:lpstr>
      <vt:lpstr>Lato</vt:lpstr>
      <vt:lpstr>Geo</vt:lpstr>
      <vt:lpstr>Quattrocento Sans</vt:lpstr>
      <vt:lpstr>Montserrat</vt:lpstr>
      <vt:lpstr>Arial</vt:lpstr>
      <vt:lpstr>Raleway</vt:lpstr>
      <vt:lpstr>Be Vietnam Pro</vt:lpstr>
      <vt:lpstr>Consolas</vt:lpstr>
      <vt:lpstr>Calibri</vt:lpstr>
      <vt:lpstr>Roboto</vt:lpstr>
      <vt:lpstr>Simple Light</vt:lpstr>
      <vt:lpstr>Office Theme</vt:lpstr>
      <vt:lpstr>Office Theme</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1</cp:revision>
  <dcterms:modified xsi:type="dcterms:W3CDTF">2026-06-22T15:30:23Z</dcterms:modified>
</cp:coreProperties>
</file>