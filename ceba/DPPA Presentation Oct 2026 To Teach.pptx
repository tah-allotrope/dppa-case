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1" r:id="rId1"/>
    <p:sldMasterId id="2147483763" r:id="rId2"/>
    <p:sldMasterId id="2147483765" r:id="rId3"/>
    <p:sldMasterId id="2147483766" r:id="rId4"/>
    <p:sldMasterId id="2147483767" r:id="rId5"/>
  </p:sldMasterIdLst>
  <p:notesMasterIdLst>
    <p:notesMasterId r:id="rId63"/>
  </p:notesMasterIdLst>
  <p:sldIdLst>
    <p:sldId id="256" r:id="rId44"/>
    <p:sldId id="257" r:id="rId45"/>
    <p:sldId id="258" r:id="rId46"/>
    <p:sldId id="259" r:id="rId47"/>
    <p:sldId id="260" r:id="rId48"/>
    <p:sldId id="261" r:id="rId49"/>
    <p:sldId id="262" r:id="rId50"/>
    <p:sldId id="263" r:id="rId51"/>
    <p:sldId id="264" r:id="rId52"/>
    <p:sldId id="265" r:id="rId53"/>
    <p:sldId id="266" r:id="rId54"/>
    <p:sldId id="267" r:id="rId55"/>
    <p:sldId id="268" r:id="rId56"/>
    <p:sldId id="269" r:id="rId57"/>
    <p:sldId id="270" r:id="rId58"/>
    <p:sldId id="271" r:id="rId59"/>
    <p:sldId id="272" r:id="rId60"/>
    <p:sldId id="273" r:id="rId61"/>
    <p:sldId id="274" r:id="rId62"/>
    <p:sldId id="275" r:id="rId43"/>
    <p:sldId id="276" r:id="rId42"/>
    <p:sldId id="277" r:id="rId41"/>
    <p:sldId id="278" r:id="rId40"/>
    <p:sldId id="279" r:id="rId39"/>
    <p:sldId id="280" r:id="rId38"/>
    <p:sldId id="281" r:id="rId37"/>
    <p:sldId id="282" r:id="rId36"/>
  </p:sldIdLst>
  <p:sldSz cx="9144000" cy="5143500" type="screen16x9"/>
  <p:notesSz cx="6858000" cy="9144000"/>
  <p:embeddedFontLst>
    <p:embeddedFont>
      <p:font typeface="Be Vietnam Pro" panose="020B0604020202020204" charset="0"/>
      <p:regular r:id="rId64"/>
      <p:bold r:id="rId65"/>
      <p:italic r:id="rId66"/>
      <p:boldItalic r:id="rId67"/>
    </p:embeddedFont>
    <p:embeddedFont>
      <p:font typeface="Be Vietnam Pro SemiBold" panose="020B0604020202020204" charset="0"/>
      <p:regular r:id="rId68"/>
      <p:bold r:id="rId69"/>
      <p:italic r:id="rId70"/>
      <p:boldItalic r:id="rId71"/>
    </p:embeddedFont>
    <p:embeddedFont>
      <p:font typeface="Consolas" panose="020B0609020204030204" pitchFamily="49" charset="0"/>
      <p:regular r:id="rId72"/>
      <p:bold r:id="rId73"/>
      <p:italic r:id="rId74"/>
      <p:boldItalic r:id="rId75"/>
    </p:embeddedFont>
    <p:embeddedFont>
      <p:font typeface="Geo" panose="020B0604020202020204"/>
      <p:regular r:id="rId76"/>
      <p:italic r:id="rId77"/>
    </p:embeddedFont>
    <p:embeddedFont>
      <p:font typeface="Lato" panose="020F0502020204030203" pitchFamily="34" charset="0"/>
      <p:regular r:id="rId78"/>
      <p:bold r:id="rId79"/>
      <p:italic r:id="rId80"/>
      <p:boldItalic r:id="rId81"/>
    </p:embeddedFont>
    <p:embeddedFont>
      <p:font typeface="Montserrat" panose="00000500000000000000" pitchFamily="2" charset="0"/>
      <p:regular r:id="rId82"/>
      <p:bold r:id="rId83"/>
      <p:italic r:id="rId84"/>
      <p:boldItalic r:id="rId85"/>
    </p:embeddedFont>
    <p:embeddedFont>
      <p:font typeface="Montserrat ExtraBold" panose="00000900000000000000" pitchFamily="2" charset="0"/>
      <p:bold r:id="rId86"/>
      <p:boldItalic r:id="rId87"/>
    </p:embeddedFont>
    <p:embeddedFont>
      <p:font typeface="Quattrocento Sans" panose="020B0502050000020003" pitchFamily="34" charset="0"/>
      <p:regular r:id="rId88"/>
      <p:bold r:id="rId89"/>
      <p:italic r:id="rId90"/>
      <p:boldItalic r:id="rId91"/>
    </p:embeddedFont>
    <p:embeddedFont>
      <p:font typeface="Roboto" panose="02000000000000000000" pitchFamily="2" charset="0"/>
      <p:regular r:id="rId92"/>
      <p:bold r:id="rId93"/>
      <p:italic r:id="rId94"/>
      <p:boldItalic r:id="rId9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6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rang Tran" initials="" lastIdx="4" clrIdx="0"/>
  <p:cmAuthor id="1" name="Hong Anh Le" initials="" lastIdx="12" clrIdx="1"/>
  <p:cmAuthor id="2" name="Lauren McGinley" initials="" lastIdx="10" clrIdx="2"/>
  <p:cmAuthor id="3" name="Cong Nguyen" initials="" lastIdx="4" clrIdx="3"/>
  <p:cmAuthor id="4" name="Aiden Roake" initials="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1033D3-121A-4ABF-A30B-B91F07BF1167}">
  <a:tblStyle styleId="{121033D3-121A-4ABF-A30B-B91F07BF11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E8BD2AF-5D0D-4EDC-AE96-A30A7DA1AF2F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1742F6B-ED47-481C-AEBF-CD6BD092262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0"/>
      </p:cViewPr>
      <p:guideLst>
        <p:guide pos="286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36" Type="http://schemas.openxmlformats.org/officeDocument/2006/relationships/slide" Target="slides/slide27.xml"/><Relationship Id="rId37" Type="http://schemas.openxmlformats.org/officeDocument/2006/relationships/slide" Target="slides/slide26.xml"/><Relationship Id="rId38" Type="http://schemas.openxmlformats.org/officeDocument/2006/relationships/slide" Target="slides/slide25.xml"/><Relationship Id="rId39" Type="http://schemas.openxmlformats.org/officeDocument/2006/relationships/slide" Target="slides/slide24.xml"/><Relationship Id="rId40" Type="http://schemas.openxmlformats.org/officeDocument/2006/relationships/slide" Target="slides/slide23.xml"/><Relationship Id="rId41" Type="http://schemas.openxmlformats.org/officeDocument/2006/relationships/slide" Target="slides/slide22.xml"/><Relationship Id="rId42" Type="http://schemas.openxmlformats.org/officeDocument/2006/relationships/slide" Target="slides/slide21.xml"/><Relationship Id="rId43" Type="http://schemas.openxmlformats.org/officeDocument/2006/relationships/slide" Target="slides/slide20.xml"/><Relationship Id="rId44" Type="http://schemas.openxmlformats.org/officeDocument/2006/relationships/slide" Target="slides/slide1.xml"/><Relationship Id="rId45" Type="http://schemas.openxmlformats.org/officeDocument/2006/relationships/slide" Target="slides/slide2.xml"/><Relationship Id="rId46" Type="http://schemas.openxmlformats.org/officeDocument/2006/relationships/slide" Target="slides/slide3.xml"/><Relationship Id="rId47" Type="http://schemas.openxmlformats.org/officeDocument/2006/relationships/slide" Target="slides/slide4.xml"/><Relationship Id="rId48" Type="http://schemas.openxmlformats.org/officeDocument/2006/relationships/slide" Target="slides/slide5.xml"/><Relationship Id="rId49" Type="http://schemas.openxmlformats.org/officeDocument/2006/relationships/slide" Target="slides/slide6.xml"/><Relationship Id="rId50" Type="http://schemas.openxmlformats.org/officeDocument/2006/relationships/slide" Target="slides/slide7.xml"/><Relationship Id="rId51" Type="http://schemas.openxmlformats.org/officeDocument/2006/relationships/slide" Target="slides/slide8.xml"/><Relationship Id="rId52" Type="http://schemas.openxmlformats.org/officeDocument/2006/relationships/slide" Target="slides/slide9.xml"/><Relationship Id="rId53" Type="http://schemas.openxmlformats.org/officeDocument/2006/relationships/slide" Target="slides/slide10.xml"/><Relationship Id="rId54" Type="http://schemas.openxmlformats.org/officeDocument/2006/relationships/slide" Target="slides/slide11.xml"/><Relationship Id="rId55" Type="http://schemas.openxmlformats.org/officeDocument/2006/relationships/slide" Target="slides/slide12.xml"/><Relationship Id="rId56" Type="http://schemas.openxmlformats.org/officeDocument/2006/relationships/slide" Target="slides/slide13.xml"/><Relationship Id="rId57" Type="http://schemas.openxmlformats.org/officeDocument/2006/relationships/slide" Target="slides/slide14.xml"/><Relationship Id="rId58" Type="http://schemas.openxmlformats.org/officeDocument/2006/relationships/slide" Target="slides/slide15.xml"/><Relationship Id="rId59" Type="http://schemas.openxmlformats.org/officeDocument/2006/relationships/slide" Target="slides/slide16.xml"/><Relationship Id="rId60" Type="http://schemas.openxmlformats.org/officeDocument/2006/relationships/slide" Target="slides/slide17.xml"/><Relationship Id="rId61" Type="http://schemas.openxmlformats.org/officeDocument/2006/relationships/slide" Target="slides/slide18.xml"/><Relationship Id="rId62" Type="http://schemas.openxmlformats.org/officeDocument/2006/relationships/slide" Target="slides/slide19.xml"/><Relationship Id="rId63" Type="http://schemas.openxmlformats.org/officeDocument/2006/relationships/notesMaster" Target="notesMasters/notesMaster1.xml"/><Relationship Id="rId64" Type="http://schemas.openxmlformats.org/officeDocument/2006/relationships/font" Target="fonts/font1.fntdata"/><Relationship Id="rId65" Type="http://schemas.openxmlformats.org/officeDocument/2006/relationships/font" Target="fonts/font2.fntdata"/><Relationship Id="rId66" Type="http://schemas.openxmlformats.org/officeDocument/2006/relationships/font" Target="fonts/font3.fntdata"/><Relationship Id="rId67" Type="http://schemas.openxmlformats.org/officeDocument/2006/relationships/font" Target="fonts/font4.fntdata"/><Relationship Id="rId68" Type="http://schemas.openxmlformats.org/officeDocument/2006/relationships/font" Target="fonts/font5.fntdata"/><Relationship Id="rId69" Type="http://schemas.openxmlformats.org/officeDocument/2006/relationships/font" Target="fonts/font6.fntdata"/><Relationship Id="rId70" Type="http://schemas.openxmlformats.org/officeDocument/2006/relationships/font" Target="fonts/font7.fntdata"/><Relationship Id="rId71" Type="http://schemas.openxmlformats.org/officeDocument/2006/relationships/font" Target="fonts/font8.fntdata"/><Relationship Id="rId72" Type="http://schemas.openxmlformats.org/officeDocument/2006/relationships/font" Target="fonts/font9.fntdata"/><Relationship Id="rId73" Type="http://schemas.openxmlformats.org/officeDocument/2006/relationships/font" Target="fonts/font10.fntdata"/><Relationship Id="rId74" Type="http://schemas.openxmlformats.org/officeDocument/2006/relationships/font" Target="fonts/font11.fntdata"/><Relationship Id="rId75" Type="http://schemas.openxmlformats.org/officeDocument/2006/relationships/font" Target="fonts/font12.fntdata"/><Relationship Id="rId76" Type="http://schemas.openxmlformats.org/officeDocument/2006/relationships/font" Target="fonts/font13.fntdata"/><Relationship Id="rId77" Type="http://schemas.openxmlformats.org/officeDocument/2006/relationships/font" Target="fonts/font14.fntdata"/><Relationship Id="rId78" Type="http://schemas.openxmlformats.org/officeDocument/2006/relationships/font" Target="fonts/font15.fntdata"/><Relationship Id="rId79" Type="http://schemas.openxmlformats.org/officeDocument/2006/relationships/font" Target="fonts/font16.fntdata"/><Relationship Id="rId80" Type="http://schemas.openxmlformats.org/officeDocument/2006/relationships/font" Target="fonts/font17.fntdata"/><Relationship Id="rId81" Type="http://schemas.openxmlformats.org/officeDocument/2006/relationships/font" Target="fonts/font18.fntdata"/><Relationship Id="rId82" Type="http://schemas.openxmlformats.org/officeDocument/2006/relationships/font" Target="fonts/font19.fntdata"/><Relationship Id="rId83" Type="http://schemas.openxmlformats.org/officeDocument/2006/relationships/font" Target="fonts/font20.fntdata"/><Relationship Id="rId84" Type="http://schemas.openxmlformats.org/officeDocument/2006/relationships/font" Target="fonts/font21.fntdata"/><Relationship Id="rId85" Type="http://schemas.openxmlformats.org/officeDocument/2006/relationships/font" Target="fonts/font22.fntdata"/><Relationship Id="rId86" Type="http://schemas.openxmlformats.org/officeDocument/2006/relationships/font" Target="fonts/font23.fntdata"/><Relationship Id="rId87" Type="http://schemas.openxmlformats.org/officeDocument/2006/relationships/font" Target="fonts/font24.fntdata"/><Relationship Id="rId88" Type="http://schemas.openxmlformats.org/officeDocument/2006/relationships/font" Target="fonts/font25.fntdata"/><Relationship Id="rId89" Type="http://schemas.openxmlformats.org/officeDocument/2006/relationships/font" Target="fonts/font26.fntdata"/><Relationship Id="rId90" Type="http://schemas.openxmlformats.org/officeDocument/2006/relationships/font" Target="fonts/font27.fntdata"/><Relationship Id="rId91" Type="http://schemas.openxmlformats.org/officeDocument/2006/relationships/font" Target="fonts/font28.fntdata"/><Relationship Id="rId92" Type="http://schemas.openxmlformats.org/officeDocument/2006/relationships/font" Target="fonts/font29.fntdata"/><Relationship Id="rId93" Type="http://schemas.openxmlformats.org/officeDocument/2006/relationships/font" Target="fonts/font30.fntdata"/><Relationship Id="rId94" Type="http://schemas.openxmlformats.org/officeDocument/2006/relationships/font" Target="fonts/font31.fntdata"/><Relationship Id="rId95" Type="http://schemas.openxmlformats.org/officeDocument/2006/relationships/font" Target="fonts/font32.fntdata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COLD OPEN (2 min). Show the two bars. Do not explain the gap yet — that is the session's promise. Hook line: 'In 60 minutes you will compute every line of that difference yourself.' Breadcrumb strip introduced next as the roadmap.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M1 (4 min). Point at the TOU bands, then the load line. State: 'This is BAU — every DPPA offer is judged against this.' App moment: none for M1 (visual only).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CHECKPOINT (30 sec, show of hands): If load rises in the evening peak, does your bill rise faster or slower than at noon? Do not move on until at least half the room answers.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FALLBACK SLIDE. Unhide and play only if the live app fails for the module 1 demo. Also runnable locally via `npm run preview` in app/ if venue wifi is down.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CHECKPOINT (30 sec, show of hands): Which of the five lines disappears when consumption exactly equals matched volume? Do not move on until at least half the room answers.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M2a (2 min). Walk the funnel top to bottom: generation, loss leak, load gate, contract gate. No formulas — 'you only settle what survives both gates.'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M2b (3 min). Play m2-sankey-build-en.gif in slideshow mode (autoplay). Read each arrow aloud as it appears. APP MOMENT: switch to the live app, scroll to the five-line-bill panel, confirm the same numbers (C_EVN 8,563, CfD 500, C_KH 9,063 tr VND).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FALLBACK SLIDE. Unhide and play only if the live app fails for the module 2 demo. Also runnable locally via `npm run preview` in app/ if venue wifi is down.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CHECKPOINT (30 sec, show of hands): If the market price jumps above the strike mid-afternoon, who pays whom? Do not move on until at least half the room answers.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M3 (4 min). Show the seesaw, then play assets/cfd-s1-en.gif for the 24h sign flip. App moment: drag the market-price slider through the strike and watch the CfD line flip sign.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FALLBACK SLIDE. Unhide and play only if the live app fails for the module 3 demo. Also runnable locally via `npm run preview` in app/ if venue wifi is down.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CHECKPOINT (30 sec, show of hands): Which of the three doors is hardest to pass when the strike is set too high? Do not move on until at least half the room answers.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M4 (4 min). Name each door once, no ratio math on-slide. APP MOMENT: multi-year panel, point at the crossover year as the buyer-door check.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FALLBACK SLIDE. Unhide and play only if the live app fails for the module 4 demo. Also runnable locally via `npm run preview` in app/ if venue wifi is down.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CHECKPOINT (30 sec, show of hands): In the 56-scenario sweep, how many pass all three gates at once? Do not move on until at least half the room answers.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M5 setup (2 min). Do NOT reveal the heatmap takeaway yet — that comes after the exercise.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M5 EXERCISE (10 min, the session's success criterion). Hand out the one-page worksheet (lessons/0012-reference-card). Volumes pre-filled: contracted=total=5,000,000 kWh. Answer key: marketEnergy 5,947, service 1,800, clearing 817, residual 0, CfD 500, total 9,063 tr VND. APP MOMENT: verify against the five-line-bill panel.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FALLBACK SLIDE. Unhide and play only if the live app fails for the module 5 demo. Also runnable locally via `npm run preview` in app/ if venue wifi is down.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M5 REVEAL (2 min). This is the punchline: the exercise they just did, multiplied across a lifetime and a strike sweep, is why the window is empty in these two case studies.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CHECKPOINT (30 sec, show of hands): Name one lever that would have flipped this month's CfD sign. Do not move on until at least half the room answers.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ONLY slide with Decree-57 notation. Frame it as translation, not new content: 'you already understand every row on the left — the right column is what the legal text calls it.' Full formula appendix (old slide 27) is in the printed A4 card, not here.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each lever in ~15 seconds: name it, say which way it moves the bill. This is the checklist they take into their next term-sheet negotiation.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FALLBACK SLIDE. Unhide and play only if the live app fails for the module 6 demo. Also runnable locally via `npm run preview` in app/ if venue wifi is down.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(2 min). Point back at the cold-open bars. Invite to the 90-min scenario workshop for negotiation practice. QR: dppa-case.web.app and lessons index (QR image pending python 'qrcode' package — currently a text URL; see PHASE-03 note).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slide, slimmed per DEC-021. Play the animated chart; state the one-line takeaway. Detailed numbers live in the scenario lessons/worksheets, not here.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slide, slimmed per DEC-021. Play the animated chart; state the one-line takeaway. Detailed numbers live in the scenario lessons/worksheets, not here.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slide, slimmed per DEC-021. Play the animated chart; state the one-line takeaway. Detailed numbers live in the scenario lessons/worksheets, not here.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>
            <a:spLocks noGrp="1"/>
          </p:cNvSpPr>
          <p:nvPr>
            <p:ph type="pic" idx="2"/>
          </p:nvPr>
        </p:nvSpPr>
        <p:spPr>
          <a:xfrm>
            <a:off x="5900738" y="0"/>
            <a:ext cx="3243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>
            <a:spLocks noGrp="1"/>
          </p:cNvSpPr>
          <p:nvPr>
            <p:ph type="pic" idx="2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>
            <a:spLocks noGrp="1"/>
          </p:cNvSpPr>
          <p:nvPr>
            <p:ph type="pic" idx="2"/>
          </p:nvPr>
        </p:nvSpPr>
        <p:spPr>
          <a:xfrm>
            <a:off x="4100165" y="570248"/>
            <a:ext cx="4237200" cy="2001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8467986" y="172594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sldNum" idx="12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lnSpcReduction="10000"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">
  <p:cSld name="Cover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8"/>
          <p:cNvSpPr txBox="1">
            <a:spLocks noGrp="1"/>
          </p:cNvSpPr>
          <p:nvPr>
            <p:ph type="ctrTitle"/>
          </p:nvPr>
        </p:nvSpPr>
        <p:spPr>
          <a:xfrm>
            <a:off x="395536" y="2139704"/>
            <a:ext cx="7772400" cy="1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ubTitle" idx="1"/>
          </p:nvPr>
        </p:nvSpPr>
        <p:spPr>
          <a:xfrm>
            <a:off x="395536" y="3676253"/>
            <a:ext cx="77769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800"/>
              <a:buNone/>
              <a:defRPr>
                <a:solidFill>
                  <a:srgbClr val="888D9E"/>
                </a:solidFill>
              </a:defRPr>
            </a:lvl2pPr>
            <a:lvl3pPr lvl="2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400"/>
              <a:buNone/>
              <a:defRPr>
                <a:solidFill>
                  <a:srgbClr val="888D9E"/>
                </a:solidFill>
              </a:defRPr>
            </a:lvl3pPr>
            <a:lvl4pPr lvl="3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4pPr>
            <a:lvl5pPr lvl="4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5pPr>
            <a:lvl6pPr lvl="5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6pPr>
            <a:lvl7pPr lvl="6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7pPr>
            <a:lvl8pPr lvl="7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8pPr>
            <a:lvl9pPr lvl="8" algn="ctr">
              <a:spcBef>
                <a:spcPts val="1200"/>
              </a:spcBef>
              <a:spcAft>
                <a:spcPts val="120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2"/>
          </p:nvPr>
        </p:nvSpPr>
        <p:spPr>
          <a:xfrm>
            <a:off x="395536" y="396652"/>
            <a:ext cx="28083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9" name="Google Shape;69;p18" descr="A picture containing graphical user interfac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6475" y="249829"/>
            <a:ext cx="2827622" cy="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 Slide">
  <p:cSld name="1_Blank Slid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 descr="E:\SP\SP Group_Templates\ImageSlide_PP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715766"/>
            <a:ext cx="9144000" cy="242773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396305" y="1059583"/>
            <a:ext cx="8352300" cy="3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2"/>
          </p:nvPr>
        </p:nvSpPr>
        <p:spPr>
          <a:xfrm>
            <a:off x="137220" y="128811"/>
            <a:ext cx="4146900" cy="7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defRPr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Geo"/>
                <a:ea typeface="Geo"/>
                <a:cs typeface="Geo"/>
                <a:sym typeface="Geo"/>
              </a:defRPr>
            </a:lvl2pPr>
            <a:lvl3pPr marL="1371600" lvl="2" indent="-3238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Geo"/>
                <a:ea typeface="Geo"/>
                <a:cs typeface="Geo"/>
                <a:sym typeface="Geo"/>
              </a:defRPr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Geo"/>
                <a:ea typeface="Geo"/>
                <a:cs typeface="Geo"/>
                <a:sym typeface="Geo"/>
              </a:defRPr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Geo"/>
                <a:ea typeface="Geo"/>
                <a:cs typeface="Geo"/>
                <a:sym typeface="Geo"/>
              </a:defRPr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/>
          <p:nvPr/>
        </p:nvSpPr>
        <p:spPr>
          <a:xfrm>
            <a:off x="8676456" y="4712245"/>
            <a:ext cx="351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2592" y="170685"/>
            <a:ext cx="1506986" cy="491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">
  <p:cSld name="Divider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1" cy="51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0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3543" y="110775"/>
            <a:ext cx="1587022" cy="449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 Slide 1">
  <p:cSld name="1_Blank Slide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1" descr="E:\SP\SP Group_Templates\ImageSlide_PP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715766"/>
            <a:ext cx="9144000" cy="242773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396305" y="1059583"/>
            <a:ext cx="8352300" cy="3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2"/>
          </p:nvPr>
        </p:nvSpPr>
        <p:spPr>
          <a:xfrm>
            <a:off x="137220" y="128811"/>
            <a:ext cx="4146900" cy="7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defRPr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Geo"/>
                <a:ea typeface="Geo"/>
                <a:cs typeface="Geo"/>
                <a:sym typeface="Geo"/>
              </a:defRPr>
            </a:lvl2pPr>
            <a:lvl3pPr marL="1371600" lvl="2" indent="-3238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Geo"/>
                <a:ea typeface="Geo"/>
                <a:cs typeface="Geo"/>
                <a:sym typeface="Geo"/>
              </a:defRPr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Geo"/>
                <a:ea typeface="Geo"/>
                <a:cs typeface="Geo"/>
                <a:sym typeface="Geo"/>
              </a:defRPr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Geo"/>
                <a:ea typeface="Geo"/>
                <a:cs typeface="Geo"/>
                <a:sym typeface="Geo"/>
              </a:defRPr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/>
          <p:nvPr/>
        </p:nvSpPr>
        <p:spPr>
          <a:xfrm>
            <a:off x="8676456" y="4712245"/>
            <a:ext cx="351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2592" y="170685"/>
            <a:ext cx="1506986" cy="491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d">
  <p:cSld name="Brand">
    <p:bg>
      <p:bgPr>
        <a:gradFill>
          <a:gsLst>
            <a:gs pos="0">
              <a:srgbClr val="144B79"/>
            </a:gs>
            <a:gs pos="3000">
              <a:srgbClr val="144B79"/>
            </a:gs>
            <a:gs pos="96000">
              <a:srgbClr val="64CDCE"/>
            </a:gs>
            <a:gs pos="100000">
              <a:srgbClr val="64CDCE"/>
            </a:gs>
          </a:gsLst>
          <a:lin ang="7799903" scaled="0"/>
        </a:gra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2" descr="A logo with white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5059" y="1640495"/>
            <a:ext cx="4733883" cy="1862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89" name="Google Shape;89;p23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90" name="Google Shape;90;p23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91" name="Google Shape;91;p23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92" name="Google Shape;9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3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3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99" name="Google Shape;99;p24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00" name="Google Shape;100;p24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4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4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4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bg>
      <p:bgPr>
        <a:solidFill>
          <a:srgbClr val="1B3E6D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09" name="Google Shape;109;p25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10" name="Google Shape;110;p25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5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sz="2200" b="1" i="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0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2" name="Google Shape;172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4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3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43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4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4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1" name="Google Shape;201;p4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4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3" name="Google Shape;203;p4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4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4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15" name="Google Shape;215;p4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16" name="Google Shape;216;p4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48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23" name="Google Shape;223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49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4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4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0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0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5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5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5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0" name="Google Shape;240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4" name="Google Shape;324;p6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5" name="Google Shape;325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8" name="Google Shape;328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2" name="Google Shape;332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6" name="Google Shape;336;p7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7" name="Google Shape;337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3" name="Google Shape;343;p7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4" name="Google Shape;344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7" name="Google Shape;347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7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1" name="Google Shape;351;p7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2" name="Google Shape;352;p7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3" name="Google Shape;353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56" name="Google Shape;356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7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9" name="Google Shape;359;p7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0" name="Google Shape;360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 Layout_1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9"/>
          <p:cNvSpPr>
            <a:spLocks noGrp="1"/>
          </p:cNvSpPr>
          <p:nvPr>
            <p:ph type="pic" idx="2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alt1">
  <p:cSld name="1_Title slide">
    <p:bg>
      <p:bgPr>
        <a:solidFill>
          <a:schemeClr val="lt2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81" descr="shutterstock_429987889_edited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81"/>
          <p:cNvSpPr txBox="1">
            <a:spLocks noGrp="1"/>
          </p:cNvSpPr>
          <p:nvPr>
            <p:ph type="ctrTitle"/>
          </p:nvPr>
        </p:nvSpPr>
        <p:spPr>
          <a:xfrm>
            <a:off x="914400" y="2323238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2" name="Google Shape;372;p8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81"/>
          <p:cNvSpPr txBox="1">
            <a:spLocks noGrp="1"/>
          </p:cNvSpPr>
          <p:nvPr>
            <p:ph type="body" idx="1"/>
          </p:nvPr>
        </p:nvSpPr>
        <p:spPr>
          <a:xfrm>
            <a:off x="931653" y="2750315"/>
            <a:ext cx="73152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 i="1">
                <a:solidFill>
                  <a:srgbClr val="7F7F7F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374" name="Google Shape;374;p81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347818"/>
            <a:ext cx="1805286" cy="4114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5" name="Google Shape;375;p81"/>
          <p:cNvGrpSpPr/>
          <p:nvPr/>
        </p:nvGrpSpPr>
        <p:grpSpPr>
          <a:xfrm>
            <a:off x="914402" y="1191277"/>
            <a:ext cx="745763" cy="45826"/>
            <a:chOff x="4580561" y="2589004"/>
            <a:chExt cx="1064464" cy="25200"/>
          </a:xfrm>
        </p:grpSpPr>
        <p:sp>
          <p:nvSpPr>
            <p:cNvPr id="376" name="Google Shape;376;p8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7" name="Google Shape;377;p8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78" name="Google Shape;378;p81"/>
          <p:cNvSpPr txBox="1"/>
          <p:nvPr/>
        </p:nvSpPr>
        <p:spPr>
          <a:xfrm>
            <a:off x="914399" y="1841513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</a:pPr>
            <a:r>
              <a:rPr lang="en" sz="2200" b="1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Carbon Management SaaS and Verification Technology</a:t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1 line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2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81" name="Google Shape;381;p82"/>
          <p:cNvGrpSpPr/>
          <p:nvPr/>
        </p:nvGrpSpPr>
        <p:grpSpPr>
          <a:xfrm>
            <a:off x="228601" y="737966"/>
            <a:ext cx="745763" cy="45826"/>
            <a:chOff x="4580561" y="2589004"/>
            <a:chExt cx="1064464" cy="25200"/>
          </a:xfrm>
        </p:grpSpPr>
        <p:sp>
          <p:nvSpPr>
            <p:cNvPr id="382" name="Google Shape;382;p8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3" name="Google Shape;383;p8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84" name="Google Shape;384;p82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5" name="Google Shape;385;p82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6" name="Google Shape;386;p82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7" name="Google Shape;387;p82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82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1_Title and body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3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" name="Google Shape;391;p83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rgbClr val="434A5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2" name="Google Shape;392;p83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3" name="Google Shape;393;p83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4" name="Google Shape;394;p83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83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6" name="Google Shape;396;p83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397" name="Google Shape;397;p8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8" name="Google Shape;398;p8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99" name="Google Shape;399;p83"/>
          <p:cNvSpPr txBox="1">
            <a:spLocks noGrp="1"/>
          </p:cNvSpPr>
          <p:nvPr>
            <p:ph type="body" idx="2"/>
          </p:nvPr>
        </p:nvSpPr>
        <p:spPr>
          <a:xfrm>
            <a:off x="228599" y="424610"/>
            <a:ext cx="81381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 b="1" i="1">
                <a:solidFill>
                  <a:srgbClr val="434A54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1_Title and body 2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4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2" name="Google Shape;402;p84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rgbClr val="434A5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3" name="Google Shape;403;p84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4" name="Google Shape;404;p84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5" name="Google Shape;405;p84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84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84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408" name="Google Shape;408;p8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9" name="Google Shape;409;p8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10" name="Google Shape;410;p84"/>
          <p:cNvSpPr txBox="1">
            <a:spLocks noGrp="1"/>
          </p:cNvSpPr>
          <p:nvPr>
            <p:ph type="body" idx="2"/>
          </p:nvPr>
        </p:nvSpPr>
        <p:spPr>
          <a:xfrm>
            <a:off x="228599" y="424610"/>
            <a:ext cx="81381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 b="1" i="1">
                <a:solidFill>
                  <a:srgbClr val="434A54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4">
  <p:cSld name="Title 2 lines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5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13" name="Google Shape;413;p85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414" name="Google Shape;414;p8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5" name="Google Shape;415;p8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16" name="Google Shape;416;p85"/>
          <p:cNvSpPr txBox="1">
            <a:spLocks noGrp="1"/>
          </p:cNvSpPr>
          <p:nvPr>
            <p:ph type="title"/>
          </p:nvPr>
        </p:nvSpPr>
        <p:spPr>
          <a:xfrm>
            <a:off x="228600" y="84108"/>
            <a:ext cx="81381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7" name="Google Shape;417;p85"/>
          <p:cNvSpPr txBox="1">
            <a:spLocks noGrp="1"/>
          </p:cNvSpPr>
          <p:nvPr>
            <p:ph type="body" idx="1"/>
          </p:nvPr>
        </p:nvSpPr>
        <p:spPr>
          <a:xfrm>
            <a:off x="228599" y="4977306"/>
            <a:ext cx="80466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18" name="Google Shape;418;p85"/>
          <p:cNvSpPr txBox="1"/>
          <p:nvPr/>
        </p:nvSpPr>
        <p:spPr>
          <a:xfrm>
            <a:off x="8278016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19" name="Google Shape;419;p85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85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6"/>
          <p:cNvSpPr/>
          <p:nvPr/>
        </p:nvSpPr>
        <p:spPr>
          <a:xfrm>
            <a:off x="0" y="0"/>
            <a:ext cx="9144000" cy="783590"/>
          </a:xfrm>
          <a:custGeom>
            <a:avLst/>
            <a:gdLst/>
            <a:ahLst/>
            <a:cxnLst/>
            <a:rect l="l" t="t" r="r" b="b"/>
            <a:pathLst>
              <a:path w="9144000" h="783590" extrusionOk="0">
                <a:moveTo>
                  <a:pt x="9144000" y="0"/>
                </a:moveTo>
                <a:lnTo>
                  <a:pt x="0" y="0"/>
                </a:lnTo>
                <a:lnTo>
                  <a:pt x="0" y="783336"/>
                </a:lnTo>
                <a:lnTo>
                  <a:pt x="9144000" y="783336"/>
                </a:lnTo>
                <a:lnTo>
                  <a:pt x="9144000" y="0"/>
                </a:lnTo>
                <a:close/>
              </a:path>
            </a:pathLst>
          </a:custGeom>
          <a:solidFill>
            <a:srgbClr val="E7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8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43495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8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b="0" i="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5" name="Google Shape;425;p8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6" name="Google Shape;426;p8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7" name="Google Shape;427;p8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6355" marR="0" lvl="0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46355" marR="0" lvl="1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2pPr>
            <a:lvl3pPr marL="46355" marR="0" lvl="2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3pPr>
            <a:lvl4pPr marL="46355" marR="0" lvl="3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4pPr>
            <a:lvl5pPr marL="46355" marR="0" lvl="4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6355" marR="0" lvl="5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6pPr>
            <a:lvl7pPr marL="46355" marR="0" lvl="6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7pPr>
            <a:lvl8pPr marL="46355" marR="0" lvl="7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6355" marR="0" lvl="8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6355" lvl="0" indent="0" algn="r" rtl="0">
              <a:spcBef>
                <a:spcPts val="9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87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430" name="Google Shape;430;p87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431" name="Google Shape;431;p87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432" name="Google Shape;432;p87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433" name="Google Shape;433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87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87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6" name="Google Shape;436;p87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87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8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440" name="Google Shape;440;p88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441" name="Google Shape;441;p88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88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p88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88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88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7" name="Google Shape;447;p88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 1">
  <p:cSld name="3_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9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450" name="Google Shape;450;p89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451" name="Google Shape;451;p89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452" name="Google Shape;452;p89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453" name="Google Shape;453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89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89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89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89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bg>
      <p:bgPr>
        <a:solidFill>
          <a:srgbClr val="1B3E6D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90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460" name="Google Shape;460;p90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461" name="Google Shape;461;p90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90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3" name="Google Shape;463;p90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sz="2200" b="1" i="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90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" name="Google Shape;465;p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90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 1">
  <p:cSld name="2_Blank_1">
    <p:bg>
      <p:bgPr>
        <a:solidFill>
          <a:srgbClr val="1B3E6D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1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469" name="Google Shape;469;p91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470" name="Google Shape;470;p91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91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2" name="Google Shape;472;p91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sz="2200" b="1" i="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91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4" name="Google Shape;474;p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91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92"/>
          <p:cNvSpPr>
            <a:spLocks noGrp="1"/>
          </p:cNvSpPr>
          <p:nvPr>
            <p:ph type="pic" idx="2"/>
          </p:nvPr>
        </p:nvSpPr>
        <p:spPr>
          <a:xfrm>
            <a:off x="4100165" y="570248"/>
            <a:ext cx="4237200" cy="20016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92"/>
          <p:cNvSpPr txBox="1">
            <a:spLocks noGrp="1"/>
          </p:cNvSpPr>
          <p:nvPr>
            <p:ph type="sldNum" idx="12"/>
          </p:nvPr>
        </p:nvSpPr>
        <p:spPr>
          <a:xfrm>
            <a:off x="8467986" y="172594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93"/>
          <p:cNvSpPr/>
          <p:nvPr/>
        </p:nvSpPr>
        <p:spPr>
          <a:xfrm>
            <a:off x="5802296" y="-266"/>
            <a:ext cx="3341846" cy="215741"/>
          </a:xfrm>
          <a:custGeom>
            <a:avLst/>
            <a:gdLst/>
            <a:ahLst/>
            <a:cxnLst/>
            <a:rect l="l" t="t" r="r" b="b"/>
            <a:pathLst>
              <a:path w="4455795" h="287655" extrusionOk="0">
                <a:moveTo>
                  <a:pt x="4455363" y="0"/>
                </a:moveTo>
                <a:lnTo>
                  <a:pt x="0" y="0"/>
                </a:lnTo>
                <a:lnTo>
                  <a:pt x="0" y="287629"/>
                </a:lnTo>
                <a:lnTo>
                  <a:pt x="2227681" y="287629"/>
                </a:lnTo>
                <a:lnTo>
                  <a:pt x="4455363" y="287629"/>
                </a:lnTo>
                <a:lnTo>
                  <a:pt x="4455363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481" name="Google Shape;481;p93"/>
          <p:cNvSpPr/>
          <p:nvPr/>
        </p:nvSpPr>
        <p:spPr>
          <a:xfrm>
            <a:off x="5802296" y="-266"/>
            <a:ext cx="3341846" cy="215741"/>
          </a:xfrm>
          <a:custGeom>
            <a:avLst/>
            <a:gdLst/>
            <a:ahLst/>
            <a:cxnLst/>
            <a:rect l="l" t="t" r="r" b="b"/>
            <a:pathLst>
              <a:path w="4455795" h="287655" extrusionOk="0">
                <a:moveTo>
                  <a:pt x="2227681" y="287629"/>
                </a:moveTo>
                <a:lnTo>
                  <a:pt x="0" y="287629"/>
                </a:lnTo>
                <a:lnTo>
                  <a:pt x="0" y="0"/>
                </a:lnTo>
                <a:lnTo>
                  <a:pt x="4455363" y="0"/>
                </a:lnTo>
                <a:lnTo>
                  <a:pt x="4455363" y="287629"/>
                </a:lnTo>
                <a:lnTo>
                  <a:pt x="2227681" y="287629"/>
                </a:lnTo>
                <a:close/>
              </a:path>
            </a:pathLst>
          </a:custGeom>
          <a:noFill/>
          <a:ln w="94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482" name="Google Shape;482;p93"/>
          <p:cNvSpPr txBox="1">
            <a:spLocks noGrp="1"/>
          </p:cNvSpPr>
          <p:nvPr>
            <p:ph type="title"/>
          </p:nvPr>
        </p:nvSpPr>
        <p:spPr>
          <a:xfrm>
            <a:off x="433273" y="220523"/>
            <a:ext cx="79620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312F2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93"/>
          <p:cNvSpPr txBox="1">
            <a:spLocks noGrp="1"/>
          </p:cNvSpPr>
          <p:nvPr>
            <p:ph type="body" idx="1"/>
          </p:nvPr>
        </p:nvSpPr>
        <p:spPr>
          <a:xfrm>
            <a:off x="457438" y="1183005"/>
            <a:ext cx="39798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93"/>
          <p:cNvSpPr txBox="1">
            <a:spLocks noGrp="1"/>
          </p:cNvSpPr>
          <p:nvPr>
            <p:ph type="body" idx="2"/>
          </p:nvPr>
        </p:nvSpPr>
        <p:spPr>
          <a:xfrm>
            <a:off x="4913385" y="1534067"/>
            <a:ext cx="3844500" cy="30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0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93"/>
          <p:cNvSpPr txBox="1">
            <a:spLocks noGrp="1"/>
          </p:cNvSpPr>
          <p:nvPr>
            <p:ph type="ftr" idx="11"/>
          </p:nvPr>
        </p:nvSpPr>
        <p:spPr>
          <a:xfrm>
            <a:off x="3110579" y="4783455"/>
            <a:ext cx="29277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86" name="Google Shape;486;p93"/>
          <p:cNvSpPr txBox="1">
            <a:spLocks noGrp="1"/>
          </p:cNvSpPr>
          <p:nvPr>
            <p:ph type="dt" idx="10"/>
          </p:nvPr>
        </p:nvSpPr>
        <p:spPr>
          <a:xfrm>
            <a:off x="457438" y="4783455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87" name="Google Shape;487;p93"/>
          <p:cNvSpPr txBox="1">
            <a:spLocks noGrp="1"/>
          </p:cNvSpPr>
          <p:nvPr>
            <p:ph type="sldNum" idx="12"/>
          </p:nvPr>
        </p:nvSpPr>
        <p:spPr>
          <a:xfrm>
            <a:off x="6587109" y="4783455"/>
            <a:ext cx="2104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4" name="Google Shape;494;p9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5" name="Google Shape;495;p9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9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8" name="Google Shape;498;p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2" name="Google Shape;502;p9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6" name="Google Shape;506;p9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7" name="Google Shape;507;p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9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0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3" name="Google Shape;513;p10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4" name="Google Shape;514;p1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0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17" name="Google Shape;517;p1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0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0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1" name="Google Shape;521;p10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22" name="Google Shape;522;p10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3" name="Google Shape;523;p10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0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26" name="Google Shape;526;p10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0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9" name="Google Shape;529;p10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0" name="Google Shape;530;p1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0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 Layout_1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07"/>
          <p:cNvSpPr>
            <a:spLocks noGrp="1"/>
          </p:cNvSpPr>
          <p:nvPr>
            <p:ph type="pic" idx="2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0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8" name="Google Shape;538;p10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alt1">
  <p:cSld name="1_Title slide">
    <p:bg>
      <p:bgPr>
        <a:solidFill>
          <a:schemeClr val="lt2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109" descr="shutterstock_429987889_edited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09"/>
          <p:cNvSpPr txBox="1">
            <a:spLocks noGrp="1"/>
          </p:cNvSpPr>
          <p:nvPr>
            <p:ph type="ctrTitle"/>
          </p:nvPr>
        </p:nvSpPr>
        <p:spPr>
          <a:xfrm>
            <a:off x="914400" y="2323238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2" name="Google Shape;542;p10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109"/>
          <p:cNvSpPr txBox="1">
            <a:spLocks noGrp="1"/>
          </p:cNvSpPr>
          <p:nvPr>
            <p:ph type="body" idx="1"/>
          </p:nvPr>
        </p:nvSpPr>
        <p:spPr>
          <a:xfrm>
            <a:off x="931653" y="2750315"/>
            <a:ext cx="73152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 i="1">
                <a:solidFill>
                  <a:srgbClr val="7F7F7F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544" name="Google Shape;544;p109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347818"/>
            <a:ext cx="1805286" cy="4114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5" name="Google Shape;545;p109"/>
          <p:cNvGrpSpPr/>
          <p:nvPr/>
        </p:nvGrpSpPr>
        <p:grpSpPr>
          <a:xfrm>
            <a:off x="914402" y="1191277"/>
            <a:ext cx="745763" cy="45826"/>
            <a:chOff x="4580561" y="2589004"/>
            <a:chExt cx="1064464" cy="25200"/>
          </a:xfrm>
        </p:grpSpPr>
        <p:sp>
          <p:nvSpPr>
            <p:cNvPr id="546" name="Google Shape;546;p10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47" name="Google Shape;547;p10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48" name="Google Shape;548;p109"/>
          <p:cNvSpPr txBox="1"/>
          <p:nvPr/>
        </p:nvSpPr>
        <p:spPr>
          <a:xfrm>
            <a:off x="914399" y="1841513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</a:pPr>
            <a:r>
              <a:rPr lang="en" sz="2200" b="1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Carbon Management SaaS and Verification Technology</a:t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1 line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10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51" name="Google Shape;551;p110"/>
          <p:cNvGrpSpPr/>
          <p:nvPr/>
        </p:nvGrpSpPr>
        <p:grpSpPr>
          <a:xfrm>
            <a:off x="228601" y="737966"/>
            <a:ext cx="745763" cy="45826"/>
            <a:chOff x="4580561" y="2589004"/>
            <a:chExt cx="1064464" cy="25200"/>
          </a:xfrm>
        </p:grpSpPr>
        <p:sp>
          <p:nvSpPr>
            <p:cNvPr id="552" name="Google Shape;552;p1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53" name="Google Shape;553;p1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54" name="Google Shape;554;p110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5" name="Google Shape;555;p110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6" name="Google Shape;556;p110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57" name="Google Shape;557;p110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110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1_Title and body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11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" name="Google Shape;561;p111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rgbClr val="434A5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2" name="Google Shape;562;p111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63" name="Google Shape;563;p111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4" name="Google Shape;564;p111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111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6" name="Google Shape;566;p111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567" name="Google Shape;567;p1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8" name="Google Shape;568;p1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69" name="Google Shape;569;p111"/>
          <p:cNvSpPr txBox="1">
            <a:spLocks noGrp="1"/>
          </p:cNvSpPr>
          <p:nvPr>
            <p:ph type="body" idx="2"/>
          </p:nvPr>
        </p:nvSpPr>
        <p:spPr>
          <a:xfrm>
            <a:off x="228599" y="424610"/>
            <a:ext cx="81381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 b="1" i="1">
                <a:solidFill>
                  <a:srgbClr val="434A54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1_Title and body 2"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12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112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rgbClr val="434A5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3" name="Google Shape;573;p112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4" name="Google Shape;574;p112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75" name="Google Shape;575;p112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112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7" name="Google Shape;577;p112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578" name="Google Shape;578;p1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79" name="Google Shape;579;p1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80" name="Google Shape;580;p112"/>
          <p:cNvSpPr txBox="1">
            <a:spLocks noGrp="1"/>
          </p:cNvSpPr>
          <p:nvPr>
            <p:ph type="body" idx="2"/>
          </p:nvPr>
        </p:nvSpPr>
        <p:spPr>
          <a:xfrm>
            <a:off x="228599" y="424610"/>
            <a:ext cx="81381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 b="1" i="1">
                <a:solidFill>
                  <a:srgbClr val="434A54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4">
  <p:cSld name="Title 2 lines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13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83" name="Google Shape;583;p113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584" name="Google Shape;584;p1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5" name="Google Shape;585;p1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86" name="Google Shape;586;p113"/>
          <p:cNvSpPr txBox="1">
            <a:spLocks noGrp="1"/>
          </p:cNvSpPr>
          <p:nvPr>
            <p:ph type="title"/>
          </p:nvPr>
        </p:nvSpPr>
        <p:spPr>
          <a:xfrm>
            <a:off x="228600" y="84108"/>
            <a:ext cx="81381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7" name="Google Shape;587;p113"/>
          <p:cNvSpPr txBox="1">
            <a:spLocks noGrp="1"/>
          </p:cNvSpPr>
          <p:nvPr>
            <p:ph type="body" idx="1"/>
          </p:nvPr>
        </p:nvSpPr>
        <p:spPr>
          <a:xfrm>
            <a:off x="228599" y="4977306"/>
            <a:ext cx="80466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88" name="Google Shape;588;p113"/>
          <p:cNvSpPr txBox="1"/>
          <p:nvPr/>
        </p:nvSpPr>
        <p:spPr>
          <a:xfrm>
            <a:off x="8278016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9" name="Google Shape;589;p113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113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14"/>
          <p:cNvSpPr/>
          <p:nvPr/>
        </p:nvSpPr>
        <p:spPr>
          <a:xfrm>
            <a:off x="0" y="0"/>
            <a:ext cx="9144000" cy="783590"/>
          </a:xfrm>
          <a:custGeom>
            <a:avLst/>
            <a:gdLst/>
            <a:ahLst/>
            <a:cxnLst/>
            <a:rect l="l" t="t" r="r" b="b"/>
            <a:pathLst>
              <a:path w="9144000" h="783590" extrusionOk="0">
                <a:moveTo>
                  <a:pt x="9144000" y="0"/>
                </a:moveTo>
                <a:lnTo>
                  <a:pt x="0" y="0"/>
                </a:lnTo>
                <a:lnTo>
                  <a:pt x="0" y="783336"/>
                </a:lnTo>
                <a:lnTo>
                  <a:pt x="9144000" y="783336"/>
                </a:lnTo>
                <a:lnTo>
                  <a:pt x="9144000" y="0"/>
                </a:lnTo>
                <a:close/>
              </a:path>
            </a:pathLst>
          </a:custGeom>
          <a:solidFill>
            <a:srgbClr val="E7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43495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1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b="0" i="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95" name="Google Shape;595;p11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6" name="Google Shape;596;p11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7" name="Google Shape;597;p1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6355" marR="0" lvl="0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46355" marR="0" lvl="1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2pPr>
            <a:lvl3pPr marL="46355" marR="0" lvl="2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3pPr>
            <a:lvl4pPr marL="46355" marR="0" lvl="3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4pPr>
            <a:lvl5pPr marL="46355" marR="0" lvl="4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6355" marR="0" lvl="5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6pPr>
            <a:lvl7pPr marL="46355" marR="0" lvl="6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7pPr>
            <a:lvl8pPr marL="46355" marR="0" lvl="7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6355" marR="0" lvl="8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6355" lvl="0" indent="0" algn="r" rtl="0">
              <a:spcBef>
                <a:spcPts val="9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15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00" name="Google Shape;600;p115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01" name="Google Shape;601;p115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602" name="Google Shape;602;p115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603" name="Google Shape;603;p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15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15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p115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15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16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10" name="Google Shape;610;p116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11" name="Google Shape;611;p116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16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3" name="Google Shape;613;p116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116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5" name="Google Shape;615;p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116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7" name="Google Shape;617;p116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 1">
  <p:cSld name="3_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17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20" name="Google Shape;620;p117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21" name="Google Shape;621;p117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622" name="Google Shape;622;p117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623" name="Google Shape;623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17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17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6" name="Google Shape;626;p117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17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bg>
      <p:bgPr>
        <a:solidFill>
          <a:srgbClr val="1B3E6D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18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30" name="Google Shape;630;p118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31" name="Google Shape;631;p118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18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3" name="Google Shape;633;p118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sz="2200" b="1" i="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118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1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18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 1">
  <p:cSld name="2_Blank_1">
    <p:bg>
      <p:bgPr>
        <a:solidFill>
          <a:srgbClr val="1B3E6D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19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39" name="Google Shape;639;p119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40" name="Google Shape;640;p119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19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2" name="Google Shape;642;p119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sz="2200" b="1" i="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3" name="Google Shape;643;p119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19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20"/>
          <p:cNvSpPr>
            <a:spLocks noGrp="1"/>
          </p:cNvSpPr>
          <p:nvPr>
            <p:ph type="pic" idx="2"/>
          </p:nvPr>
        </p:nvSpPr>
        <p:spPr>
          <a:xfrm>
            <a:off x="4100165" y="570248"/>
            <a:ext cx="4237200" cy="2001600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120"/>
          <p:cNvSpPr txBox="1">
            <a:spLocks noGrp="1"/>
          </p:cNvSpPr>
          <p:nvPr>
            <p:ph type="sldNum" idx="12"/>
          </p:nvPr>
        </p:nvSpPr>
        <p:spPr>
          <a:xfrm>
            <a:off x="8467986" y="172594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0.xml"/><Relationship Id="rId2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9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82.xml"/><Relationship Id="rId23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84.xml"/><Relationship Id="rId25" Type="http://schemas.openxmlformats.org/officeDocument/2006/relationships/slideLayout" Target="../slideLayouts/slideLayout85.xml"/><Relationship Id="rId26" Type="http://schemas.openxmlformats.org/officeDocument/2006/relationships/slideLayout" Target="../slideLayouts/slideLayout86.xml"/><Relationship Id="rId27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65" name="Google Shape;165;p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7" name="Google Shape;167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8" name="Google Shape;168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0" name="Google Shape;320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1" name="Google Shape;321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9" r:id="rId11"/>
    <p:sldLayoutId id="2147483720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9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  <p:sldLayoutId id="2147483759" r:id="rId25"/>
    <p:sldLayoutId id="2147483760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2.gif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3.gif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4.gif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727E"/>
                </a:solidFill>
                <a:latin typeface="Arial"/>
              </a:rPr>
              <a:t>Song Hong Garment Co.: one month, two bills</a:t>
            </a:r>
          </a:p>
        </p:txBody>
      </p:sp>
      <p:pic>
        <p:nvPicPr>
          <p:cNvPr id="3" name="Picture 2" descr="cold-open-bill-pai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480" y="822960"/>
            <a:ext cx="4499039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Today: 11,020 tr VND. With a DPPA: 9,063 tr VND. Where did the gap come from? You will compute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7E"/>
                </a:solidFill>
                <a:latin typeface="Arial"/>
              </a:rPr>
              <a:t>What you pay EVN today</a:t>
            </a:r>
          </a:p>
        </p:txBody>
      </p:sp>
      <p:pic>
        <p:nvPicPr>
          <p:cNvPr id="3" name="Picture 2" descr="m1-tou-strip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717" y="777240"/>
            <a:ext cx="6028564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Arial"/>
              </a:rPr>
              <a:t>Song Hong Garment Co. — hour by hour, before any DPPA. This is the bill every DPPA offer is judged against.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727E"/>
                </a:solidFill>
                <a:latin typeface="Arial"/>
              </a:rPr>
              <a:t>1. The Baseline</a:t>
            </a:r>
          </a:p>
        </p:txBody>
      </p:sp>
      <p:pic>
        <p:nvPicPr>
          <p:cNvPr id="3" name="Picture 2" descr="breadcrumb-strip-m1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12" y="2743200"/>
            <a:ext cx="8134574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95959"/>
                </a:solidFill>
                <a:latin typeface="Arial"/>
              </a:rPr>
              <a:t>[Fallback — Module 1 app demo]</a:t>
            </a:r>
          </a:p>
        </p:txBody>
      </p:sp>
      <p:pic>
        <p:nvPicPr>
          <p:cNvPr id="3" name="teach-m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02080" y="822959"/>
            <a:ext cx="6339840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727E"/>
                </a:solidFill>
                <a:latin typeface="Arial"/>
              </a:rPr>
              <a:t>2. The Bill</a:t>
            </a:r>
          </a:p>
        </p:txBody>
      </p:sp>
      <p:pic>
        <p:nvPicPr>
          <p:cNvPr id="3" name="Picture 2" descr="breadcrumb-strip-m2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12" y="2743200"/>
            <a:ext cx="8134574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7E"/>
                </a:solidFill>
                <a:latin typeface="Arial"/>
              </a:rPr>
              <a:t>How much energy actually settles?</a:t>
            </a:r>
          </a:p>
        </p:txBody>
      </p:sp>
      <p:pic>
        <p:nvPicPr>
          <p:cNvPr id="3" name="Picture 2" descr="m2-funnel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166" y="777240"/>
            <a:ext cx="4475667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Arial"/>
              </a:rPr>
              <a:t>Generation leaks a little, then passes a load gate and a contract gate. Only what survives both gates settles.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7E"/>
                </a:solidFill>
                <a:latin typeface="Arial"/>
              </a:rPr>
              <a:t>The five-line bill, one arrow at a time</a:t>
            </a:r>
          </a:p>
        </p:txBody>
      </p:sp>
      <p:pic>
        <p:nvPicPr>
          <p:cNvPr id="3" name="Picture 2" descr="m2-sankey-en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12" y="777240"/>
            <a:ext cx="7093974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Arial"/>
              </a:rPr>
              <a:t>Market energy 5,947 + fees 2,617 + CfD 500 = 9,063 tr VND.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95959"/>
                </a:solidFill>
                <a:latin typeface="Arial"/>
              </a:rPr>
              <a:t>[Fallback — Module 2 app demo]</a:t>
            </a:r>
          </a:p>
        </p:txBody>
      </p:sp>
      <p:pic>
        <p:nvPicPr>
          <p:cNvPr id="3" name="teach-m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02080" y="822959"/>
            <a:ext cx="6339840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727E"/>
                </a:solidFill>
                <a:latin typeface="Arial"/>
              </a:rPr>
              <a:t>3. The Lock</a:t>
            </a:r>
          </a:p>
        </p:txBody>
      </p:sp>
      <p:pic>
        <p:nvPicPr>
          <p:cNvPr id="3" name="Picture 2" descr="breadcrumb-strip-m3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12" y="2743200"/>
            <a:ext cx="8134574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7E"/>
                </a:solidFill>
                <a:latin typeface="Arial"/>
              </a:rPr>
              <a:t>A lock, not a discount</a:t>
            </a:r>
          </a:p>
        </p:txBody>
      </p:sp>
      <p:pic>
        <p:nvPicPr>
          <p:cNvPr id="3" name="Picture 2" descr="m3-seesaw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446" y="777240"/>
            <a:ext cx="4871107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Arial"/>
              </a:rPr>
              <a:t>The strike is a seesaw. Below it, you top up the developer. Above it, the developer pays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95959"/>
                </a:solidFill>
                <a:latin typeface="Arial"/>
              </a:rPr>
              <a:t>[Fallback — Module 3 app demo]</a:t>
            </a:r>
          </a:p>
        </p:txBody>
      </p:sp>
      <p:pic>
        <p:nvPicPr>
          <p:cNvPr id="3" name="teach-m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02080" y="822959"/>
            <a:ext cx="6339840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727E"/>
                </a:solidFill>
                <a:latin typeface="Arial"/>
              </a:rPr>
              <a:t>4. Three Doors</a:t>
            </a:r>
          </a:p>
        </p:txBody>
      </p:sp>
      <p:pic>
        <p:nvPicPr>
          <p:cNvPr id="3" name="Picture 2" descr="breadcrumb-strip-m4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12" y="2743200"/>
            <a:ext cx="8134574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7E"/>
                </a:solidFill>
                <a:latin typeface="Arial"/>
              </a:rPr>
              <a:t>Three doors the deal must pass</a:t>
            </a:r>
          </a:p>
        </p:txBody>
      </p:sp>
      <p:pic>
        <p:nvPicPr>
          <p:cNvPr id="3" name="Picture 2" descr="m4-three-doors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10" y="777240"/>
            <a:ext cx="5662578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Arial"/>
              </a:rPr>
              <a:t>Buyer: cost below doing nothing. Lender: covered every year. Investor: return earned. All three, or no deal.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95959"/>
                </a:solidFill>
                <a:latin typeface="Arial"/>
              </a:rPr>
              <a:t>[Fallback — Module 4 app demo]</a:t>
            </a:r>
          </a:p>
        </p:txBody>
      </p:sp>
      <p:pic>
        <p:nvPicPr>
          <p:cNvPr id="3" name="teach-m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02080" y="822959"/>
            <a:ext cx="6339840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727E"/>
                </a:solidFill>
                <a:latin typeface="Arial"/>
              </a:rPr>
              <a:t>5. The Case</a:t>
            </a:r>
          </a:p>
        </p:txBody>
      </p:sp>
      <p:pic>
        <p:nvPicPr>
          <p:cNvPr id="3" name="Picture 2" descr="breadcrumb-strip-m5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12" y="2743200"/>
            <a:ext cx="8134574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7E"/>
                </a:solidFill>
                <a:latin typeface="Arial"/>
              </a:rPr>
              <a:t>56 scenarios, one empty window</a:t>
            </a:r>
          </a:p>
        </p:txBody>
      </p:sp>
      <p:pic>
        <p:nvPicPr>
          <p:cNvPr id="3" name="Picture 2" descr="m5-gate-heatmap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037" y="777240"/>
            <a:ext cx="4437925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Arial"/>
              </a:rPr>
              <a:t>Sweep strike x volume across both case studies: zero of 56 combinations clear all three doors at once.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27E"/>
                </a:solidFill>
                <a:latin typeface="Arial"/>
              </a:rPr>
              <a:t>Your turn: compute the bill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Worksheet: Song Hong Garment Co., S1. Volumes are pre-filled. Compute all five lines in VND millions, total, and compare to the BAU bar from the cold open. 10 minutes.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95959"/>
                </a:solidFill>
                <a:latin typeface="Arial"/>
              </a:rPr>
              <a:t>[Fallback — Module 5 app demo]</a:t>
            </a:r>
          </a:p>
        </p:txBody>
      </p:sp>
      <p:pic>
        <p:nvPicPr>
          <p:cNvPr id="3" name="teach-m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02080" y="822959"/>
            <a:ext cx="6339840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7E"/>
                </a:solidFill>
                <a:latin typeface="Arial"/>
              </a:rPr>
              <a:t>The empty window, revealed</a:t>
            </a:r>
          </a:p>
        </p:txBody>
      </p:sp>
      <p:pic>
        <p:nvPicPr>
          <p:cNvPr id="3" name="Picture 2" descr="m5-gate-heatmap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037" y="777240"/>
            <a:ext cx="4437925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Arial"/>
              </a:rPr>
              <a:t>Now scale your month x12 x20 strikes: zero of 56 pass all three doors.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727E"/>
                </a:solidFill>
                <a:latin typeface="Arial"/>
              </a:rPr>
              <a:t>6. Decide</a:t>
            </a:r>
          </a:p>
        </p:txBody>
      </p:sp>
      <p:pic>
        <p:nvPicPr>
          <p:cNvPr id="3" name="Picture 2" descr="breadcrumb-strip-m6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12" y="2743200"/>
            <a:ext cx="8134574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7E"/>
                </a:solidFill>
                <a:latin typeface="Arial"/>
              </a:rPr>
              <a:t>Decoder: your words, the decree's symbols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Matched / settled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914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7E"/>
                </a:solidFill>
                <a:latin typeface="Arial"/>
              </a:rPr>
              <a:t>Q_khc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Total consumption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7E"/>
                </a:solidFill>
                <a:latin typeface="Arial"/>
              </a:rPr>
              <a:t>Q_KH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Market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7E"/>
                </a:solidFill>
                <a:latin typeface="Arial"/>
              </a:rPr>
              <a:t>FMP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Locked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7E"/>
                </a:solidFill>
                <a:latin typeface="Arial"/>
              </a:rPr>
              <a:t>Strike / P_c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Total bill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7E"/>
                </a:solidFill>
                <a:latin typeface="Arial"/>
              </a:rPr>
              <a:t>C_KH = C_EVN + C_CfD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7E"/>
                </a:solidFill>
                <a:latin typeface="Arial"/>
              </a:rPr>
              <a:t>Five levers you can still negotiate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Strike price: Lower strike -&gt; lower CfD cost when FMP is below strike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Contracted volume (Q_c): Match Q_c to real consumption to avoid excess/shortfall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Tenor / escalation: Longer lock trades flexibility for price 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Settlement mode: Matched-only vs generation vs allocated changes who bears volume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Arial"/>
              </a:rPr>
              <a:t>Termination / step-out terms: Determines the cost of exiting if the deal stops passing the three gates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95959"/>
                </a:solidFill>
                <a:latin typeface="Arial"/>
              </a:rPr>
              <a:t>[Fallback — Module 6 app demo]</a:t>
            </a:r>
          </a:p>
        </p:txBody>
      </p:sp>
      <p:pic>
        <p:nvPicPr>
          <p:cNvPr id="3" name="teach-m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02080" y="822959"/>
            <a:ext cx="6339840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27E"/>
                </a:solidFill>
                <a:latin typeface="Arial"/>
              </a:rPr>
              <a:t>You can now compute every line of this bill</a:t>
            </a:r>
          </a:p>
        </p:txBody>
      </p:sp>
      <p:pic>
        <p:nvPicPr>
          <p:cNvPr id="3" name="Picture 2" descr="cold-open-bill-pai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00" y="1005839"/>
            <a:ext cx="3749199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Bring the five levers to your next term sheet. Scan for the app, lessons, and the 90-min scenario workshop.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27E"/>
                </a:solidFill>
                <a:latin typeface="Arial"/>
              </a:rPr>
              <a:t>Scenario 1 — Matched</a:t>
            </a:r>
          </a:p>
        </p:txBody>
      </p:sp>
      <p:pic>
        <p:nvPicPr>
          <p:cNvPr id="3" name="Picture 2" descr="cfd-s1-e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703" y="777240"/>
            <a:ext cx="6002593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Arial"/>
              </a:rPr>
              <a:t>Consumption equals matched volume. No residual retail line.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27E"/>
                </a:solidFill>
                <a:latin typeface="Arial"/>
              </a:rPr>
              <a:t>Scenario 2 — Shortfall</a:t>
            </a:r>
          </a:p>
        </p:txBody>
      </p:sp>
      <p:pic>
        <p:nvPicPr>
          <p:cNvPr id="3" name="Picture 2" descr="cfd-s2-e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703" y="777240"/>
            <a:ext cx="6002593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Arial"/>
              </a:rPr>
              <a:t>Consumption exceeds contract. The residual buys back at retail — always the expensive line.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27E"/>
                </a:solidFill>
                <a:latin typeface="Arial"/>
              </a:rPr>
              <a:t>Scenario 3 — Excess</a:t>
            </a:r>
          </a:p>
        </p:txBody>
      </p:sp>
      <p:pic>
        <p:nvPicPr>
          <p:cNvPr id="3" name="Picture 2" descr="cfd-s3-e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703" y="777240"/>
            <a:ext cx="6002593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Arial"/>
              </a:rPr>
              <a:t>Generation exceeds consumption. The excess earns spot revenue only — no CfD, no free upside.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6796</Words>
  <Application>Microsoft Office PowerPoint</Application>
  <PresentationFormat>On-screen Show (16:9)</PresentationFormat>
  <Paragraphs>853</Paragraphs>
  <Slides>57</Slides>
  <Notes>57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57</vt:i4>
      </vt:variant>
    </vt:vector>
  </HeadingPairs>
  <TitlesOfParts>
    <vt:vector size="74" baseType="lpstr">
      <vt:lpstr>Be Vietnam Pro SemiBold</vt:lpstr>
      <vt:lpstr>Montserrat ExtraBold</vt:lpstr>
      <vt:lpstr>Lato</vt:lpstr>
      <vt:lpstr>Geo</vt:lpstr>
      <vt:lpstr>Quattrocento Sans</vt:lpstr>
      <vt:lpstr>Montserrat</vt:lpstr>
      <vt:lpstr>Arial</vt:lpstr>
      <vt:lpstr>Raleway</vt:lpstr>
      <vt:lpstr>Be Vietnam Pro</vt:lpstr>
      <vt:lpstr>Consolas</vt:lpstr>
      <vt:lpstr>Calibri</vt:lpstr>
      <vt:lpstr>Roboto</vt:lpstr>
      <vt:lpstr>Simple Light</vt:lpstr>
      <vt:lpstr>Office Theme</vt:lpstr>
      <vt:lpstr>Office Theme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Tung Ho</cp:lastModifiedBy>
  <cp:revision>1</cp:revision>
  <dcterms:modified xsi:type="dcterms:W3CDTF">2026-06-22T15:30:23Z</dcterms:modified>
</cp:coreProperties>
</file>