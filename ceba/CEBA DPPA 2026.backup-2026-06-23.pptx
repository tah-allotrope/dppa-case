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notesSlides/notesSlide4.xml" ContentType="application/vnd.openxmlformats-officedocument.presentationml.notesSlide+xml"/>
  <Override PartName="/ppt/comments/comment2.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3.xml" ContentType="application/vnd.openxmlformats-officedocument.presentationml.comments+xml"/>
  <Override PartName="/ppt/notesSlides/notesSlide8.xml" ContentType="application/vnd.openxmlformats-officedocument.presentationml.notesSlide+xml"/>
  <Override PartName="/ppt/comments/comment4.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5.xml" ContentType="application/vnd.openxmlformats-officedocument.presentationml.comments+xml"/>
  <Override PartName="/ppt/notesSlides/notesSlide16.xml" ContentType="application/vnd.openxmlformats-officedocument.presentationml.notesSlide+xml"/>
  <Override PartName="/ppt/comments/comment6.xml" ContentType="application/vnd.openxmlformats-officedocument.presentationml.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comment7.xml" ContentType="application/vnd.openxmlformats-officedocument.presentationml.comments+xml"/>
  <Override PartName="/ppt/notesSlides/notesSlide26.xml" ContentType="application/vnd.openxmlformats-officedocument.presentationml.notesSlide+xml"/>
  <Override PartName="/ppt/comments/comment8.xml" ContentType="application/vnd.openxmlformats-officedocument.presentationml.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comment9.xml" ContentType="application/vnd.openxmlformats-officedocument.presentationml.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comment10.xml" ContentType="application/vnd.openxmlformats-officedocument.presentationml.comments+xml"/>
  <Override PartName="/ppt/notesSlides/notesSlide37.xml" ContentType="application/vnd.openxmlformats-officedocument.presentationml.notesSlide+xml"/>
  <Override PartName="/ppt/comments/comment11.xml" ContentType="application/vnd.openxmlformats-officedocument.presentationml.comments+xml"/>
  <Override PartName="/ppt/notesSlides/notesSlide38.xml" ContentType="application/vnd.openxmlformats-officedocument.presentationml.notesSlide+xml"/>
  <Override PartName="/ppt/comments/comment12.xml" ContentType="application/vnd.openxmlformats-officedocument.presentationml.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omments/comment13.xml" ContentType="application/vnd.openxmlformats-officedocument.presentationml.comment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comment14.xml" ContentType="application/vnd.openxmlformats-officedocument.presentationml.comments+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1" r:id="rId1"/>
    <p:sldMasterId id="2147483763" r:id="rId2"/>
    <p:sldMasterId id="2147483765" r:id="rId3"/>
    <p:sldMasterId id="2147483766" r:id="rId4"/>
    <p:sldMasterId id="2147483767" r:id="rId5"/>
  </p:sldMasterIdLst>
  <p:notesMasterIdLst>
    <p:notesMasterId r:id="rId63"/>
  </p:notesMasterIdLst>
  <p:sldIdLst>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Lst>
  <p:sldSz cx="9144000" cy="5143500" type="screen16x9"/>
  <p:notesSz cx="6858000" cy="9144000"/>
  <p:embeddedFontLst>
    <p:embeddedFont>
      <p:font typeface="Be Vietnam Pro" panose="020B0604020202020204" charset="0"/>
      <p:regular r:id="rId64"/>
      <p:bold r:id="rId65"/>
      <p:italic r:id="rId66"/>
      <p:boldItalic r:id="rId67"/>
    </p:embeddedFont>
    <p:embeddedFont>
      <p:font typeface="Be Vietnam Pro SemiBold" panose="020B0604020202020204" charset="0"/>
      <p:regular r:id="rId68"/>
      <p:bold r:id="rId69"/>
      <p:italic r:id="rId70"/>
      <p:boldItalic r:id="rId71"/>
    </p:embeddedFont>
    <p:embeddedFont>
      <p:font typeface="Consolas" panose="020B0609020204030204" pitchFamily="49" charset="0"/>
      <p:regular r:id="rId72"/>
      <p:bold r:id="rId73"/>
      <p:italic r:id="rId74"/>
      <p:boldItalic r:id="rId75"/>
    </p:embeddedFont>
    <p:embeddedFont>
      <p:font typeface="Geo" panose="020B0604020202020204"/>
      <p:regular r:id="rId76"/>
      <p:italic r:id="rId77"/>
    </p:embeddedFont>
    <p:embeddedFont>
      <p:font typeface="Lato" panose="020F0502020204030203" pitchFamily="34" charset="0"/>
      <p:regular r:id="rId78"/>
      <p:bold r:id="rId79"/>
      <p:italic r:id="rId80"/>
      <p:boldItalic r:id="rId81"/>
    </p:embeddedFont>
    <p:embeddedFont>
      <p:font typeface="Montserrat" panose="00000500000000000000" pitchFamily="2" charset="0"/>
      <p:regular r:id="rId82"/>
      <p:bold r:id="rId83"/>
      <p:italic r:id="rId84"/>
      <p:boldItalic r:id="rId85"/>
    </p:embeddedFont>
    <p:embeddedFont>
      <p:font typeface="Montserrat ExtraBold" panose="00000900000000000000" pitchFamily="2" charset="0"/>
      <p:bold r:id="rId86"/>
      <p:boldItalic r:id="rId87"/>
    </p:embeddedFont>
    <p:embeddedFont>
      <p:font typeface="Quattrocento Sans" panose="020B0502050000020003" pitchFamily="34" charset="0"/>
      <p:regular r:id="rId88"/>
      <p:bold r:id="rId89"/>
      <p:italic r:id="rId90"/>
      <p:boldItalic r:id="rId91"/>
    </p:embeddedFont>
    <p:embeddedFont>
      <p:font typeface="Roboto" panose="02000000000000000000" pitchFamily="2" charset="0"/>
      <p:regular r:id="rId92"/>
      <p:bold r:id="rId93"/>
      <p:italic r:id="rId94"/>
      <p:boldItalic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rang Tran" initials="" lastIdx="4" clrIdx="0"/>
  <p:cmAuthor id="1" name="Hong Anh Le" initials="" lastIdx="12" clrIdx="1"/>
  <p:cmAuthor id="2" name="Lauren McGinley" initials="" lastIdx="10" clrIdx="2"/>
  <p:cmAuthor id="3" name="Cong Nguyen" initials="" lastIdx="4" clrIdx="3"/>
  <p:cmAuthor id="4" name="Aiden Roake" initials=""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1033D3-121A-4ABF-A30B-B91F07BF1167}">
  <a:tblStyle styleId="{121033D3-121A-4ABF-A30B-B91F07BF116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8BD2AF-5D0D-4EDC-AE96-A30A7DA1AF2F}"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F1742F6B-ED47-481C-AEBF-CD6BD0922621}"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40"/>
      </p:cViewPr>
      <p:guideLst>
        <p:guide pos="286"/>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notesMaster" Target="notesMasters/notesMaster1.xml"/><Relationship Id="rId68" Type="http://schemas.openxmlformats.org/officeDocument/2006/relationships/font" Target="fonts/font5.fntdata"/><Relationship Id="rId76" Type="http://schemas.openxmlformats.org/officeDocument/2006/relationships/font" Target="fonts/font13.fntdata"/><Relationship Id="rId84" Type="http://schemas.openxmlformats.org/officeDocument/2006/relationships/font" Target="fonts/font21.fntdata"/><Relationship Id="rId89" Type="http://schemas.openxmlformats.org/officeDocument/2006/relationships/font" Target="fonts/font26.fntdata"/><Relationship Id="rId97"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font" Target="fonts/font8.fntdata"/><Relationship Id="rId92" Type="http://schemas.openxmlformats.org/officeDocument/2006/relationships/font" Target="fonts/font29.fntdata"/><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font" Target="fonts/font3.fntdata"/><Relationship Id="rId74" Type="http://schemas.openxmlformats.org/officeDocument/2006/relationships/font" Target="fonts/font11.fntdata"/><Relationship Id="rId79" Type="http://schemas.openxmlformats.org/officeDocument/2006/relationships/font" Target="fonts/font16.fntdata"/><Relationship Id="rId87" Type="http://schemas.openxmlformats.org/officeDocument/2006/relationships/font" Target="fonts/font24.fntdata"/><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font" Target="fonts/font19.fntdata"/><Relationship Id="rId90" Type="http://schemas.openxmlformats.org/officeDocument/2006/relationships/font" Target="fonts/font27.fntdata"/><Relationship Id="rId95" Type="http://schemas.openxmlformats.org/officeDocument/2006/relationships/font" Target="fonts/font32.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100"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9.fntdata"/><Relationship Id="rId80" Type="http://schemas.openxmlformats.org/officeDocument/2006/relationships/font" Target="fonts/font17.fntdata"/><Relationship Id="rId85" Type="http://schemas.openxmlformats.org/officeDocument/2006/relationships/font" Target="fonts/font22.fntdata"/><Relationship Id="rId93" Type="http://schemas.openxmlformats.org/officeDocument/2006/relationships/font" Target="fonts/font30.fntdata"/><Relationship Id="rId98"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4.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7.fntdata"/><Relationship Id="rId75" Type="http://schemas.openxmlformats.org/officeDocument/2006/relationships/font" Target="fonts/font12.fntdata"/><Relationship Id="rId83" Type="http://schemas.openxmlformats.org/officeDocument/2006/relationships/font" Target="fonts/font20.fntdata"/><Relationship Id="rId88" Type="http://schemas.openxmlformats.org/officeDocument/2006/relationships/font" Target="fonts/font25.fntdata"/><Relationship Id="rId91" Type="http://schemas.openxmlformats.org/officeDocument/2006/relationships/font" Target="fonts/font28.fntdata"/><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font" Target="fonts/font15.fntdata"/><Relationship Id="rId81" Type="http://schemas.openxmlformats.org/officeDocument/2006/relationships/font" Target="fonts/font18.fntdata"/><Relationship Id="rId86" Type="http://schemas.openxmlformats.org/officeDocument/2006/relationships/font" Target="fonts/font23.fntdata"/><Relationship Id="rId94" Type="http://schemas.openxmlformats.org/officeDocument/2006/relationships/font" Target="fonts/font31.fntdata"/><Relationship Id="rId9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6-06-12T22:38:28.639" idx="1">
    <p:pos x="6000" y="0"/>
    <p:text>@chn@allotropepartners.com @hal@allotropevc.com @ttt@allotropevc.com there is still a lot of terminology that will be advanced for a supplier that's new to this, so please let's confirm how we're discussing these terms within the session (even if its a note that "Please note session glossary on your table" and "Glossary available in the session appendix" or something</p:text>
  </p:cm>
  <p:cm authorId="1" dt="2026-06-15T01:22:13.332" idx="3">
    <p:pos x="6000" y="100"/>
    <p:text>@ttt@allotropevc.com Hi Trang, can you help adding some of these terminologies to glossary list
_Assigned to Trang Tran_</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6-15T19:34:05.781" idx="4">
    <p:pos x="6000" y="0"/>
    <p:text>@ttt@allotropevc.com Hi Trang probably need to fix these transition slides (same pics + old logo)
_Reassigned to Trang Tran_</p:text>
  </p:cm>
  <p:cm authorId="2" dt="2026-06-15T19:34:05.781" idx="2">
    <p:pos x="6000" y="0"/>
    <p:text>updated the logos BTW</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6-15T01:14:22.382" idx="5">
    <p:pos x="426" y="129"/>
    <p:text>Should be addressed in speech, "you" here refers to Your factory, the RE generator have a different payment model</p:text>
  </p:cm>
  <p:cm authorId="3" dt="2026-06-15T09:01:06.058" idx="1">
    <p:pos x="426" y="129"/>
    <p:text>Edited "your factory"</p:text>
  </p:cm>
  <p:cm authorId="2" dt="2026-06-15T19:38:44.998" idx="3">
    <p:pos x="426" y="129"/>
    <p:text>@chn@allotropepartners.com @hal@allotropevc.com @ttt@allotropevc.com 
can you better define the three relationships please. Is you the generator, EVN/the grid, and your factory. Maybe number, maybe show boxes?</p:text>
  </p:cm>
  <p:cm authorId="2" dt="2026-06-15T19:38:44.998" idx="4">
    <p:pos x="426" y="129"/>
    <p:text>What are the three relationships though: your factory, EVN, and the RE generator? Visually you have 4 boxes (VWEM, RE generator, EVN, Your facotry) and the title says 3 relationships, so want to make it more clear. Is relationships the right word?</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6-06-15T09:48:00.162" idx="6">
    <p:pos x="6000" y="0"/>
    <p:text>attempted to revise and note but might make it more confusing</p:text>
  </p:cm>
  <p:cm authorId="3" dt="2026-06-15T13:41:21.590" idx="2">
    <p:pos x="6000" y="100"/>
    <p:text>This slide aims to simplify and only describe the financial settlement, without including the electricity flow. Many of our partners' slides have already described this in detail</p:text>
  </p:cm>
  <p:cm authorId="1" dt="2026-06-15T19:40:49.152" idx="7">
    <p:pos x="6000" y="100"/>
    <p:text>@chn@allotropepartners.com Hi a Cong I tried to make it a bit clearer for audience please kindly check, though if it'll confuse them more please skip
_Reassigned to Cong Nguyen_</p:text>
  </p:cm>
  <p:cm authorId="2" dt="2026-06-15T19:40:49.152" idx="5">
    <p:pos x="6000" y="100"/>
    <p:text>I do think this slide helps and repetition on info (like electricity flows) can be helpful for new folks. Like i said on the previous slide, I do want to make sure "relationships" makes more sense b/c nothing is numbered and there are 4 boxes.</p:text>
  </p:cm>
</p:cmLst>
</file>

<file path=ppt/comments/comment5.xml><?xml version="1.0" encoding="utf-8"?>
<p:cmLst xmlns:a="http://schemas.openxmlformats.org/drawingml/2006/main" xmlns:r="http://schemas.openxmlformats.org/officeDocument/2006/relationships" xmlns:p="http://schemas.openxmlformats.org/presentationml/2006/main">
  <p:cm authorId="2" dt="2026-06-13T02:20:57.254" idx="6">
    <p:pos x="3323" y="876"/>
    <p:text>How are we explaining what FMP is?</p:text>
  </p:cm>
</p:cmLst>
</file>

<file path=ppt/comments/comment6.xml><?xml version="1.0" encoding="utf-8"?>
<p:cmLst xmlns:a="http://schemas.openxmlformats.org/drawingml/2006/main" xmlns:r="http://schemas.openxmlformats.org/officeDocument/2006/relationships" xmlns:p="http://schemas.openxmlformats.org/presentationml/2006/main">
  <p:cm authorId="3" dt="2026-06-15T19:49:13.746" idx="3">
    <p:pos x="3019" y="980"/>
    <p:text>This assessment is based on my calculations; I tried to formulate an expectation, but it seems a bit subjective.</p:text>
  </p:cm>
  <p:cm authorId="2" dt="2026-06-15T19:49:13.746" idx="7">
    <p:pos x="3019" y="980"/>
    <p:text>Added in "advice but adjust as you see fit.</p:text>
  </p:cm>
</p:cmLst>
</file>

<file path=ppt/comments/comment7.xml><?xml version="1.0" encoding="utf-8"?>
<p:cmLst xmlns:a="http://schemas.openxmlformats.org/drawingml/2006/main" xmlns:r="http://schemas.openxmlformats.org/officeDocument/2006/relationships" xmlns:p="http://schemas.openxmlformats.org/presentationml/2006/main">
  <p:cm authorId="2" dt="2026-06-15T13:59:49.331" idx="8">
    <p:pos x="3364" y="890"/>
    <p:text>This is the type of phrasing I want to make sure is less jargon and clear to everyone please @hal@allotropevc.com @ttt@allotropevc.com
1 total reaction
Cong Nguyen reacted with 👍 at 2026-06-15 13:59 PM</p:text>
  </p:cm>
</p:cmLst>
</file>

<file path=ppt/comments/comment8.xml><?xml version="1.0" encoding="utf-8"?>
<p:cmLst xmlns:a="http://schemas.openxmlformats.org/drawingml/2006/main" xmlns:r="http://schemas.openxmlformats.org/officeDocument/2006/relationships" xmlns:p="http://schemas.openxmlformats.org/presentationml/2006/main">
  <p:cm authorId="3" dt="2026-06-15T14:04:23.179" idx="4">
    <p:pos x="235" y="600"/>
    <p:text>Yes, scenario sweep with 12 strike prices and 4 contract volumes</p:text>
  </p:cm>
  <p:cm authorId="2" dt="2026-06-15T20:00:38.955" idx="9">
    <p:pos x="235" y="600"/>
    <p:text>56 Scenarios Analyzed: ?</p:text>
  </p:cm>
  <p:cm authorId="2" dt="2026-06-15T20:00:38.955" idx="10">
    <p:pos x="235" y="600"/>
    <p:text>reworded.</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6-06-12T04:15:24.754" idx="8">
    <p:pos x="6000" y="0"/>
    <p:text>To include: Duc Nguyen from VinEnergo, GENCO3 Representative</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6-15T07:53:44.924" idx="9">
    <p:pos x="6000" y="0"/>
    <p:text>needs to be updated</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6-15T08:07:03.344" idx="10">
    <p:pos x="6000" y="0"/>
    <p:text>Probably need to print this too in Scenario Package @ttt@allotropevc.com</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6-06-01T09:07:01.287" idx="11">
    <p:pos x="6000" y="0"/>
    <p:text>Note to CEBA that all these scenarios are work-in-progress and we'll continue refining it further to make it more beneficial for attendees</p:text>
  </p:cm>
  <p:cm authorId="1" dt="2026-06-01T09:07:01.287" idx="12">
    <p:pos x="6000" y="0"/>
    <p:text>We currently have 2 scenarios to just help participants understand the concepts and 2 with numbers</p:text>
  </p:cm>
</p:cmLst>
</file>

<file path=ppt/comments/comment13.xml><?xml version="1.0" encoding="utf-8"?>
<p:cmLst xmlns:a="http://schemas.openxmlformats.org/drawingml/2006/main" xmlns:r="http://schemas.openxmlformats.org/officeDocument/2006/relationships" xmlns:p="http://schemas.openxmlformats.org/presentationml/2006/main">
  <p:cm authorId="4" dt="2026-06-08T20:58:14.819" idx="1">
    <p:pos x="6000" y="0"/>
    <p:text>Draft slides below need extensive review</p:text>
  </p:cm>
</p:cmLst>
</file>

<file path=ppt/comments/comment14.xml><?xml version="1.0" encoding="utf-8"?>
<p:cmLst xmlns:a="http://schemas.openxmlformats.org/drawingml/2006/main" xmlns:r="http://schemas.openxmlformats.org/officeDocument/2006/relationships" xmlns:p="http://schemas.openxmlformats.org/presentationml/2006/main">
  <p:cm authorId="4" dt="2026-06-01T23:02:58.956" idx="2">
    <p:pos x="6000" y="0"/>
    <p:text>Slide from Day 1 for drafting purposes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g3eb446c4a34_0_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7" name="Google Shape;1457;g3eb446c4a34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3ecb1db4a6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3ecb1db4a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3eb66eb2d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3eb66eb2d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3ebc19243cb_0_1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5" name="Google Shape;1505;g3ebc19243cb_0_1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3ec0c65eb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3ec0c65eb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0"/>
        <p:cNvGrpSpPr/>
        <p:nvPr/>
      </p:nvGrpSpPr>
      <p:grpSpPr>
        <a:xfrm>
          <a:off x="0" y="0"/>
          <a:ext cx="0" cy="0"/>
          <a:chOff x="0" y="0"/>
          <a:chExt cx="0" cy="0"/>
        </a:xfrm>
      </p:grpSpPr>
      <p:sp>
        <p:nvSpPr>
          <p:cNvPr id="1541" name="Google Shape;1541;g3ebc19243cb_0_1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2" name="Google Shape;1542;g3ebc19243cb_0_1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g3ebc19243cb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2" name="Google Shape;1552;g3ebc19243cb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8"/>
        <p:cNvGrpSpPr/>
        <p:nvPr/>
      </p:nvGrpSpPr>
      <p:grpSpPr>
        <a:xfrm>
          <a:off x="0" y="0"/>
          <a:ext cx="0" cy="0"/>
          <a:chOff x="0" y="0"/>
          <a:chExt cx="0" cy="0"/>
        </a:xfrm>
      </p:grpSpPr>
      <p:sp>
        <p:nvSpPr>
          <p:cNvPr id="1579" name="Google Shape;1579;g3ec056fa404_3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0" name="Google Shape;1580;g3ec056fa404_3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7"/>
        <p:cNvGrpSpPr/>
        <p:nvPr/>
      </p:nvGrpSpPr>
      <p:grpSpPr>
        <a:xfrm>
          <a:off x="0" y="0"/>
          <a:ext cx="0" cy="0"/>
          <a:chOff x="0" y="0"/>
          <a:chExt cx="0" cy="0"/>
        </a:xfrm>
      </p:grpSpPr>
      <p:sp>
        <p:nvSpPr>
          <p:cNvPr id="1618" name="Google Shape;1618;g3ebc19243cb_0_6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9" name="Google Shape;1619;g3ebc19243cb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g3ec8d3339a8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8" name="Google Shape;1638;g3ec8d3339a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3ebc19243cb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3ebc19243cb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3ebc19243cb_0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9" name="Google Shape;1679;g3ebc19243cb_0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g3ebc19243cb_0_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8" name="Google Shape;1698;g3ebc19243cb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3ebc19243cb_0_1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8" name="Google Shape;1718;g3ebc19243cb_0_10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ebc19243cb_0_6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8" name="Google Shape;1728;g3ebc19243cb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g3ebc19243cb_0_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8" name="Google Shape;1748;g3ebc19243cb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3ebc19243cb_0_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0" name="Google Shape;1770;g3ebc19243cb_0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3ebc19243cb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0" name="Google Shape;1790;g3ebc19243cb_0_1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3ebc19243cb_0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3ebc19243cb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g3ebc19243cb_0_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0" name="Google Shape;1820;g3ebc19243cb_0_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2"/>
        <p:cNvGrpSpPr/>
        <p:nvPr/>
      </p:nvGrpSpPr>
      <p:grpSpPr>
        <a:xfrm>
          <a:off x="0" y="0"/>
          <a:ext cx="0" cy="0"/>
          <a:chOff x="0" y="0"/>
          <a:chExt cx="0" cy="0"/>
        </a:xfrm>
      </p:grpSpPr>
      <p:sp>
        <p:nvSpPr>
          <p:cNvPr id="1843" name="Google Shape;1843;g3ebc19243cb_0_8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4" name="Google Shape;1844;g3ebc19243cb_0_8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1"/>
        <p:cNvGrpSpPr/>
        <p:nvPr/>
      </p:nvGrpSpPr>
      <p:grpSpPr>
        <a:xfrm>
          <a:off x="0" y="0"/>
          <a:ext cx="0" cy="0"/>
          <a:chOff x="0" y="0"/>
          <a:chExt cx="0" cy="0"/>
        </a:xfrm>
      </p:grpSpPr>
      <p:sp>
        <p:nvSpPr>
          <p:cNvPr id="1862" name="Google Shape;1862;g3ebc19243cb_0_1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3" name="Google Shape;1863;g3ebc19243cb_0_19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1"/>
        <p:cNvGrpSpPr/>
        <p:nvPr/>
      </p:nvGrpSpPr>
      <p:grpSpPr>
        <a:xfrm>
          <a:off x="0" y="0"/>
          <a:ext cx="0" cy="0"/>
          <a:chOff x="0" y="0"/>
          <a:chExt cx="0" cy="0"/>
        </a:xfrm>
      </p:grpSpPr>
      <p:sp>
        <p:nvSpPr>
          <p:cNvPr id="1872" name="Google Shape;1872;g3ebc19243cb_0_8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3" name="Google Shape;1873;g3ebc19243cb_0_8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g3ebc19243cb_0_1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2" name="Google Shape;1892;g3ebc19243cb_0_1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1"/>
        <p:cNvGrpSpPr/>
        <p:nvPr/>
      </p:nvGrpSpPr>
      <p:grpSpPr>
        <a:xfrm>
          <a:off x="0" y="0"/>
          <a:ext cx="0" cy="0"/>
          <a:chOff x="0" y="0"/>
          <a:chExt cx="0" cy="0"/>
        </a:xfrm>
      </p:grpSpPr>
      <p:sp>
        <p:nvSpPr>
          <p:cNvPr id="1912" name="Google Shape;1912;g3ebc19243cb_0_1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3" name="Google Shape;1913;g3ebc19243cb_0_1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3ebc19243cb_0_1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3ebc19243cb_0_1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3"/>
        <p:cNvGrpSpPr/>
        <p:nvPr/>
      </p:nvGrpSpPr>
      <p:grpSpPr>
        <a:xfrm>
          <a:off x="0" y="0"/>
          <a:ext cx="0" cy="0"/>
          <a:chOff x="0" y="0"/>
          <a:chExt cx="0" cy="0"/>
        </a:xfrm>
      </p:grpSpPr>
      <p:sp>
        <p:nvSpPr>
          <p:cNvPr id="1954" name="Google Shape;1954;g3ebc19243cb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5" name="Google Shape;1955;g3ebc19243cb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1"/>
        <p:cNvGrpSpPr/>
        <p:nvPr/>
      </p:nvGrpSpPr>
      <p:grpSpPr>
        <a:xfrm>
          <a:off x="0" y="0"/>
          <a:ext cx="0" cy="0"/>
          <a:chOff x="0" y="0"/>
          <a:chExt cx="0" cy="0"/>
        </a:xfrm>
      </p:grpSpPr>
      <p:sp>
        <p:nvSpPr>
          <p:cNvPr id="1972" name="Google Shape;1972;g3ebc19243cb_0_2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3" name="Google Shape;1973;g3ebc19243cb_0_2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3ebc19243cb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3ebc19243cb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0"/>
        <p:cNvGrpSpPr/>
        <p:nvPr/>
      </p:nvGrpSpPr>
      <p:grpSpPr>
        <a:xfrm>
          <a:off x="0" y="0"/>
          <a:ext cx="0" cy="0"/>
          <a:chOff x="0" y="0"/>
          <a:chExt cx="0" cy="0"/>
        </a:xfrm>
      </p:grpSpPr>
      <p:sp>
        <p:nvSpPr>
          <p:cNvPr id="2001" name="Google Shape;2001;g3ebc19243cb_0_1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2" name="Google Shape;2002;g3ebc19243cb_0_1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9"/>
        <p:cNvGrpSpPr/>
        <p:nvPr/>
      </p:nvGrpSpPr>
      <p:grpSpPr>
        <a:xfrm>
          <a:off x="0" y="0"/>
          <a:ext cx="0" cy="0"/>
          <a:chOff x="0" y="0"/>
          <a:chExt cx="0" cy="0"/>
        </a:xfrm>
      </p:grpSpPr>
      <p:sp>
        <p:nvSpPr>
          <p:cNvPr id="2020" name="Google Shape;2020;g3e5750f1fdf_0_1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1" name="Google Shape;2021;g3e5750f1fdf_0_1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8"/>
        <p:cNvGrpSpPr/>
        <p:nvPr/>
      </p:nvGrpSpPr>
      <p:grpSpPr>
        <a:xfrm>
          <a:off x="0" y="0"/>
          <a:ext cx="0" cy="0"/>
          <a:chOff x="0" y="0"/>
          <a:chExt cx="0" cy="0"/>
        </a:xfrm>
      </p:grpSpPr>
      <p:sp>
        <p:nvSpPr>
          <p:cNvPr id="2039" name="Google Shape;2039;g3e5750f1fdf_0_1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0" name="Google Shape;2040;g3e5750f1fdf_0_1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5"/>
        <p:cNvGrpSpPr/>
        <p:nvPr/>
      </p:nvGrpSpPr>
      <p:grpSpPr>
        <a:xfrm>
          <a:off x="0" y="0"/>
          <a:ext cx="0" cy="0"/>
          <a:chOff x="0" y="0"/>
          <a:chExt cx="0" cy="0"/>
        </a:xfrm>
      </p:grpSpPr>
      <p:sp>
        <p:nvSpPr>
          <p:cNvPr id="2056" name="Google Shape;2056;g38a62b75e43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7" name="Google Shape;2057;g38a62b75e43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g3e5750f1fdf_0_17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6" name="Google Shape;2076;g3e5750f1fdf_0_1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7"/>
        <p:cNvGrpSpPr/>
        <p:nvPr/>
      </p:nvGrpSpPr>
      <p:grpSpPr>
        <a:xfrm>
          <a:off x="0" y="0"/>
          <a:ext cx="0" cy="0"/>
          <a:chOff x="0" y="0"/>
          <a:chExt cx="0" cy="0"/>
        </a:xfrm>
      </p:grpSpPr>
      <p:sp>
        <p:nvSpPr>
          <p:cNvPr id="2088" name="Google Shape;2088;g3e5dc4c0772_2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9" name="Google Shape;2089;g3e5dc4c0772_2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3e5dc4c0772_2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3e5dc4c0772_2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3ec8d3339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3ec8d3339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3"/>
        <p:cNvGrpSpPr/>
        <p:nvPr/>
      </p:nvGrpSpPr>
      <p:grpSpPr>
        <a:xfrm>
          <a:off x="0" y="0"/>
          <a:ext cx="0" cy="0"/>
          <a:chOff x="0" y="0"/>
          <a:chExt cx="0" cy="0"/>
        </a:xfrm>
      </p:grpSpPr>
      <p:sp>
        <p:nvSpPr>
          <p:cNvPr id="2144" name="Google Shape;2144;g3ec8d3339a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5" name="Google Shape;2145;g3ec8d3339a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g3ec056fa404_3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3" name="Google Shape;2163;g3ec056fa404_3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3ec056fa404_3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3ec056fa404_3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g3ec056fa404_3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8" name="Google Shape;2228;g3ec056fa404_3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3ec8d3339a8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3ec8d3339a8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g3ec8d3339a8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8" name="Google Shape;2278;g3ec8d3339a8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9"/>
        <p:cNvGrpSpPr/>
        <p:nvPr/>
      </p:nvGrpSpPr>
      <p:grpSpPr>
        <a:xfrm>
          <a:off x="0" y="0"/>
          <a:ext cx="0" cy="0"/>
          <a:chOff x="0" y="0"/>
          <a:chExt cx="0" cy="0"/>
        </a:xfrm>
      </p:grpSpPr>
      <p:sp>
        <p:nvSpPr>
          <p:cNvPr id="2310" name="Google Shape;2310;g3ec8d3339a8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1" name="Google Shape;2311;g3ec8d3339a8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3ec8d3339a8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3ec8d3339a8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9"/>
        <p:cNvGrpSpPr/>
        <p:nvPr/>
      </p:nvGrpSpPr>
      <p:grpSpPr>
        <a:xfrm>
          <a:off x="0" y="0"/>
          <a:ext cx="0" cy="0"/>
          <a:chOff x="0" y="0"/>
          <a:chExt cx="0" cy="0"/>
        </a:xfrm>
      </p:grpSpPr>
      <p:sp>
        <p:nvSpPr>
          <p:cNvPr id="2370" name="Google Shape;2370;g3ec8d3339a8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1" name="Google Shape;2371;g3ec8d3339a8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4"/>
        <p:cNvGrpSpPr/>
        <p:nvPr/>
      </p:nvGrpSpPr>
      <p:grpSpPr>
        <a:xfrm>
          <a:off x="0" y="0"/>
          <a:ext cx="0" cy="0"/>
          <a:chOff x="0" y="0"/>
          <a:chExt cx="0" cy="0"/>
        </a:xfrm>
      </p:grpSpPr>
      <p:sp>
        <p:nvSpPr>
          <p:cNvPr id="2405" name="Google Shape;2405;g3ec8d3339a8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6" name="Google Shape;2406;g3ec8d3339a8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3"/>
        <p:cNvGrpSpPr/>
        <p:nvPr/>
      </p:nvGrpSpPr>
      <p:grpSpPr>
        <a:xfrm>
          <a:off x="0" y="0"/>
          <a:ext cx="0" cy="0"/>
          <a:chOff x="0" y="0"/>
          <a:chExt cx="0" cy="0"/>
        </a:xfrm>
      </p:grpSpPr>
      <p:sp>
        <p:nvSpPr>
          <p:cNvPr id="2424" name="Google Shape;2424;g3ec8d3339a8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5" name="Google Shape;2425;g3ec8d3339a8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1"/>
        <p:cNvGrpSpPr/>
        <p:nvPr/>
      </p:nvGrpSpPr>
      <p:grpSpPr>
        <a:xfrm>
          <a:off x="0" y="0"/>
          <a:ext cx="0" cy="0"/>
          <a:chOff x="0" y="0"/>
          <a:chExt cx="0" cy="0"/>
        </a:xfrm>
      </p:grpSpPr>
      <p:sp>
        <p:nvSpPr>
          <p:cNvPr id="2442" name="Google Shape;2442;g3ec8d3339a8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3" name="Google Shape;2443;g3ec8d3339a8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6"/>
        <p:cNvGrpSpPr/>
        <p:nvPr/>
      </p:nvGrpSpPr>
      <p:grpSpPr>
        <a:xfrm>
          <a:off x="0" y="0"/>
          <a:ext cx="0" cy="0"/>
          <a:chOff x="0" y="0"/>
          <a:chExt cx="0" cy="0"/>
        </a:xfrm>
      </p:grpSpPr>
      <p:sp>
        <p:nvSpPr>
          <p:cNvPr id="2477" name="Google Shape;2477;g3ec3fc8b85b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8" name="Google Shape;2478;g3ec3fc8b85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8"/>
        <p:cNvGrpSpPr/>
        <p:nvPr/>
      </p:nvGrpSpPr>
      <p:grpSpPr>
        <a:xfrm>
          <a:off x="0" y="0"/>
          <a:ext cx="0" cy="0"/>
          <a:chOff x="0" y="0"/>
          <a:chExt cx="0" cy="0"/>
        </a:xfrm>
      </p:grpSpPr>
      <p:sp>
        <p:nvSpPr>
          <p:cNvPr id="2519" name="Google Shape;2519;g3eb3c66dbd3_0_1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0" name="Google Shape;2520;g3eb3c66dbd3_0_1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0"/>
        <p:cNvGrpSpPr/>
        <p:nvPr/>
      </p:nvGrpSpPr>
      <p:grpSpPr>
        <a:xfrm>
          <a:off x="0" y="0"/>
          <a:ext cx="0" cy="0"/>
          <a:chOff x="0" y="0"/>
          <a:chExt cx="0" cy="0"/>
        </a:xfrm>
      </p:grpSpPr>
      <p:sp>
        <p:nvSpPr>
          <p:cNvPr id="2531" name="Google Shape;2531;g3e711fdb2ed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2" name="Google Shape;2532;g3e711fdb2ed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9"/>
        <p:cNvGrpSpPr/>
        <p:nvPr/>
      </p:nvGrpSpPr>
      <p:grpSpPr>
        <a:xfrm>
          <a:off x="0" y="0"/>
          <a:ext cx="0" cy="0"/>
          <a:chOff x="0" y="0"/>
          <a:chExt cx="0" cy="0"/>
        </a:xfrm>
      </p:grpSpPr>
      <p:sp>
        <p:nvSpPr>
          <p:cNvPr id="2550" name="Google Shape;2550;g357a0cea85d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1" name="Google Shape;2551;g357a0cea85d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7"/>
        <p:cNvGrpSpPr/>
        <p:nvPr/>
      </p:nvGrpSpPr>
      <p:grpSpPr>
        <a:xfrm>
          <a:off x="0" y="0"/>
          <a:ext cx="0" cy="0"/>
          <a:chOff x="0" y="0"/>
          <a:chExt cx="0" cy="0"/>
        </a:xfrm>
      </p:grpSpPr>
      <p:sp>
        <p:nvSpPr>
          <p:cNvPr id="2568" name="Google Shape;2568;g3eb64af06bf_0_27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9" name="Google Shape;2569;g3eb64af06bf_0_27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0" name="Google Shape;2570;g3eb64af06bf_0_27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2"/>
        <p:cNvGrpSpPr/>
        <p:nvPr/>
      </p:nvGrpSpPr>
      <p:grpSpPr>
        <a:xfrm>
          <a:off x="0" y="0"/>
          <a:ext cx="0" cy="0"/>
          <a:chOff x="0" y="0"/>
          <a:chExt cx="0" cy="0"/>
        </a:xfrm>
      </p:grpSpPr>
      <p:sp>
        <p:nvSpPr>
          <p:cNvPr id="2623" name="Google Shape;2623;g3e711fdb2ed_0_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4" name="Google Shape;2624;g3e711fdb2ed_0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1"/>
        <p:cNvGrpSpPr/>
        <p:nvPr/>
      </p:nvGrpSpPr>
      <p:grpSpPr>
        <a:xfrm>
          <a:off x="0" y="0"/>
          <a:ext cx="0" cy="0"/>
          <a:chOff x="0" y="0"/>
          <a:chExt cx="0" cy="0"/>
        </a:xfrm>
      </p:grpSpPr>
      <p:sp>
        <p:nvSpPr>
          <p:cNvPr id="2642" name="Google Shape;2642;g3e711fdb2ed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3" name="Google Shape;2643;g3e711fdb2ed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0"/>
        <p:cNvGrpSpPr/>
        <p:nvPr/>
      </p:nvGrpSpPr>
      <p:grpSpPr>
        <a:xfrm>
          <a:off x="0" y="0"/>
          <a:ext cx="0" cy="0"/>
          <a:chOff x="0" y="0"/>
          <a:chExt cx="0" cy="0"/>
        </a:xfrm>
      </p:grpSpPr>
      <p:sp>
        <p:nvSpPr>
          <p:cNvPr id="2661" name="Google Shape;2661;g3e72ef8fb1d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2" name="Google Shape;2662;g3e72ef8fb1d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51"/>
        <p:cNvGrpSpPr/>
        <p:nvPr/>
      </p:nvGrpSpPr>
      <p:grpSpPr>
        <a:xfrm>
          <a:off x="0" y="0"/>
          <a:ext cx="0" cy="0"/>
          <a:chOff x="0" y="0"/>
          <a:chExt cx="0" cy="0"/>
        </a:xfrm>
      </p:grpSpPr>
      <p:sp>
        <p:nvSpPr>
          <p:cNvPr id="52" name="Google Shape;52;p14"/>
          <p:cNvSpPr>
            <a:spLocks noGrp="1"/>
          </p:cNvSpPr>
          <p:nvPr>
            <p:ph type="pic" idx="2"/>
          </p:nvPr>
        </p:nvSpPr>
        <p:spPr>
          <a:xfrm>
            <a:off x="5900738" y="0"/>
            <a:ext cx="3243300" cy="51435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
        <p:cNvGrpSpPr/>
        <p:nvPr/>
      </p:nvGrpSpPr>
      <p:grpSpPr>
        <a:xfrm>
          <a:off x="0" y="0"/>
          <a:ext cx="0" cy="0"/>
          <a:chOff x="0" y="0"/>
          <a:chExt cx="0" cy="0"/>
        </a:xfrm>
      </p:grpSpPr>
      <p:sp>
        <p:nvSpPr>
          <p:cNvPr id="54" name="Google Shape;54;p15"/>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55"/>
        <p:cNvGrpSpPr/>
        <p:nvPr/>
      </p:nvGrpSpPr>
      <p:grpSpPr>
        <a:xfrm>
          <a:off x="0" y="0"/>
          <a:ext cx="0" cy="0"/>
          <a:chOff x="0" y="0"/>
          <a:chExt cx="0" cy="0"/>
        </a:xfrm>
      </p:grpSpPr>
      <p:sp>
        <p:nvSpPr>
          <p:cNvPr id="56" name="Google Shape;56;p16"/>
          <p:cNvSpPr>
            <a:spLocks noGrp="1"/>
          </p:cNvSpPr>
          <p:nvPr>
            <p:ph type="pic" idx="2"/>
          </p:nvPr>
        </p:nvSpPr>
        <p:spPr>
          <a:xfrm>
            <a:off x="4100165" y="570248"/>
            <a:ext cx="4237200" cy="2001600"/>
          </a:xfrm>
          <a:prstGeom prst="rect">
            <a:avLst/>
          </a:prstGeom>
          <a:noFill/>
          <a:ln>
            <a:noFill/>
          </a:ln>
        </p:spPr>
      </p:sp>
      <p:sp>
        <p:nvSpPr>
          <p:cNvPr id="57" name="Google Shape;57;p16"/>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768096" y="438912"/>
            <a:ext cx="7290000" cy="1124700"/>
          </a:xfrm>
          <a:prstGeom prst="rect">
            <a:avLst/>
          </a:prstGeom>
          <a:noFill/>
          <a:ln>
            <a:noFill/>
          </a:ln>
        </p:spPr>
        <p:txBody>
          <a:bodyPr spcFirstLastPara="1" wrap="square" lIns="68575" tIns="34275" rIns="68575" bIns="34275" anchor="ctr" anchorCtr="0">
            <a:normAutofit/>
          </a:bodyPr>
          <a:lstStyle>
            <a:lvl1pPr lvl="0" algn="l">
              <a:lnSpc>
                <a:spcPct val="80000"/>
              </a:lnSpc>
              <a:spcBef>
                <a:spcPts val="0"/>
              </a:spcBef>
              <a:spcAft>
                <a:spcPts val="0"/>
              </a:spcAft>
              <a:buClr>
                <a:srgbClr val="0C0C0C"/>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17"/>
          <p:cNvSpPr txBox="1">
            <a:spLocks noGrp="1"/>
          </p:cNvSpPr>
          <p:nvPr>
            <p:ph type="body" idx="1"/>
          </p:nvPr>
        </p:nvSpPr>
        <p:spPr>
          <a:xfrm>
            <a:off x="768096" y="1714500"/>
            <a:ext cx="7290000" cy="3017400"/>
          </a:xfrm>
          <a:prstGeom prst="rect">
            <a:avLst/>
          </a:prstGeom>
          <a:noFill/>
          <a:ln>
            <a:noFill/>
          </a:ln>
        </p:spPr>
        <p:txBody>
          <a:bodyPr spcFirstLastPara="1" wrap="square" lIns="34275" tIns="34275" rIns="34275" bIns="34275" anchor="t" anchorCtr="0">
            <a:normAutofit/>
          </a:bodyPr>
          <a:lstStyle>
            <a:lvl1pPr marL="457200" lvl="0" indent="-317500" algn="l">
              <a:lnSpc>
                <a:spcPct val="90000"/>
              </a:lnSpc>
              <a:spcBef>
                <a:spcPts val="900"/>
              </a:spcBef>
              <a:spcAft>
                <a:spcPts val="0"/>
              </a:spcAft>
              <a:buSzPts val="1400"/>
              <a:buChar char="●"/>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61" name="Google Shape;61;p17"/>
          <p:cNvSpPr txBox="1">
            <a:spLocks noGrp="1"/>
          </p:cNvSpPr>
          <p:nvPr>
            <p:ph type="dt" idx="10"/>
          </p:nvPr>
        </p:nvSpPr>
        <p:spPr>
          <a:xfrm>
            <a:off x="768097" y="4853028"/>
            <a:ext cx="1615500" cy="2058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2" name="Google Shape;62;p17"/>
          <p:cNvSpPr txBox="1">
            <a:spLocks noGrp="1"/>
          </p:cNvSpPr>
          <p:nvPr>
            <p:ph type="ftr" idx="11"/>
          </p:nvPr>
        </p:nvSpPr>
        <p:spPr>
          <a:xfrm>
            <a:off x="3632199" y="4853028"/>
            <a:ext cx="4426200" cy="2058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3" name="Google Shape;63;p17"/>
          <p:cNvSpPr txBox="1">
            <a:spLocks noGrp="1"/>
          </p:cNvSpPr>
          <p:nvPr>
            <p:ph type="sldNum" idx="12"/>
          </p:nvPr>
        </p:nvSpPr>
        <p:spPr>
          <a:xfrm>
            <a:off x="8128000" y="4853028"/>
            <a:ext cx="730500" cy="205800"/>
          </a:xfrm>
          <a:prstGeom prst="rect">
            <a:avLst/>
          </a:prstGeom>
          <a:noFill/>
          <a:ln>
            <a:noFill/>
          </a:ln>
        </p:spPr>
        <p:txBody>
          <a:bodyPr spcFirstLastPara="1" wrap="square" lIns="68575" tIns="34275" rIns="68575" bIns="34275" anchor="ctr" anchorCtr="0">
            <a:normAutofit lnSpcReduction="10000"/>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4"/>
        <p:cNvGrpSpPr/>
        <p:nvPr/>
      </p:nvGrpSpPr>
      <p:grpSpPr>
        <a:xfrm>
          <a:off x="0" y="0"/>
          <a:ext cx="0" cy="0"/>
          <a:chOff x="0" y="0"/>
          <a:chExt cx="0" cy="0"/>
        </a:xfrm>
      </p:grpSpPr>
      <p:pic>
        <p:nvPicPr>
          <p:cNvPr id="65" name="Google Shape;65;p18" descr="Background pattern&#10;&#10;Description automatically generated"/>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6" name="Google Shape;66;p18"/>
          <p:cNvSpPr txBox="1">
            <a:spLocks noGrp="1"/>
          </p:cNvSpPr>
          <p:nvPr>
            <p:ph type="ctrTitle"/>
          </p:nvPr>
        </p:nvSpPr>
        <p:spPr>
          <a:xfrm>
            <a:off x="395536" y="2139704"/>
            <a:ext cx="7772400" cy="15252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1"/>
              </a:buClr>
              <a:buSzPts val="5400"/>
              <a:buFont typeface="Geo"/>
              <a:buNone/>
              <a:defRPr sz="54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8"/>
          <p:cNvSpPr txBox="1">
            <a:spLocks noGrp="1"/>
          </p:cNvSpPr>
          <p:nvPr>
            <p:ph type="subTitle" idx="1"/>
          </p:nvPr>
        </p:nvSpPr>
        <p:spPr>
          <a:xfrm>
            <a:off x="395536" y="3676253"/>
            <a:ext cx="7776900" cy="767700"/>
          </a:xfrm>
          <a:prstGeom prst="rect">
            <a:avLst/>
          </a:prstGeom>
          <a:noFill/>
          <a:ln>
            <a:noFill/>
          </a:ln>
        </p:spPr>
        <p:txBody>
          <a:bodyPr spcFirstLastPara="1" wrap="square" lIns="68575" tIns="34275" rIns="68575" bIns="34275"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1200"/>
              </a:spcBef>
              <a:spcAft>
                <a:spcPts val="0"/>
              </a:spcAft>
              <a:buClr>
                <a:srgbClr val="888D9E"/>
              </a:buClr>
              <a:buSzPts val="2800"/>
              <a:buNone/>
              <a:defRPr>
                <a:solidFill>
                  <a:srgbClr val="888D9E"/>
                </a:solidFill>
              </a:defRPr>
            </a:lvl2pPr>
            <a:lvl3pPr lvl="2" algn="ctr">
              <a:spcBef>
                <a:spcPts val="1200"/>
              </a:spcBef>
              <a:spcAft>
                <a:spcPts val="0"/>
              </a:spcAft>
              <a:buClr>
                <a:srgbClr val="888D9E"/>
              </a:buClr>
              <a:buSzPts val="2400"/>
              <a:buNone/>
              <a:defRPr>
                <a:solidFill>
                  <a:srgbClr val="888D9E"/>
                </a:solidFill>
              </a:defRPr>
            </a:lvl3pPr>
            <a:lvl4pPr lvl="3" algn="ctr">
              <a:spcBef>
                <a:spcPts val="1200"/>
              </a:spcBef>
              <a:spcAft>
                <a:spcPts val="0"/>
              </a:spcAft>
              <a:buClr>
                <a:srgbClr val="888D9E"/>
              </a:buClr>
              <a:buSzPts val="2000"/>
              <a:buNone/>
              <a:defRPr>
                <a:solidFill>
                  <a:srgbClr val="888D9E"/>
                </a:solidFill>
              </a:defRPr>
            </a:lvl4pPr>
            <a:lvl5pPr lvl="4" algn="ctr">
              <a:spcBef>
                <a:spcPts val="1200"/>
              </a:spcBef>
              <a:spcAft>
                <a:spcPts val="0"/>
              </a:spcAft>
              <a:buClr>
                <a:srgbClr val="888D9E"/>
              </a:buClr>
              <a:buSzPts val="2000"/>
              <a:buNone/>
              <a:defRPr>
                <a:solidFill>
                  <a:srgbClr val="888D9E"/>
                </a:solidFill>
              </a:defRPr>
            </a:lvl5pPr>
            <a:lvl6pPr lvl="5" algn="ctr">
              <a:spcBef>
                <a:spcPts val="1200"/>
              </a:spcBef>
              <a:spcAft>
                <a:spcPts val="0"/>
              </a:spcAft>
              <a:buClr>
                <a:srgbClr val="888D9E"/>
              </a:buClr>
              <a:buSzPts val="2000"/>
              <a:buNone/>
              <a:defRPr>
                <a:solidFill>
                  <a:srgbClr val="888D9E"/>
                </a:solidFill>
              </a:defRPr>
            </a:lvl6pPr>
            <a:lvl7pPr lvl="6" algn="ctr">
              <a:spcBef>
                <a:spcPts val="1200"/>
              </a:spcBef>
              <a:spcAft>
                <a:spcPts val="0"/>
              </a:spcAft>
              <a:buClr>
                <a:srgbClr val="888D9E"/>
              </a:buClr>
              <a:buSzPts val="2000"/>
              <a:buNone/>
              <a:defRPr>
                <a:solidFill>
                  <a:srgbClr val="888D9E"/>
                </a:solidFill>
              </a:defRPr>
            </a:lvl7pPr>
            <a:lvl8pPr lvl="7" algn="ctr">
              <a:spcBef>
                <a:spcPts val="1200"/>
              </a:spcBef>
              <a:spcAft>
                <a:spcPts val="0"/>
              </a:spcAft>
              <a:buClr>
                <a:srgbClr val="888D9E"/>
              </a:buClr>
              <a:buSzPts val="2000"/>
              <a:buNone/>
              <a:defRPr>
                <a:solidFill>
                  <a:srgbClr val="888D9E"/>
                </a:solidFill>
              </a:defRPr>
            </a:lvl8pPr>
            <a:lvl9pPr lvl="8" algn="ctr">
              <a:spcBef>
                <a:spcPts val="1200"/>
              </a:spcBef>
              <a:spcAft>
                <a:spcPts val="1200"/>
              </a:spcAft>
              <a:buClr>
                <a:srgbClr val="888D9E"/>
              </a:buClr>
              <a:buSzPts val="2000"/>
              <a:buNone/>
              <a:defRPr>
                <a:solidFill>
                  <a:srgbClr val="888D9E"/>
                </a:solidFill>
              </a:defRPr>
            </a:lvl9pPr>
          </a:lstStyle>
          <a:p>
            <a:endParaRPr/>
          </a:p>
        </p:txBody>
      </p:sp>
      <p:sp>
        <p:nvSpPr>
          <p:cNvPr id="68" name="Google Shape;68;p18"/>
          <p:cNvSpPr txBox="1">
            <a:spLocks noGrp="1"/>
          </p:cNvSpPr>
          <p:nvPr>
            <p:ph type="body" idx="2"/>
          </p:nvPr>
        </p:nvSpPr>
        <p:spPr>
          <a:xfrm>
            <a:off x="395536" y="396652"/>
            <a:ext cx="2808300" cy="576300"/>
          </a:xfrm>
          <a:prstGeom prst="rect">
            <a:avLst/>
          </a:prstGeom>
          <a:noFill/>
          <a:ln>
            <a:noFill/>
          </a:ln>
        </p:spPr>
        <p:txBody>
          <a:bodyPr spcFirstLastPara="1" wrap="square" lIns="68575" tIns="34275" rIns="68575" bIns="34275" anchor="t" anchorCtr="0">
            <a:normAutofit/>
          </a:bodyPr>
          <a:lstStyle>
            <a:lvl1pPr marL="457200" lvl="0" indent="-228600" algn="l">
              <a:spcBef>
                <a:spcPts val="400"/>
              </a:spcBef>
              <a:spcAft>
                <a:spcPts val="0"/>
              </a:spcAft>
              <a:buClr>
                <a:schemeClr val="lt1"/>
              </a:buClr>
              <a:buSzPts val="1800"/>
              <a:buNone/>
              <a:defRPr sz="1800">
                <a:solidFill>
                  <a:schemeClr val="lt1"/>
                </a:solidFill>
              </a:defRPr>
            </a:lvl1pPr>
            <a:lvl2pPr marL="914400" lvl="1" indent="-406400" algn="l">
              <a:spcBef>
                <a:spcPts val="1200"/>
              </a:spcBef>
              <a:spcAft>
                <a:spcPts val="0"/>
              </a:spcAft>
              <a:buClr>
                <a:schemeClr val="lt1"/>
              </a:buClr>
              <a:buSzPts val="2800"/>
              <a:buChar char="○"/>
              <a:defRPr>
                <a:solidFill>
                  <a:schemeClr val="lt1"/>
                </a:solidFill>
              </a:defRPr>
            </a:lvl2pPr>
            <a:lvl3pPr marL="1371600" lvl="2" indent="-381000" algn="l">
              <a:spcBef>
                <a:spcPts val="1200"/>
              </a:spcBef>
              <a:spcAft>
                <a:spcPts val="0"/>
              </a:spcAft>
              <a:buClr>
                <a:schemeClr val="lt1"/>
              </a:buClr>
              <a:buSzPts val="2400"/>
              <a:buChar char="■"/>
              <a:defRPr>
                <a:solidFill>
                  <a:schemeClr val="lt1"/>
                </a:solidFill>
              </a:defRPr>
            </a:lvl3pPr>
            <a:lvl4pPr marL="1828800" lvl="3" indent="-355600" algn="l">
              <a:spcBef>
                <a:spcPts val="1200"/>
              </a:spcBef>
              <a:spcAft>
                <a:spcPts val="0"/>
              </a:spcAft>
              <a:buClr>
                <a:schemeClr val="lt1"/>
              </a:buClr>
              <a:buSzPts val="2000"/>
              <a:buChar char="●"/>
              <a:defRPr>
                <a:solidFill>
                  <a:schemeClr val="lt1"/>
                </a:solidFill>
              </a:defRPr>
            </a:lvl4pPr>
            <a:lvl5pPr marL="2286000" lvl="4" indent="-355600" algn="l">
              <a:spcBef>
                <a:spcPts val="1200"/>
              </a:spcBef>
              <a:spcAft>
                <a:spcPts val="0"/>
              </a:spcAft>
              <a:buClr>
                <a:schemeClr val="lt1"/>
              </a:buClr>
              <a:buSzPts val="2000"/>
              <a:buChar char="○"/>
              <a:defRPr>
                <a:solidFill>
                  <a:schemeClr val="lt1"/>
                </a:solidFill>
              </a:defRPr>
            </a:lvl5pPr>
            <a:lvl6pPr marL="2743200" lvl="5" indent="-317500" algn="l">
              <a:spcBef>
                <a:spcPts val="1200"/>
              </a:spcBef>
              <a:spcAft>
                <a:spcPts val="0"/>
              </a:spcAft>
              <a:buClr>
                <a:schemeClr val="dk1"/>
              </a:buClr>
              <a:buSzPts val="1400"/>
              <a:buChar char="■"/>
              <a:defRPr/>
            </a:lvl6pPr>
            <a:lvl7pPr marL="3200400" lvl="6" indent="-317500" algn="l">
              <a:spcBef>
                <a:spcPts val="1200"/>
              </a:spcBef>
              <a:spcAft>
                <a:spcPts val="0"/>
              </a:spcAft>
              <a:buClr>
                <a:schemeClr val="dk1"/>
              </a:buClr>
              <a:buSzPts val="1400"/>
              <a:buChar char="●"/>
              <a:defRPr/>
            </a:lvl7pPr>
            <a:lvl8pPr marL="3657600" lvl="7" indent="-317500" algn="l">
              <a:spcBef>
                <a:spcPts val="1200"/>
              </a:spcBef>
              <a:spcAft>
                <a:spcPts val="0"/>
              </a:spcAft>
              <a:buClr>
                <a:schemeClr val="dk1"/>
              </a:buClr>
              <a:buSzPts val="1400"/>
              <a:buChar char="○"/>
              <a:defRPr/>
            </a:lvl8pPr>
            <a:lvl9pPr marL="4114800" lvl="8" indent="-317500" algn="l">
              <a:spcBef>
                <a:spcPts val="1200"/>
              </a:spcBef>
              <a:spcAft>
                <a:spcPts val="1200"/>
              </a:spcAft>
              <a:buClr>
                <a:schemeClr val="dk1"/>
              </a:buClr>
              <a:buSzPts val="1400"/>
              <a:buChar char="■"/>
              <a:defRPr/>
            </a:lvl9pPr>
          </a:lstStyle>
          <a:p>
            <a:endParaRPr/>
          </a:p>
        </p:txBody>
      </p:sp>
      <p:pic>
        <p:nvPicPr>
          <p:cNvPr id="69" name="Google Shape;69;p18" descr="A picture containing graphical user interface&#10;&#10;Description automatically generated"/>
          <p:cNvPicPr preferRelativeResize="0"/>
          <p:nvPr/>
        </p:nvPicPr>
        <p:blipFill rotWithShape="1">
          <a:blip r:embed="rId3">
            <a:alphaModFix/>
          </a:blip>
          <a:srcRect/>
          <a:stretch/>
        </p:blipFill>
        <p:spPr>
          <a:xfrm>
            <a:off x="6086475" y="249829"/>
            <a:ext cx="2827622" cy="810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Slide">
  <p:cSld name="1_Blank Slide">
    <p:spTree>
      <p:nvGrpSpPr>
        <p:cNvPr id="1" name="Shape 70"/>
        <p:cNvGrpSpPr/>
        <p:nvPr/>
      </p:nvGrpSpPr>
      <p:grpSpPr>
        <a:xfrm>
          <a:off x="0" y="0"/>
          <a:ext cx="0" cy="0"/>
          <a:chOff x="0" y="0"/>
          <a:chExt cx="0" cy="0"/>
        </a:xfrm>
      </p:grpSpPr>
      <p:pic>
        <p:nvPicPr>
          <p:cNvPr id="71" name="Google Shape;71;p19"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72" name="Google Shape;72;p19"/>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3" name="Google Shape;73;p19"/>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4" name="Google Shape;74;p19"/>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75" name="Google Shape;75;p19"/>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76"/>
        <p:cNvGrpSpPr/>
        <p:nvPr/>
      </p:nvGrpSpPr>
      <p:grpSpPr>
        <a:xfrm>
          <a:off x="0" y="0"/>
          <a:ext cx="0" cy="0"/>
          <a:chOff x="0" y="0"/>
          <a:chExt cx="0" cy="0"/>
        </a:xfrm>
      </p:grpSpPr>
      <p:pic>
        <p:nvPicPr>
          <p:cNvPr id="77" name="Google Shape;77;p20"/>
          <p:cNvPicPr preferRelativeResize="0"/>
          <p:nvPr/>
        </p:nvPicPr>
        <p:blipFill rotWithShape="1">
          <a:blip r:embed="rId2">
            <a:alphaModFix/>
          </a:blip>
          <a:srcRect/>
          <a:stretch/>
        </p:blipFill>
        <p:spPr>
          <a:xfrm>
            <a:off x="0" y="1"/>
            <a:ext cx="9144001" cy="5148250"/>
          </a:xfrm>
          <a:prstGeom prst="rect">
            <a:avLst/>
          </a:prstGeom>
          <a:noFill/>
          <a:ln>
            <a:noFill/>
          </a:ln>
        </p:spPr>
      </p:pic>
      <p:pic>
        <p:nvPicPr>
          <p:cNvPr id="78" name="Google Shape;78;p20" descr="Logo&#10;&#10;Description automatically generated"/>
          <p:cNvPicPr preferRelativeResize="0"/>
          <p:nvPr/>
        </p:nvPicPr>
        <p:blipFill rotWithShape="1">
          <a:blip r:embed="rId3">
            <a:alphaModFix/>
          </a:blip>
          <a:srcRect/>
          <a:stretch/>
        </p:blipFill>
        <p:spPr>
          <a:xfrm>
            <a:off x="7433543" y="110775"/>
            <a:ext cx="1587022" cy="4497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01">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Blank Slide 1">
  <p:cSld name="1_Blank Slide_1">
    <p:spTree>
      <p:nvGrpSpPr>
        <p:cNvPr id="1" name="Shape 79"/>
        <p:cNvGrpSpPr/>
        <p:nvPr/>
      </p:nvGrpSpPr>
      <p:grpSpPr>
        <a:xfrm>
          <a:off x="0" y="0"/>
          <a:ext cx="0" cy="0"/>
          <a:chOff x="0" y="0"/>
          <a:chExt cx="0" cy="0"/>
        </a:xfrm>
      </p:grpSpPr>
      <p:pic>
        <p:nvPicPr>
          <p:cNvPr id="80" name="Google Shape;80;p21"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81" name="Google Shape;81;p21"/>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2" name="Google Shape;82;p21"/>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3" name="Google Shape;83;p21"/>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b="0" i="0" u="none" strike="noStrike" cap="none">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84" name="Google Shape;84;p21"/>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rand">
  <p:cSld name="Brand">
    <p:bg>
      <p:bgPr>
        <a:gradFill>
          <a:gsLst>
            <a:gs pos="0">
              <a:srgbClr val="144B79"/>
            </a:gs>
            <a:gs pos="3000">
              <a:srgbClr val="144B79"/>
            </a:gs>
            <a:gs pos="96000">
              <a:srgbClr val="64CDCE"/>
            </a:gs>
            <a:gs pos="100000">
              <a:srgbClr val="64CDCE"/>
            </a:gs>
          </a:gsLst>
          <a:lin ang="7799903" scaled="0"/>
        </a:gradFill>
        <a:effectLst/>
      </p:bgPr>
    </p:bg>
    <p:spTree>
      <p:nvGrpSpPr>
        <p:cNvPr id="1" name="Shape 85"/>
        <p:cNvGrpSpPr/>
        <p:nvPr/>
      </p:nvGrpSpPr>
      <p:grpSpPr>
        <a:xfrm>
          <a:off x="0" y="0"/>
          <a:ext cx="0" cy="0"/>
          <a:chOff x="0" y="0"/>
          <a:chExt cx="0" cy="0"/>
        </a:xfrm>
      </p:grpSpPr>
      <p:pic>
        <p:nvPicPr>
          <p:cNvPr id="86" name="Google Shape;86;p22" descr="A logo with white text&#10;&#10;Description automatically generated"/>
          <p:cNvPicPr preferRelativeResize="0"/>
          <p:nvPr/>
        </p:nvPicPr>
        <p:blipFill rotWithShape="1">
          <a:blip r:embed="rId2">
            <a:alphaModFix/>
          </a:blip>
          <a:srcRect/>
          <a:stretch/>
        </p:blipFill>
        <p:spPr>
          <a:xfrm>
            <a:off x="2205059" y="1640495"/>
            <a:ext cx="4733883" cy="186251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89" name="Google Shape;89;p23"/>
          <p:cNvGrpSpPr/>
          <p:nvPr/>
        </p:nvGrpSpPr>
        <p:grpSpPr>
          <a:xfrm>
            <a:off x="0" y="4755328"/>
            <a:ext cx="9144000" cy="388111"/>
            <a:chOff x="417931" y="28734"/>
            <a:chExt cx="24384000" cy="938827"/>
          </a:xfrm>
        </p:grpSpPr>
        <p:sp>
          <p:nvSpPr>
            <p:cNvPr id="90" name="Google Shape;90;p23"/>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91" name="Google Shape;91;p23"/>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92" name="Google Shape;92;p23"/>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93" name="Google Shape;93;p23"/>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94" name="Google Shape;94;p23"/>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95" name="Google Shape;95;p23"/>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96" name="Google Shape;96;p23"/>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99" name="Google Shape;99;p24"/>
          <p:cNvGrpSpPr/>
          <p:nvPr/>
        </p:nvGrpSpPr>
        <p:grpSpPr>
          <a:xfrm>
            <a:off x="0" y="4755328"/>
            <a:ext cx="9144000" cy="388111"/>
            <a:chOff x="417931" y="28734"/>
            <a:chExt cx="24384000" cy="938827"/>
          </a:xfrm>
        </p:grpSpPr>
        <p:sp>
          <p:nvSpPr>
            <p:cNvPr id="100" name="Google Shape;100;p24"/>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01" name="Google Shape;101;p24"/>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02" name="Google Shape;102;p24"/>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03" name="Google Shape;103;p24"/>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04" name="Google Shape;104;p24"/>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105" name="Google Shape;105;p24"/>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106" name="Google Shape;106;p24"/>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109" name="Google Shape;109;p25"/>
          <p:cNvGrpSpPr/>
          <p:nvPr/>
        </p:nvGrpSpPr>
        <p:grpSpPr>
          <a:xfrm>
            <a:off x="0" y="4755328"/>
            <a:ext cx="9144000" cy="388111"/>
            <a:chOff x="417931" y="28734"/>
            <a:chExt cx="24384000" cy="938827"/>
          </a:xfrm>
        </p:grpSpPr>
        <p:sp>
          <p:nvSpPr>
            <p:cNvPr id="110" name="Google Shape;110;p2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11" name="Google Shape;111;p2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12" name="Google Shape;112;p25"/>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13" name="Google Shape;113;p2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14" name="Google Shape;114;p25"/>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115" name="Google Shape;115;p2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9"/>
        <p:cNvGrpSpPr/>
        <p:nvPr/>
      </p:nvGrpSpPr>
      <p:grpSpPr>
        <a:xfrm>
          <a:off x="0" y="0"/>
          <a:ext cx="0" cy="0"/>
          <a:chOff x="0" y="0"/>
          <a:chExt cx="0" cy="0"/>
        </a:xfrm>
      </p:grpSpPr>
      <p:sp>
        <p:nvSpPr>
          <p:cNvPr id="170" name="Google Shape;170;p4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1" name="Google Shape;171;p40"/>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72" name="Google Shape;172;p4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3" name="Google Shape;173;p4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4" name="Google Shape;174;p4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5"/>
        <p:cNvGrpSpPr/>
        <p:nvPr/>
      </p:nvGrpSpPr>
      <p:grpSpPr>
        <a:xfrm>
          <a:off x="0" y="0"/>
          <a:ext cx="0" cy="0"/>
          <a:chOff x="0" y="0"/>
          <a:chExt cx="0" cy="0"/>
        </a:xfrm>
      </p:grpSpPr>
      <p:sp>
        <p:nvSpPr>
          <p:cNvPr id="176" name="Google Shape;176;p4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7" name="Google Shape;177;p4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8" name="Google Shape;178;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9"/>
        <p:cNvGrpSpPr/>
        <p:nvPr/>
      </p:nvGrpSpPr>
      <p:grpSpPr>
        <a:xfrm>
          <a:off x="0" y="0"/>
          <a:ext cx="0" cy="0"/>
          <a:chOff x="0" y="0"/>
          <a:chExt cx="0" cy="0"/>
        </a:xfrm>
      </p:grpSpPr>
      <p:sp>
        <p:nvSpPr>
          <p:cNvPr id="180" name="Google Shape;180;p4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1" name="Google Shape;181;p42"/>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2" name="Google Shape;182;p4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3" name="Google Shape;183;p4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4" name="Google Shape;184;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5"/>
        <p:cNvGrpSpPr/>
        <p:nvPr/>
      </p:nvGrpSpPr>
      <p:grpSpPr>
        <a:xfrm>
          <a:off x="0" y="0"/>
          <a:ext cx="0" cy="0"/>
          <a:chOff x="0" y="0"/>
          <a:chExt cx="0" cy="0"/>
        </a:xfrm>
      </p:grpSpPr>
      <p:sp>
        <p:nvSpPr>
          <p:cNvPr id="186" name="Google Shape;186;p43"/>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7" name="Google Shape;187;p43"/>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88" name="Google Shape;188;p4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9" name="Google Shape;189;p4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0" name="Google Shape;190;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1"/>
        <p:cNvGrpSpPr/>
        <p:nvPr/>
      </p:nvGrpSpPr>
      <p:grpSpPr>
        <a:xfrm>
          <a:off x="0" y="0"/>
          <a:ext cx="0" cy="0"/>
          <a:chOff x="0" y="0"/>
          <a:chExt cx="0" cy="0"/>
        </a:xfrm>
      </p:grpSpPr>
      <p:sp>
        <p:nvSpPr>
          <p:cNvPr id="192" name="Google Shape;192;p4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3" name="Google Shape;193;p44"/>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4" name="Google Shape;194;p44"/>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5" name="Google Shape;195;p4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6" name="Google Shape;196;p4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7" name="Google Shape;197;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8"/>
        <p:cNvGrpSpPr/>
        <p:nvPr/>
      </p:nvGrpSpPr>
      <p:grpSpPr>
        <a:xfrm>
          <a:off x="0" y="0"/>
          <a:ext cx="0" cy="0"/>
          <a:chOff x="0" y="0"/>
          <a:chExt cx="0" cy="0"/>
        </a:xfrm>
      </p:grpSpPr>
      <p:sp>
        <p:nvSpPr>
          <p:cNvPr id="199" name="Google Shape;199;p45"/>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0" name="Google Shape;200;p45"/>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1" name="Google Shape;201;p45"/>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2" name="Google Shape;202;p45"/>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3" name="Google Shape;203;p45"/>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4" name="Google Shape;204;p4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4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6" name="Google Shape;206;p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7"/>
        <p:cNvGrpSpPr/>
        <p:nvPr/>
      </p:nvGrpSpPr>
      <p:grpSpPr>
        <a:xfrm>
          <a:off x="0" y="0"/>
          <a:ext cx="0" cy="0"/>
          <a:chOff x="0" y="0"/>
          <a:chExt cx="0" cy="0"/>
        </a:xfrm>
      </p:grpSpPr>
      <p:sp>
        <p:nvSpPr>
          <p:cNvPr id="208" name="Google Shape;208;p4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9" name="Google Shape;209;p4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0" name="Google Shape;210;p4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1" name="Google Shape;211;p4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2"/>
        <p:cNvGrpSpPr/>
        <p:nvPr/>
      </p:nvGrpSpPr>
      <p:grpSpPr>
        <a:xfrm>
          <a:off x="0" y="0"/>
          <a:ext cx="0" cy="0"/>
          <a:chOff x="0" y="0"/>
          <a:chExt cx="0" cy="0"/>
        </a:xfrm>
      </p:grpSpPr>
      <p:sp>
        <p:nvSpPr>
          <p:cNvPr id="213" name="Google Shape;213;p47"/>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4" name="Google Shape;214;p47"/>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215" name="Google Shape;215;p47"/>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16" name="Google Shape;216;p4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7" name="Google Shape;217;p4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8" name="Google Shape;218;p4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9"/>
        <p:cNvGrpSpPr/>
        <p:nvPr/>
      </p:nvGrpSpPr>
      <p:grpSpPr>
        <a:xfrm>
          <a:off x="0" y="0"/>
          <a:ext cx="0" cy="0"/>
          <a:chOff x="0" y="0"/>
          <a:chExt cx="0" cy="0"/>
        </a:xfrm>
      </p:grpSpPr>
      <p:sp>
        <p:nvSpPr>
          <p:cNvPr id="220" name="Google Shape;220;p48"/>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1" name="Google Shape;221;p48"/>
          <p:cNvSpPr>
            <a:spLocks noGrp="1"/>
          </p:cNvSpPr>
          <p:nvPr>
            <p:ph type="pic" idx="2"/>
          </p:nvPr>
        </p:nvSpPr>
        <p:spPr>
          <a:xfrm>
            <a:off x="3887391" y="740569"/>
            <a:ext cx="4629300" cy="3655200"/>
          </a:xfrm>
          <a:prstGeom prst="rect">
            <a:avLst/>
          </a:prstGeom>
          <a:noFill/>
          <a:ln>
            <a:noFill/>
          </a:ln>
        </p:spPr>
      </p:sp>
      <p:sp>
        <p:nvSpPr>
          <p:cNvPr id="222" name="Google Shape;222;p48"/>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23" name="Google Shape;223;p4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4" name="Google Shape;224;p4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5" name="Google Shape;225;p4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6"/>
        <p:cNvGrpSpPr/>
        <p:nvPr/>
      </p:nvGrpSpPr>
      <p:grpSpPr>
        <a:xfrm>
          <a:off x="0" y="0"/>
          <a:ext cx="0" cy="0"/>
          <a:chOff x="0" y="0"/>
          <a:chExt cx="0" cy="0"/>
        </a:xfrm>
      </p:grpSpPr>
      <p:sp>
        <p:nvSpPr>
          <p:cNvPr id="227" name="Google Shape;227;p4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8" name="Google Shape;228;p49"/>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9" name="Google Shape;229;p4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0" name="Google Shape;230;p4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1" name="Google Shape;231;p4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2"/>
        <p:cNvGrpSpPr/>
        <p:nvPr/>
      </p:nvGrpSpPr>
      <p:grpSpPr>
        <a:xfrm>
          <a:off x="0" y="0"/>
          <a:ext cx="0" cy="0"/>
          <a:chOff x="0" y="0"/>
          <a:chExt cx="0" cy="0"/>
        </a:xfrm>
      </p:grpSpPr>
      <p:sp>
        <p:nvSpPr>
          <p:cNvPr id="233" name="Google Shape;233;p50"/>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4" name="Google Shape;234;p50"/>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35" name="Google Shape;235;p5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6" name="Google Shape;236;p5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7" name="Google Shape;237;p5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238"/>
        <p:cNvGrpSpPr/>
        <p:nvPr/>
      </p:nvGrpSpPr>
      <p:grpSpPr>
        <a:xfrm>
          <a:off x="0" y="0"/>
          <a:ext cx="0" cy="0"/>
          <a:chOff x="0" y="0"/>
          <a:chExt cx="0" cy="0"/>
        </a:xfrm>
      </p:grpSpPr>
      <p:sp>
        <p:nvSpPr>
          <p:cNvPr id="239" name="Google Shape;239;p51"/>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0" name="Google Shape;240;p51"/>
          <p:cNvSpPr txBox="1">
            <a:spLocks noGrp="1"/>
          </p:cNvSpPr>
          <p:nvPr>
            <p:ph type="sldNum" idx="12"/>
          </p:nvPr>
        </p:nvSpPr>
        <p:spPr>
          <a:xfrm>
            <a:off x="8472458" y="4663217"/>
            <a:ext cx="548700" cy="393600"/>
          </a:xfrm>
          <a:prstGeom prst="rect">
            <a:avLst/>
          </a:prstGeom>
        </p:spPr>
        <p:txBody>
          <a:bodyPr spcFirstLastPara="1" wrap="square" lIns="68575" tIns="34275" rIns="68575" bIns="342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17"/>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2"/>
        <p:cNvGrpSpPr/>
        <p:nvPr/>
      </p:nvGrpSpPr>
      <p:grpSpPr>
        <a:xfrm>
          <a:off x="0" y="0"/>
          <a:ext cx="0" cy="0"/>
          <a:chOff x="0" y="0"/>
          <a:chExt cx="0" cy="0"/>
        </a:xfrm>
      </p:grpSpPr>
      <p:sp>
        <p:nvSpPr>
          <p:cNvPr id="323" name="Google Shape;323;p6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24" name="Google Shape;324;p6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25" name="Google Shape;325;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6"/>
        <p:cNvGrpSpPr/>
        <p:nvPr/>
      </p:nvGrpSpPr>
      <p:grpSpPr>
        <a:xfrm>
          <a:off x="0" y="0"/>
          <a:ext cx="0" cy="0"/>
          <a:chOff x="0" y="0"/>
          <a:chExt cx="0" cy="0"/>
        </a:xfrm>
      </p:grpSpPr>
      <p:sp>
        <p:nvSpPr>
          <p:cNvPr id="327" name="Google Shape;327;p6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8" name="Google Shape;328;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9"/>
        <p:cNvGrpSpPr/>
        <p:nvPr/>
      </p:nvGrpSpPr>
      <p:grpSpPr>
        <a:xfrm>
          <a:off x="0" y="0"/>
          <a:ext cx="0" cy="0"/>
          <a:chOff x="0" y="0"/>
          <a:chExt cx="0" cy="0"/>
        </a:xfrm>
      </p:grpSpPr>
      <p:sp>
        <p:nvSpPr>
          <p:cNvPr id="330" name="Google Shape;330;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1" name="Google Shape;331;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32" name="Google Shape;332;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3"/>
        <p:cNvGrpSpPr/>
        <p:nvPr/>
      </p:nvGrpSpPr>
      <p:grpSpPr>
        <a:xfrm>
          <a:off x="0" y="0"/>
          <a:ext cx="0" cy="0"/>
          <a:chOff x="0" y="0"/>
          <a:chExt cx="0" cy="0"/>
        </a:xfrm>
      </p:grpSpPr>
      <p:sp>
        <p:nvSpPr>
          <p:cNvPr id="334" name="Google Shape;334;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5" name="Google Shape;335;p7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6" name="Google Shape;336;p7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7" name="Google Shape;337;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8"/>
        <p:cNvGrpSpPr/>
        <p:nvPr/>
      </p:nvGrpSpPr>
      <p:grpSpPr>
        <a:xfrm>
          <a:off x="0" y="0"/>
          <a:ext cx="0" cy="0"/>
          <a:chOff x="0" y="0"/>
          <a:chExt cx="0" cy="0"/>
        </a:xfrm>
      </p:grpSpPr>
      <p:sp>
        <p:nvSpPr>
          <p:cNvPr id="339" name="Google Shape;339;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40" name="Google Shape;340;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1"/>
        <p:cNvGrpSpPr/>
        <p:nvPr/>
      </p:nvGrpSpPr>
      <p:grpSpPr>
        <a:xfrm>
          <a:off x="0" y="0"/>
          <a:ext cx="0" cy="0"/>
          <a:chOff x="0" y="0"/>
          <a:chExt cx="0" cy="0"/>
        </a:xfrm>
      </p:grpSpPr>
      <p:sp>
        <p:nvSpPr>
          <p:cNvPr id="342" name="Google Shape;342;p72"/>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3" name="Google Shape;343;p7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4" name="Google Shape;344;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5"/>
        <p:cNvGrpSpPr/>
        <p:nvPr/>
      </p:nvGrpSpPr>
      <p:grpSpPr>
        <a:xfrm>
          <a:off x="0" y="0"/>
          <a:ext cx="0" cy="0"/>
          <a:chOff x="0" y="0"/>
          <a:chExt cx="0" cy="0"/>
        </a:xfrm>
      </p:grpSpPr>
      <p:sp>
        <p:nvSpPr>
          <p:cNvPr id="346" name="Google Shape;346;p7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7" name="Google Shape;347;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8"/>
        <p:cNvGrpSpPr/>
        <p:nvPr/>
      </p:nvGrpSpPr>
      <p:grpSpPr>
        <a:xfrm>
          <a:off x="0" y="0"/>
          <a:ext cx="0" cy="0"/>
          <a:chOff x="0" y="0"/>
          <a:chExt cx="0" cy="0"/>
        </a:xfrm>
      </p:grpSpPr>
      <p:sp>
        <p:nvSpPr>
          <p:cNvPr id="349" name="Google Shape;349;p7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1" name="Google Shape;351;p7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2" name="Google Shape;352;p7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53" name="Google Shape;353;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4"/>
        <p:cNvGrpSpPr/>
        <p:nvPr/>
      </p:nvGrpSpPr>
      <p:grpSpPr>
        <a:xfrm>
          <a:off x="0" y="0"/>
          <a:ext cx="0" cy="0"/>
          <a:chOff x="0" y="0"/>
          <a:chExt cx="0" cy="0"/>
        </a:xfrm>
      </p:grpSpPr>
      <p:sp>
        <p:nvSpPr>
          <p:cNvPr id="355" name="Google Shape;355;p75"/>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356" name="Google Shape;356;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7"/>
        <p:cNvGrpSpPr/>
        <p:nvPr/>
      </p:nvGrpSpPr>
      <p:grpSpPr>
        <a:xfrm>
          <a:off x="0" y="0"/>
          <a:ext cx="0" cy="0"/>
          <a:chOff x="0" y="0"/>
          <a:chExt cx="0" cy="0"/>
        </a:xfrm>
      </p:grpSpPr>
      <p:sp>
        <p:nvSpPr>
          <p:cNvPr id="358" name="Google Shape;358;p7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9" name="Google Shape;359;p7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360" name="Google Shape;360;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ustom Layout 1">
  <p:cSld name="Custom Layout_1">
    <p:spTree>
      <p:nvGrpSpPr>
        <p:cNvPr id="1" name="Shape 363"/>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364"/>
        <p:cNvGrpSpPr/>
        <p:nvPr/>
      </p:nvGrpSpPr>
      <p:grpSpPr>
        <a:xfrm>
          <a:off x="0" y="0"/>
          <a:ext cx="0" cy="0"/>
          <a:chOff x="0" y="0"/>
          <a:chExt cx="0" cy="0"/>
        </a:xfrm>
      </p:grpSpPr>
      <p:sp>
        <p:nvSpPr>
          <p:cNvPr id="365" name="Google Shape;365;p79"/>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slide_alt1">
  <p:cSld name="1_Title slide">
    <p:bg>
      <p:bgPr>
        <a:solidFill>
          <a:schemeClr val="lt2"/>
        </a:solidFill>
        <a:effectLst/>
      </p:bgPr>
    </p:bg>
    <p:spTree>
      <p:nvGrpSpPr>
        <p:cNvPr id="1" name="Shape 369"/>
        <p:cNvGrpSpPr/>
        <p:nvPr/>
      </p:nvGrpSpPr>
      <p:grpSpPr>
        <a:xfrm>
          <a:off x="0" y="0"/>
          <a:ext cx="0" cy="0"/>
          <a:chOff x="0" y="0"/>
          <a:chExt cx="0" cy="0"/>
        </a:xfrm>
      </p:grpSpPr>
      <p:pic>
        <p:nvPicPr>
          <p:cNvPr id="370" name="Google Shape;370;p81" descr="shutterstock_429987889_edited.jpg"/>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371" name="Google Shape;371;p81"/>
          <p:cNvSpPr txBox="1">
            <a:spLocks noGrp="1"/>
          </p:cNvSpPr>
          <p:nvPr>
            <p:ph type="ctrTitle"/>
          </p:nvPr>
        </p:nvSpPr>
        <p:spPr>
          <a:xfrm>
            <a:off x="914400" y="2323238"/>
            <a:ext cx="7315200" cy="3387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2"/>
              </a:buClr>
              <a:buSzPts val="4200"/>
              <a:buNone/>
              <a:defRPr sz="22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372" name="Google Shape;372;p8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373" name="Google Shape;373;p81"/>
          <p:cNvSpPr txBox="1">
            <a:spLocks noGrp="1"/>
          </p:cNvSpPr>
          <p:nvPr>
            <p:ph type="body" idx="1"/>
          </p:nvPr>
        </p:nvSpPr>
        <p:spPr>
          <a:xfrm>
            <a:off x="931653" y="2750315"/>
            <a:ext cx="7315200" cy="2124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2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pic>
        <p:nvPicPr>
          <p:cNvPr id="374" name="Google Shape;374;p81" descr="A green letters on a black background&#10;&#10;Description automatically generated"/>
          <p:cNvPicPr preferRelativeResize="0"/>
          <p:nvPr/>
        </p:nvPicPr>
        <p:blipFill rotWithShape="1">
          <a:blip r:embed="rId3">
            <a:alphaModFix/>
          </a:blip>
          <a:srcRect/>
          <a:stretch/>
        </p:blipFill>
        <p:spPr>
          <a:xfrm>
            <a:off x="914400" y="1347818"/>
            <a:ext cx="1805286" cy="411480"/>
          </a:xfrm>
          <a:prstGeom prst="rect">
            <a:avLst/>
          </a:prstGeom>
          <a:noFill/>
          <a:ln>
            <a:noFill/>
          </a:ln>
        </p:spPr>
      </p:pic>
      <p:grpSp>
        <p:nvGrpSpPr>
          <p:cNvPr id="375" name="Google Shape;375;p81"/>
          <p:cNvGrpSpPr/>
          <p:nvPr/>
        </p:nvGrpSpPr>
        <p:grpSpPr>
          <a:xfrm>
            <a:off x="914402" y="1191277"/>
            <a:ext cx="745763" cy="45826"/>
            <a:chOff x="4580561" y="2589004"/>
            <a:chExt cx="1064464" cy="25200"/>
          </a:xfrm>
        </p:grpSpPr>
        <p:sp>
          <p:nvSpPr>
            <p:cNvPr id="376" name="Google Shape;376;p81"/>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77" name="Google Shape;377;p81"/>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378" name="Google Shape;378;p81"/>
          <p:cNvSpPr txBox="1"/>
          <p:nvPr/>
        </p:nvSpPr>
        <p:spPr>
          <a:xfrm>
            <a:off x="914399" y="1841513"/>
            <a:ext cx="7315200" cy="3387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2"/>
              </a:buClr>
              <a:buSzPts val="4200"/>
              <a:buFont typeface="Raleway"/>
              <a:buNone/>
            </a:pPr>
            <a:r>
              <a:rPr lang="en" sz="2200" b="1" i="0" u="none" strike="noStrike" cap="none">
                <a:solidFill>
                  <a:srgbClr val="7F7F7F"/>
                </a:solidFill>
                <a:latin typeface="Lato"/>
                <a:ea typeface="Lato"/>
                <a:cs typeface="Lato"/>
                <a:sym typeface="Lato"/>
              </a:rPr>
              <a:t>Carbon Management SaaS and Verification Technology</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1">
  <p:cSld name="Title 1 line">
    <p:spTree>
      <p:nvGrpSpPr>
        <p:cNvPr id="1" name="Shape 379"/>
        <p:cNvGrpSpPr/>
        <p:nvPr/>
      </p:nvGrpSpPr>
      <p:grpSpPr>
        <a:xfrm>
          <a:off x="0" y="0"/>
          <a:ext cx="0" cy="0"/>
          <a:chOff x="0" y="0"/>
          <a:chExt cx="0" cy="0"/>
        </a:xfrm>
      </p:grpSpPr>
      <p:sp>
        <p:nvSpPr>
          <p:cNvPr id="380" name="Google Shape;380;p82"/>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381" name="Google Shape;381;p82"/>
          <p:cNvGrpSpPr/>
          <p:nvPr/>
        </p:nvGrpSpPr>
        <p:grpSpPr>
          <a:xfrm>
            <a:off x="228601" y="737966"/>
            <a:ext cx="745763" cy="45826"/>
            <a:chOff x="4580561" y="2589004"/>
            <a:chExt cx="1064464" cy="25200"/>
          </a:xfrm>
        </p:grpSpPr>
        <p:sp>
          <p:nvSpPr>
            <p:cNvPr id="382" name="Google Shape;382;p82"/>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83" name="Google Shape;383;p82"/>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384" name="Google Shape;384;p82"/>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385" name="Google Shape;385;p82"/>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86" name="Google Shape;386;p82"/>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387" name="Google Shape;387;p82"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388" name="Google Shape;388;p82"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body 2">
  <p:cSld name="1_Title and body">
    <p:spTree>
      <p:nvGrpSpPr>
        <p:cNvPr id="1" name="Shape 389"/>
        <p:cNvGrpSpPr/>
        <p:nvPr/>
      </p:nvGrpSpPr>
      <p:grpSpPr>
        <a:xfrm>
          <a:off x="0" y="0"/>
          <a:ext cx="0" cy="0"/>
          <a:chOff x="0" y="0"/>
          <a:chExt cx="0" cy="0"/>
        </a:xfrm>
      </p:grpSpPr>
      <p:sp>
        <p:nvSpPr>
          <p:cNvPr id="390" name="Google Shape;390;p83"/>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91" name="Google Shape;391;p83"/>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392" name="Google Shape;392;p83"/>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93" name="Google Shape;393;p83"/>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394" name="Google Shape;394;p83"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395" name="Google Shape;395;p83"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396" name="Google Shape;396;p83"/>
          <p:cNvGrpSpPr/>
          <p:nvPr/>
        </p:nvGrpSpPr>
        <p:grpSpPr>
          <a:xfrm>
            <a:off x="228602" y="737966"/>
            <a:ext cx="745763" cy="45826"/>
            <a:chOff x="4580561" y="2589004"/>
            <a:chExt cx="1064464" cy="25200"/>
          </a:xfrm>
        </p:grpSpPr>
        <p:sp>
          <p:nvSpPr>
            <p:cNvPr id="397" name="Google Shape;397;p83"/>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98" name="Google Shape;398;p83"/>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399" name="Google Shape;399;p83"/>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body 3">
  <p:cSld name="1_Title and body 2">
    <p:spTree>
      <p:nvGrpSpPr>
        <p:cNvPr id="1" name="Shape 400"/>
        <p:cNvGrpSpPr/>
        <p:nvPr/>
      </p:nvGrpSpPr>
      <p:grpSpPr>
        <a:xfrm>
          <a:off x="0" y="0"/>
          <a:ext cx="0" cy="0"/>
          <a:chOff x="0" y="0"/>
          <a:chExt cx="0" cy="0"/>
        </a:xfrm>
      </p:grpSpPr>
      <p:sp>
        <p:nvSpPr>
          <p:cNvPr id="401" name="Google Shape;401;p84"/>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402" name="Google Shape;402;p84"/>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403" name="Google Shape;403;p84"/>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04" name="Google Shape;404;p84"/>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405" name="Google Shape;405;p84"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406" name="Google Shape;406;p84"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407" name="Google Shape;407;p84"/>
          <p:cNvGrpSpPr/>
          <p:nvPr/>
        </p:nvGrpSpPr>
        <p:grpSpPr>
          <a:xfrm>
            <a:off x="228602" y="737966"/>
            <a:ext cx="745763" cy="45826"/>
            <a:chOff x="4580561" y="2589004"/>
            <a:chExt cx="1064464" cy="25200"/>
          </a:xfrm>
        </p:grpSpPr>
        <p:sp>
          <p:nvSpPr>
            <p:cNvPr id="408" name="Google Shape;408;p84"/>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409" name="Google Shape;409;p84"/>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410" name="Google Shape;410;p84"/>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4">
  <p:cSld name="Title 2 lines">
    <p:spTree>
      <p:nvGrpSpPr>
        <p:cNvPr id="1" name="Shape 411"/>
        <p:cNvGrpSpPr/>
        <p:nvPr/>
      </p:nvGrpSpPr>
      <p:grpSpPr>
        <a:xfrm>
          <a:off x="0" y="0"/>
          <a:ext cx="0" cy="0"/>
          <a:chOff x="0" y="0"/>
          <a:chExt cx="0" cy="0"/>
        </a:xfrm>
      </p:grpSpPr>
      <p:sp>
        <p:nvSpPr>
          <p:cNvPr id="412" name="Google Shape;412;p85"/>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413" name="Google Shape;413;p85"/>
          <p:cNvGrpSpPr/>
          <p:nvPr/>
        </p:nvGrpSpPr>
        <p:grpSpPr>
          <a:xfrm>
            <a:off x="228602" y="737966"/>
            <a:ext cx="745763" cy="45826"/>
            <a:chOff x="4580561" y="2589004"/>
            <a:chExt cx="1064464" cy="25200"/>
          </a:xfrm>
        </p:grpSpPr>
        <p:sp>
          <p:nvSpPr>
            <p:cNvPr id="414" name="Google Shape;414;p85"/>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415" name="Google Shape;415;p85"/>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416" name="Google Shape;416;p85"/>
          <p:cNvSpPr txBox="1">
            <a:spLocks noGrp="1"/>
          </p:cNvSpPr>
          <p:nvPr>
            <p:ph type="title"/>
          </p:nvPr>
        </p:nvSpPr>
        <p:spPr>
          <a:xfrm>
            <a:off x="228600" y="84108"/>
            <a:ext cx="8138100" cy="596400"/>
          </a:xfrm>
          <a:prstGeom prst="rect">
            <a:avLst/>
          </a:prstGeom>
          <a:noFill/>
          <a:ln>
            <a:noFill/>
          </a:ln>
        </p:spPr>
        <p:txBody>
          <a:bodyPr spcFirstLastPara="1" wrap="square" lIns="0" tIns="0" rIns="0" bIns="0" anchor="t" anchorCtr="0">
            <a:no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417" name="Google Shape;417;p85"/>
          <p:cNvSpPr txBox="1">
            <a:spLocks noGrp="1"/>
          </p:cNvSpPr>
          <p:nvPr>
            <p:ph type="body" idx="1"/>
          </p:nvPr>
        </p:nvSpPr>
        <p:spPr>
          <a:xfrm>
            <a:off x="228599" y="4977306"/>
            <a:ext cx="8046600" cy="141600"/>
          </a:xfrm>
          <a:prstGeom prst="rect">
            <a:avLst/>
          </a:prstGeom>
          <a:noFill/>
          <a:ln>
            <a:noFill/>
          </a:ln>
        </p:spPr>
        <p:txBody>
          <a:bodyPr spcFirstLastPara="1" wrap="square" lIns="0" tIns="0" rIns="0" bIns="0" anchor="ctr" anchorCtr="0">
            <a:spAutoFit/>
          </a:bodyPr>
          <a:lstStyle>
            <a:lvl1pPr marL="457200" lvl="0" indent="-228600" algn="l">
              <a:lnSpc>
                <a:spcPct val="115000"/>
              </a:lnSpc>
              <a:spcBef>
                <a:spcPts val="0"/>
              </a:spcBef>
              <a:spcAft>
                <a:spcPts val="0"/>
              </a:spcAft>
              <a:buSzPts val="1300"/>
              <a:buNone/>
              <a:defRPr sz="8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18" name="Google Shape;418;p85"/>
          <p:cNvSpPr txBox="1"/>
          <p:nvPr/>
        </p:nvSpPr>
        <p:spPr>
          <a:xfrm>
            <a:off x="8278016"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419" name="Google Shape;419;p85"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420" name="Google Shape;420;p85"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chemeClr val="lt1"/>
        </a:solidFill>
        <a:effectLst/>
      </p:bgPr>
    </p:bg>
    <p:spTree>
      <p:nvGrpSpPr>
        <p:cNvPr id="1" name="Shape 421"/>
        <p:cNvGrpSpPr/>
        <p:nvPr/>
      </p:nvGrpSpPr>
      <p:grpSpPr>
        <a:xfrm>
          <a:off x="0" y="0"/>
          <a:ext cx="0" cy="0"/>
          <a:chOff x="0" y="0"/>
          <a:chExt cx="0" cy="0"/>
        </a:xfrm>
      </p:grpSpPr>
      <p:sp>
        <p:nvSpPr>
          <p:cNvPr id="422" name="Google Shape;422;p86"/>
          <p:cNvSpPr/>
          <p:nvPr/>
        </p:nvSpPr>
        <p:spPr>
          <a:xfrm>
            <a:off x="0" y="0"/>
            <a:ext cx="9144000" cy="783590"/>
          </a:xfrm>
          <a:custGeom>
            <a:avLst/>
            <a:gdLst/>
            <a:ahLst/>
            <a:cxnLst/>
            <a:rect l="l" t="t" r="r" b="b"/>
            <a:pathLst>
              <a:path w="9144000" h="783590" extrusionOk="0">
                <a:moveTo>
                  <a:pt x="9144000" y="0"/>
                </a:moveTo>
                <a:lnTo>
                  <a:pt x="0" y="0"/>
                </a:lnTo>
                <a:lnTo>
                  <a:pt x="0" y="783336"/>
                </a:lnTo>
                <a:lnTo>
                  <a:pt x="9144000" y="783336"/>
                </a:lnTo>
                <a:lnTo>
                  <a:pt x="9144000" y="0"/>
                </a:lnTo>
                <a:close/>
              </a:path>
            </a:pathLst>
          </a:custGeom>
          <a:solidFill>
            <a:srgbClr val="E7E6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3" name="Google Shape;423;p86"/>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800"/>
              <a:buNone/>
              <a:defRPr sz="1800" b="1" i="0">
                <a:solidFill>
                  <a:srgbClr val="434953"/>
                </a:solidFill>
                <a:latin typeface="Lato"/>
                <a:ea typeface="Lato"/>
                <a:cs typeface="Lato"/>
                <a:sym typeface="La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4" name="Google Shape;424;p86"/>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11150" algn="l">
              <a:lnSpc>
                <a:spcPct val="115000"/>
              </a:lnSpc>
              <a:spcBef>
                <a:spcPts val="0"/>
              </a:spcBef>
              <a:spcAft>
                <a:spcPts val="0"/>
              </a:spcAft>
              <a:buSzPts val="1300"/>
              <a:buChar char="●"/>
              <a:defRPr b="0" i="0">
                <a:solidFill>
                  <a:schemeClr val="dk1"/>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25" name="Google Shape;425;p86"/>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26" name="Google Shape;426;p86"/>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27" name="Google Shape;427;p86"/>
          <p:cNvSpPr txBox="1">
            <a:spLocks noGrp="1"/>
          </p:cNvSpPr>
          <p:nvPr>
            <p:ph type="sldNum" idx="12"/>
          </p:nvPr>
        </p:nvSpPr>
        <p:spPr>
          <a:xfrm>
            <a:off x="8536302" y="4749851"/>
            <a:ext cx="548700" cy="393600"/>
          </a:xfrm>
          <a:prstGeom prst="rect">
            <a:avLst/>
          </a:prstGeom>
          <a:noFill/>
          <a:ln>
            <a:noFill/>
          </a:ln>
        </p:spPr>
        <p:txBody>
          <a:bodyPr spcFirstLastPara="1" wrap="square" lIns="0" tIns="0" rIns="0" bIns="0" anchor="ctr" anchorCtr="0">
            <a:noAutofit/>
          </a:bodyPr>
          <a:lstStyle>
            <a:lvl1pPr marL="46355" marR="0" lvl="0"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1pPr>
            <a:lvl2pPr marL="46355" marR="0" lvl="1"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2pPr>
            <a:lvl3pPr marL="46355" marR="0" lvl="2"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3pPr>
            <a:lvl4pPr marL="46355" marR="0" lvl="3"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4pPr>
            <a:lvl5pPr marL="46355" marR="0" lvl="4"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5pPr>
            <a:lvl6pPr marL="46355" marR="0" lvl="5"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6pPr>
            <a:lvl7pPr marL="46355" marR="0" lvl="6"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7pPr>
            <a:lvl8pPr marL="46355" marR="0" lvl="7"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8pPr>
            <a:lvl9pPr marL="46355" marR="0" lvl="8"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9pPr>
          </a:lstStyle>
          <a:p>
            <a:pPr marL="46355" lvl="0" indent="0" algn="r" rtl="0">
              <a:spcBef>
                <a:spcPts val="9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428"/>
        <p:cNvGrpSpPr/>
        <p:nvPr/>
      </p:nvGrpSpPr>
      <p:grpSpPr>
        <a:xfrm>
          <a:off x="0" y="0"/>
          <a:ext cx="0" cy="0"/>
          <a:chOff x="0" y="0"/>
          <a:chExt cx="0" cy="0"/>
        </a:xfrm>
      </p:grpSpPr>
      <p:sp>
        <p:nvSpPr>
          <p:cNvPr id="429" name="Google Shape;429;p87"/>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30" name="Google Shape;430;p87"/>
          <p:cNvGrpSpPr/>
          <p:nvPr/>
        </p:nvGrpSpPr>
        <p:grpSpPr>
          <a:xfrm>
            <a:off x="0" y="4755328"/>
            <a:ext cx="9144000" cy="388111"/>
            <a:chOff x="417931" y="28734"/>
            <a:chExt cx="24384000" cy="938827"/>
          </a:xfrm>
        </p:grpSpPr>
        <p:sp>
          <p:nvSpPr>
            <p:cNvPr id="431" name="Google Shape;431;p87"/>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432" name="Google Shape;432;p87"/>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433" name="Google Shape;433;p87"/>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434" name="Google Shape;434;p87"/>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35" name="Google Shape;435;p87"/>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436" name="Google Shape;436;p87"/>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37" name="Google Shape;437;p87"/>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438"/>
        <p:cNvGrpSpPr/>
        <p:nvPr/>
      </p:nvGrpSpPr>
      <p:grpSpPr>
        <a:xfrm>
          <a:off x="0" y="0"/>
          <a:ext cx="0" cy="0"/>
          <a:chOff x="0" y="0"/>
          <a:chExt cx="0" cy="0"/>
        </a:xfrm>
      </p:grpSpPr>
      <p:sp>
        <p:nvSpPr>
          <p:cNvPr id="439" name="Google Shape;439;p88"/>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40" name="Google Shape;440;p88"/>
          <p:cNvGrpSpPr/>
          <p:nvPr/>
        </p:nvGrpSpPr>
        <p:grpSpPr>
          <a:xfrm>
            <a:off x="0" y="4755328"/>
            <a:ext cx="9144000" cy="388111"/>
            <a:chOff x="417931" y="28734"/>
            <a:chExt cx="24384000" cy="938827"/>
          </a:xfrm>
        </p:grpSpPr>
        <p:sp>
          <p:nvSpPr>
            <p:cNvPr id="441" name="Google Shape;441;p88"/>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42" name="Google Shape;442;p88"/>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443" name="Google Shape;443;p88"/>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44" name="Google Shape;444;p88"/>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445" name="Google Shape;445;p88"/>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446" name="Google Shape;446;p88"/>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447" name="Google Shape;447;p88"/>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3_Blank 1">
  <p:cSld name="3_Blank_1">
    <p:bg>
      <p:bgPr>
        <a:blipFill>
          <a:blip r:embed="rId2">
            <a:alphaModFix/>
          </a:blip>
          <a:stretch>
            <a:fillRect/>
          </a:stretch>
        </a:blipFill>
        <a:effectLst/>
      </p:bgPr>
    </p:bg>
    <p:spTree>
      <p:nvGrpSpPr>
        <p:cNvPr id="1" name="Shape 448"/>
        <p:cNvGrpSpPr/>
        <p:nvPr/>
      </p:nvGrpSpPr>
      <p:grpSpPr>
        <a:xfrm>
          <a:off x="0" y="0"/>
          <a:ext cx="0" cy="0"/>
          <a:chOff x="0" y="0"/>
          <a:chExt cx="0" cy="0"/>
        </a:xfrm>
      </p:grpSpPr>
      <p:sp>
        <p:nvSpPr>
          <p:cNvPr id="449" name="Google Shape;449;p89"/>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50" name="Google Shape;450;p89"/>
          <p:cNvGrpSpPr/>
          <p:nvPr/>
        </p:nvGrpSpPr>
        <p:grpSpPr>
          <a:xfrm>
            <a:off x="0" y="4755328"/>
            <a:ext cx="9144000" cy="388111"/>
            <a:chOff x="417931" y="28734"/>
            <a:chExt cx="24384000" cy="938827"/>
          </a:xfrm>
        </p:grpSpPr>
        <p:sp>
          <p:nvSpPr>
            <p:cNvPr id="451" name="Google Shape;451;p89"/>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452" name="Google Shape;452;p89"/>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453" name="Google Shape;453;p89"/>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454" name="Google Shape;454;p89"/>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55" name="Google Shape;455;p89"/>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456" name="Google Shape;456;p89"/>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57" name="Google Shape;457;p89"/>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458"/>
        <p:cNvGrpSpPr/>
        <p:nvPr/>
      </p:nvGrpSpPr>
      <p:grpSpPr>
        <a:xfrm>
          <a:off x="0" y="0"/>
          <a:ext cx="0" cy="0"/>
          <a:chOff x="0" y="0"/>
          <a:chExt cx="0" cy="0"/>
        </a:xfrm>
      </p:grpSpPr>
      <p:sp>
        <p:nvSpPr>
          <p:cNvPr id="459" name="Google Shape;459;p90"/>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60" name="Google Shape;460;p90"/>
          <p:cNvGrpSpPr/>
          <p:nvPr/>
        </p:nvGrpSpPr>
        <p:grpSpPr>
          <a:xfrm>
            <a:off x="0" y="4755328"/>
            <a:ext cx="9144000" cy="388111"/>
            <a:chOff x="417931" y="28734"/>
            <a:chExt cx="24384000" cy="938827"/>
          </a:xfrm>
        </p:grpSpPr>
        <p:sp>
          <p:nvSpPr>
            <p:cNvPr id="461" name="Google Shape;461;p90"/>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62" name="Google Shape;462;p90"/>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463" name="Google Shape;463;p90"/>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64" name="Google Shape;464;p90"/>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465" name="Google Shape;465;p90"/>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466" name="Google Shape;466;p90"/>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2_Blank 1">
  <p:cSld name="2_Blank_1">
    <p:bg>
      <p:bgPr>
        <a:solidFill>
          <a:srgbClr val="1B3E6D"/>
        </a:solidFill>
        <a:effectLst/>
      </p:bgPr>
    </p:bg>
    <p:spTree>
      <p:nvGrpSpPr>
        <p:cNvPr id="1" name="Shape 467"/>
        <p:cNvGrpSpPr/>
        <p:nvPr/>
      </p:nvGrpSpPr>
      <p:grpSpPr>
        <a:xfrm>
          <a:off x="0" y="0"/>
          <a:ext cx="0" cy="0"/>
          <a:chOff x="0" y="0"/>
          <a:chExt cx="0" cy="0"/>
        </a:xfrm>
      </p:grpSpPr>
      <p:sp>
        <p:nvSpPr>
          <p:cNvPr id="468" name="Google Shape;468;p91"/>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69" name="Google Shape;469;p91"/>
          <p:cNvGrpSpPr/>
          <p:nvPr/>
        </p:nvGrpSpPr>
        <p:grpSpPr>
          <a:xfrm>
            <a:off x="0" y="4755328"/>
            <a:ext cx="9144000" cy="388111"/>
            <a:chOff x="417931" y="28734"/>
            <a:chExt cx="24384000" cy="938827"/>
          </a:xfrm>
        </p:grpSpPr>
        <p:sp>
          <p:nvSpPr>
            <p:cNvPr id="470" name="Google Shape;470;p91"/>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71" name="Google Shape;471;p91"/>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472" name="Google Shape;472;p91"/>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73" name="Google Shape;473;p91"/>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474" name="Google Shape;474;p91"/>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475" name="Google Shape;475;p91"/>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476"/>
        <p:cNvGrpSpPr/>
        <p:nvPr/>
      </p:nvGrpSpPr>
      <p:grpSpPr>
        <a:xfrm>
          <a:off x="0" y="0"/>
          <a:ext cx="0" cy="0"/>
          <a:chOff x="0" y="0"/>
          <a:chExt cx="0" cy="0"/>
        </a:xfrm>
      </p:grpSpPr>
      <p:sp>
        <p:nvSpPr>
          <p:cNvPr id="477" name="Google Shape;477;p92"/>
          <p:cNvSpPr>
            <a:spLocks noGrp="1"/>
          </p:cNvSpPr>
          <p:nvPr>
            <p:ph type="pic" idx="2"/>
          </p:nvPr>
        </p:nvSpPr>
        <p:spPr>
          <a:xfrm>
            <a:off x="4100165" y="570248"/>
            <a:ext cx="4237200" cy="2001600"/>
          </a:xfrm>
          <a:prstGeom prst="rect">
            <a:avLst/>
          </a:prstGeom>
          <a:noFill/>
          <a:ln>
            <a:noFill/>
          </a:ln>
        </p:spPr>
      </p:sp>
      <p:sp>
        <p:nvSpPr>
          <p:cNvPr id="478" name="Google Shape;478;p92"/>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479"/>
        <p:cNvGrpSpPr/>
        <p:nvPr/>
      </p:nvGrpSpPr>
      <p:grpSpPr>
        <a:xfrm>
          <a:off x="0" y="0"/>
          <a:ext cx="0" cy="0"/>
          <a:chOff x="0" y="0"/>
          <a:chExt cx="0" cy="0"/>
        </a:xfrm>
      </p:grpSpPr>
      <p:sp>
        <p:nvSpPr>
          <p:cNvPr id="480" name="Google Shape;480;p93"/>
          <p:cNvSpPr/>
          <p:nvPr/>
        </p:nvSpPr>
        <p:spPr>
          <a:xfrm>
            <a:off x="5802296" y="-266"/>
            <a:ext cx="3341846" cy="215741"/>
          </a:xfrm>
          <a:custGeom>
            <a:avLst/>
            <a:gdLst/>
            <a:ahLst/>
            <a:cxnLst/>
            <a:rect l="l" t="t" r="r" b="b"/>
            <a:pathLst>
              <a:path w="4455795" h="287655" extrusionOk="0">
                <a:moveTo>
                  <a:pt x="4455363" y="0"/>
                </a:moveTo>
                <a:lnTo>
                  <a:pt x="0" y="0"/>
                </a:lnTo>
                <a:lnTo>
                  <a:pt x="0" y="287629"/>
                </a:lnTo>
                <a:lnTo>
                  <a:pt x="2227681" y="287629"/>
                </a:lnTo>
                <a:lnTo>
                  <a:pt x="4455363" y="287629"/>
                </a:lnTo>
                <a:lnTo>
                  <a:pt x="4455363"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100"/>
          </a:p>
        </p:txBody>
      </p:sp>
      <p:sp>
        <p:nvSpPr>
          <p:cNvPr id="481" name="Google Shape;481;p93"/>
          <p:cNvSpPr/>
          <p:nvPr/>
        </p:nvSpPr>
        <p:spPr>
          <a:xfrm>
            <a:off x="5802296" y="-266"/>
            <a:ext cx="3341846" cy="215741"/>
          </a:xfrm>
          <a:custGeom>
            <a:avLst/>
            <a:gdLst/>
            <a:ahLst/>
            <a:cxnLst/>
            <a:rect l="l" t="t" r="r" b="b"/>
            <a:pathLst>
              <a:path w="4455795" h="287655" extrusionOk="0">
                <a:moveTo>
                  <a:pt x="2227681" y="287629"/>
                </a:moveTo>
                <a:lnTo>
                  <a:pt x="0" y="287629"/>
                </a:lnTo>
                <a:lnTo>
                  <a:pt x="0" y="0"/>
                </a:lnTo>
                <a:lnTo>
                  <a:pt x="4455363" y="0"/>
                </a:lnTo>
                <a:lnTo>
                  <a:pt x="4455363" y="287629"/>
                </a:lnTo>
                <a:lnTo>
                  <a:pt x="2227681" y="287629"/>
                </a:lnTo>
                <a:close/>
              </a:path>
            </a:pathLst>
          </a:custGeom>
          <a:noFill/>
          <a:ln w="9425" cap="flat" cmpd="sng">
            <a:solidFill>
              <a:srgbClr val="FFFF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100"/>
          </a:p>
        </p:txBody>
      </p:sp>
      <p:sp>
        <p:nvSpPr>
          <p:cNvPr id="482" name="Google Shape;482;p93"/>
          <p:cNvSpPr txBox="1">
            <a:spLocks noGrp="1"/>
          </p:cNvSpPr>
          <p:nvPr>
            <p:ph type="title"/>
          </p:nvPr>
        </p:nvSpPr>
        <p:spPr>
          <a:xfrm>
            <a:off x="433273" y="220523"/>
            <a:ext cx="7962000" cy="515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1800" b="1" i="0">
                <a:solidFill>
                  <a:srgbClr val="312F2F"/>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83" name="Google Shape;483;p93"/>
          <p:cNvSpPr txBox="1">
            <a:spLocks noGrp="1"/>
          </p:cNvSpPr>
          <p:nvPr>
            <p:ph type="body" idx="1"/>
          </p:nvPr>
        </p:nvSpPr>
        <p:spPr>
          <a:xfrm>
            <a:off x="457438" y="1183005"/>
            <a:ext cx="3979800" cy="3394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484" name="Google Shape;484;p93"/>
          <p:cNvSpPr txBox="1">
            <a:spLocks noGrp="1"/>
          </p:cNvSpPr>
          <p:nvPr>
            <p:ph type="body" idx="2"/>
          </p:nvPr>
        </p:nvSpPr>
        <p:spPr>
          <a:xfrm>
            <a:off x="4913385" y="1534067"/>
            <a:ext cx="3844500" cy="30381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1000" b="0" i="0">
                <a:solidFill>
                  <a:schemeClr val="lt1"/>
                </a:solidFill>
                <a:latin typeface="Arial"/>
                <a:ea typeface="Arial"/>
                <a:cs typeface="Arial"/>
                <a:sym typeface="Arial"/>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485" name="Google Shape;485;p93"/>
          <p:cNvSpPr txBox="1">
            <a:spLocks noGrp="1"/>
          </p:cNvSpPr>
          <p:nvPr>
            <p:ph type="ftr" idx="11"/>
          </p:nvPr>
        </p:nvSpPr>
        <p:spPr>
          <a:xfrm>
            <a:off x="3110579" y="4783455"/>
            <a:ext cx="29277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486" name="Google Shape;486;p93"/>
          <p:cNvSpPr txBox="1">
            <a:spLocks noGrp="1"/>
          </p:cNvSpPr>
          <p:nvPr>
            <p:ph type="dt" idx="10"/>
          </p:nvPr>
        </p:nvSpPr>
        <p:spPr>
          <a:xfrm>
            <a:off x="457438" y="4783455"/>
            <a:ext cx="21042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487" name="Google Shape;487;p93"/>
          <p:cNvSpPr txBox="1">
            <a:spLocks noGrp="1"/>
          </p:cNvSpPr>
          <p:nvPr>
            <p:ph type="sldNum" idx="12"/>
          </p:nvPr>
        </p:nvSpPr>
        <p:spPr>
          <a:xfrm>
            <a:off x="6587109" y="4783455"/>
            <a:ext cx="21042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92"/>
        <p:cNvGrpSpPr/>
        <p:nvPr/>
      </p:nvGrpSpPr>
      <p:grpSpPr>
        <a:xfrm>
          <a:off x="0" y="0"/>
          <a:ext cx="0" cy="0"/>
          <a:chOff x="0" y="0"/>
          <a:chExt cx="0" cy="0"/>
        </a:xfrm>
      </p:grpSpPr>
      <p:sp>
        <p:nvSpPr>
          <p:cNvPr id="493" name="Google Shape;493;p9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94" name="Google Shape;494;p9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95" name="Google Shape;495;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6"/>
        <p:cNvGrpSpPr/>
        <p:nvPr/>
      </p:nvGrpSpPr>
      <p:grpSpPr>
        <a:xfrm>
          <a:off x="0" y="0"/>
          <a:ext cx="0" cy="0"/>
          <a:chOff x="0" y="0"/>
          <a:chExt cx="0" cy="0"/>
        </a:xfrm>
      </p:grpSpPr>
      <p:sp>
        <p:nvSpPr>
          <p:cNvPr id="497" name="Google Shape;497;p9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98" name="Google Shape;498;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9"/>
        <p:cNvGrpSpPr/>
        <p:nvPr/>
      </p:nvGrpSpPr>
      <p:grpSpPr>
        <a:xfrm>
          <a:off x="0" y="0"/>
          <a:ext cx="0" cy="0"/>
          <a:chOff x="0" y="0"/>
          <a:chExt cx="0" cy="0"/>
        </a:xfrm>
      </p:grpSpPr>
      <p:sp>
        <p:nvSpPr>
          <p:cNvPr id="500" name="Google Shape;500;p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01" name="Google Shape;501;p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2" name="Google Shape;502;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3"/>
        <p:cNvGrpSpPr/>
        <p:nvPr/>
      </p:nvGrpSpPr>
      <p:grpSpPr>
        <a:xfrm>
          <a:off x="0" y="0"/>
          <a:ext cx="0" cy="0"/>
          <a:chOff x="0" y="0"/>
          <a:chExt cx="0" cy="0"/>
        </a:xfrm>
      </p:grpSpPr>
      <p:sp>
        <p:nvSpPr>
          <p:cNvPr id="504" name="Google Shape;504;p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05" name="Google Shape;505;p9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06" name="Google Shape;506;p9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07" name="Google Shape;507;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8"/>
        <p:cNvGrpSpPr/>
        <p:nvPr/>
      </p:nvGrpSpPr>
      <p:grpSpPr>
        <a:xfrm>
          <a:off x="0" y="0"/>
          <a:ext cx="0" cy="0"/>
          <a:chOff x="0" y="0"/>
          <a:chExt cx="0" cy="0"/>
        </a:xfrm>
      </p:grpSpPr>
      <p:sp>
        <p:nvSpPr>
          <p:cNvPr id="509" name="Google Shape;509;p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10" name="Google Shape;510;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11"/>
        <p:cNvGrpSpPr/>
        <p:nvPr/>
      </p:nvGrpSpPr>
      <p:grpSpPr>
        <a:xfrm>
          <a:off x="0" y="0"/>
          <a:ext cx="0" cy="0"/>
          <a:chOff x="0" y="0"/>
          <a:chExt cx="0" cy="0"/>
        </a:xfrm>
      </p:grpSpPr>
      <p:sp>
        <p:nvSpPr>
          <p:cNvPr id="512" name="Google Shape;512;p10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13" name="Google Shape;513;p10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14" name="Google Shape;514;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5"/>
        <p:cNvGrpSpPr/>
        <p:nvPr/>
      </p:nvGrpSpPr>
      <p:grpSpPr>
        <a:xfrm>
          <a:off x="0" y="0"/>
          <a:ext cx="0" cy="0"/>
          <a:chOff x="0" y="0"/>
          <a:chExt cx="0" cy="0"/>
        </a:xfrm>
      </p:grpSpPr>
      <p:sp>
        <p:nvSpPr>
          <p:cNvPr id="516" name="Google Shape;516;p10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17" name="Google Shape;517;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8"/>
        <p:cNvGrpSpPr/>
        <p:nvPr/>
      </p:nvGrpSpPr>
      <p:grpSpPr>
        <a:xfrm>
          <a:off x="0" y="0"/>
          <a:ext cx="0" cy="0"/>
          <a:chOff x="0" y="0"/>
          <a:chExt cx="0" cy="0"/>
        </a:xfrm>
      </p:grpSpPr>
      <p:sp>
        <p:nvSpPr>
          <p:cNvPr id="519" name="Google Shape;519;p10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0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21" name="Google Shape;521;p10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2" name="Google Shape;522;p10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23" name="Google Shape;523;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4"/>
        <p:cNvGrpSpPr/>
        <p:nvPr/>
      </p:nvGrpSpPr>
      <p:grpSpPr>
        <a:xfrm>
          <a:off x="0" y="0"/>
          <a:ext cx="0" cy="0"/>
          <a:chOff x="0" y="0"/>
          <a:chExt cx="0" cy="0"/>
        </a:xfrm>
      </p:grpSpPr>
      <p:sp>
        <p:nvSpPr>
          <p:cNvPr id="525" name="Google Shape;525;p10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26" name="Google Shape;526;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7"/>
        <p:cNvGrpSpPr/>
        <p:nvPr/>
      </p:nvGrpSpPr>
      <p:grpSpPr>
        <a:xfrm>
          <a:off x="0" y="0"/>
          <a:ext cx="0" cy="0"/>
          <a:chOff x="0" y="0"/>
          <a:chExt cx="0" cy="0"/>
        </a:xfrm>
      </p:grpSpPr>
      <p:sp>
        <p:nvSpPr>
          <p:cNvPr id="528" name="Google Shape;528;p10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9" name="Google Shape;529;p10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30" name="Google Shape;530;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1"/>
        <p:cNvGrpSpPr/>
        <p:nvPr/>
      </p:nvGrpSpPr>
      <p:grpSpPr>
        <a:xfrm>
          <a:off x="0" y="0"/>
          <a:ext cx="0" cy="0"/>
          <a:chOff x="0" y="0"/>
          <a:chExt cx="0" cy="0"/>
        </a:xfrm>
      </p:grpSpPr>
      <p:sp>
        <p:nvSpPr>
          <p:cNvPr id="532" name="Google Shape;532;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ustom Layout 1">
  <p:cSld name="Custom Layout_1">
    <p:spTree>
      <p:nvGrpSpPr>
        <p:cNvPr id="1" name="Shape 533"/>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4"/>
        <p:cNvGrpSpPr/>
        <p:nvPr/>
      </p:nvGrpSpPr>
      <p:grpSpPr>
        <a:xfrm>
          <a:off x="0" y="0"/>
          <a:ext cx="0" cy="0"/>
          <a:chOff x="0" y="0"/>
          <a:chExt cx="0" cy="0"/>
        </a:xfrm>
      </p:grpSpPr>
      <p:sp>
        <p:nvSpPr>
          <p:cNvPr id="535" name="Google Shape;535;p107"/>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536"/>
        <p:cNvGrpSpPr/>
        <p:nvPr/>
      </p:nvGrpSpPr>
      <p:grpSpPr>
        <a:xfrm>
          <a:off x="0" y="0"/>
          <a:ext cx="0" cy="0"/>
          <a:chOff x="0" y="0"/>
          <a:chExt cx="0" cy="0"/>
        </a:xfrm>
      </p:grpSpPr>
      <p:sp>
        <p:nvSpPr>
          <p:cNvPr id="537" name="Google Shape;537;p10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538" name="Google Shape;538;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slide_alt1">
  <p:cSld name="1_Title slide">
    <p:bg>
      <p:bgPr>
        <a:solidFill>
          <a:schemeClr val="lt2"/>
        </a:solidFill>
        <a:effectLst/>
      </p:bgPr>
    </p:bg>
    <p:spTree>
      <p:nvGrpSpPr>
        <p:cNvPr id="1" name="Shape 539"/>
        <p:cNvGrpSpPr/>
        <p:nvPr/>
      </p:nvGrpSpPr>
      <p:grpSpPr>
        <a:xfrm>
          <a:off x="0" y="0"/>
          <a:ext cx="0" cy="0"/>
          <a:chOff x="0" y="0"/>
          <a:chExt cx="0" cy="0"/>
        </a:xfrm>
      </p:grpSpPr>
      <p:pic>
        <p:nvPicPr>
          <p:cNvPr id="540" name="Google Shape;540;p109" descr="shutterstock_429987889_edited.jpg"/>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541" name="Google Shape;541;p109"/>
          <p:cNvSpPr txBox="1">
            <a:spLocks noGrp="1"/>
          </p:cNvSpPr>
          <p:nvPr>
            <p:ph type="ctrTitle"/>
          </p:nvPr>
        </p:nvSpPr>
        <p:spPr>
          <a:xfrm>
            <a:off x="914400" y="2323238"/>
            <a:ext cx="7315200" cy="3387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2"/>
              </a:buClr>
              <a:buSzPts val="4200"/>
              <a:buNone/>
              <a:defRPr sz="22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542" name="Google Shape;542;p10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543" name="Google Shape;543;p109"/>
          <p:cNvSpPr txBox="1">
            <a:spLocks noGrp="1"/>
          </p:cNvSpPr>
          <p:nvPr>
            <p:ph type="body" idx="1"/>
          </p:nvPr>
        </p:nvSpPr>
        <p:spPr>
          <a:xfrm>
            <a:off x="931653" y="2750315"/>
            <a:ext cx="7315200" cy="2124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2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pic>
        <p:nvPicPr>
          <p:cNvPr id="544" name="Google Shape;544;p109" descr="A green letters on a black background&#10;&#10;Description automatically generated"/>
          <p:cNvPicPr preferRelativeResize="0"/>
          <p:nvPr/>
        </p:nvPicPr>
        <p:blipFill rotWithShape="1">
          <a:blip r:embed="rId3">
            <a:alphaModFix/>
          </a:blip>
          <a:srcRect/>
          <a:stretch/>
        </p:blipFill>
        <p:spPr>
          <a:xfrm>
            <a:off x="914400" y="1347818"/>
            <a:ext cx="1805286" cy="411480"/>
          </a:xfrm>
          <a:prstGeom prst="rect">
            <a:avLst/>
          </a:prstGeom>
          <a:noFill/>
          <a:ln>
            <a:noFill/>
          </a:ln>
        </p:spPr>
      </p:pic>
      <p:grpSp>
        <p:nvGrpSpPr>
          <p:cNvPr id="545" name="Google Shape;545;p109"/>
          <p:cNvGrpSpPr/>
          <p:nvPr/>
        </p:nvGrpSpPr>
        <p:grpSpPr>
          <a:xfrm>
            <a:off x="914402" y="1191277"/>
            <a:ext cx="745763" cy="45826"/>
            <a:chOff x="4580561" y="2589004"/>
            <a:chExt cx="1064464" cy="25200"/>
          </a:xfrm>
        </p:grpSpPr>
        <p:sp>
          <p:nvSpPr>
            <p:cNvPr id="546" name="Google Shape;546;p109"/>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47" name="Google Shape;547;p109"/>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48" name="Google Shape;548;p109"/>
          <p:cNvSpPr txBox="1"/>
          <p:nvPr/>
        </p:nvSpPr>
        <p:spPr>
          <a:xfrm>
            <a:off x="914399" y="1841513"/>
            <a:ext cx="7315200" cy="3387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2"/>
              </a:buClr>
              <a:buSzPts val="4200"/>
              <a:buFont typeface="Raleway"/>
              <a:buNone/>
            </a:pPr>
            <a:r>
              <a:rPr lang="en" sz="2200" b="1" i="0" u="none" strike="noStrike" cap="none">
                <a:solidFill>
                  <a:srgbClr val="7F7F7F"/>
                </a:solidFill>
                <a:latin typeface="Lato"/>
                <a:ea typeface="Lato"/>
                <a:cs typeface="Lato"/>
                <a:sym typeface="Lato"/>
              </a:rPr>
              <a:t>Carbon Management SaaS and Verification Technology</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body 1">
  <p:cSld name="Title 1 line">
    <p:spTree>
      <p:nvGrpSpPr>
        <p:cNvPr id="1" name="Shape 549"/>
        <p:cNvGrpSpPr/>
        <p:nvPr/>
      </p:nvGrpSpPr>
      <p:grpSpPr>
        <a:xfrm>
          <a:off x="0" y="0"/>
          <a:ext cx="0" cy="0"/>
          <a:chOff x="0" y="0"/>
          <a:chExt cx="0" cy="0"/>
        </a:xfrm>
      </p:grpSpPr>
      <p:sp>
        <p:nvSpPr>
          <p:cNvPr id="550" name="Google Shape;550;p110"/>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551" name="Google Shape;551;p110"/>
          <p:cNvGrpSpPr/>
          <p:nvPr/>
        </p:nvGrpSpPr>
        <p:grpSpPr>
          <a:xfrm>
            <a:off x="228601" y="737966"/>
            <a:ext cx="745763" cy="45826"/>
            <a:chOff x="4580561" y="2589004"/>
            <a:chExt cx="1064464" cy="25200"/>
          </a:xfrm>
        </p:grpSpPr>
        <p:sp>
          <p:nvSpPr>
            <p:cNvPr id="552" name="Google Shape;552;p110"/>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53" name="Google Shape;553;p110"/>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54" name="Google Shape;554;p110"/>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55" name="Google Shape;555;p110"/>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56" name="Google Shape;556;p110"/>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57" name="Google Shape;557;p110"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58" name="Google Shape;558;p110"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body 2">
  <p:cSld name="1_Title and body">
    <p:spTree>
      <p:nvGrpSpPr>
        <p:cNvPr id="1" name="Shape 559"/>
        <p:cNvGrpSpPr/>
        <p:nvPr/>
      </p:nvGrpSpPr>
      <p:grpSpPr>
        <a:xfrm>
          <a:off x="0" y="0"/>
          <a:ext cx="0" cy="0"/>
          <a:chOff x="0" y="0"/>
          <a:chExt cx="0" cy="0"/>
        </a:xfrm>
      </p:grpSpPr>
      <p:sp>
        <p:nvSpPr>
          <p:cNvPr id="560" name="Google Shape;560;p111"/>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61" name="Google Shape;561;p111"/>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62" name="Google Shape;562;p111"/>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63" name="Google Shape;563;p111"/>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64" name="Google Shape;564;p111"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65" name="Google Shape;565;p111"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566" name="Google Shape;566;p111"/>
          <p:cNvGrpSpPr/>
          <p:nvPr/>
        </p:nvGrpSpPr>
        <p:grpSpPr>
          <a:xfrm>
            <a:off x="228602" y="737966"/>
            <a:ext cx="745763" cy="45826"/>
            <a:chOff x="4580561" y="2589004"/>
            <a:chExt cx="1064464" cy="25200"/>
          </a:xfrm>
        </p:grpSpPr>
        <p:sp>
          <p:nvSpPr>
            <p:cNvPr id="567" name="Google Shape;567;p111"/>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68" name="Google Shape;568;p111"/>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69" name="Google Shape;569;p111"/>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body 3">
  <p:cSld name="1_Title and body 2">
    <p:spTree>
      <p:nvGrpSpPr>
        <p:cNvPr id="1" name="Shape 570"/>
        <p:cNvGrpSpPr/>
        <p:nvPr/>
      </p:nvGrpSpPr>
      <p:grpSpPr>
        <a:xfrm>
          <a:off x="0" y="0"/>
          <a:ext cx="0" cy="0"/>
          <a:chOff x="0" y="0"/>
          <a:chExt cx="0" cy="0"/>
        </a:xfrm>
      </p:grpSpPr>
      <p:sp>
        <p:nvSpPr>
          <p:cNvPr id="571" name="Google Shape;571;p112"/>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72" name="Google Shape;572;p112"/>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73" name="Google Shape;573;p112"/>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74" name="Google Shape;574;p112"/>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75" name="Google Shape;575;p112"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76" name="Google Shape;576;p112"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577" name="Google Shape;577;p112"/>
          <p:cNvGrpSpPr/>
          <p:nvPr/>
        </p:nvGrpSpPr>
        <p:grpSpPr>
          <a:xfrm>
            <a:off x="228602" y="737966"/>
            <a:ext cx="745763" cy="45826"/>
            <a:chOff x="4580561" y="2589004"/>
            <a:chExt cx="1064464" cy="25200"/>
          </a:xfrm>
        </p:grpSpPr>
        <p:sp>
          <p:nvSpPr>
            <p:cNvPr id="578" name="Google Shape;578;p112"/>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79" name="Google Shape;579;p112"/>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80" name="Google Shape;580;p112"/>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body 4">
  <p:cSld name="Title 2 lines">
    <p:spTree>
      <p:nvGrpSpPr>
        <p:cNvPr id="1" name="Shape 581"/>
        <p:cNvGrpSpPr/>
        <p:nvPr/>
      </p:nvGrpSpPr>
      <p:grpSpPr>
        <a:xfrm>
          <a:off x="0" y="0"/>
          <a:ext cx="0" cy="0"/>
          <a:chOff x="0" y="0"/>
          <a:chExt cx="0" cy="0"/>
        </a:xfrm>
      </p:grpSpPr>
      <p:sp>
        <p:nvSpPr>
          <p:cNvPr id="582" name="Google Shape;582;p113"/>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583" name="Google Shape;583;p113"/>
          <p:cNvGrpSpPr/>
          <p:nvPr/>
        </p:nvGrpSpPr>
        <p:grpSpPr>
          <a:xfrm>
            <a:off x="228602" y="737966"/>
            <a:ext cx="745763" cy="45826"/>
            <a:chOff x="4580561" y="2589004"/>
            <a:chExt cx="1064464" cy="25200"/>
          </a:xfrm>
        </p:grpSpPr>
        <p:sp>
          <p:nvSpPr>
            <p:cNvPr id="584" name="Google Shape;584;p113"/>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85" name="Google Shape;585;p113"/>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86" name="Google Shape;586;p113"/>
          <p:cNvSpPr txBox="1">
            <a:spLocks noGrp="1"/>
          </p:cNvSpPr>
          <p:nvPr>
            <p:ph type="title"/>
          </p:nvPr>
        </p:nvSpPr>
        <p:spPr>
          <a:xfrm>
            <a:off x="228600" y="84108"/>
            <a:ext cx="8138100" cy="596400"/>
          </a:xfrm>
          <a:prstGeom prst="rect">
            <a:avLst/>
          </a:prstGeom>
          <a:noFill/>
          <a:ln>
            <a:noFill/>
          </a:ln>
        </p:spPr>
        <p:txBody>
          <a:bodyPr spcFirstLastPara="1" wrap="square" lIns="0" tIns="0" rIns="0" bIns="0" anchor="t" anchorCtr="0">
            <a:no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87" name="Google Shape;587;p113"/>
          <p:cNvSpPr txBox="1">
            <a:spLocks noGrp="1"/>
          </p:cNvSpPr>
          <p:nvPr>
            <p:ph type="body" idx="1"/>
          </p:nvPr>
        </p:nvSpPr>
        <p:spPr>
          <a:xfrm>
            <a:off x="228599" y="4977306"/>
            <a:ext cx="8046600" cy="141600"/>
          </a:xfrm>
          <a:prstGeom prst="rect">
            <a:avLst/>
          </a:prstGeom>
          <a:noFill/>
          <a:ln>
            <a:noFill/>
          </a:ln>
        </p:spPr>
        <p:txBody>
          <a:bodyPr spcFirstLastPara="1" wrap="square" lIns="0" tIns="0" rIns="0" bIns="0" anchor="ctr" anchorCtr="0">
            <a:spAutoFit/>
          </a:bodyPr>
          <a:lstStyle>
            <a:lvl1pPr marL="457200" lvl="0" indent="-228600" algn="l">
              <a:lnSpc>
                <a:spcPct val="115000"/>
              </a:lnSpc>
              <a:spcBef>
                <a:spcPts val="0"/>
              </a:spcBef>
              <a:spcAft>
                <a:spcPts val="0"/>
              </a:spcAft>
              <a:buSzPts val="1300"/>
              <a:buNone/>
              <a:defRPr sz="8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88" name="Google Shape;588;p113"/>
          <p:cNvSpPr txBox="1"/>
          <p:nvPr/>
        </p:nvSpPr>
        <p:spPr>
          <a:xfrm>
            <a:off x="8278016"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89" name="Google Shape;589;p113"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90" name="Google Shape;590;p113"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chemeClr val="lt1"/>
        </a:solidFill>
        <a:effectLst/>
      </p:bgPr>
    </p:bg>
    <p:spTree>
      <p:nvGrpSpPr>
        <p:cNvPr id="1" name="Shape 591"/>
        <p:cNvGrpSpPr/>
        <p:nvPr/>
      </p:nvGrpSpPr>
      <p:grpSpPr>
        <a:xfrm>
          <a:off x="0" y="0"/>
          <a:ext cx="0" cy="0"/>
          <a:chOff x="0" y="0"/>
          <a:chExt cx="0" cy="0"/>
        </a:xfrm>
      </p:grpSpPr>
      <p:sp>
        <p:nvSpPr>
          <p:cNvPr id="592" name="Google Shape;592;p114"/>
          <p:cNvSpPr/>
          <p:nvPr/>
        </p:nvSpPr>
        <p:spPr>
          <a:xfrm>
            <a:off x="0" y="0"/>
            <a:ext cx="9144000" cy="783590"/>
          </a:xfrm>
          <a:custGeom>
            <a:avLst/>
            <a:gdLst/>
            <a:ahLst/>
            <a:cxnLst/>
            <a:rect l="l" t="t" r="r" b="b"/>
            <a:pathLst>
              <a:path w="9144000" h="783590" extrusionOk="0">
                <a:moveTo>
                  <a:pt x="9144000" y="0"/>
                </a:moveTo>
                <a:lnTo>
                  <a:pt x="0" y="0"/>
                </a:lnTo>
                <a:lnTo>
                  <a:pt x="0" y="783336"/>
                </a:lnTo>
                <a:lnTo>
                  <a:pt x="9144000" y="783336"/>
                </a:lnTo>
                <a:lnTo>
                  <a:pt x="9144000" y="0"/>
                </a:lnTo>
                <a:close/>
              </a:path>
            </a:pathLst>
          </a:custGeom>
          <a:solidFill>
            <a:srgbClr val="E7E6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3" name="Google Shape;593;p114"/>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800"/>
              <a:buNone/>
              <a:defRPr sz="1800" b="1" i="0">
                <a:solidFill>
                  <a:srgbClr val="434953"/>
                </a:solidFill>
                <a:latin typeface="Lato"/>
                <a:ea typeface="Lato"/>
                <a:cs typeface="Lato"/>
                <a:sym typeface="La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4" name="Google Shape;594;p114"/>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11150" algn="l">
              <a:lnSpc>
                <a:spcPct val="115000"/>
              </a:lnSpc>
              <a:spcBef>
                <a:spcPts val="0"/>
              </a:spcBef>
              <a:spcAft>
                <a:spcPts val="0"/>
              </a:spcAft>
              <a:buSzPts val="1300"/>
              <a:buChar char="●"/>
              <a:defRPr b="0" i="0">
                <a:solidFill>
                  <a:schemeClr val="dk1"/>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95" name="Google Shape;595;p114"/>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6" name="Google Shape;596;p114"/>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7" name="Google Shape;597;p114"/>
          <p:cNvSpPr txBox="1">
            <a:spLocks noGrp="1"/>
          </p:cNvSpPr>
          <p:nvPr>
            <p:ph type="sldNum" idx="12"/>
          </p:nvPr>
        </p:nvSpPr>
        <p:spPr>
          <a:xfrm>
            <a:off x="8536302" y="4749851"/>
            <a:ext cx="548700" cy="393600"/>
          </a:xfrm>
          <a:prstGeom prst="rect">
            <a:avLst/>
          </a:prstGeom>
          <a:noFill/>
          <a:ln>
            <a:noFill/>
          </a:ln>
        </p:spPr>
        <p:txBody>
          <a:bodyPr spcFirstLastPara="1" wrap="square" lIns="0" tIns="0" rIns="0" bIns="0" anchor="ctr" anchorCtr="0">
            <a:noAutofit/>
          </a:bodyPr>
          <a:lstStyle>
            <a:lvl1pPr marL="46355" marR="0" lvl="0"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1pPr>
            <a:lvl2pPr marL="46355" marR="0" lvl="1"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2pPr>
            <a:lvl3pPr marL="46355" marR="0" lvl="2"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3pPr>
            <a:lvl4pPr marL="46355" marR="0" lvl="3"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4pPr>
            <a:lvl5pPr marL="46355" marR="0" lvl="4"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5pPr>
            <a:lvl6pPr marL="46355" marR="0" lvl="5"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6pPr>
            <a:lvl7pPr marL="46355" marR="0" lvl="6"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7pPr>
            <a:lvl8pPr marL="46355" marR="0" lvl="7"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8pPr>
            <a:lvl9pPr marL="46355" marR="0" lvl="8"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9pPr>
          </a:lstStyle>
          <a:p>
            <a:pPr marL="46355" lvl="0" indent="0" algn="r" rtl="0">
              <a:spcBef>
                <a:spcPts val="9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598"/>
        <p:cNvGrpSpPr/>
        <p:nvPr/>
      </p:nvGrpSpPr>
      <p:grpSpPr>
        <a:xfrm>
          <a:off x="0" y="0"/>
          <a:ext cx="0" cy="0"/>
          <a:chOff x="0" y="0"/>
          <a:chExt cx="0" cy="0"/>
        </a:xfrm>
      </p:grpSpPr>
      <p:sp>
        <p:nvSpPr>
          <p:cNvPr id="599" name="Google Shape;599;p11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00" name="Google Shape;600;p115"/>
          <p:cNvGrpSpPr/>
          <p:nvPr/>
        </p:nvGrpSpPr>
        <p:grpSpPr>
          <a:xfrm>
            <a:off x="0" y="4755328"/>
            <a:ext cx="9144000" cy="388111"/>
            <a:chOff x="417931" y="28734"/>
            <a:chExt cx="24384000" cy="938827"/>
          </a:xfrm>
        </p:grpSpPr>
        <p:sp>
          <p:nvSpPr>
            <p:cNvPr id="601" name="Google Shape;601;p11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602" name="Google Shape;602;p11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603" name="Google Shape;603;p115"/>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604" name="Google Shape;604;p115"/>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05" name="Google Shape;605;p11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606" name="Google Shape;606;p11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607" name="Google Shape;607;p115"/>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608"/>
        <p:cNvGrpSpPr/>
        <p:nvPr/>
      </p:nvGrpSpPr>
      <p:grpSpPr>
        <a:xfrm>
          <a:off x="0" y="0"/>
          <a:ext cx="0" cy="0"/>
          <a:chOff x="0" y="0"/>
          <a:chExt cx="0" cy="0"/>
        </a:xfrm>
      </p:grpSpPr>
      <p:sp>
        <p:nvSpPr>
          <p:cNvPr id="609" name="Google Shape;609;p116"/>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10" name="Google Shape;610;p116"/>
          <p:cNvGrpSpPr/>
          <p:nvPr/>
        </p:nvGrpSpPr>
        <p:grpSpPr>
          <a:xfrm>
            <a:off x="0" y="4755328"/>
            <a:ext cx="9144000" cy="388111"/>
            <a:chOff x="417931" y="28734"/>
            <a:chExt cx="24384000" cy="938827"/>
          </a:xfrm>
        </p:grpSpPr>
        <p:sp>
          <p:nvSpPr>
            <p:cNvPr id="611" name="Google Shape;611;p116"/>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612" name="Google Shape;612;p116"/>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613" name="Google Shape;613;p116"/>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14" name="Google Shape;614;p116"/>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615" name="Google Shape;615;p116"/>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616" name="Google Shape;616;p116"/>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617" name="Google Shape;617;p116"/>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_Blank 1">
  <p:cSld name="3_Blank_1">
    <p:bg>
      <p:bgPr>
        <a:blipFill>
          <a:blip r:embed="rId2">
            <a:alphaModFix/>
          </a:blip>
          <a:stretch>
            <a:fillRect/>
          </a:stretch>
        </a:blipFill>
        <a:effectLst/>
      </p:bgPr>
    </p:bg>
    <p:spTree>
      <p:nvGrpSpPr>
        <p:cNvPr id="1" name="Shape 618"/>
        <p:cNvGrpSpPr/>
        <p:nvPr/>
      </p:nvGrpSpPr>
      <p:grpSpPr>
        <a:xfrm>
          <a:off x="0" y="0"/>
          <a:ext cx="0" cy="0"/>
          <a:chOff x="0" y="0"/>
          <a:chExt cx="0" cy="0"/>
        </a:xfrm>
      </p:grpSpPr>
      <p:sp>
        <p:nvSpPr>
          <p:cNvPr id="619" name="Google Shape;619;p117"/>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20" name="Google Shape;620;p117"/>
          <p:cNvGrpSpPr/>
          <p:nvPr/>
        </p:nvGrpSpPr>
        <p:grpSpPr>
          <a:xfrm>
            <a:off x="0" y="4755328"/>
            <a:ext cx="9144000" cy="388111"/>
            <a:chOff x="417931" y="28734"/>
            <a:chExt cx="24384000" cy="938827"/>
          </a:xfrm>
        </p:grpSpPr>
        <p:sp>
          <p:nvSpPr>
            <p:cNvPr id="621" name="Google Shape;621;p117"/>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622" name="Google Shape;622;p117"/>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623" name="Google Shape;623;p117"/>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624" name="Google Shape;624;p117"/>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25" name="Google Shape;625;p117"/>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626" name="Google Shape;626;p117"/>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627" name="Google Shape;627;p117"/>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628"/>
        <p:cNvGrpSpPr/>
        <p:nvPr/>
      </p:nvGrpSpPr>
      <p:grpSpPr>
        <a:xfrm>
          <a:off x="0" y="0"/>
          <a:ext cx="0" cy="0"/>
          <a:chOff x="0" y="0"/>
          <a:chExt cx="0" cy="0"/>
        </a:xfrm>
      </p:grpSpPr>
      <p:sp>
        <p:nvSpPr>
          <p:cNvPr id="629" name="Google Shape;629;p118"/>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30" name="Google Shape;630;p118"/>
          <p:cNvGrpSpPr/>
          <p:nvPr/>
        </p:nvGrpSpPr>
        <p:grpSpPr>
          <a:xfrm>
            <a:off x="0" y="4755328"/>
            <a:ext cx="9144000" cy="388111"/>
            <a:chOff x="417931" y="28734"/>
            <a:chExt cx="24384000" cy="938827"/>
          </a:xfrm>
        </p:grpSpPr>
        <p:sp>
          <p:nvSpPr>
            <p:cNvPr id="631" name="Google Shape;631;p118"/>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632" name="Google Shape;632;p118"/>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633" name="Google Shape;633;p118"/>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34" name="Google Shape;634;p118"/>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635" name="Google Shape;635;p118"/>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636" name="Google Shape;636;p118"/>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2_Blank 1">
  <p:cSld name="2_Blank_1">
    <p:bg>
      <p:bgPr>
        <a:solidFill>
          <a:srgbClr val="1B3E6D"/>
        </a:solidFill>
        <a:effectLst/>
      </p:bgPr>
    </p:bg>
    <p:spTree>
      <p:nvGrpSpPr>
        <p:cNvPr id="1" name="Shape 637"/>
        <p:cNvGrpSpPr/>
        <p:nvPr/>
      </p:nvGrpSpPr>
      <p:grpSpPr>
        <a:xfrm>
          <a:off x="0" y="0"/>
          <a:ext cx="0" cy="0"/>
          <a:chOff x="0" y="0"/>
          <a:chExt cx="0" cy="0"/>
        </a:xfrm>
      </p:grpSpPr>
      <p:sp>
        <p:nvSpPr>
          <p:cNvPr id="638" name="Google Shape;638;p119"/>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39" name="Google Shape;639;p119"/>
          <p:cNvGrpSpPr/>
          <p:nvPr/>
        </p:nvGrpSpPr>
        <p:grpSpPr>
          <a:xfrm>
            <a:off x="0" y="4755328"/>
            <a:ext cx="9144000" cy="388111"/>
            <a:chOff x="417931" y="28734"/>
            <a:chExt cx="24384000" cy="938827"/>
          </a:xfrm>
        </p:grpSpPr>
        <p:sp>
          <p:nvSpPr>
            <p:cNvPr id="640" name="Google Shape;640;p119"/>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641" name="Google Shape;641;p119"/>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642" name="Google Shape;642;p119"/>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43" name="Google Shape;643;p119"/>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644" name="Google Shape;644;p119"/>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645" name="Google Shape;645;p119"/>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646"/>
        <p:cNvGrpSpPr/>
        <p:nvPr/>
      </p:nvGrpSpPr>
      <p:grpSpPr>
        <a:xfrm>
          <a:off x="0" y="0"/>
          <a:ext cx="0" cy="0"/>
          <a:chOff x="0" y="0"/>
          <a:chExt cx="0" cy="0"/>
        </a:xfrm>
      </p:grpSpPr>
      <p:sp>
        <p:nvSpPr>
          <p:cNvPr id="647" name="Google Shape;647;p120"/>
          <p:cNvSpPr>
            <a:spLocks noGrp="1"/>
          </p:cNvSpPr>
          <p:nvPr>
            <p:ph type="pic" idx="2"/>
          </p:nvPr>
        </p:nvSpPr>
        <p:spPr>
          <a:xfrm>
            <a:off x="4100165" y="570248"/>
            <a:ext cx="4237200" cy="2001600"/>
          </a:xfrm>
          <a:prstGeom prst="rect">
            <a:avLst/>
          </a:prstGeom>
          <a:noFill/>
          <a:ln>
            <a:noFill/>
          </a:ln>
        </p:spPr>
      </p:sp>
      <p:sp>
        <p:nvSpPr>
          <p:cNvPr id="648" name="Google Shape;648;p120"/>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2.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theme" Target="../theme/theme4.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3"/>
        <p:cNvGrpSpPr/>
        <p:nvPr/>
      </p:nvGrpSpPr>
      <p:grpSpPr>
        <a:xfrm>
          <a:off x="0" y="0"/>
          <a:ext cx="0" cy="0"/>
          <a:chOff x="0" y="0"/>
          <a:chExt cx="0" cy="0"/>
        </a:xfrm>
      </p:grpSpPr>
      <p:sp>
        <p:nvSpPr>
          <p:cNvPr id="164" name="Google Shape;164;p3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65" name="Google Shape;165;p3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66" name="Google Shape;166;p3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67" name="Google Shape;167;p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68" name="Google Shape;168;p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31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18"/>
        <p:cNvGrpSpPr/>
        <p:nvPr/>
      </p:nvGrpSpPr>
      <p:grpSpPr>
        <a:xfrm>
          <a:off x="0" y="0"/>
          <a:ext cx="0" cy="0"/>
          <a:chOff x="0" y="0"/>
          <a:chExt cx="0" cy="0"/>
        </a:xfrm>
      </p:grpSpPr>
      <p:sp>
        <p:nvSpPr>
          <p:cNvPr id="319" name="Google Shape;319;p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320" name="Google Shape;320;p6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321" name="Google Shape;32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9" r:id="rId11"/>
    <p:sldLayoutId id="2147483720"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88"/>
        <p:cNvGrpSpPr/>
        <p:nvPr/>
      </p:nvGrpSpPr>
      <p:grpSpPr>
        <a:xfrm>
          <a:off x="0" y="0"/>
          <a:ext cx="0" cy="0"/>
          <a:chOff x="0" y="0"/>
          <a:chExt cx="0" cy="0"/>
        </a:xfrm>
      </p:grpSpPr>
      <p:sp>
        <p:nvSpPr>
          <p:cNvPr id="489" name="Google Shape;489;p9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490" name="Google Shape;490;p9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491" name="Google Shape;491;p9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4.xml"/><Relationship Id="rId5" Type="http://schemas.openxmlformats.org/officeDocument/2006/relationships/image" Target="../media/image18.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comments" Target="../comments/comment2.xml"/><Relationship Id="rId5" Type="http://schemas.openxmlformats.org/officeDocument/2006/relationships/image" Target="../media/image16.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1.xml"/><Relationship Id="rId5"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comments" Target="../comments/comment5.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comments" Target="../comments/comment6.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comments" Target="../comments/comment7.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comments" Target="../comments/comment8.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4.png"/><Relationship Id="rId7"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comments" Target="../comments/comment9.xm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16.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comments" Target="../comments/comment10.xml"/><Relationship Id="rId5" Type="http://schemas.openxmlformats.org/officeDocument/2006/relationships/image" Target="../media/image16.pn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comments" Target="../comments/comment1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29.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29.png"/><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7.png"/><Relationship Id="rId7"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8" Type="http://schemas.openxmlformats.org/officeDocument/2006/relationships/comments" Target="../comments/comment13.xml"/><Relationship Id="rId3" Type="http://schemas.openxmlformats.org/officeDocument/2006/relationships/image" Target="../media/image36.jpg"/><Relationship Id="rId7"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47.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35.xml"/><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47.xml"/><Relationship Id="rId5" Type="http://schemas.openxmlformats.org/officeDocument/2006/relationships/comments" Target="../comments/comment14.xml"/><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6.xml"/><Relationship Id="rId1" Type="http://schemas.openxmlformats.org/officeDocument/2006/relationships/slideLayout" Target="../slideLayouts/slideLayout47.xml"/><Relationship Id="rId4" Type="http://schemas.openxmlformats.org/officeDocument/2006/relationships/image" Target="../media/image17.png"/></Relationships>
</file>

<file path=ppt/slides/_rels/slide5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7.png"/><Relationship Id="rId7"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47.xml"/><Relationship Id="rId6" Type="http://schemas.openxmlformats.org/officeDocument/2006/relationships/image" Target="../media/image16.png"/><Relationship Id="rId5" Type="http://schemas.openxmlformats.org/officeDocument/2006/relationships/hyperlink" Target="mailto:info@allotropepartners.com" TargetMode="External"/><Relationship Id="rId4" Type="http://schemas.openxmlformats.org/officeDocument/2006/relationships/hyperlink" Target="mailto:tah@allotropepartner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8"/>
        <p:cNvGrpSpPr/>
        <p:nvPr/>
      </p:nvGrpSpPr>
      <p:grpSpPr>
        <a:xfrm>
          <a:off x="0" y="0"/>
          <a:ext cx="0" cy="0"/>
          <a:chOff x="0" y="0"/>
          <a:chExt cx="0" cy="0"/>
        </a:xfrm>
      </p:grpSpPr>
      <p:pic>
        <p:nvPicPr>
          <p:cNvPr id="1459" name="Google Shape;1459;p160"/>
          <p:cNvPicPr preferRelativeResize="0"/>
          <p:nvPr/>
        </p:nvPicPr>
        <p:blipFill rotWithShape="1">
          <a:blip r:embed="rId3">
            <a:alphaModFix/>
          </a:blip>
          <a:srcRect t="15626"/>
          <a:stretch/>
        </p:blipFill>
        <p:spPr>
          <a:xfrm flipH="1">
            <a:off x="0" y="0"/>
            <a:ext cx="9144000" cy="5143500"/>
          </a:xfrm>
          <a:prstGeom prst="rect">
            <a:avLst/>
          </a:prstGeom>
          <a:noFill/>
          <a:ln>
            <a:noFill/>
          </a:ln>
        </p:spPr>
      </p:pic>
      <p:sp>
        <p:nvSpPr>
          <p:cNvPr id="1460" name="Google Shape;1460;p160"/>
          <p:cNvSpPr/>
          <p:nvPr/>
        </p:nvSpPr>
        <p:spPr>
          <a:xfrm>
            <a:off x="0" y="0"/>
            <a:ext cx="9144000" cy="5143500"/>
          </a:xfrm>
          <a:prstGeom prst="rect">
            <a:avLst/>
          </a:prstGeom>
          <a:solidFill>
            <a:srgbClr val="1B786E">
              <a:alpha val="44299"/>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61" name="Google Shape;1461;p160" title="white layer.png"/>
          <p:cNvPicPr preferRelativeResize="0"/>
          <p:nvPr/>
        </p:nvPicPr>
        <p:blipFill>
          <a:blip r:embed="rId4">
            <a:alphaModFix/>
          </a:blip>
          <a:stretch>
            <a:fillRect/>
          </a:stretch>
        </p:blipFill>
        <p:spPr>
          <a:xfrm>
            <a:off x="912825" y="1950975"/>
            <a:ext cx="8231173" cy="3205750"/>
          </a:xfrm>
          <a:prstGeom prst="rect">
            <a:avLst/>
          </a:prstGeom>
          <a:noFill/>
          <a:ln>
            <a:noFill/>
          </a:ln>
        </p:spPr>
      </p:pic>
      <p:pic>
        <p:nvPicPr>
          <p:cNvPr id="1462" name="Google Shape;1462;p160" title="Gemini_Generated_Image_rtvpp5rtvpp5rtvp (1).png"/>
          <p:cNvPicPr preferRelativeResize="0"/>
          <p:nvPr/>
        </p:nvPicPr>
        <p:blipFill rotWithShape="1">
          <a:blip r:embed="rId5">
            <a:alphaModFix amt="85000"/>
          </a:blip>
          <a:srcRect l="862"/>
          <a:stretch/>
        </p:blipFill>
        <p:spPr>
          <a:xfrm>
            <a:off x="0" y="-450153"/>
            <a:ext cx="9144003" cy="5606525"/>
          </a:xfrm>
          <a:prstGeom prst="rect">
            <a:avLst/>
          </a:prstGeom>
          <a:noFill/>
          <a:ln>
            <a:noFill/>
          </a:ln>
        </p:spPr>
      </p:pic>
      <p:grpSp>
        <p:nvGrpSpPr>
          <p:cNvPr id="1463" name="Google Shape;1463;p160"/>
          <p:cNvGrpSpPr/>
          <p:nvPr/>
        </p:nvGrpSpPr>
        <p:grpSpPr>
          <a:xfrm>
            <a:off x="7419773" y="4830726"/>
            <a:ext cx="1610547" cy="312775"/>
            <a:chOff x="7472673" y="4830726"/>
            <a:chExt cx="1610547" cy="312775"/>
          </a:xfrm>
        </p:grpSpPr>
        <p:pic>
          <p:nvPicPr>
            <p:cNvPr id="1464" name="Google Shape;1464;p160"/>
            <p:cNvPicPr preferRelativeResize="0"/>
            <p:nvPr/>
          </p:nvPicPr>
          <p:blipFill>
            <a:blip r:embed="rId6">
              <a:alphaModFix/>
            </a:blip>
            <a:stretch>
              <a:fillRect/>
            </a:stretch>
          </p:blipFill>
          <p:spPr>
            <a:xfrm>
              <a:off x="7472673" y="4830726"/>
              <a:ext cx="894924" cy="312775"/>
            </a:xfrm>
            <a:prstGeom prst="rect">
              <a:avLst/>
            </a:prstGeom>
            <a:noFill/>
            <a:ln>
              <a:noFill/>
            </a:ln>
          </p:spPr>
        </p:pic>
        <p:pic>
          <p:nvPicPr>
            <p:cNvPr id="1465" name="Google Shape;1465;p160" title="CEBA new logo.png"/>
            <p:cNvPicPr preferRelativeResize="0"/>
            <p:nvPr/>
          </p:nvPicPr>
          <p:blipFill>
            <a:blip r:embed="rId7">
              <a:alphaModFix/>
            </a:blip>
            <a:stretch>
              <a:fillRect/>
            </a:stretch>
          </p:blipFill>
          <p:spPr>
            <a:xfrm>
              <a:off x="8374923" y="4890787"/>
              <a:ext cx="708296" cy="211825"/>
            </a:xfrm>
            <a:prstGeom prst="rect">
              <a:avLst/>
            </a:prstGeom>
            <a:noFill/>
            <a:ln>
              <a:noFill/>
            </a:ln>
          </p:spPr>
        </p:pic>
      </p:grpSp>
      <p:sp>
        <p:nvSpPr>
          <p:cNvPr id="1466" name="Google Shape;1466;p160"/>
          <p:cNvSpPr txBox="1"/>
          <p:nvPr/>
        </p:nvSpPr>
        <p:spPr>
          <a:xfrm>
            <a:off x="2213925" y="2941666"/>
            <a:ext cx="6639000" cy="1017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Font typeface="Arial"/>
              <a:buNone/>
            </a:pPr>
            <a:r>
              <a:rPr lang="en" sz="3000" b="1">
                <a:solidFill>
                  <a:srgbClr val="035D4E"/>
                </a:solidFill>
                <a:latin typeface="Montserrat"/>
                <a:ea typeface="Montserrat"/>
                <a:cs typeface="Montserrat"/>
                <a:sym typeface="Montserrat"/>
              </a:rPr>
              <a:t>Session 5.2:</a:t>
            </a:r>
            <a:r>
              <a:rPr lang="en" sz="2400" b="1">
                <a:solidFill>
                  <a:srgbClr val="035D4E"/>
                </a:solidFill>
                <a:latin typeface="Montserrat"/>
                <a:ea typeface="Montserrat"/>
                <a:cs typeface="Montserrat"/>
                <a:sym typeface="Montserrat"/>
              </a:rPr>
              <a:t> </a:t>
            </a:r>
            <a:br>
              <a:rPr lang="en" sz="2400" b="1">
                <a:solidFill>
                  <a:srgbClr val="035D4E"/>
                </a:solidFill>
                <a:latin typeface="Montserrat"/>
                <a:ea typeface="Montserrat"/>
                <a:cs typeface="Montserrat"/>
                <a:sym typeface="Montserrat"/>
              </a:rPr>
            </a:br>
            <a:r>
              <a:rPr lang="en" sz="2400" b="1">
                <a:solidFill>
                  <a:srgbClr val="035D4E"/>
                </a:solidFill>
                <a:latin typeface="Montserrat"/>
                <a:ea typeface="Montserrat"/>
                <a:cs typeface="Montserrat"/>
                <a:sym typeface="Montserrat"/>
              </a:rPr>
              <a:t>Off-Site Solutions Deep Dive</a:t>
            </a:r>
            <a:endParaRPr sz="2400">
              <a:solidFill>
                <a:srgbClr val="035D4E"/>
              </a:solidFill>
              <a:latin typeface="Montserrat"/>
              <a:ea typeface="Montserrat"/>
              <a:cs typeface="Montserrat"/>
              <a:sym typeface="Montserrat"/>
            </a:endParaRPr>
          </a:p>
          <a:p>
            <a:pPr marL="0" lvl="0" indent="0" algn="r" rtl="0">
              <a:spcBef>
                <a:spcPts val="0"/>
              </a:spcBef>
              <a:spcAft>
                <a:spcPts val="0"/>
              </a:spcAft>
              <a:buNone/>
            </a:pPr>
            <a:r>
              <a:rPr lang="en" sz="2400" i="1">
                <a:solidFill>
                  <a:schemeClr val="dk1"/>
                </a:solidFill>
                <a:latin typeface="Montserrat"/>
                <a:ea typeface="Montserrat"/>
                <a:cs typeface="Montserrat"/>
                <a:sym typeface="Montserrat"/>
              </a:rPr>
              <a:t>Vietnam’s DPPA </a:t>
            </a:r>
            <a:endParaRPr sz="2400" i="1">
              <a:solidFill>
                <a:schemeClr val="dk1"/>
              </a:solidFill>
              <a:latin typeface="Montserrat"/>
              <a:ea typeface="Montserrat"/>
              <a:cs typeface="Montserrat"/>
              <a:sym typeface="Montserrat"/>
            </a:endParaRPr>
          </a:p>
          <a:p>
            <a:pPr marL="0" lvl="0" indent="0" algn="r" rtl="0">
              <a:spcBef>
                <a:spcPts val="0"/>
              </a:spcBef>
              <a:spcAft>
                <a:spcPts val="0"/>
              </a:spcAft>
              <a:buNone/>
            </a:pPr>
            <a:r>
              <a:rPr lang="en" sz="2400" i="1">
                <a:solidFill>
                  <a:schemeClr val="dk1"/>
                </a:solidFill>
                <a:latin typeface="Montserrat"/>
                <a:ea typeface="Montserrat"/>
                <a:cs typeface="Montserrat"/>
                <a:sym typeface="Montserrat"/>
              </a:rPr>
              <a:t>Pricing Considerations</a:t>
            </a:r>
            <a:endParaRPr sz="2400">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161"/>
          <p:cNvSpPr txBox="1"/>
          <p:nvPr/>
        </p:nvSpPr>
        <p:spPr>
          <a:xfrm>
            <a:off x="4638419" y="228357"/>
            <a:ext cx="4018500" cy="16296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 sz="3000" b="1">
                <a:solidFill>
                  <a:srgbClr val="1B786E"/>
                </a:solidFill>
                <a:latin typeface="Montserrat"/>
                <a:ea typeface="Montserrat"/>
                <a:cs typeface="Montserrat"/>
                <a:sym typeface="Montserrat"/>
              </a:rPr>
              <a:t>About the Speaker</a:t>
            </a:r>
            <a:endParaRPr sz="3000" b="1">
              <a:solidFill>
                <a:srgbClr val="1B786E"/>
              </a:solidFill>
              <a:latin typeface="Montserrat"/>
              <a:ea typeface="Montserrat"/>
              <a:cs typeface="Montserrat"/>
              <a:sym typeface="Montserrat"/>
            </a:endParaRPr>
          </a:p>
        </p:txBody>
      </p:sp>
      <p:sp>
        <p:nvSpPr>
          <p:cNvPr id="1472" name="Google Shape;1472;p161"/>
          <p:cNvSpPr txBox="1"/>
          <p:nvPr/>
        </p:nvSpPr>
        <p:spPr>
          <a:xfrm>
            <a:off x="4656225" y="1675450"/>
            <a:ext cx="4018500" cy="3016800"/>
          </a:xfrm>
          <a:prstGeom prst="rect">
            <a:avLst/>
          </a:prstGeom>
          <a:noFill/>
          <a:ln>
            <a:noFill/>
          </a:ln>
        </p:spPr>
        <p:txBody>
          <a:bodyPr spcFirstLastPara="1" wrap="square" lIns="68575" tIns="68575" rIns="68575" bIns="68575" anchor="t" anchorCtr="0">
            <a:spAutoFit/>
          </a:bodyPr>
          <a:lstStyle/>
          <a:p>
            <a:pPr marL="0" lvl="0" indent="0" algn="just" rtl="0">
              <a:spcBef>
                <a:spcPts val="0"/>
              </a:spcBef>
              <a:spcAft>
                <a:spcPts val="0"/>
              </a:spcAft>
              <a:buNone/>
            </a:pPr>
            <a:r>
              <a:rPr lang="en" sz="1100">
                <a:solidFill>
                  <a:schemeClr val="dk1"/>
                </a:solidFill>
                <a:latin typeface="Montserrat"/>
                <a:ea typeface="Montserrat"/>
                <a:cs typeface="Montserrat"/>
                <a:sym typeface="Montserrat"/>
              </a:rPr>
              <a:t>Cong is a renewable energy professional with over a decade of experience. Prior to joining Allotrope, Cong cultivated extensive clean energy technical expertise by supporting the development of solar and wind farms, battery energy storage systems, and asset management projects. In his role with Allotrope, Cong supports corporate clients to evaluate and implement clean energy and decarbonization solutions across a range of technologies. This includes leading techno-economic assessments to determine costs and benefits for specific sites, managing projects and building stakeholder relationships, and supporting business development efforts in Vietnam. Cong holds a Bachelor’s degree in Electromechanics Maintenance Engineering from Hung Yen University of Technology and Education and has advanced certifications in renewable energy and reliability engineering.</a:t>
            </a:r>
            <a:endParaRPr sz="1100">
              <a:solidFill>
                <a:schemeClr val="dk1"/>
              </a:solidFill>
              <a:latin typeface="Montserrat"/>
              <a:ea typeface="Montserrat"/>
              <a:cs typeface="Montserrat"/>
              <a:sym typeface="Montserrat"/>
            </a:endParaRPr>
          </a:p>
        </p:txBody>
      </p:sp>
      <p:sp>
        <p:nvSpPr>
          <p:cNvPr id="1473" name="Google Shape;1473;p161"/>
          <p:cNvSpPr txBox="1"/>
          <p:nvPr/>
        </p:nvSpPr>
        <p:spPr>
          <a:xfrm>
            <a:off x="4638425" y="809952"/>
            <a:ext cx="3684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B786E"/>
                </a:solidFill>
                <a:latin typeface="Montserrat"/>
                <a:ea typeface="Montserrat"/>
                <a:cs typeface="Montserrat"/>
                <a:sym typeface="Montserrat"/>
              </a:rPr>
              <a:t>Cong Nguyen</a:t>
            </a:r>
            <a:endParaRPr b="1">
              <a:solidFill>
                <a:srgbClr val="1B786E"/>
              </a:solidFill>
              <a:latin typeface="Montserrat"/>
              <a:ea typeface="Montserrat"/>
              <a:cs typeface="Montserrat"/>
              <a:sym typeface="Montserrat"/>
            </a:endParaRPr>
          </a:p>
          <a:p>
            <a:pPr marL="0" lvl="0" indent="0" algn="l" rtl="0">
              <a:spcBef>
                <a:spcPts val="0"/>
              </a:spcBef>
              <a:spcAft>
                <a:spcPts val="0"/>
              </a:spcAft>
              <a:buNone/>
            </a:pPr>
            <a:r>
              <a:rPr lang="en" b="1">
                <a:solidFill>
                  <a:srgbClr val="1B786E"/>
                </a:solidFill>
                <a:latin typeface="Montserrat"/>
                <a:ea typeface="Montserrat"/>
                <a:cs typeface="Montserrat"/>
                <a:sym typeface="Montserrat"/>
              </a:rPr>
              <a:t>Allotrope Partners</a:t>
            </a:r>
            <a:endParaRPr b="1">
              <a:solidFill>
                <a:srgbClr val="1B786E"/>
              </a:solidFill>
              <a:latin typeface="Montserrat"/>
              <a:ea typeface="Montserrat"/>
              <a:cs typeface="Montserrat"/>
              <a:sym typeface="Montserrat"/>
            </a:endParaRPr>
          </a:p>
          <a:p>
            <a:pPr marL="0" lvl="0" indent="0" algn="l" rtl="0">
              <a:spcBef>
                <a:spcPts val="0"/>
              </a:spcBef>
              <a:spcAft>
                <a:spcPts val="0"/>
              </a:spcAft>
              <a:buNone/>
            </a:pPr>
            <a:r>
              <a:rPr lang="en" b="1">
                <a:solidFill>
                  <a:srgbClr val="1B786E"/>
                </a:solidFill>
                <a:latin typeface="Montserrat"/>
                <a:ea typeface="Montserrat"/>
                <a:cs typeface="Montserrat"/>
                <a:sym typeface="Montserrat"/>
              </a:rPr>
              <a:t>Vietnam Clean Energy Manager</a:t>
            </a:r>
            <a:endParaRPr b="1">
              <a:solidFill>
                <a:srgbClr val="1B786E"/>
              </a:solidFill>
              <a:latin typeface="Montserrat"/>
              <a:ea typeface="Montserrat"/>
              <a:cs typeface="Montserrat"/>
              <a:sym typeface="Montserrat"/>
            </a:endParaRPr>
          </a:p>
        </p:txBody>
      </p:sp>
      <p:pic>
        <p:nvPicPr>
          <p:cNvPr id="1474" name="Google Shape;1474;p161"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475" name="Google Shape;1475;p161"/>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476" name="Google Shape;1476;p161"/>
          <p:cNvSpPr/>
          <p:nvPr/>
        </p:nvSpPr>
        <p:spPr>
          <a:xfrm rot="10800000" flipH="1">
            <a:off x="380550" y="0"/>
            <a:ext cx="2063700" cy="1924800"/>
          </a:xfrm>
          <a:prstGeom prst="triangle">
            <a:avLst>
              <a:gd name="adj" fmla="val 50000"/>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7" name="Google Shape;1477;p161"/>
          <p:cNvSpPr/>
          <p:nvPr/>
        </p:nvSpPr>
        <p:spPr>
          <a:xfrm>
            <a:off x="476627" y="1278300"/>
            <a:ext cx="4143600" cy="3865200"/>
          </a:xfrm>
          <a:prstGeom prst="triangle">
            <a:avLst>
              <a:gd name="adj" fmla="val 50000"/>
            </a:avLst>
          </a:prstGeom>
          <a:solidFill>
            <a:srgbClr val="237166">
              <a:alpha val="810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8" name="Google Shape;1478;p161"/>
          <p:cNvSpPr/>
          <p:nvPr/>
        </p:nvSpPr>
        <p:spPr>
          <a:xfrm>
            <a:off x="-8211" y="201850"/>
            <a:ext cx="4126800" cy="4380900"/>
          </a:xfrm>
          <a:prstGeom prst="flowChartDelay">
            <a:avLst/>
          </a:prstGeom>
          <a:solidFill>
            <a:srgbClr val="D9D9D9">
              <a:alpha val="69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79" name="Google Shape;1479;p161" title="Screenshot 2025-09-12 094335.png"/>
          <p:cNvPicPr preferRelativeResize="0"/>
          <p:nvPr/>
        </p:nvPicPr>
        <p:blipFill rotWithShape="1">
          <a:blip r:embed="rId5">
            <a:alphaModFix/>
          </a:blip>
          <a:srcRect t="-1027" b="13208"/>
          <a:stretch/>
        </p:blipFill>
        <p:spPr>
          <a:xfrm>
            <a:off x="-8211" y="443950"/>
            <a:ext cx="3839700" cy="3839700"/>
          </a:xfrm>
          <a:prstGeom prst="flowChartDelay">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83"/>
        <p:cNvGrpSpPr/>
        <p:nvPr/>
      </p:nvGrpSpPr>
      <p:grpSpPr>
        <a:xfrm>
          <a:off x="0" y="0"/>
          <a:ext cx="0" cy="0"/>
          <a:chOff x="0" y="0"/>
          <a:chExt cx="0" cy="0"/>
        </a:xfrm>
      </p:grpSpPr>
      <p:grpSp>
        <p:nvGrpSpPr>
          <p:cNvPr id="1484" name="Google Shape;1484;p162"/>
          <p:cNvGrpSpPr/>
          <p:nvPr/>
        </p:nvGrpSpPr>
        <p:grpSpPr>
          <a:xfrm>
            <a:off x="239992" y="63853"/>
            <a:ext cx="8728050" cy="745997"/>
            <a:chOff x="236700" y="63853"/>
            <a:chExt cx="8728050" cy="745997"/>
          </a:xfrm>
        </p:grpSpPr>
        <p:sp>
          <p:nvSpPr>
            <p:cNvPr id="1485" name="Google Shape;1485;p16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86" name="Google Shape;1486;p16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487" name="Google Shape;1487;p16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488" name="Google Shape;1488;p16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489" name="Google Shape;1489;p16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490" name="Google Shape;1490;p16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491" name="Google Shape;1491;p16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492" name="Google Shape;1492;p16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493" name="Google Shape;1493;p16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494" name="Google Shape;1494;p16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495" name="Google Shape;1495;p16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496" name="Google Shape;1496;p162"/>
          <p:cNvSpPr/>
          <p:nvPr/>
        </p:nvSpPr>
        <p:spPr>
          <a:xfrm>
            <a:off x="4680138" y="1526813"/>
            <a:ext cx="4305900" cy="2688600"/>
          </a:xfrm>
          <a:prstGeom prst="roundRect">
            <a:avLst>
              <a:gd name="adj" fmla="val 9955"/>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97" name="Google Shape;1497;p162"/>
          <p:cNvSpPr txBox="1"/>
          <p:nvPr/>
        </p:nvSpPr>
        <p:spPr>
          <a:xfrm>
            <a:off x="483525" y="968225"/>
            <a:ext cx="848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Montserrat"/>
                <a:ea typeface="Montserrat"/>
                <a:cs typeface="Montserrat"/>
                <a:sym typeface="Montserrat"/>
              </a:rPr>
              <a:t>Follow the Money: From your EVN Bill to a Bankable DPPA</a:t>
            </a:r>
            <a:endParaRPr b="1">
              <a:latin typeface="Montserrat"/>
              <a:ea typeface="Montserrat"/>
              <a:cs typeface="Montserrat"/>
              <a:sym typeface="Montserrat"/>
            </a:endParaRPr>
          </a:p>
        </p:txBody>
      </p:sp>
      <p:graphicFrame>
        <p:nvGraphicFramePr>
          <p:cNvPr id="1498" name="Google Shape;1498;p162"/>
          <p:cNvGraphicFramePr/>
          <p:nvPr/>
        </p:nvGraphicFramePr>
        <p:xfrm>
          <a:off x="483533" y="1526817"/>
          <a:ext cx="3000000" cy="3000000"/>
        </p:xfrm>
        <a:graphic>
          <a:graphicData uri="http://schemas.openxmlformats.org/drawingml/2006/table">
            <a:tbl>
              <a:tblPr firstRow="1" bandRow="1">
                <a:noFill/>
                <a:tableStyleId>{CE8BD2AF-5D0D-4EDC-AE96-A30A7DA1AF2F}</a:tableStyleId>
              </a:tblPr>
              <a:tblGrid>
                <a:gridCol w="515450">
                  <a:extLst>
                    <a:ext uri="{9D8B030D-6E8A-4147-A177-3AD203B41FA5}">
                      <a16:colId xmlns:a16="http://schemas.microsoft.com/office/drawing/2014/main" val="20000"/>
                    </a:ext>
                  </a:extLst>
                </a:gridCol>
                <a:gridCol w="3437100">
                  <a:extLst>
                    <a:ext uri="{9D8B030D-6E8A-4147-A177-3AD203B41FA5}">
                      <a16:colId xmlns:a16="http://schemas.microsoft.com/office/drawing/2014/main" val="20001"/>
                    </a:ext>
                  </a:extLst>
                </a:gridCol>
              </a:tblGrid>
              <a:tr h="34502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Module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The </a:t>
                      </a:r>
                      <a:r>
                        <a:rPr lang="en" sz="1300">
                          <a:solidFill>
                            <a:schemeClr val="dk1"/>
                          </a:solidFill>
                          <a:latin typeface="Montserrat"/>
                          <a:ea typeface="Montserrat"/>
                          <a:cs typeface="Montserrat"/>
                          <a:sym typeface="Montserrat"/>
                        </a:rPr>
                        <a:t>B</a:t>
                      </a:r>
                      <a:r>
                        <a:rPr lang="en" sz="1300" u="none" strike="noStrike" cap="none">
                          <a:solidFill>
                            <a:schemeClr val="dk1"/>
                          </a:solidFill>
                          <a:latin typeface="Montserrat"/>
                          <a:ea typeface="Montserrat"/>
                          <a:cs typeface="Montserrat"/>
                          <a:sym typeface="Montserrat"/>
                        </a:rPr>
                        <a:t>aseline: </a:t>
                      </a:r>
                      <a:r>
                        <a:rPr lang="en" sz="1300">
                          <a:solidFill>
                            <a:schemeClr val="dk1"/>
                          </a:solidFill>
                          <a:latin typeface="Montserrat"/>
                          <a:ea typeface="Montserrat"/>
                          <a:cs typeface="Montserrat"/>
                          <a:sym typeface="Montserrat"/>
                        </a:rPr>
                        <a:t>W</a:t>
                      </a:r>
                      <a:r>
                        <a:rPr lang="en" sz="1300" u="none" strike="noStrike" cap="none">
                          <a:solidFill>
                            <a:schemeClr val="dk1"/>
                          </a:solidFill>
                          <a:latin typeface="Montserrat"/>
                          <a:ea typeface="Montserrat"/>
                          <a:cs typeface="Montserrat"/>
                          <a:sym typeface="Montserrat"/>
                        </a:rPr>
                        <a:t>hat </a:t>
                      </a:r>
                      <a:r>
                        <a:rPr lang="en" sz="1300">
                          <a:solidFill>
                            <a:schemeClr val="dk1"/>
                          </a:solidFill>
                          <a:latin typeface="Montserrat"/>
                          <a:ea typeface="Montserrat"/>
                          <a:cs typeface="Montserrat"/>
                          <a:sym typeface="Montserrat"/>
                        </a:rPr>
                        <a:t>Y</a:t>
                      </a:r>
                      <a:r>
                        <a:rPr lang="en" sz="1300" u="none" strike="noStrike" cap="none">
                          <a:solidFill>
                            <a:schemeClr val="dk1"/>
                          </a:solidFill>
                          <a:latin typeface="Montserrat"/>
                          <a:ea typeface="Montserrat"/>
                          <a:cs typeface="Montserrat"/>
                          <a:sym typeface="Montserrat"/>
                        </a:rPr>
                        <a:t>ou </a:t>
                      </a:r>
                      <a:r>
                        <a:rPr lang="en" sz="1300">
                          <a:solidFill>
                            <a:schemeClr val="dk1"/>
                          </a:solidFill>
                          <a:latin typeface="Montserrat"/>
                          <a:ea typeface="Montserrat"/>
                          <a:cs typeface="Montserrat"/>
                          <a:sym typeface="Montserrat"/>
                        </a:rPr>
                        <a:t>P</a:t>
                      </a:r>
                      <a:r>
                        <a:rPr lang="en" sz="1300" u="none" strike="noStrike" cap="none">
                          <a:solidFill>
                            <a:schemeClr val="dk1"/>
                          </a:solidFill>
                          <a:latin typeface="Montserrat"/>
                          <a:ea typeface="Montserrat"/>
                          <a:cs typeface="Montserrat"/>
                          <a:sym typeface="Montserrat"/>
                        </a:rPr>
                        <a:t>ay EVN </a:t>
                      </a:r>
                      <a:r>
                        <a:rPr lang="en" sz="1300">
                          <a:solidFill>
                            <a:schemeClr val="dk1"/>
                          </a:solidFill>
                          <a:latin typeface="Montserrat"/>
                          <a:ea typeface="Montserrat"/>
                          <a:cs typeface="Montserrat"/>
                          <a:sym typeface="Montserrat"/>
                        </a:rPr>
                        <a:t>T</a:t>
                      </a:r>
                      <a:r>
                        <a:rPr lang="en" sz="1300" u="none" strike="noStrike" cap="none">
                          <a:solidFill>
                            <a:schemeClr val="dk1"/>
                          </a:solidFill>
                          <a:latin typeface="Montserrat"/>
                          <a:ea typeface="Montserrat"/>
                          <a:cs typeface="Montserrat"/>
                          <a:sym typeface="Montserrat"/>
                        </a:rPr>
                        <a:t>oday</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1"/>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2</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Virtual DPPA </a:t>
                      </a:r>
                      <a:r>
                        <a:rPr lang="en" sz="1300">
                          <a:solidFill>
                            <a:schemeClr val="dk1"/>
                          </a:solidFill>
                          <a:latin typeface="Montserrat"/>
                          <a:ea typeface="Montserrat"/>
                          <a:cs typeface="Montserrat"/>
                          <a:sym typeface="Montserrat"/>
                        </a:rPr>
                        <a:t>M</a:t>
                      </a:r>
                      <a:r>
                        <a:rPr lang="en" sz="1300" u="none" strike="noStrike" cap="none">
                          <a:solidFill>
                            <a:schemeClr val="dk1"/>
                          </a:solidFill>
                          <a:latin typeface="Montserrat"/>
                          <a:ea typeface="Montserrat"/>
                          <a:cs typeface="Montserrat"/>
                          <a:sym typeface="Montserrat"/>
                        </a:rPr>
                        <a:t>oney </a:t>
                      </a:r>
                      <a:r>
                        <a:rPr lang="en" sz="1300">
                          <a:solidFill>
                            <a:schemeClr val="dk1"/>
                          </a:solidFill>
                          <a:latin typeface="Montserrat"/>
                          <a:ea typeface="Montserrat"/>
                          <a:cs typeface="Montserrat"/>
                          <a:sym typeface="Montserrat"/>
                        </a:rPr>
                        <a:t>F</a:t>
                      </a:r>
                      <a:r>
                        <a:rPr lang="en" sz="1300" u="none" strike="noStrike" cap="none">
                          <a:solidFill>
                            <a:schemeClr val="dk1"/>
                          </a:solidFill>
                          <a:latin typeface="Montserrat"/>
                          <a:ea typeface="Montserrat"/>
                          <a:cs typeface="Montserrat"/>
                          <a:sym typeface="Montserrat"/>
                        </a:rPr>
                        <a:t>low: </a:t>
                      </a:r>
                      <a:r>
                        <a:rPr lang="en" sz="1300">
                          <a:solidFill>
                            <a:schemeClr val="dk1"/>
                          </a:solidFill>
                          <a:latin typeface="Montserrat"/>
                          <a:ea typeface="Montserrat"/>
                          <a:cs typeface="Montserrat"/>
                          <a:sym typeface="Montserrat"/>
                        </a:rPr>
                        <a:t>The Five-Line Bill</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2"/>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3</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CfD </a:t>
                      </a:r>
                      <a:r>
                        <a:rPr lang="en" sz="1300">
                          <a:solidFill>
                            <a:schemeClr val="dk1"/>
                          </a:solidFill>
                          <a:latin typeface="Montserrat"/>
                          <a:ea typeface="Montserrat"/>
                          <a:cs typeface="Montserrat"/>
                          <a:sym typeface="Montserrat"/>
                        </a:rPr>
                        <a:t>M</a:t>
                      </a:r>
                      <a:r>
                        <a:rPr lang="en" sz="1300" u="none" strike="noStrike" cap="none">
                          <a:solidFill>
                            <a:schemeClr val="dk1"/>
                          </a:solidFill>
                          <a:latin typeface="Montserrat"/>
                          <a:ea typeface="Montserrat"/>
                          <a:cs typeface="Montserrat"/>
                          <a:sym typeface="Montserrat"/>
                        </a:rPr>
                        <a:t>echanics: </a:t>
                      </a:r>
                      <a:r>
                        <a:rPr lang="en" sz="1300">
                          <a:solidFill>
                            <a:schemeClr val="dk1"/>
                          </a:solidFill>
                          <a:latin typeface="Montserrat"/>
                          <a:ea typeface="Montserrat"/>
                          <a:cs typeface="Montserrat"/>
                          <a:sym typeface="Montserrat"/>
                        </a:rPr>
                        <a:t>W</a:t>
                      </a:r>
                      <a:r>
                        <a:rPr lang="en" sz="1300" u="none" strike="noStrike" cap="none">
                          <a:solidFill>
                            <a:schemeClr val="dk1"/>
                          </a:solidFill>
                          <a:latin typeface="Montserrat"/>
                          <a:ea typeface="Montserrat"/>
                          <a:cs typeface="Montserrat"/>
                          <a:sym typeface="Montserrat"/>
                        </a:rPr>
                        <a:t>hat </a:t>
                      </a:r>
                      <a:r>
                        <a:rPr lang="en" sz="1300">
                          <a:solidFill>
                            <a:schemeClr val="dk1"/>
                          </a:solidFill>
                          <a:latin typeface="Montserrat"/>
                          <a:ea typeface="Montserrat"/>
                          <a:cs typeface="Montserrat"/>
                          <a:sym typeface="Montserrat"/>
                        </a:rPr>
                        <a:t>D</a:t>
                      </a:r>
                      <a:r>
                        <a:rPr lang="en" sz="1300" u="none" strike="noStrike" cap="none">
                          <a:solidFill>
                            <a:schemeClr val="dk1"/>
                          </a:solidFill>
                          <a:latin typeface="Montserrat"/>
                          <a:ea typeface="Montserrat"/>
                          <a:cs typeface="Montserrat"/>
                          <a:sym typeface="Montserrat"/>
                        </a:rPr>
                        <a:t>rives </a:t>
                      </a:r>
                      <a:r>
                        <a:rPr lang="en" sz="1300">
                          <a:solidFill>
                            <a:schemeClr val="dk1"/>
                          </a:solidFill>
                          <a:latin typeface="Montserrat"/>
                          <a:ea typeface="Montserrat"/>
                          <a:cs typeface="Montserrat"/>
                          <a:sym typeface="Montserrat"/>
                        </a:rPr>
                        <a:t>Y</a:t>
                      </a:r>
                      <a:r>
                        <a:rPr lang="en" sz="1300" u="none" strike="noStrike" cap="none">
                          <a:solidFill>
                            <a:schemeClr val="dk1"/>
                          </a:solidFill>
                          <a:latin typeface="Montserrat"/>
                          <a:ea typeface="Montserrat"/>
                          <a:cs typeface="Montserrat"/>
                          <a:sym typeface="Montserrat"/>
                        </a:rPr>
                        <a:t>our </a:t>
                      </a:r>
                      <a:r>
                        <a:rPr lang="en" sz="1300">
                          <a:solidFill>
                            <a:schemeClr val="dk1"/>
                          </a:solidFill>
                          <a:latin typeface="Montserrat"/>
                          <a:ea typeface="Montserrat"/>
                          <a:cs typeface="Montserrat"/>
                          <a:sym typeface="Montserrat"/>
                        </a:rPr>
                        <a:t>Quoted Price</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3"/>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4</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Developer </a:t>
                      </a:r>
                      <a:r>
                        <a:rPr lang="en" sz="1300">
                          <a:solidFill>
                            <a:schemeClr val="dk1"/>
                          </a:solidFill>
                          <a:latin typeface="Montserrat"/>
                          <a:ea typeface="Montserrat"/>
                          <a:cs typeface="Montserrat"/>
                          <a:sym typeface="Montserrat"/>
                        </a:rPr>
                        <a:t>E</a:t>
                      </a:r>
                      <a:r>
                        <a:rPr lang="en" sz="1300" u="none" strike="noStrike" cap="none">
                          <a:solidFill>
                            <a:schemeClr val="dk1"/>
                          </a:solidFill>
                          <a:latin typeface="Montserrat"/>
                          <a:ea typeface="Montserrat"/>
                          <a:cs typeface="Montserrat"/>
                          <a:sym typeface="Montserrat"/>
                        </a:rPr>
                        <a:t>conomics and the </a:t>
                      </a:r>
                      <a:r>
                        <a:rPr lang="en" sz="1300">
                          <a:solidFill>
                            <a:schemeClr val="dk1"/>
                          </a:solidFill>
                          <a:latin typeface="Montserrat"/>
                          <a:ea typeface="Montserrat"/>
                          <a:cs typeface="Montserrat"/>
                          <a:sym typeface="Montserrat"/>
                        </a:rPr>
                        <a:t>T</a:t>
                      </a:r>
                      <a:r>
                        <a:rPr lang="en" sz="1300" u="none" strike="noStrike" cap="none">
                          <a:solidFill>
                            <a:schemeClr val="dk1"/>
                          </a:solidFill>
                          <a:latin typeface="Montserrat"/>
                          <a:ea typeface="Montserrat"/>
                          <a:cs typeface="Montserrat"/>
                          <a:sym typeface="Montserrat"/>
                        </a:rPr>
                        <a:t>hree </a:t>
                      </a:r>
                      <a:r>
                        <a:rPr lang="en" sz="1300">
                          <a:solidFill>
                            <a:schemeClr val="dk1"/>
                          </a:solidFill>
                          <a:latin typeface="Montserrat"/>
                          <a:ea typeface="Montserrat"/>
                          <a:cs typeface="Montserrat"/>
                          <a:sym typeface="Montserrat"/>
                        </a:rPr>
                        <a:t>G</a:t>
                      </a:r>
                      <a:r>
                        <a:rPr lang="en" sz="1300" u="none" strike="noStrike" cap="none">
                          <a:solidFill>
                            <a:schemeClr val="dk1"/>
                          </a:solidFill>
                          <a:latin typeface="Montserrat"/>
                          <a:ea typeface="Montserrat"/>
                          <a:cs typeface="Montserrat"/>
                          <a:sym typeface="Montserrat"/>
                        </a:rPr>
                        <a:t>ates</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4"/>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5</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Case </a:t>
                      </a:r>
                      <a:r>
                        <a:rPr lang="en" sz="1300">
                          <a:solidFill>
                            <a:schemeClr val="dk1"/>
                          </a:solidFill>
                          <a:latin typeface="Montserrat"/>
                          <a:ea typeface="Montserrat"/>
                          <a:cs typeface="Montserrat"/>
                          <a:sym typeface="Montserrat"/>
                        </a:rPr>
                        <a:t>S</a:t>
                      </a:r>
                      <a:r>
                        <a:rPr lang="en" sz="1300" u="none" strike="noStrike" cap="none">
                          <a:solidFill>
                            <a:schemeClr val="dk1"/>
                          </a:solidFill>
                          <a:latin typeface="Montserrat"/>
                          <a:ea typeface="Montserrat"/>
                          <a:cs typeface="Montserrat"/>
                          <a:sym typeface="Montserrat"/>
                        </a:rPr>
                        <a:t>tud</a:t>
                      </a:r>
                      <a:r>
                        <a:rPr lang="en" sz="1300">
                          <a:solidFill>
                            <a:schemeClr val="dk1"/>
                          </a:solidFill>
                          <a:latin typeface="Montserrat"/>
                          <a:ea typeface="Montserrat"/>
                          <a:cs typeface="Montserrat"/>
                          <a:sym typeface="Montserrat"/>
                        </a:rPr>
                        <a:t>ies 5 &amp; 6</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5"/>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6</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Key </a:t>
                      </a:r>
                      <a:r>
                        <a:rPr lang="en" sz="1300">
                          <a:solidFill>
                            <a:schemeClr val="dk1"/>
                          </a:solidFill>
                          <a:latin typeface="Montserrat"/>
                          <a:ea typeface="Montserrat"/>
                          <a:cs typeface="Montserrat"/>
                          <a:sym typeface="Montserrat"/>
                        </a:rPr>
                        <a:t>D</a:t>
                      </a:r>
                      <a:r>
                        <a:rPr lang="en" sz="1300" u="none" strike="noStrike" cap="none">
                          <a:solidFill>
                            <a:schemeClr val="dk1"/>
                          </a:solidFill>
                          <a:latin typeface="Montserrat"/>
                          <a:ea typeface="Montserrat"/>
                          <a:cs typeface="Montserrat"/>
                          <a:sym typeface="Montserrat"/>
                        </a:rPr>
                        <a:t>ecision </a:t>
                      </a:r>
                      <a:r>
                        <a:rPr lang="en" sz="1300">
                          <a:solidFill>
                            <a:schemeClr val="dk1"/>
                          </a:solidFill>
                          <a:latin typeface="Montserrat"/>
                          <a:ea typeface="Montserrat"/>
                          <a:cs typeface="Montserrat"/>
                          <a:sym typeface="Montserrat"/>
                        </a:rPr>
                        <a:t>P</a:t>
                      </a:r>
                      <a:r>
                        <a:rPr lang="en" sz="1300" u="none" strike="noStrike" cap="none">
                          <a:solidFill>
                            <a:schemeClr val="dk1"/>
                          </a:solidFill>
                          <a:latin typeface="Montserrat"/>
                          <a:ea typeface="Montserrat"/>
                          <a:cs typeface="Montserrat"/>
                          <a:sym typeface="Montserrat"/>
                        </a:rPr>
                        <a:t>oints and </a:t>
                      </a:r>
                      <a:r>
                        <a:rPr lang="en" sz="1300">
                          <a:solidFill>
                            <a:schemeClr val="dk1"/>
                          </a:solidFill>
                          <a:latin typeface="Montserrat"/>
                          <a:ea typeface="Montserrat"/>
                          <a:cs typeface="Montserrat"/>
                          <a:sym typeface="Montserrat"/>
                        </a:rPr>
                        <a:t>Wrap-up</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6"/>
                  </a:ext>
                </a:extLst>
              </a:tr>
            </a:tbl>
          </a:graphicData>
        </a:graphic>
      </p:graphicFrame>
      <p:sp>
        <p:nvSpPr>
          <p:cNvPr id="1499" name="Google Shape;1499;p162"/>
          <p:cNvSpPr txBox="1"/>
          <p:nvPr/>
        </p:nvSpPr>
        <p:spPr>
          <a:xfrm>
            <a:off x="4871317" y="1576126"/>
            <a:ext cx="4015500" cy="264900"/>
          </a:xfrm>
          <a:prstGeom prst="rect">
            <a:avLst/>
          </a:prstGeom>
          <a:noFill/>
          <a:ln>
            <a:noFill/>
          </a:ln>
        </p:spPr>
        <p:txBody>
          <a:bodyPr spcFirstLastPara="1" wrap="square" lIns="78725" tIns="39350" rIns="78725" bIns="39350" anchor="t" anchorCtr="0">
            <a:spAutoFit/>
          </a:bodyPr>
          <a:lstStyle/>
          <a:p>
            <a:pPr marL="0" marR="0" lvl="0" indent="0" algn="l" rtl="0">
              <a:lnSpc>
                <a:spcPct val="100000"/>
              </a:lnSpc>
              <a:spcBef>
                <a:spcPts val="0"/>
              </a:spcBef>
              <a:spcAft>
                <a:spcPts val="0"/>
              </a:spcAft>
              <a:buNone/>
            </a:pPr>
            <a:r>
              <a:rPr lang="en" sz="1205" b="1" i="0" u="none" strike="noStrike" cap="none">
                <a:solidFill>
                  <a:schemeClr val="dk1"/>
                </a:solidFill>
                <a:latin typeface="Montserrat"/>
                <a:ea typeface="Montserrat"/>
                <a:cs typeface="Montserrat"/>
                <a:sym typeface="Montserrat"/>
              </a:rPr>
              <a:t>By the end of this session you </a:t>
            </a:r>
            <a:r>
              <a:rPr lang="en" sz="1205" b="1">
                <a:solidFill>
                  <a:schemeClr val="dk1"/>
                </a:solidFill>
                <a:latin typeface="Montserrat"/>
                <a:ea typeface="Montserrat"/>
                <a:cs typeface="Montserrat"/>
                <a:sym typeface="Montserrat"/>
              </a:rPr>
              <a:t>will be able</a:t>
            </a:r>
            <a:r>
              <a:rPr lang="en" sz="1205" b="1" i="0" u="none" strike="noStrike" cap="none">
                <a:solidFill>
                  <a:schemeClr val="dk1"/>
                </a:solidFill>
                <a:latin typeface="Montserrat"/>
                <a:ea typeface="Montserrat"/>
                <a:cs typeface="Montserrat"/>
                <a:sym typeface="Montserrat"/>
              </a:rPr>
              <a:t>:</a:t>
            </a:r>
            <a:endParaRPr sz="1205">
              <a:solidFill>
                <a:schemeClr val="dk1"/>
              </a:solidFill>
              <a:latin typeface="Montserrat"/>
              <a:ea typeface="Montserrat"/>
              <a:cs typeface="Montserrat"/>
              <a:sym typeface="Montserrat"/>
            </a:endParaRPr>
          </a:p>
        </p:txBody>
      </p:sp>
      <p:sp>
        <p:nvSpPr>
          <p:cNvPr id="1500" name="Google Shape;1500;p162"/>
          <p:cNvSpPr txBox="1"/>
          <p:nvPr/>
        </p:nvSpPr>
        <p:spPr>
          <a:xfrm>
            <a:off x="4871313" y="1922565"/>
            <a:ext cx="4015500" cy="1970100"/>
          </a:xfrm>
          <a:prstGeom prst="rect">
            <a:avLst/>
          </a:prstGeom>
          <a:noFill/>
          <a:ln>
            <a:noFill/>
          </a:ln>
        </p:spPr>
        <p:txBody>
          <a:bodyPr spcFirstLastPara="1" wrap="square" lIns="78725" tIns="39350" rIns="78725" bIns="39350" anchor="t" anchorCtr="0">
            <a:spAutoFit/>
          </a:bodyPr>
          <a:lstStyle/>
          <a:p>
            <a:pPr marL="0" marR="0" lvl="0" indent="0" algn="l" rtl="0">
              <a:lnSpc>
                <a:spcPct val="115000"/>
              </a:lnSpc>
              <a:spcBef>
                <a:spcPts val="0"/>
              </a:spcBef>
              <a:spcAft>
                <a:spcPts val="0"/>
              </a:spcAft>
              <a:buNone/>
            </a:pPr>
            <a:r>
              <a:rPr lang="en" sz="1119" i="0" u="none" strike="noStrike" cap="none">
                <a:solidFill>
                  <a:schemeClr val="dk1"/>
                </a:solidFill>
                <a:latin typeface="Montserrat"/>
                <a:ea typeface="Montserrat"/>
                <a:cs typeface="Montserrat"/>
                <a:sym typeface="Montserrat"/>
              </a:rPr>
              <a:t>1.  </a:t>
            </a:r>
            <a:r>
              <a:rPr lang="en" sz="1119">
                <a:solidFill>
                  <a:schemeClr val="dk1"/>
                </a:solidFill>
                <a:latin typeface="Montserrat"/>
                <a:ea typeface="Montserrat"/>
                <a:cs typeface="Montserrat"/>
                <a:sym typeface="Montserrat"/>
              </a:rPr>
              <a:t>Breakdown</a:t>
            </a:r>
            <a:r>
              <a:rPr lang="en" sz="1119" i="0" u="none" strike="noStrike" cap="none">
                <a:solidFill>
                  <a:schemeClr val="dk1"/>
                </a:solidFill>
                <a:latin typeface="Montserrat"/>
                <a:ea typeface="Montserrat"/>
                <a:cs typeface="Montserrat"/>
                <a:sym typeface="Montserrat"/>
              </a:rPr>
              <a:t> a virtual DPPA monthly settlement into its five components and compare it to your EVN bill</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2.  Explain how the CfD strike, market price </a:t>
            </a:r>
            <a:r>
              <a:rPr lang="en" sz="1119">
                <a:solidFill>
                  <a:schemeClr val="dk1"/>
                </a:solidFill>
                <a:latin typeface="Montserrat"/>
                <a:ea typeface="Montserrat"/>
                <a:cs typeface="Montserrat"/>
                <a:sym typeface="Montserrat"/>
              </a:rPr>
              <a:t>(FMP)</a:t>
            </a:r>
            <a:r>
              <a:rPr lang="en" sz="1119" i="0" u="none" strike="noStrike" cap="none">
                <a:solidFill>
                  <a:schemeClr val="dk1"/>
                </a:solidFill>
                <a:latin typeface="Montserrat"/>
                <a:ea typeface="Montserrat"/>
                <a:cs typeface="Montserrat"/>
                <a:sym typeface="Montserrat"/>
              </a:rPr>
              <a:t>, loss factors, and grid fees set your net cost</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3.  See why buyers, sellers and lenders each have a </a:t>
            </a:r>
            <a:r>
              <a:rPr lang="en" sz="1119">
                <a:solidFill>
                  <a:schemeClr val="dk1"/>
                </a:solidFill>
                <a:latin typeface="Montserrat"/>
                <a:ea typeface="Montserrat"/>
                <a:cs typeface="Montserrat"/>
                <a:sym typeface="Montserrat"/>
              </a:rPr>
              <a:t>“</a:t>
            </a:r>
            <a:r>
              <a:rPr lang="en" sz="1119" i="0" u="none" strike="noStrike" cap="none">
                <a:solidFill>
                  <a:schemeClr val="dk1"/>
                </a:solidFill>
                <a:latin typeface="Montserrat"/>
                <a:ea typeface="Montserrat"/>
                <a:cs typeface="Montserrat"/>
                <a:sym typeface="Montserrat"/>
              </a:rPr>
              <a:t>gate</a:t>
            </a:r>
            <a:r>
              <a:rPr lang="en" sz="1119">
                <a:solidFill>
                  <a:schemeClr val="dk1"/>
                </a:solidFill>
                <a:latin typeface="Montserrat"/>
                <a:ea typeface="Montserrat"/>
                <a:cs typeface="Montserrat"/>
                <a:sym typeface="Montserrat"/>
              </a:rPr>
              <a:t>”</a:t>
            </a:r>
            <a:r>
              <a:rPr lang="en" sz="1119" i="0" u="none" strike="noStrike" cap="none">
                <a:solidFill>
                  <a:schemeClr val="dk1"/>
                </a:solidFill>
                <a:latin typeface="Montserrat"/>
                <a:ea typeface="Montserrat"/>
                <a:cs typeface="Montserrat"/>
                <a:sym typeface="Montserrat"/>
              </a:rPr>
              <a:t> and why a deal must pass all three</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4.  Leave with realistic pricing expectations grounded in a real factory model</a:t>
            </a:r>
            <a:endParaRPr sz="1205">
              <a:solidFill>
                <a:schemeClr val="dk1"/>
              </a:solidFill>
              <a:latin typeface="Montserrat"/>
              <a:ea typeface="Montserrat"/>
              <a:cs typeface="Montserrat"/>
              <a:sym typeface="Montserrat"/>
            </a:endParaRPr>
          </a:p>
        </p:txBody>
      </p:sp>
      <p:sp>
        <p:nvSpPr>
          <p:cNvPr id="1501" name="Google Shape;1501;p162"/>
          <p:cNvSpPr txBox="1"/>
          <p:nvPr/>
        </p:nvSpPr>
        <p:spPr>
          <a:xfrm>
            <a:off x="483535" y="4556438"/>
            <a:ext cx="2858400" cy="2694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400"/>
              </a:spcBef>
              <a:spcAft>
                <a:spcPts val="0"/>
              </a:spcAft>
              <a:buNone/>
            </a:pPr>
            <a:r>
              <a:rPr lang="en" sz="1150" i="0" u="none" strike="noStrike" cap="none">
                <a:solidFill>
                  <a:schemeClr val="dk1"/>
                </a:solidFill>
                <a:latin typeface="Montserrat"/>
                <a:ea typeface="Montserrat"/>
                <a:cs typeface="Montserrat"/>
                <a:sym typeface="Montserrat"/>
              </a:rPr>
              <a:t>Scope: </a:t>
            </a:r>
            <a:r>
              <a:rPr lang="en" sz="1150">
                <a:solidFill>
                  <a:schemeClr val="dk1"/>
                </a:solidFill>
                <a:latin typeface="Montserrat"/>
                <a:ea typeface="Montserrat"/>
                <a:cs typeface="Montserrat"/>
                <a:sym typeface="Montserrat"/>
              </a:rPr>
              <a:t>V</a:t>
            </a:r>
            <a:r>
              <a:rPr lang="en" sz="1150" i="0" u="none" strike="noStrike" cap="none">
                <a:solidFill>
                  <a:schemeClr val="dk1"/>
                </a:solidFill>
                <a:latin typeface="Montserrat"/>
                <a:ea typeface="Montserrat"/>
                <a:cs typeface="Montserrat"/>
                <a:sym typeface="Montserrat"/>
              </a:rPr>
              <a:t>irtual</a:t>
            </a:r>
            <a:r>
              <a:rPr lang="en" sz="1150">
                <a:solidFill>
                  <a:schemeClr val="dk1"/>
                </a:solidFill>
                <a:latin typeface="Montserrat"/>
                <a:ea typeface="Montserrat"/>
                <a:cs typeface="Montserrat"/>
                <a:sym typeface="Montserrat"/>
              </a:rPr>
              <a:t> </a:t>
            </a:r>
            <a:r>
              <a:rPr lang="en" sz="1150" i="0" u="none" strike="noStrike" cap="none">
                <a:solidFill>
                  <a:schemeClr val="dk1"/>
                </a:solidFill>
                <a:latin typeface="Montserrat"/>
                <a:ea typeface="Montserrat"/>
                <a:cs typeface="Montserrat"/>
                <a:sym typeface="Montserrat"/>
              </a:rPr>
              <a:t>DPPA </a:t>
            </a:r>
            <a:r>
              <a:rPr lang="en" sz="1150">
                <a:solidFill>
                  <a:schemeClr val="dk1"/>
                </a:solidFill>
                <a:latin typeface="Montserrat"/>
                <a:ea typeface="Montserrat"/>
                <a:cs typeface="Montserrat"/>
                <a:sym typeface="Montserrat"/>
              </a:rPr>
              <a:t> (grid CfD) </a:t>
            </a:r>
            <a:r>
              <a:rPr lang="en" sz="1150" i="0" u="none" strike="noStrike" cap="none">
                <a:solidFill>
                  <a:schemeClr val="dk1"/>
                </a:solidFill>
                <a:latin typeface="Montserrat"/>
                <a:ea typeface="Montserrat"/>
                <a:cs typeface="Montserrat"/>
                <a:sym typeface="Montserrat"/>
              </a:rPr>
              <a:t>only.</a:t>
            </a:r>
            <a:endParaRPr>
              <a:solidFill>
                <a:schemeClr val="dk1"/>
              </a:solidFill>
              <a:latin typeface="Montserrat"/>
              <a:ea typeface="Montserrat"/>
              <a:cs typeface="Montserrat"/>
              <a:sym typeface="Montserrat"/>
            </a:endParaRPr>
          </a:p>
        </p:txBody>
      </p:sp>
      <p:sp>
        <p:nvSpPr>
          <p:cNvPr id="1502" name="Google Shape;1502;p162"/>
          <p:cNvSpPr txBox="1"/>
          <p:nvPr/>
        </p:nvSpPr>
        <p:spPr>
          <a:xfrm>
            <a:off x="640492" y="281363"/>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rgbClr val="FFFFFF"/>
                </a:solidFill>
                <a:latin typeface="Montserrat ExtraBold"/>
                <a:ea typeface="Montserrat ExtraBold"/>
                <a:cs typeface="Montserrat ExtraBold"/>
                <a:sym typeface="Montserrat ExtraBold"/>
              </a:rPr>
              <a:t>Session Roadmap</a:t>
            </a:r>
            <a:endParaRPr sz="21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6"/>
        <p:cNvGrpSpPr/>
        <p:nvPr/>
      </p:nvGrpSpPr>
      <p:grpSpPr>
        <a:xfrm>
          <a:off x="0" y="0"/>
          <a:ext cx="0" cy="0"/>
          <a:chOff x="0" y="0"/>
          <a:chExt cx="0" cy="0"/>
        </a:xfrm>
      </p:grpSpPr>
      <p:cxnSp>
        <p:nvCxnSpPr>
          <p:cNvPr id="1507" name="Google Shape;1507;p163"/>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508" name="Google Shape;1508;p163"/>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1:</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The Baseline: What You Pay EVN Today</a:t>
            </a:r>
            <a:endParaRPr sz="2800" b="1">
              <a:solidFill>
                <a:srgbClr val="0F172A"/>
              </a:solidFill>
              <a:highlight>
                <a:srgbClr val="FFFFFF"/>
              </a:highlight>
              <a:latin typeface="Montserrat"/>
              <a:ea typeface="Montserrat"/>
              <a:cs typeface="Montserrat"/>
              <a:sym typeface="Montserrat"/>
            </a:endParaRPr>
          </a:p>
        </p:txBody>
      </p:sp>
      <p:pic>
        <p:nvPicPr>
          <p:cNvPr id="1509" name="Google Shape;1509;p163"/>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510" name="Google Shape;1510;p163"/>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511" name="Google Shape;1511;p163"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512" name="Google Shape;1512;p163"/>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6"/>
        <p:cNvGrpSpPr/>
        <p:nvPr/>
      </p:nvGrpSpPr>
      <p:grpSpPr>
        <a:xfrm>
          <a:off x="0" y="0"/>
          <a:ext cx="0" cy="0"/>
          <a:chOff x="0" y="0"/>
          <a:chExt cx="0" cy="0"/>
        </a:xfrm>
      </p:grpSpPr>
      <p:pic>
        <p:nvPicPr>
          <p:cNvPr id="1517" name="Google Shape;1517;p16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18" name="Google Shape;1518;p164"/>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19" name="Google Shape;1519;p164"/>
          <p:cNvSpPr/>
          <p:nvPr/>
        </p:nvSpPr>
        <p:spPr>
          <a:xfrm>
            <a:off x="4724550" y="2822025"/>
            <a:ext cx="4214400" cy="1644900"/>
          </a:xfrm>
          <a:prstGeom prst="roundRect">
            <a:avLst>
              <a:gd name="adj" fmla="val 9955"/>
            </a:avLst>
          </a:prstGeom>
          <a:solidFill>
            <a:schemeClr val="lt2"/>
          </a:solidFill>
          <a:ln>
            <a:noFill/>
          </a:ln>
        </p:spPr>
        <p:txBody>
          <a:bodyPr spcFirstLastPara="1" wrap="square" lIns="83775" tIns="83775" rIns="83775" bIns="83775" anchor="ctr" anchorCtr="0">
            <a:noAutofit/>
          </a:bodyPr>
          <a:lstStyle/>
          <a:p>
            <a:pPr marL="0" lvl="0" indent="0" algn="ctr" rtl="0">
              <a:spcBef>
                <a:spcPts val="0"/>
              </a:spcBef>
              <a:spcAft>
                <a:spcPts val="0"/>
              </a:spcAft>
              <a:buNone/>
            </a:pPr>
            <a:endParaRPr sz="1283">
              <a:latin typeface="Montserrat"/>
              <a:ea typeface="Montserrat"/>
              <a:cs typeface="Montserrat"/>
              <a:sym typeface="Montserrat"/>
            </a:endParaRPr>
          </a:p>
        </p:txBody>
      </p:sp>
      <p:sp>
        <p:nvSpPr>
          <p:cNvPr id="1520" name="Google Shape;1520;p164"/>
          <p:cNvSpPr/>
          <p:nvPr/>
        </p:nvSpPr>
        <p:spPr>
          <a:xfrm>
            <a:off x="4724550" y="1041207"/>
            <a:ext cx="4214400" cy="1685700"/>
          </a:xfrm>
          <a:prstGeom prst="roundRect">
            <a:avLst>
              <a:gd name="adj" fmla="val 9955"/>
            </a:avLst>
          </a:prstGeom>
          <a:solidFill>
            <a:schemeClr val="lt2"/>
          </a:solidFill>
          <a:ln>
            <a:noFill/>
          </a:ln>
        </p:spPr>
        <p:txBody>
          <a:bodyPr spcFirstLastPara="1" wrap="square" lIns="83775" tIns="83775" rIns="83775" bIns="83775" anchor="ctr" anchorCtr="0">
            <a:noAutofit/>
          </a:bodyPr>
          <a:lstStyle/>
          <a:p>
            <a:pPr marL="0" lvl="0" indent="0" algn="ctr" rtl="0">
              <a:spcBef>
                <a:spcPts val="0"/>
              </a:spcBef>
              <a:spcAft>
                <a:spcPts val="0"/>
              </a:spcAft>
              <a:buNone/>
            </a:pPr>
            <a:endParaRPr sz="1283">
              <a:latin typeface="Montserrat"/>
              <a:ea typeface="Montserrat"/>
              <a:cs typeface="Montserrat"/>
              <a:sym typeface="Montserrat"/>
            </a:endParaRPr>
          </a:p>
        </p:txBody>
      </p:sp>
      <p:graphicFrame>
        <p:nvGraphicFramePr>
          <p:cNvPr id="1521" name="Google Shape;1521;p164"/>
          <p:cNvGraphicFramePr/>
          <p:nvPr/>
        </p:nvGraphicFramePr>
        <p:xfrm>
          <a:off x="424258" y="1060382"/>
          <a:ext cx="3000000" cy="3000000"/>
        </p:xfrm>
        <a:graphic>
          <a:graphicData uri="http://schemas.openxmlformats.org/drawingml/2006/table">
            <a:tbl>
              <a:tblPr firstRow="1" bandRow="1">
                <a:noFill/>
                <a:tableStyleId>{CE8BD2AF-5D0D-4EDC-AE96-A30A7DA1AF2F}</a:tableStyleId>
              </a:tblPr>
              <a:tblGrid>
                <a:gridCol w="1422700">
                  <a:extLst>
                    <a:ext uri="{9D8B030D-6E8A-4147-A177-3AD203B41FA5}">
                      <a16:colId xmlns:a16="http://schemas.microsoft.com/office/drawing/2014/main" val="20000"/>
                    </a:ext>
                  </a:extLst>
                </a:gridCol>
                <a:gridCol w="1534100">
                  <a:extLst>
                    <a:ext uri="{9D8B030D-6E8A-4147-A177-3AD203B41FA5}">
                      <a16:colId xmlns:a16="http://schemas.microsoft.com/office/drawing/2014/main" val="20001"/>
                    </a:ext>
                  </a:extLst>
                </a:gridCol>
                <a:gridCol w="1191000">
                  <a:extLst>
                    <a:ext uri="{9D8B030D-6E8A-4147-A177-3AD203B41FA5}">
                      <a16:colId xmlns:a16="http://schemas.microsoft.com/office/drawing/2014/main" val="20002"/>
                    </a:ext>
                  </a:extLst>
                </a:gridCol>
              </a:tblGrid>
              <a:tr h="33787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Period</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Hours</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tc>
                  <a:txBody>
                    <a:bodyPr/>
                    <a:lstStyle/>
                    <a:p>
                      <a:pPr marL="0" marR="0" lvl="0" indent="0" algn="ctr" rtl="0">
                        <a:lnSpc>
                          <a:spcPct val="100000"/>
                        </a:lnSpc>
                        <a:spcBef>
                          <a:spcPts val="0"/>
                        </a:spcBef>
                        <a:spcAft>
                          <a:spcPts val="0"/>
                        </a:spcAft>
                        <a:buNone/>
                      </a:pPr>
                      <a:r>
                        <a:rPr lang="en" sz="1000">
                          <a:latin typeface="Montserrat"/>
                          <a:ea typeface="Montserrat"/>
                          <a:cs typeface="Montserrat"/>
                          <a:sym typeface="Montserrat"/>
                        </a:rPr>
                        <a:t>Versus</a:t>
                      </a:r>
                      <a:r>
                        <a:rPr lang="en" sz="1000" u="none" strike="noStrike" cap="none">
                          <a:solidFill>
                            <a:srgbClr val="FFFFFF"/>
                          </a:solidFill>
                          <a:latin typeface="Montserrat"/>
                          <a:ea typeface="Montserrat"/>
                          <a:cs typeface="Montserrat"/>
                          <a:sym typeface="Montserrat"/>
                        </a:rPr>
                        <a:t> </a:t>
                      </a:r>
                      <a:r>
                        <a:rPr lang="en" sz="1000">
                          <a:latin typeface="Montserrat"/>
                          <a:ea typeface="Montserrat"/>
                          <a:cs typeface="Montserrat"/>
                          <a:sym typeface="Montserrat"/>
                        </a:rPr>
                        <a:t>B</a:t>
                      </a:r>
                      <a:r>
                        <a:rPr lang="en" sz="1000" u="none" strike="noStrike" cap="none">
                          <a:solidFill>
                            <a:srgbClr val="FFFFFF"/>
                          </a:solidFill>
                          <a:latin typeface="Montserrat"/>
                          <a:ea typeface="Montserrat"/>
                          <a:cs typeface="Montserrat"/>
                          <a:sym typeface="Montserrat"/>
                        </a:rPr>
                        <a:t>ase</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extLst>
                  <a:ext uri="{0D108BD9-81ED-4DB2-BD59-A6C34878D82A}">
                    <a16:rowId xmlns:a16="http://schemas.microsoft.com/office/drawing/2014/main" val="10000"/>
                  </a:ext>
                </a:extLst>
              </a:tr>
              <a:tr h="2658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Off-peak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00</a:t>
                      </a:r>
                      <a:r>
                        <a:rPr lang="en" sz="1000" u="none" strike="noStrike" cap="none">
                          <a:solidFill>
                            <a:srgbClr val="222B33"/>
                          </a:solidFill>
                          <a:latin typeface="Montserrat"/>
                          <a:ea typeface="Montserrat"/>
                          <a:cs typeface="Montserrat"/>
                          <a:sym typeface="Montserrat"/>
                        </a:rPr>
                        <a:t>:00 - 0</a:t>
                      </a:r>
                      <a:r>
                        <a:rPr lang="en" sz="1000">
                          <a:solidFill>
                            <a:srgbClr val="222B33"/>
                          </a:solidFill>
                          <a:latin typeface="Montserrat"/>
                          <a:ea typeface="Montserrat"/>
                          <a:cs typeface="Montserrat"/>
                          <a:sym typeface="Montserrat"/>
                        </a:rPr>
                        <a:t>6</a:t>
                      </a:r>
                      <a:r>
                        <a:rPr lang="en" sz="1000" u="none" strike="noStrike" cap="none">
                          <a:solidFill>
                            <a:srgbClr val="222B33"/>
                          </a:solidFill>
                          <a:latin typeface="Montserrat"/>
                          <a:ea typeface="Montserrat"/>
                          <a:cs typeface="Montserrat"/>
                          <a:sym typeface="Montserrat"/>
                        </a:rPr>
                        <a:t>:00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~0.52x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extLst>
                  <a:ext uri="{0D108BD9-81ED-4DB2-BD59-A6C34878D82A}">
                    <a16:rowId xmlns:a16="http://schemas.microsoft.com/office/drawing/2014/main" val="10001"/>
                  </a:ext>
                </a:extLst>
              </a:tr>
              <a:tr h="4354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Normal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solidFill>
                      <a:srgbClr val="FFFFFF"/>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06:00 - 18:00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T w="9525" cap="flat" cmpd="sng">
                      <a:solidFill>
                        <a:srgbClr val="FFFFFF"/>
                      </a:solidFill>
                      <a:prstDash val="solid"/>
                      <a:round/>
                      <a:headEnd type="none" w="sm" len="sm"/>
                      <a:tailEnd type="none" w="sm" len="sm"/>
                    </a:lnT>
                    <a:solidFill>
                      <a:srgbClr val="FFFFFF"/>
                    </a:solidFill>
                  </a:tcPr>
                </a:tc>
                <a:extLst>
                  <a:ext uri="{0D108BD9-81ED-4DB2-BD59-A6C34878D82A}">
                    <a16:rowId xmlns:a16="http://schemas.microsoft.com/office/drawing/2014/main" val="10002"/>
                  </a:ext>
                </a:extLst>
              </a:tr>
              <a:tr h="2658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Peak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solidFill>
                      <a:srgbClr val="F8FAFC"/>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18:00 - 23:00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~1.78x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solidFill>
                      <a:srgbClr val="F8FAFC"/>
                    </a:solidFill>
                  </a:tcPr>
                </a:tc>
                <a:extLst>
                  <a:ext uri="{0D108BD9-81ED-4DB2-BD59-A6C34878D82A}">
                    <a16:rowId xmlns:a16="http://schemas.microsoft.com/office/drawing/2014/main" val="10003"/>
                  </a:ext>
                </a:extLst>
              </a:tr>
            </a:tbl>
          </a:graphicData>
        </a:graphic>
      </p:graphicFrame>
      <p:sp>
        <p:nvSpPr>
          <p:cNvPr id="1522" name="Google Shape;1522;p164"/>
          <p:cNvSpPr txBox="1"/>
          <p:nvPr/>
        </p:nvSpPr>
        <p:spPr>
          <a:xfrm>
            <a:off x="424335" y="2473902"/>
            <a:ext cx="3968400" cy="238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950" i="0" u="none" strike="noStrike" cap="none">
                <a:solidFill>
                  <a:schemeClr val="dk1"/>
                </a:solidFill>
                <a:latin typeface="Montserrat"/>
                <a:ea typeface="Montserrat"/>
                <a:cs typeface="Montserrat"/>
                <a:sym typeface="Montserrat"/>
              </a:rPr>
              <a:t>Sunday rule: no peak period on Sundays (all hours normal).</a:t>
            </a:r>
            <a:endParaRPr sz="1200">
              <a:solidFill>
                <a:schemeClr val="dk1"/>
              </a:solidFill>
              <a:latin typeface="Montserrat"/>
              <a:ea typeface="Montserrat"/>
              <a:cs typeface="Montserrat"/>
              <a:sym typeface="Montserrat"/>
            </a:endParaRPr>
          </a:p>
        </p:txBody>
      </p:sp>
      <p:graphicFrame>
        <p:nvGraphicFramePr>
          <p:cNvPr id="1523" name="Google Shape;1523;p164"/>
          <p:cNvGraphicFramePr/>
          <p:nvPr/>
        </p:nvGraphicFramePr>
        <p:xfrm>
          <a:off x="424295" y="2923477"/>
          <a:ext cx="3000000" cy="3000000"/>
        </p:xfrm>
        <a:graphic>
          <a:graphicData uri="http://schemas.openxmlformats.org/drawingml/2006/table">
            <a:tbl>
              <a:tblPr firstRow="1" bandRow="1">
                <a:noFill/>
                <a:tableStyleId>{CE8BD2AF-5D0D-4EDC-AE96-A30A7DA1AF2F}</a:tableStyleId>
              </a:tblPr>
              <a:tblGrid>
                <a:gridCol w="961800">
                  <a:extLst>
                    <a:ext uri="{9D8B030D-6E8A-4147-A177-3AD203B41FA5}">
                      <a16:colId xmlns:a16="http://schemas.microsoft.com/office/drawing/2014/main" val="20000"/>
                    </a:ext>
                  </a:extLst>
                </a:gridCol>
                <a:gridCol w="1062000">
                  <a:extLst>
                    <a:ext uri="{9D8B030D-6E8A-4147-A177-3AD203B41FA5}">
                      <a16:colId xmlns:a16="http://schemas.microsoft.com/office/drawing/2014/main" val="20001"/>
                    </a:ext>
                  </a:extLst>
                </a:gridCol>
                <a:gridCol w="1062000">
                  <a:extLst>
                    <a:ext uri="{9D8B030D-6E8A-4147-A177-3AD203B41FA5}">
                      <a16:colId xmlns:a16="http://schemas.microsoft.com/office/drawing/2014/main" val="20002"/>
                    </a:ext>
                  </a:extLst>
                </a:gridCol>
                <a:gridCol w="1062000">
                  <a:extLst>
                    <a:ext uri="{9D8B030D-6E8A-4147-A177-3AD203B41FA5}">
                      <a16:colId xmlns:a16="http://schemas.microsoft.com/office/drawing/2014/main" val="20003"/>
                    </a:ext>
                  </a:extLst>
                </a:gridCol>
              </a:tblGrid>
              <a:tr h="29387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Voltage</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Off-peak</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Normal</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Peak  </a:t>
                      </a:r>
                      <a:endParaRPr sz="1000">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&gt;=110kV</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0.034</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0.065</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0.116</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22-110kV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0.037</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0.070</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0.126</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6-22kV</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0.042</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0.079</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0.141</a:t>
                      </a:r>
                      <a:endParaRPr sz="1000">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3"/>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&lt;6kV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0.049</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0.092</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0.164</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524" name="Google Shape;1524;p164"/>
          <p:cNvSpPr txBox="1"/>
          <p:nvPr/>
        </p:nvSpPr>
        <p:spPr>
          <a:xfrm>
            <a:off x="4782490" y="1092421"/>
            <a:ext cx="2856600" cy="230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rgbClr val="0F293D"/>
                </a:solidFill>
                <a:latin typeface="Montserrat"/>
                <a:ea typeface="Montserrat"/>
                <a:cs typeface="Montserrat"/>
                <a:sym typeface="Montserrat"/>
              </a:rPr>
              <a:t>Why this matters for DPPA</a:t>
            </a:r>
            <a:endParaRPr sz="1050">
              <a:latin typeface="Montserrat"/>
              <a:ea typeface="Montserrat"/>
              <a:cs typeface="Montserrat"/>
              <a:sym typeface="Montserrat"/>
            </a:endParaRPr>
          </a:p>
        </p:txBody>
      </p:sp>
      <p:sp>
        <p:nvSpPr>
          <p:cNvPr id="1525" name="Google Shape;1525;p164"/>
          <p:cNvSpPr txBox="1"/>
          <p:nvPr/>
        </p:nvSpPr>
        <p:spPr>
          <a:xfrm>
            <a:off x="4824500" y="1425544"/>
            <a:ext cx="4114500" cy="1210800"/>
          </a:xfrm>
          <a:prstGeom prst="rect">
            <a:avLst/>
          </a:prstGeom>
          <a:noFill/>
          <a:ln>
            <a:noFill/>
          </a:ln>
        </p:spPr>
        <p:txBody>
          <a:bodyPr spcFirstLastPara="1" wrap="square" lIns="68550" tIns="34275" rIns="68550" bIns="34275" anchor="t" anchorCtr="0">
            <a:spAutoFit/>
          </a:bodyPr>
          <a:lstStyle/>
          <a:p>
            <a:pPr marL="457200" marR="0" lvl="0" indent="-292100" algn="l" rtl="0">
              <a:lnSpc>
                <a:spcPct val="115000"/>
              </a:lnSpc>
              <a:spcBef>
                <a:spcPts val="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Every DPPA offer is judged against this bill</a:t>
            </a:r>
            <a:r>
              <a:rPr lang="en" sz="1000">
                <a:solidFill>
                  <a:srgbClr val="222B33"/>
                </a:solidFill>
                <a:latin typeface="Montserrat"/>
                <a:ea typeface="Montserrat"/>
                <a:cs typeface="Montserrat"/>
                <a:sym typeface="Montserrat"/>
              </a:rPr>
              <a:t>: “</a:t>
            </a:r>
            <a:r>
              <a:rPr lang="en" sz="1000" i="0" u="none" strike="noStrike" cap="none">
                <a:solidFill>
                  <a:srgbClr val="222B33"/>
                </a:solidFill>
                <a:latin typeface="Montserrat"/>
                <a:ea typeface="Montserrat"/>
                <a:cs typeface="Montserrat"/>
                <a:sym typeface="Montserrat"/>
              </a:rPr>
              <a:t>business</a:t>
            </a:r>
            <a:r>
              <a:rPr lang="en" sz="1000">
                <a:solidFill>
                  <a:srgbClr val="222B33"/>
                </a:solidFill>
                <a:latin typeface="Montserrat"/>
                <a:ea typeface="Montserrat"/>
                <a:cs typeface="Montserrat"/>
                <a:sym typeface="Montserrat"/>
              </a:rPr>
              <a:t>-</a:t>
            </a:r>
            <a:r>
              <a:rPr lang="en" sz="1000" i="0" u="none" strike="noStrike" cap="none">
                <a:solidFill>
                  <a:srgbClr val="222B33"/>
                </a:solidFill>
                <a:latin typeface="Montserrat"/>
                <a:ea typeface="Montserrat"/>
                <a:cs typeface="Montserrat"/>
                <a:sym typeface="Montserrat"/>
              </a:rPr>
              <a:t>as-usual</a:t>
            </a:r>
            <a:r>
              <a:rPr lang="en" sz="1000">
                <a:solidFill>
                  <a:srgbClr val="222B33"/>
                </a:solidFill>
                <a:latin typeface="Montserrat"/>
                <a:ea typeface="Montserrat"/>
                <a:cs typeface="Montserrat"/>
                <a:sym typeface="Montserrat"/>
              </a:rPr>
              <a:t>” </a:t>
            </a:r>
            <a:r>
              <a:rPr lang="en" sz="1000" i="0" u="none" strike="noStrike" cap="none">
                <a:solidFill>
                  <a:srgbClr val="222B33"/>
                </a:solidFill>
                <a:latin typeface="Montserrat"/>
                <a:ea typeface="Montserrat"/>
                <a:cs typeface="Montserrat"/>
                <a:sym typeface="Montserrat"/>
              </a:rPr>
              <a:t>(BAU)</a:t>
            </a:r>
            <a:endParaRPr sz="1000">
              <a:latin typeface="Montserrat"/>
              <a:ea typeface="Montserrat"/>
              <a:cs typeface="Montserrat"/>
              <a:sym typeface="Montserrat"/>
            </a:endParaRPr>
          </a:p>
          <a:p>
            <a:pPr marL="457200" marR="0" lvl="0" indent="-292100" algn="l" rtl="0">
              <a:lnSpc>
                <a:spcPct val="115000"/>
              </a:lnSpc>
              <a:spcBef>
                <a:spcPts val="40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Peak hours cost 3.4x off-peak: your load shape decides what "average" means for you</a:t>
            </a:r>
            <a:endParaRPr sz="1000">
              <a:latin typeface="Montserrat"/>
              <a:ea typeface="Montserrat"/>
              <a:cs typeface="Montserrat"/>
              <a:sym typeface="Montserrat"/>
            </a:endParaRPr>
          </a:p>
          <a:p>
            <a:pPr marL="457200" marR="0" lvl="0" indent="-292100" algn="l" rtl="0">
              <a:lnSpc>
                <a:spcPct val="115000"/>
              </a:lnSpc>
              <a:spcBef>
                <a:spcPts val="400"/>
              </a:spcBef>
              <a:spcAft>
                <a:spcPts val="40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Residual energy (load not covered by the DPPA) keeps paying these TOU rates</a:t>
            </a:r>
            <a:endParaRPr sz="1000">
              <a:latin typeface="Montserrat"/>
              <a:ea typeface="Montserrat"/>
              <a:cs typeface="Montserrat"/>
              <a:sym typeface="Montserrat"/>
            </a:endParaRPr>
          </a:p>
        </p:txBody>
      </p:sp>
      <p:sp>
        <p:nvSpPr>
          <p:cNvPr id="1526" name="Google Shape;1526;p164"/>
          <p:cNvSpPr txBox="1"/>
          <p:nvPr/>
        </p:nvSpPr>
        <p:spPr>
          <a:xfrm>
            <a:off x="4782490" y="2885562"/>
            <a:ext cx="4293600" cy="230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rgbClr val="0F293D"/>
                </a:solidFill>
                <a:latin typeface="Montserrat"/>
                <a:ea typeface="Montserrat"/>
                <a:cs typeface="Montserrat"/>
                <a:sym typeface="Montserrat"/>
              </a:rPr>
              <a:t>The savings benchmark</a:t>
            </a:r>
            <a:endParaRPr sz="1050">
              <a:latin typeface="Montserrat"/>
              <a:ea typeface="Montserrat"/>
              <a:cs typeface="Montserrat"/>
              <a:sym typeface="Montserrat"/>
            </a:endParaRPr>
          </a:p>
        </p:txBody>
      </p:sp>
      <p:sp>
        <p:nvSpPr>
          <p:cNvPr id="1527" name="Google Shape;1527;p164"/>
          <p:cNvSpPr txBox="1"/>
          <p:nvPr/>
        </p:nvSpPr>
        <p:spPr>
          <a:xfrm>
            <a:off x="4782500" y="3169357"/>
            <a:ext cx="4114500" cy="1210800"/>
          </a:xfrm>
          <a:prstGeom prst="rect">
            <a:avLst/>
          </a:prstGeom>
          <a:noFill/>
          <a:ln>
            <a:noFill/>
          </a:ln>
        </p:spPr>
        <p:txBody>
          <a:bodyPr spcFirstLastPara="1" wrap="square" lIns="68550" tIns="34275" rIns="68550" bIns="34275" anchor="t" anchorCtr="0">
            <a:spAutoFit/>
          </a:bodyPr>
          <a:lstStyle/>
          <a:p>
            <a:pPr marL="457200" marR="0" lvl="0" indent="-292100" algn="l" rtl="0">
              <a:lnSpc>
                <a:spcPct val="115000"/>
              </a:lnSpc>
              <a:spcBef>
                <a:spcPts val="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BAU = your current EVN bill escalated ~4%/yr (historical trend 2015-2024)</a:t>
            </a:r>
            <a:endParaRPr sz="1000">
              <a:latin typeface="Montserrat"/>
              <a:ea typeface="Montserrat"/>
              <a:cs typeface="Montserrat"/>
              <a:sym typeface="Montserrat"/>
            </a:endParaRPr>
          </a:p>
          <a:p>
            <a:pPr marL="457200" marR="0" lvl="0" indent="-292100" algn="l" rtl="0">
              <a:lnSpc>
                <a:spcPct val="115000"/>
              </a:lnSpc>
              <a:spcBef>
                <a:spcPts val="40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A DPPA is evaluated on cumulative cost vs BAU over 10 years and over the project lifetime - not just Year 1</a:t>
            </a:r>
            <a:endParaRPr sz="1000">
              <a:latin typeface="Montserrat"/>
              <a:ea typeface="Montserrat"/>
              <a:cs typeface="Montserrat"/>
              <a:sym typeface="Montserrat"/>
            </a:endParaRPr>
          </a:p>
          <a:p>
            <a:pPr marL="457200" marR="0" lvl="0" indent="-292100" algn="l" rtl="0">
              <a:lnSpc>
                <a:spcPct val="115000"/>
              </a:lnSpc>
              <a:spcBef>
                <a:spcPts val="400"/>
              </a:spcBef>
              <a:spcAft>
                <a:spcPts val="40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EVN tariff escalation is the main source of long-term DPPA value</a:t>
            </a:r>
            <a:endParaRPr sz="1000">
              <a:latin typeface="Montserrat"/>
              <a:ea typeface="Montserrat"/>
              <a:cs typeface="Montserrat"/>
              <a:sym typeface="Montserrat"/>
            </a:endParaRPr>
          </a:p>
        </p:txBody>
      </p:sp>
      <p:sp>
        <p:nvSpPr>
          <p:cNvPr id="1528" name="Google Shape;1528;p164"/>
          <p:cNvSpPr txBox="1"/>
          <p:nvPr/>
        </p:nvSpPr>
        <p:spPr>
          <a:xfrm>
            <a:off x="424250" y="4350167"/>
            <a:ext cx="30000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Font typeface="Arial"/>
              <a:buNone/>
            </a:pPr>
            <a:r>
              <a:rPr lang="en" sz="1000">
                <a:solidFill>
                  <a:schemeClr val="dk1"/>
                </a:solidFill>
                <a:latin typeface="Montserrat"/>
                <a:ea typeface="Montserrat"/>
                <a:cs typeface="Montserrat"/>
                <a:sym typeface="Montserrat"/>
              </a:rPr>
              <a:t>(USD/kWh approx. 2025)</a:t>
            </a:r>
            <a:endParaRPr sz="1000">
              <a:solidFill>
                <a:schemeClr val="dk1"/>
              </a:solidFill>
              <a:latin typeface="Montserrat"/>
              <a:ea typeface="Montserrat"/>
              <a:cs typeface="Montserrat"/>
              <a:sym typeface="Montserrat"/>
            </a:endParaRPr>
          </a:p>
        </p:txBody>
      </p:sp>
      <p:grpSp>
        <p:nvGrpSpPr>
          <p:cNvPr id="1529" name="Google Shape;1529;p164"/>
          <p:cNvGrpSpPr/>
          <p:nvPr/>
        </p:nvGrpSpPr>
        <p:grpSpPr>
          <a:xfrm>
            <a:off x="239992" y="63853"/>
            <a:ext cx="8728050" cy="745997"/>
            <a:chOff x="236700" y="63853"/>
            <a:chExt cx="8728050" cy="745997"/>
          </a:xfrm>
        </p:grpSpPr>
        <p:sp>
          <p:nvSpPr>
            <p:cNvPr id="1530" name="Google Shape;1530;p16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31" name="Google Shape;1531;p16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32" name="Google Shape;1532;p16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33" name="Google Shape;1533;p16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34" name="Google Shape;1534;p16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35" name="Google Shape;1535;p16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36" name="Google Shape;1536;p16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537" name="Google Shape;1537;p16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38" name="Google Shape;1538;p16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sp>
          <p:nvSpPr>
            <p:cNvPr id="1539" name="Google Shape;1539;p164"/>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1 - The Baseline</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What You Pay EVN Today: TOU Is The Reference Price</a:t>
              </a:r>
              <a:endParaRPr sz="2000">
                <a:solidFill>
                  <a:schemeClr val="lt1"/>
                </a:solidFill>
                <a:latin typeface="Montserrat ExtraBold"/>
                <a:ea typeface="Montserrat ExtraBold"/>
                <a:cs typeface="Montserrat ExtraBold"/>
                <a:sym typeface="Montserrat Extra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43"/>
        <p:cNvGrpSpPr/>
        <p:nvPr/>
      </p:nvGrpSpPr>
      <p:grpSpPr>
        <a:xfrm>
          <a:off x="0" y="0"/>
          <a:ext cx="0" cy="0"/>
          <a:chOff x="0" y="0"/>
          <a:chExt cx="0" cy="0"/>
        </a:xfrm>
      </p:grpSpPr>
      <p:cxnSp>
        <p:nvCxnSpPr>
          <p:cNvPr id="1544" name="Google Shape;1544;p165"/>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545" name="Google Shape;1545;p165"/>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2:</a:t>
            </a:r>
            <a:endParaRPr sz="2800" b="1">
              <a:solidFill>
                <a:srgbClr val="0F172A"/>
              </a:solidFill>
              <a:highlight>
                <a:srgbClr val="FFFFFF"/>
              </a:highlight>
              <a:latin typeface="Montserrat"/>
              <a:ea typeface="Montserrat"/>
              <a:cs typeface="Montserrat"/>
              <a:sym typeface="Montserrat"/>
            </a:endParaRPr>
          </a:p>
          <a:p>
            <a:pPr marL="0" lvl="0" indent="0" algn="l" rtl="0">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Virtual DPPA Money Flow: The Five-Line Bill</a:t>
            </a:r>
            <a:endParaRPr sz="2800" b="1">
              <a:solidFill>
                <a:srgbClr val="0F172A"/>
              </a:solidFill>
              <a:highlight>
                <a:srgbClr val="FFFFFF"/>
              </a:highlight>
              <a:latin typeface="Montserrat"/>
              <a:ea typeface="Montserrat"/>
              <a:cs typeface="Montserrat"/>
              <a:sym typeface="Montserrat"/>
            </a:endParaRPr>
          </a:p>
        </p:txBody>
      </p:sp>
      <p:pic>
        <p:nvPicPr>
          <p:cNvPr id="1546" name="Google Shape;1546;p165"/>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547" name="Google Shape;1547;p165"/>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548" name="Google Shape;1548;p16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549" name="Google Shape;1549;p165"/>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3"/>
        <p:cNvGrpSpPr/>
        <p:nvPr/>
      </p:nvGrpSpPr>
      <p:grpSpPr>
        <a:xfrm>
          <a:off x="0" y="0"/>
          <a:ext cx="0" cy="0"/>
          <a:chOff x="0" y="0"/>
          <a:chExt cx="0" cy="0"/>
        </a:xfrm>
      </p:grpSpPr>
      <p:grpSp>
        <p:nvGrpSpPr>
          <p:cNvPr id="1554" name="Google Shape;1554;p166"/>
          <p:cNvGrpSpPr/>
          <p:nvPr/>
        </p:nvGrpSpPr>
        <p:grpSpPr>
          <a:xfrm>
            <a:off x="244142" y="63878"/>
            <a:ext cx="8728050" cy="745997"/>
            <a:chOff x="236700" y="63853"/>
            <a:chExt cx="8728050" cy="745997"/>
          </a:xfrm>
        </p:grpSpPr>
        <p:sp>
          <p:nvSpPr>
            <p:cNvPr id="1555" name="Google Shape;1555;p16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56" name="Google Shape;1556;p16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57" name="Google Shape;1557;p16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58" name="Google Shape;1558;p16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59" name="Google Shape;1559;p16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60" name="Google Shape;1560;p16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61" name="Google Shape;1561;p16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562" name="Google Shape;1562;p16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Virtual DPPA Money Flow: Three Relationships, One Bill</a:t>
              </a:r>
              <a:endParaRPr sz="2100">
                <a:solidFill>
                  <a:schemeClr val="lt1"/>
                </a:solidFill>
                <a:latin typeface="Montserrat ExtraBold"/>
                <a:ea typeface="Montserrat ExtraBold"/>
                <a:cs typeface="Montserrat ExtraBold"/>
                <a:sym typeface="Montserrat ExtraBold"/>
              </a:endParaRPr>
            </a:p>
          </p:txBody>
        </p:sp>
        <p:cxnSp>
          <p:nvCxnSpPr>
            <p:cNvPr id="1563" name="Google Shape;1563;p16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64" name="Google Shape;1564;p16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565" name="Google Shape;1565;p16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66" name="Google Shape;1566;p166"/>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67" name="Google Shape;1567;p166"/>
          <p:cNvSpPr/>
          <p:nvPr/>
        </p:nvSpPr>
        <p:spPr>
          <a:xfrm>
            <a:off x="248613" y="1595970"/>
            <a:ext cx="1962000" cy="1115100"/>
          </a:xfrm>
          <a:prstGeom prst="roundRect">
            <a:avLst>
              <a:gd name="adj" fmla="val 16667"/>
            </a:avLst>
          </a:prstGeom>
          <a:solidFill>
            <a:srgbClr val="127A7A"/>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RE GENERATOR</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sells 100% of output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to the spot market</a:t>
            </a:r>
            <a:endParaRPr sz="1155">
              <a:latin typeface="Montserrat"/>
              <a:ea typeface="Montserrat"/>
              <a:cs typeface="Montserrat"/>
              <a:sym typeface="Montserrat"/>
            </a:endParaRPr>
          </a:p>
        </p:txBody>
      </p:sp>
      <p:sp>
        <p:nvSpPr>
          <p:cNvPr id="1568" name="Google Shape;1568;p166"/>
          <p:cNvSpPr/>
          <p:nvPr/>
        </p:nvSpPr>
        <p:spPr>
          <a:xfrm>
            <a:off x="3590999" y="110527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VWEM SPOT MARKET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generator FMP</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per kWh generated</a:t>
            </a:r>
            <a:endParaRPr sz="1155">
              <a:latin typeface="Montserrat"/>
              <a:ea typeface="Montserrat"/>
              <a:cs typeface="Montserrat"/>
              <a:sym typeface="Montserrat"/>
            </a:endParaRPr>
          </a:p>
        </p:txBody>
      </p:sp>
      <p:sp>
        <p:nvSpPr>
          <p:cNvPr id="1569" name="Google Shape;1569;p166"/>
          <p:cNvSpPr/>
          <p:nvPr/>
        </p:nvSpPr>
        <p:spPr>
          <a:xfrm>
            <a:off x="3590999" y="253274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EVN</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meters, wheels, &amp; bills</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the DPPA customer</a:t>
            </a:r>
            <a:endParaRPr sz="1155">
              <a:latin typeface="Montserrat"/>
              <a:ea typeface="Montserrat"/>
              <a:cs typeface="Montserrat"/>
              <a:sym typeface="Montserrat"/>
            </a:endParaRPr>
          </a:p>
        </p:txBody>
      </p:sp>
      <p:sp>
        <p:nvSpPr>
          <p:cNvPr id="1570" name="Google Shape;1570;p166"/>
          <p:cNvSpPr/>
          <p:nvPr/>
        </p:nvSpPr>
        <p:spPr>
          <a:xfrm>
            <a:off x="6933386" y="1595970"/>
            <a:ext cx="1962000" cy="1115100"/>
          </a:xfrm>
          <a:prstGeom prst="roundRect">
            <a:avLst>
              <a:gd name="adj" fmla="val 16667"/>
            </a:avLst>
          </a:prstGeom>
          <a:solidFill>
            <a:srgbClr val="2E9E5B"/>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YOUR FA</a:t>
            </a:r>
            <a:r>
              <a:rPr lang="en" sz="1155" b="1">
                <a:solidFill>
                  <a:srgbClr val="FFFFFF"/>
                </a:solidFill>
                <a:latin typeface="Montserrat"/>
                <a:ea typeface="Montserrat"/>
                <a:cs typeface="Montserrat"/>
                <a:sym typeface="Montserrat"/>
              </a:rPr>
              <a:t>CTORY</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EVN the DPPA bill;</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settles CfD with generator</a:t>
            </a:r>
            <a:endParaRPr sz="1155">
              <a:latin typeface="Montserrat"/>
              <a:ea typeface="Montserrat"/>
              <a:cs typeface="Montserrat"/>
              <a:sym typeface="Montserrat"/>
            </a:endParaRPr>
          </a:p>
        </p:txBody>
      </p:sp>
      <p:cxnSp>
        <p:nvCxnSpPr>
          <p:cNvPr id="1571" name="Google Shape;1571;p166"/>
          <p:cNvCxnSpPr/>
          <p:nvPr/>
        </p:nvCxnSpPr>
        <p:spPr>
          <a:xfrm rot="10800000" flipH="1">
            <a:off x="2210448" y="1551620"/>
            <a:ext cx="1380600" cy="312000"/>
          </a:xfrm>
          <a:prstGeom prst="bentConnector3">
            <a:avLst>
              <a:gd name="adj1" fmla="val 50000"/>
            </a:avLst>
          </a:prstGeom>
          <a:noFill/>
          <a:ln w="20975" cap="flat" cmpd="sng">
            <a:solidFill>
              <a:srgbClr val="5A6670"/>
            </a:solidFill>
            <a:prstDash val="solid"/>
            <a:round/>
            <a:headEnd type="none" w="sm" len="sm"/>
            <a:tailEnd type="none" w="sm" len="sm"/>
          </a:ln>
          <a:effectLst>
            <a:outerShdw blurRad="32999" dist="16499" dir="5400000" rotWithShape="0">
              <a:srgbClr val="000000">
                <a:alpha val="38040"/>
              </a:srgbClr>
            </a:outerShdw>
          </a:effectLst>
        </p:spPr>
      </p:cxnSp>
      <p:sp>
        <p:nvSpPr>
          <p:cNvPr id="1572" name="Google Shape;1572;p166"/>
          <p:cNvSpPr txBox="1"/>
          <p:nvPr/>
        </p:nvSpPr>
        <p:spPr>
          <a:xfrm>
            <a:off x="2137621" y="1221760"/>
            <a:ext cx="14535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energy -&gt; market (FMP)</a:t>
            </a:r>
            <a:endParaRPr sz="1155">
              <a:solidFill>
                <a:schemeClr val="dk1"/>
              </a:solidFill>
              <a:latin typeface="Montserrat"/>
              <a:ea typeface="Montserrat"/>
              <a:cs typeface="Montserrat"/>
              <a:sym typeface="Montserrat"/>
            </a:endParaRPr>
          </a:p>
        </p:txBody>
      </p:sp>
      <p:cxnSp>
        <p:nvCxnSpPr>
          <p:cNvPr id="1573" name="Google Shape;1573;p166"/>
          <p:cNvCxnSpPr/>
          <p:nvPr/>
        </p:nvCxnSpPr>
        <p:spPr>
          <a:xfrm rot="10800000" flipH="1">
            <a:off x="5552835" y="2488240"/>
            <a:ext cx="1380600" cy="535200"/>
          </a:xfrm>
          <a:prstGeom prst="bentConnector3">
            <a:avLst>
              <a:gd name="adj1" fmla="val 50000"/>
            </a:avLst>
          </a:prstGeom>
          <a:noFill/>
          <a:ln w="20975" cap="flat" cmpd="sng">
            <a:solidFill>
              <a:srgbClr val="5A6670"/>
            </a:solidFill>
            <a:prstDash val="solid"/>
            <a:round/>
            <a:headEnd type="none" w="sm" len="sm"/>
            <a:tailEnd type="none" w="sm" len="sm"/>
          </a:ln>
          <a:effectLst>
            <a:outerShdw blurRad="32999" dist="16499" dir="5400000" rotWithShape="0">
              <a:srgbClr val="000000">
                <a:alpha val="38040"/>
              </a:srgbClr>
            </a:outerShdw>
          </a:effectLst>
        </p:spPr>
      </p:cxnSp>
      <p:sp>
        <p:nvSpPr>
          <p:cNvPr id="1574" name="Google Shape;1574;p166"/>
          <p:cNvSpPr txBox="1"/>
          <p:nvPr/>
        </p:nvSpPr>
        <p:spPr>
          <a:xfrm>
            <a:off x="5516505" y="3068048"/>
            <a:ext cx="15258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DPPA bill (5 lines)</a:t>
            </a:r>
            <a:endParaRPr sz="1155">
              <a:solidFill>
                <a:schemeClr val="dk1"/>
              </a:solidFill>
              <a:latin typeface="Montserrat"/>
              <a:ea typeface="Montserrat"/>
              <a:cs typeface="Montserrat"/>
              <a:sym typeface="Montserrat"/>
            </a:endParaRPr>
          </a:p>
        </p:txBody>
      </p:sp>
      <p:cxnSp>
        <p:nvCxnSpPr>
          <p:cNvPr id="1575" name="Google Shape;1575;p166"/>
          <p:cNvCxnSpPr/>
          <p:nvPr/>
        </p:nvCxnSpPr>
        <p:spPr>
          <a:xfrm>
            <a:off x="2210448" y="2398922"/>
            <a:ext cx="4722900" cy="600"/>
          </a:xfrm>
          <a:prstGeom prst="bentConnector3">
            <a:avLst>
              <a:gd name="adj1" fmla="val 50000"/>
            </a:avLst>
          </a:prstGeom>
          <a:noFill/>
          <a:ln w="20975" cap="flat" cmpd="sng">
            <a:solidFill>
              <a:srgbClr val="E09A2B"/>
            </a:solidFill>
            <a:prstDash val="dash"/>
            <a:round/>
            <a:headEnd type="none" w="sm" len="sm"/>
            <a:tailEnd type="none" w="sm" len="sm"/>
          </a:ln>
          <a:effectLst>
            <a:outerShdw blurRad="32999" dist="16499" dir="5400000" rotWithShape="0">
              <a:srgbClr val="000000">
                <a:alpha val="38040"/>
              </a:srgbClr>
            </a:outerShdw>
          </a:effectLst>
        </p:spPr>
      </p:cxnSp>
      <p:sp>
        <p:nvSpPr>
          <p:cNvPr id="1576" name="Google Shape;1576;p166"/>
          <p:cNvSpPr txBox="1"/>
          <p:nvPr/>
        </p:nvSpPr>
        <p:spPr>
          <a:xfrm>
            <a:off x="3808981" y="2086663"/>
            <a:ext cx="15984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b="0" i="0" u="none" strike="noStrike" cap="none">
                <a:solidFill>
                  <a:srgbClr val="E09A2B"/>
                </a:solidFill>
                <a:latin typeface="Quattrocento Sans"/>
                <a:ea typeface="Quattrocento Sans"/>
                <a:cs typeface="Quattrocento Sans"/>
                <a:sym typeface="Quattrocento Sans"/>
              </a:rPr>
              <a:t>CfD settlement (two-way)</a:t>
            </a:r>
            <a:endParaRPr sz="1155"/>
          </a:p>
        </p:txBody>
      </p:sp>
      <p:sp>
        <p:nvSpPr>
          <p:cNvPr id="1577" name="Google Shape;1577;p166"/>
          <p:cNvSpPr txBox="1"/>
          <p:nvPr/>
        </p:nvSpPr>
        <p:spPr>
          <a:xfrm>
            <a:off x="393875" y="3788371"/>
            <a:ext cx="8509800" cy="845100"/>
          </a:xfrm>
          <a:prstGeom prst="rect">
            <a:avLst/>
          </a:prstGeom>
          <a:noFill/>
          <a:ln>
            <a:noFill/>
          </a:ln>
        </p:spPr>
        <p:txBody>
          <a:bodyPr spcFirstLastPara="1" wrap="square" lIns="73000" tIns="36475" rIns="73000" bIns="36475" anchor="t" anchorCtr="0">
            <a:spAutoFit/>
          </a:bodyPr>
          <a:lstStyle/>
          <a:p>
            <a:pPr marL="457200" marR="0" lvl="0" indent="-309750" algn="l" rtl="0">
              <a:lnSpc>
                <a:spcPct val="120000"/>
              </a:lnSpc>
              <a:spcBef>
                <a:spcPts val="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Physical electrons flow through the national grid as usual </a:t>
            </a:r>
            <a:r>
              <a:rPr lang="en" sz="1278">
                <a:solidFill>
                  <a:schemeClr val="dk1"/>
                </a:solidFill>
                <a:latin typeface="Montserrat"/>
                <a:ea typeface="Montserrat"/>
                <a:cs typeface="Montserrat"/>
                <a:sym typeface="Montserrat"/>
              </a:rPr>
              <a:t>and</a:t>
            </a:r>
            <a:r>
              <a:rPr lang="en" sz="1278" i="0" u="none" strike="noStrike" cap="none">
                <a:solidFill>
                  <a:schemeClr val="dk1"/>
                </a:solidFill>
                <a:latin typeface="Montserrat"/>
                <a:ea typeface="Montserrat"/>
                <a:cs typeface="Montserrat"/>
                <a:sym typeface="Montserrat"/>
              </a:rPr>
              <a:t> the DPPA is a financial overlay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The generator's revenue = spot sales at FMP + CfD settlement with you</a:t>
            </a:r>
            <a:r>
              <a:rPr lang="en" sz="1278">
                <a:solidFill>
                  <a:schemeClr val="dk1"/>
                </a:solidFill>
                <a:latin typeface="Montserrat"/>
                <a:ea typeface="Montserrat"/>
                <a:cs typeface="Montserrat"/>
                <a:sym typeface="Montserrat"/>
              </a:rPr>
              <a:t>r factory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400"/>
              </a:spcAft>
              <a:buClr>
                <a:schemeClr val="dk1"/>
              </a:buClr>
              <a:buSzPts val="1278"/>
              <a:buFont typeface="Montserrat"/>
              <a:buChar char="●"/>
            </a:pPr>
            <a:r>
              <a:rPr lang="en" sz="1278">
                <a:solidFill>
                  <a:schemeClr val="dk1"/>
                </a:solidFill>
                <a:latin typeface="Montserrat"/>
                <a:ea typeface="Montserrat"/>
                <a:cs typeface="Montserrat"/>
                <a:sym typeface="Montserrat"/>
              </a:rPr>
              <a:t>Your factory </a:t>
            </a:r>
            <a:r>
              <a:rPr lang="en" sz="1278" i="0" u="none" strike="noStrike" cap="none">
                <a:solidFill>
                  <a:schemeClr val="dk1"/>
                </a:solidFill>
                <a:latin typeface="Montserrat"/>
                <a:ea typeface="Montserrat"/>
                <a:cs typeface="Montserrat"/>
                <a:sym typeface="Montserrat"/>
              </a:rPr>
              <a:t>cost = the five-line EVN bill + the CfD settlement</a:t>
            </a:r>
            <a:endParaRPr sz="1318">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1581"/>
        <p:cNvGrpSpPr/>
        <p:nvPr/>
      </p:nvGrpSpPr>
      <p:grpSpPr>
        <a:xfrm>
          <a:off x="0" y="0"/>
          <a:ext cx="0" cy="0"/>
          <a:chOff x="0" y="0"/>
          <a:chExt cx="0" cy="0"/>
        </a:xfrm>
      </p:grpSpPr>
      <p:grpSp>
        <p:nvGrpSpPr>
          <p:cNvPr id="1582" name="Google Shape;1582;p167"/>
          <p:cNvGrpSpPr/>
          <p:nvPr/>
        </p:nvGrpSpPr>
        <p:grpSpPr>
          <a:xfrm>
            <a:off x="244142" y="63878"/>
            <a:ext cx="8728050" cy="745997"/>
            <a:chOff x="236700" y="63853"/>
            <a:chExt cx="8728050" cy="745997"/>
          </a:xfrm>
        </p:grpSpPr>
        <p:sp>
          <p:nvSpPr>
            <p:cNvPr id="1583" name="Google Shape;1583;p16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84" name="Google Shape;1584;p16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85" name="Google Shape;1585;p16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86" name="Google Shape;1586;p16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87" name="Google Shape;1587;p16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88" name="Google Shape;1588;p16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89" name="Google Shape;1589;p16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590" name="Google Shape;1590;p167"/>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Virtual DPPA Money Flow: Three Relationships, One Bill</a:t>
              </a:r>
              <a:endParaRPr sz="2100">
                <a:solidFill>
                  <a:schemeClr val="lt1"/>
                </a:solidFill>
                <a:latin typeface="Montserrat ExtraBold"/>
                <a:ea typeface="Montserrat ExtraBold"/>
                <a:cs typeface="Montserrat ExtraBold"/>
                <a:sym typeface="Montserrat ExtraBold"/>
              </a:endParaRPr>
            </a:p>
          </p:txBody>
        </p:sp>
        <p:cxnSp>
          <p:nvCxnSpPr>
            <p:cNvPr id="1591" name="Google Shape;1591;p16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92" name="Google Shape;1592;p16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593" name="Google Shape;1593;p16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94" name="Google Shape;1594;p167"/>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95" name="Google Shape;1595;p167"/>
          <p:cNvSpPr/>
          <p:nvPr/>
        </p:nvSpPr>
        <p:spPr>
          <a:xfrm>
            <a:off x="248613" y="1595970"/>
            <a:ext cx="1962000" cy="1115100"/>
          </a:xfrm>
          <a:prstGeom prst="roundRect">
            <a:avLst>
              <a:gd name="adj" fmla="val 16667"/>
            </a:avLst>
          </a:prstGeom>
          <a:solidFill>
            <a:srgbClr val="127A7A"/>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RE GENERATOR</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sells 100% of output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to the spot market</a:t>
            </a:r>
            <a:endParaRPr sz="1155">
              <a:latin typeface="Montserrat"/>
              <a:ea typeface="Montserrat"/>
              <a:cs typeface="Montserrat"/>
              <a:sym typeface="Montserrat"/>
            </a:endParaRPr>
          </a:p>
        </p:txBody>
      </p:sp>
      <p:sp>
        <p:nvSpPr>
          <p:cNvPr id="1596" name="Google Shape;1596;p167"/>
          <p:cNvSpPr/>
          <p:nvPr/>
        </p:nvSpPr>
        <p:spPr>
          <a:xfrm>
            <a:off x="3590999" y="110527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VWEM SPOT MARKET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generator FMP</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per kWh generated</a:t>
            </a:r>
            <a:endParaRPr sz="1155">
              <a:latin typeface="Montserrat"/>
              <a:ea typeface="Montserrat"/>
              <a:cs typeface="Montserrat"/>
              <a:sym typeface="Montserrat"/>
            </a:endParaRPr>
          </a:p>
        </p:txBody>
      </p:sp>
      <p:sp>
        <p:nvSpPr>
          <p:cNvPr id="1597" name="Google Shape;1597;p167"/>
          <p:cNvSpPr/>
          <p:nvPr/>
        </p:nvSpPr>
        <p:spPr>
          <a:xfrm>
            <a:off x="3590999" y="253274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EVN</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meters, wheels, &amp; bills</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the DPPA customer</a:t>
            </a:r>
            <a:endParaRPr sz="1155">
              <a:latin typeface="Montserrat"/>
              <a:ea typeface="Montserrat"/>
              <a:cs typeface="Montserrat"/>
              <a:sym typeface="Montserrat"/>
            </a:endParaRPr>
          </a:p>
        </p:txBody>
      </p:sp>
      <p:sp>
        <p:nvSpPr>
          <p:cNvPr id="1598" name="Google Shape;1598;p167"/>
          <p:cNvSpPr/>
          <p:nvPr/>
        </p:nvSpPr>
        <p:spPr>
          <a:xfrm>
            <a:off x="6933386" y="1595970"/>
            <a:ext cx="1962000" cy="1115100"/>
          </a:xfrm>
          <a:prstGeom prst="roundRect">
            <a:avLst>
              <a:gd name="adj" fmla="val 16667"/>
            </a:avLst>
          </a:prstGeom>
          <a:solidFill>
            <a:srgbClr val="2E9E5B"/>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YOUR FACTORY</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EVN the DPPA bill;</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settles CfD with generator</a:t>
            </a:r>
            <a:endParaRPr sz="1155">
              <a:latin typeface="Montserrat"/>
              <a:ea typeface="Montserrat"/>
              <a:cs typeface="Montserrat"/>
              <a:sym typeface="Montserrat"/>
            </a:endParaRPr>
          </a:p>
        </p:txBody>
      </p:sp>
      <p:sp>
        <p:nvSpPr>
          <p:cNvPr id="1599" name="Google Shape;1599;p167"/>
          <p:cNvSpPr txBox="1"/>
          <p:nvPr/>
        </p:nvSpPr>
        <p:spPr>
          <a:xfrm>
            <a:off x="1683521" y="1295672"/>
            <a:ext cx="14535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energy -&gt; market (FMP)</a:t>
            </a:r>
            <a:endParaRPr sz="1155">
              <a:solidFill>
                <a:schemeClr val="dk1"/>
              </a:solidFill>
              <a:latin typeface="Montserrat"/>
              <a:ea typeface="Montserrat"/>
              <a:cs typeface="Montserrat"/>
              <a:sym typeface="Montserrat"/>
            </a:endParaRPr>
          </a:p>
        </p:txBody>
      </p:sp>
      <p:cxnSp>
        <p:nvCxnSpPr>
          <p:cNvPr id="1600" name="Google Shape;1600;p167"/>
          <p:cNvCxnSpPr>
            <a:endCxn id="1598" idx="2"/>
          </p:cNvCxnSpPr>
          <p:nvPr/>
        </p:nvCxnSpPr>
        <p:spPr>
          <a:xfrm rot="10800000" flipH="1">
            <a:off x="5553086" y="2711070"/>
            <a:ext cx="2361300" cy="694800"/>
          </a:xfrm>
          <a:prstGeom prst="bentConnector2">
            <a:avLst/>
          </a:prstGeom>
          <a:noFill/>
          <a:ln w="19050" cap="flat" cmpd="sng">
            <a:solidFill>
              <a:srgbClr val="B33A3A"/>
            </a:solidFill>
            <a:prstDash val="dot"/>
            <a:round/>
            <a:headEnd type="none" w="sm" len="sm"/>
            <a:tailEnd type="stealth" w="sm" len="sm"/>
          </a:ln>
          <a:effectLst>
            <a:outerShdw blurRad="32999" dist="16499" dir="5400000" rotWithShape="0">
              <a:srgbClr val="000000">
                <a:alpha val="38040"/>
              </a:srgbClr>
            </a:outerShdw>
          </a:effectLst>
        </p:spPr>
      </p:cxnSp>
      <p:sp>
        <p:nvSpPr>
          <p:cNvPr id="1601" name="Google Shape;1601;p167"/>
          <p:cNvSpPr txBox="1"/>
          <p:nvPr/>
        </p:nvSpPr>
        <p:spPr>
          <a:xfrm rot="-513617">
            <a:off x="5603308" y="2645141"/>
            <a:ext cx="1525697" cy="209338"/>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rgbClr val="127A7A"/>
                </a:solidFill>
                <a:latin typeface="Montserrat"/>
                <a:ea typeface="Montserrat"/>
                <a:cs typeface="Montserrat"/>
                <a:sym typeface="Montserrat"/>
              </a:rPr>
              <a:t>DPPA bill (5 lines)</a:t>
            </a:r>
            <a:endParaRPr sz="1155">
              <a:solidFill>
                <a:srgbClr val="127A7A"/>
              </a:solidFill>
              <a:latin typeface="Montserrat"/>
              <a:ea typeface="Montserrat"/>
              <a:cs typeface="Montserrat"/>
              <a:sym typeface="Montserrat"/>
            </a:endParaRPr>
          </a:p>
        </p:txBody>
      </p:sp>
      <p:cxnSp>
        <p:nvCxnSpPr>
          <p:cNvPr id="1602" name="Google Shape;1602;p167"/>
          <p:cNvCxnSpPr/>
          <p:nvPr/>
        </p:nvCxnSpPr>
        <p:spPr>
          <a:xfrm>
            <a:off x="2210448" y="2398922"/>
            <a:ext cx="4722900" cy="600"/>
          </a:xfrm>
          <a:prstGeom prst="bentConnector3">
            <a:avLst>
              <a:gd name="adj1" fmla="val 50000"/>
            </a:avLst>
          </a:prstGeom>
          <a:noFill/>
          <a:ln w="20975" cap="flat" cmpd="sng">
            <a:solidFill>
              <a:srgbClr val="E09A2B"/>
            </a:solidFill>
            <a:prstDash val="dash"/>
            <a:round/>
            <a:headEnd type="triangle" w="sm" len="sm"/>
            <a:tailEnd type="triangle" w="sm" len="sm"/>
          </a:ln>
          <a:effectLst>
            <a:outerShdw blurRad="32999" dist="16499" dir="5400000" rotWithShape="0">
              <a:srgbClr val="000000">
                <a:alpha val="38040"/>
              </a:srgbClr>
            </a:outerShdw>
          </a:effectLst>
        </p:spPr>
      </p:cxnSp>
      <p:sp>
        <p:nvSpPr>
          <p:cNvPr id="1603" name="Google Shape;1603;p167"/>
          <p:cNvSpPr txBox="1"/>
          <p:nvPr/>
        </p:nvSpPr>
        <p:spPr>
          <a:xfrm>
            <a:off x="3808981" y="2086663"/>
            <a:ext cx="15984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b="0" i="0" u="none" strike="noStrike" cap="none">
                <a:solidFill>
                  <a:srgbClr val="E09A2B"/>
                </a:solidFill>
                <a:latin typeface="Quattrocento Sans"/>
                <a:ea typeface="Quattrocento Sans"/>
                <a:cs typeface="Quattrocento Sans"/>
                <a:sym typeface="Quattrocento Sans"/>
              </a:rPr>
              <a:t>CfD settlement (two-way)</a:t>
            </a:r>
            <a:endParaRPr sz="1155"/>
          </a:p>
        </p:txBody>
      </p:sp>
      <p:sp>
        <p:nvSpPr>
          <p:cNvPr id="1604" name="Google Shape;1604;p167"/>
          <p:cNvSpPr txBox="1"/>
          <p:nvPr/>
        </p:nvSpPr>
        <p:spPr>
          <a:xfrm>
            <a:off x="393875" y="3788371"/>
            <a:ext cx="8509800" cy="845100"/>
          </a:xfrm>
          <a:prstGeom prst="rect">
            <a:avLst/>
          </a:prstGeom>
          <a:noFill/>
          <a:ln>
            <a:noFill/>
          </a:ln>
        </p:spPr>
        <p:txBody>
          <a:bodyPr spcFirstLastPara="1" wrap="square" lIns="73000" tIns="36475" rIns="73000" bIns="36475" anchor="t" anchorCtr="0">
            <a:spAutoFit/>
          </a:bodyPr>
          <a:lstStyle/>
          <a:p>
            <a:pPr marL="457200" marR="0" lvl="0" indent="-309750" algn="l" rtl="0">
              <a:lnSpc>
                <a:spcPct val="120000"/>
              </a:lnSpc>
              <a:spcBef>
                <a:spcPts val="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Physical electrons flow through the national grid as usual </a:t>
            </a:r>
            <a:r>
              <a:rPr lang="en" sz="1278">
                <a:solidFill>
                  <a:schemeClr val="dk1"/>
                </a:solidFill>
                <a:latin typeface="Montserrat"/>
                <a:ea typeface="Montserrat"/>
                <a:cs typeface="Montserrat"/>
                <a:sym typeface="Montserrat"/>
              </a:rPr>
              <a:t>and</a:t>
            </a:r>
            <a:r>
              <a:rPr lang="en" sz="1278" i="0" u="none" strike="noStrike" cap="none">
                <a:solidFill>
                  <a:schemeClr val="dk1"/>
                </a:solidFill>
                <a:latin typeface="Montserrat"/>
                <a:ea typeface="Montserrat"/>
                <a:cs typeface="Montserrat"/>
                <a:sym typeface="Montserrat"/>
              </a:rPr>
              <a:t> the DPPA is a financial overlay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The generator's revenue = spot sales at FMP + CfD settlement with you</a:t>
            </a:r>
            <a:r>
              <a:rPr lang="en" sz="1278">
                <a:solidFill>
                  <a:schemeClr val="dk1"/>
                </a:solidFill>
                <a:latin typeface="Montserrat"/>
                <a:ea typeface="Montserrat"/>
                <a:cs typeface="Montserrat"/>
                <a:sym typeface="Montserrat"/>
              </a:rPr>
              <a:t>r factory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400"/>
              </a:spcAft>
              <a:buClr>
                <a:schemeClr val="dk1"/>
              </a:buClr>
              <a:buSzPts val="1278"/>
              <a:buFont typeface="Montserrat"/>
              <a:buChar char="●"/>
            </a:pPr>
            <a:r>
              <a:rPr lang="en" sz="1278">
                <a:solidFill>
                  <a:schemeClr val="dk1"/>
                </a:solidFill>
                <a:latin typeface="Montserrat"/>
                <a:ea typeface="Montserrat"/>
                <a:cs typeface="Montserrat"/>
                <a:sym typeface="Montserrat"/>
              </a:rPr>
              <a:t>Your factory </a:t>
            </a:r>
            <a:r>
              <a:rPr lang="en" sz="1278" i="0" u="none" strike="noStrike" cap="none">
                <a:solidFill>
                  <a:schemeClr val="dk1"/>
                </a:solidFill>
                <a:latin typeface="Montserrat"/>
                <a:ea typeface="Montserrat"/>
                <a:cs typeface="Montserrat"/>
                <a:sym typeface="Montserrat"/>
              </a:rPr>
              <a:t>cost = the five-line EVN bill + the CfD settlement</a:t>
            </a:r>
            <a:endParaRPr sz="1318">
              <a:solidFill>
                <a:schemeClr val="dk1"/>
              </a:solidFill>
              <a:latin typeface="Montserrat"/>
              <a:ea typeface="Montserrat"/>
              <a:cs typeface="Montserrat"/>
              <a:sym typeface="Montserrat"/>
            </a:endParaRPr>
          </a:p>
        </p:txBody>
      </p:sp>
      <p:cxnSp>
        <p:nvCxnSpPr>
          <p:cNvPr id="1605" name="Google Shape;1605;p167"/>
          <p:cNvCxnSpPr/>
          <p:nvPr/>
        </p:nvCxnSpPr>
        <p:spPr>
          <a:xfrm rot="10800000" flipH="1">
            <a:off x="569148" y="4987809"/>
            <a:ext cx="1252500" cy="1500"/>
          </a:xfrm>
          <a:prstGeom prst="bentConnector3">
            <a:avLst>
              <a:gd name="adj1" fmla="val 50000"/>
            </a:avLst>
          </a:prstGeom>
          <a:noFill/>
          <a:ln w="20975" cap="flat" cmpd="sng">
            <a:solidFill>
              <a:srgbClr val="E09A2B"/>
            </a:solidFill>
            <a:prstDash val="dash"/>
            <a:round/>
            <a:headEnd type="none" w="sm" len="sm"/>
            <a:tailEnd type="none" w="sm" len="sm"/>
          </a:ln>
          <a:effectLst>
            <a:outerShdw blurRad="32999" dist="16499" dir="5400000" rotWithShape="0">
              <a:srgbClr val="000000">
                <a:alpha val="38040"/>
              </a:srgbClr>
            </a:outerShdw>
          </a:effectLst>
        </p:spPr>
      </p:cxnSp>
      <p:sp>
        <p:nvSpPr>
          <p:cNvPr id="1606" name="Google Shape;1606;p167"/>
          <p:cNvSpPr txBox="1"/>
          <p:nvPr/>
        </p:nvSpPr>
        <p:spPr>
          <a:xfrm>
            <a:off x="133450" y="4830663"/>
            <a:ext cx="435600" cy="31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Montserrat"/>
                <a:ea typeface="Montserrat"/>
                <a:cs typeface="Montserrat"/>
                <a:sym typeface="Montserrat"/>
              </a:rPr>
              <a:t>CFD</a:t>
            </a:r>
            <a:endParaRPr sz="900">
              <a:solidFill>
                <a:schemeClr val="dk2"/>
              </a:solidFill>
              <a:latin typeface="Montserrat"/>
              <a:ea typeface="Montserrat"/>
              <a:cs typeface="Montserrat"/>
              <a:sym typeface="Montserrat"/>
            </a:endParaRPr>
          </a:p>
        </p:txBody>
      </p:sp>
      <p:cxnSp>
        <p:nvCxnSpPr>
          <p:cNvPr id="1607" name="Google Shape;1607;p167"/>
          <p:cNvCxnSpPr>
            <a:endCxn id="1597" idx="3"/>
          </p:cNvCxnSpPr>
          <p:nvPr/>
        </p:nvCxnSpPr>
        <p:spPr>
          <a:xfrm flipH="1">
            <a:off x="5552999" y="2705997"/>
            <a:ext cx="2047800" cy="317400"/>
          </a:xfrm>
          <a:prstGeom prst="straightConnector1">
            <a:avLst/>
          </a:prstGeom>
          <a:noFill/>
          <a:ln w="19050" cap="flat" cmpd="sng">
            <a:solidFill>
              <a:srgbClr val="14645C"/>
            </a:solidFill>
            <a:prstDash val="solid"/>
            <a:round/>
            <a:headEnd type="none" w="med" len="med"/>
            <a:tailEnd type="triangle" w="med" len="med"/>
          </a:ln>
        </p:spPr>
      </p:cxnSp>
      <p:sp>
        <p:nvSpPr>
          <p:cNvPr id="1608" name="Google Shape;1608;p167"/>
          <p:cNvSpPr txBox="1"/>
          <p:nvPr/>
        </p:nvSpPr>
        <p:spPr>
          <a:xfrm>
            <a:off x="6197050" y="3405875"/>
            <a:ext cx="1598400" cy="2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50">
                <a:solidFill>
                  <a:srgbClr val="B33A3A"/>
                </a:solidFill>
                <a:latin typeface="Montserrat"/>
                <a:ea typeface="Montserrat"/>
                <a:cs typeface="Montserrat"/>
                <a:sym typeface="Montserrat"/>
              </a:rPr>
              <a:t>Electricity Flows</a:t>
            </a:r>
            <a:endParaRPr sz="850">
              <a:solidFill>
                <a:srgbClr val="B33A3A"/>
              </a:solidFill>
              <a:latin typeface="Montserrat"/>
              <a:ea typeface="Montserrat"/>
              <a:cs typeface="Montserrat"/>
              <a:sym typeface="Montserrat"/>
            </a:endParaRPr>
          </a:p>
        </p:txBody>
      </p:sp>
      <p:cxnSp>
        <p:nvCxnSpPr>
          <p:cNvPr id="1609" name="Google Shape;1609;p167"/>
          <p:cNvCxnSpPr>
            <a:stCxn id="1595" idx="2"/>
          </p:cNvCxnSpPr>
          <p:nvPr/>
        </p:nvCxnSpPr>
        <p:spPr>
          <a:xfrm rot="-5400000" flipH="1">
            <a:off x="2084013" y="1856670"/>
            <a:ext cx="652500" cy="2361300"/>
          </a:xfrm>
          <a:prstGeom prst="bentConnector2">
            <a:avLst/>
          </a:prstGeom>
          <a:noFill/>
          <a:ln w="19050" cap="flat" cmpd="sng">
            <a:solidFill>
              <a:srgbClr val="B33A3A"/>
            </a:solidFill>
            <a:prstDash val="dot"/>
            <a:round/>
            <a:headEnd type="none" w="med" len="med"/>
            <a:tailEnd type="stealth" w="med" len="med"/>
          </a:ln>
        </p:spPr>
      </p:cxnSp>
      <p:sp>
        <p:nvSpPr>
          <p:cNvPr id="1610" name="Google Shape;1610;p167"/>
          <p:cNvSpPr txBox="1"/>
          <p:nvPr/>
        </p:nvSpPr>
        <p:spPr>
          <a:xfrm>
            <a:off x="1821650" y="3368063"/>
            <a:ext cx="1380300" cy="43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50">
                <a:solidFill>
                  <a:srgbClr val="B33A3A"/>
                </a:solidFill>
                <a:latin typeface="Montserrat"/>
                <a:ea typeface="Montserrat"/>
                <a:cs typeface="Montserrat"/>
                <a:sym typeface="Montserrat"/>
              </a:rPr>
              <a:t>Electricity Flows</a:t>
            </a:r>
            <a:endParaRPr sz="850">
              <a:solidFill>
                <a:srgbClr val="B33A3A"/>
              </a:solidFill>
              <a:latin typeface="Montserrat"/>
              <a:ea typeface="Montserrat"/>
              <a:cs typeface="Montserrat"/>
              <a:sym typeface="Montserrat"/>
            </a:endParaRPr>
          </a:p>
        </p:txBody>
      </p:sp>
      <p:cxnSp>
        <p:nvCxnSpPr>
          <p:cNvPr id="1611" name="Google Shape;1611;p167"/>
          <p:cNvCxnSpPr>
            <a:stCxn id="1595" idx="3"/>
            <a:endCxn id="1596" idx="1"/>
          </p:cNvCxnSpPr>
          <p:nvPr/>
        </p:nvCxnSpPr>
        <p:spPr>
          <a:xfrm rot="10800000" flipH="1">
            <a:off x="2210613" y="1595820"/>
            <a:ext cx="1380300" cy="557700"/>
          </a:xfrm>
          <a:prstGeom prst="straightConnector1">
            <a:avLst/>
          </a:prstGeom>
          <a:noFill/>
          <a:ln w="19050" cap="flat" cmpd="sng">
            <a:solidFill>
              <a:srgbClr val="14645C"/>
            </a:solidFill>
            <a:prstDash val="solid"/>
            <a:round/>
            <a:headEnd type="triangle" w="med" len="med"/>
            <a:tailEnd type="none" w="med" len="med"/>
          </a:ln>
        </p:spPr>
      </p:cxnSp>
      <p:sp>
        <p:nvSpPr>
          <p:cNvPr id="1612" name="Google Shape;1612;p167"/>
          <p:cNvSpPr txBox="1"/>
          <p:nvPr/>
        </p:nvSpPr>
        <p:spPr>
          <a:xfrm rot="-1274190">
            <a:off x="2246957" y="1847228"/>
            <a:ext cx="1525598" cy="20953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a:solidFill>
                  <a:srgbClr val="127A7A"/>
                </a:solidFill>
                <a:latin typeface="Montserrat"/>
                <a:ea typeface="Montserrat"/>
                <a:cs typeface="Montserrat"/>
                <a:sym typeface="Montserrat"/>
              </a:rPr>
              <a:t>Pays FMP per kWh</a:t>
            </a:r>
            <a:endParaRPr sz="1155">
              <a:solidFill>
                <a:srgbClr val="127A7A"/>
              </a:solidFill>
              <a:latin typeface="Montserrat"/>
              <a:ea typeface="Montserrat"/>
              <a:cs typeface="Montserrat"/>
              <a:sym typeface="Montserrat"/>
            </a:endParaRPr>
          </a:p>
        </p:txBody>
      </p:sp>
      <p:sp>
        <p:nvSpPr>
          <p:cNvPr id="1613" name="Google Shape;1613;p167"/>
          <p:cNvSpPr txBox="1"/>
          <p:nvPr/>
        </p:nvSpPr>
        <p:spPr>
          <a:xfrm>
            <a:off x="2162613" y="4844275"/>
            <a:ext cx="1380300" cy="18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Montserrat"/>
                <a:ea typeface="Montserrat"/>
                <a:cs typeface="Montserrat"/>
                <a:sym typeface="Montserrat"/>
              </a:rPr>
              <a:t>Electricity Flows</a:t>
            </a:r>
            <a:endParaRPr sz="900">
              <a:solidFill>
                <a:schemeClr val="dk2"/>
              </a:solidFill>
              <a:latin typeface="Montserrat"/>
              <a:ea typeface="Montserrat"/>
              <a:cs typeface="Montserrat"/>
              <a:sym typeface="Montserrat"/>
            </a:endParaRPr>
          </a:p>
        </p:txBody>
      </p:sp>
      <p:cxnSp>
        <p:nvCxnSpPr>
          <p:cNvPr id="1614" name="Google Shape;1614;p167"/>
          <p:cNvCxnSpPr/>
          <p:nvPr/>
        </p:nvCxnSpPr>
        <p:spPr>
          <a:xfrm>
            <a:off x="3291438" y="5009500"/>
            <a:ext cx="569400" cy="0"/>
          </a:xfrm>
          <a:prstGeom prst="straightConnector1">
            <a:avLst/>
          </a:prstGeom>
          <a:noFill/>
          <a:ln w="19050" cap="flat" cmpd="sng">
            <a:solidFill>
              <a:srgbClr val="B33A3A"/>
            </a:solidFill>
            <a:prstDash val="dot"/>
            <a:round/>
            <a:headEnd type="none" w="med" len="med"/>
            <a:tailEnd type="none" w="med" len="med"/>
          </a:ln>
        </p:spPr>
      </p:cxnSp>
      <p:sp>
        <p:nvSpPr>
          <p:cNvPr id="1615" name="Google Shape;1615;p167"/>
          <p:cNvSpPr txBox="1"/>
          <p:nvPr/>
        </p:nvSpPr>
        <p:spPr>
          <a:xfrm>
            <a:off x="4130338" y="4844275"/>
            <a:ext cx="1380300" cy="18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Montserrat"/>
                <a:ea typeface="Montserrat"/>
                <a:cs typeface="Montserrat"/>
                <a:sym typeface="Montserrat"/>
              </a:rPr>
              <a:t>Financial Flows</a:t>
            </a:r>
            <a:endParaRPr sz="900">
              <a:solidFill>
                <a:schemeClr val="dk2"/>
              </a:solidFill>
              <a:latin typeface="Montserrat"/>
              <a:ea typeface="Montserrat"/>
              <a:cs typeface="Montserrat"/>
              <a:sym typeface="Montserrat"/>
            </a:endParaRPr>
          </a:p>
        </p:txBody>
      </p:sp>
      <p:cxnSp>
        <p:nvCxnSpPr>
          <p:cNvPr id="1616" name="Google Shape;1616;p167"/>
          <p:cNvCxnSpPr/>
          <p:nvPr/>
        </p:nvCxnSpPr>
        <p:spPr>
          <a:xfrm rot="10800000" flipH="1">
            <a:off x="5195850" y="5009800"/>
            <a:ext cx="638100" cy="9900"/>
          </a:xfrm>
          <a:prstGeom prst="straightConnector1">
            <a:avLst/>
          </a:prstGeom>
          <a:noFill/>
          <a:ln w="19050" cap="flat" cmpd="sng">
            <a:solidFill>
              <a:srgbClr val="1A6B5C"/>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0"/>
        <p:cNvGrpSpPr/>
        <p:nvPr/>
      </p:nvGrpSpPr>
      <p:grpSpPr>
        <a:xfrm>
          <a:off x="0" y="0"/>
          <a:ext cx="0" cy="0"/>
          <a:chOff x="0" y="0"/>
          <a:chExt cx="0" cy="0"/>
        </a:xfrm>
      </p:grpSpPr>
      <p:grpSp>
        <p:nvGrpSpPr>
          <p:cNvPr id="1621" name="Google Shape;1621;p168"/>
          <p:cNvGrpSpPr/>
          <p:nvPr/>
        </p:nvGrpSpPr>
        <p:grpSpPr>
          <a:xfrm>
            <a:off x="239992" y="63853"/>
            <a:ext cx="8728050" cy="745997"/>
            <a:chOff x="236700" y="63853"/>
            <a:chExt cx="8728050" cy="745997"/>
          </a:xfrm>
        </p:grpSpPr>
        <p:sp>
          <p:nvSpPr>
            <p:cNvPr id="1622" name="Google Shape;1622;p16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23" name="Google Shape;1623;p16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24" name="Google Shape;1624;p16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25" name="Google Shape;1625;p16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26" name="Google Shape;1626;p16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27" name="Google Shape;1627;p16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28" name="Google Shape;1628;p16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29" name="Google Shape;1629;p16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The Monthly DPPA Settlement Has Five Lines</a:t>
              </a:r>
              <a:endParaRPr sz="2100">
                <a:solidFill>
                  <a:schemeClr val="lt1"/>
                </a:solidFill>
                <a:latin typeface="Montserrat ExtraBold"/>
                <a:ea typeface="Montserrat ExtraBold"/>
                <a:cs typeface="Montserrat ExtraBold"/>
                <a:sym typeface="Montserrat ExtraBold"/>
              </a:endParaRPr>
            </a:p>
          </p:txBody>
        </p:sp>
        <p:cxnSp>
          <p:nvCxnSpPr>
            <p:cNvPr id="1630" name="Google Shape;1630;p16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31" name="Google Shape;1631;p16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632" name="Google Shape;1632;p16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33" name="Google Shape;1633;p168"/>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634" name="Google Shape;1634;p168"/>
          <p:cNvGraphicFramePr/>
          <p:nvPr/>
        </p:nvGraphicFramePr>
        <p:xfrm>
          <a:off x="286486" y="969468"/>
          <a:ext cx="3000000" cy="3000000"/>
        </p:xfrm>
        <a:graphic>
          <a:graphicData uri="http://schemas.openxmlformats.org/drawingml/2006/table">
            <a:tbl>
              <a:tblPr firstRow="1" bandRow="1">
                <a:noFill/>
                <a:tableStyleId>{CE8BD2AF-5D0D-4EDC-AE96-A30A7DA1AF2F}</a:tableStyleId>
              </a:tblPr>
              <a:tblGrid>
                <a:gridCol w="398350">
                  <a:extLst>
                    <a:ext uri="{9D8B030D-6E8A-4147-A177-3AD203B41FA5}">
                      <a16:colId xmlns:a16="http://schemas.microsoft.com/office/drawing/2014/main" val="20000"/>
                    </a:ext>
                  </a:extLst>
                </a:gridCol>
                <a:gridCol w="1561550">
                  <a:extLst>
                    <a:ext uri="{9D8B030D-6E8A-4147-A177-3AD203B41FA5}">
                      <a16:colId xmlns:a16="http://schemas.microsoft.com/office/drawing/2014/main" val="20001"/>
                    </a:ext>
                  </a:extLst>
                </a:gridCol>
                <a:gridCol w="2981125">
                  <a:extLst>
                    <a:ext uri="{9D8B030D-6E8A-4147-A177-3AD203B41FA5}">
                      <a16:colId xmlns:a16="http://schemas.microsoft.com/office/drawing/2014/main" val="20002"/>
                    </a:ext>
                  </a:extLst>
                </a:gridCol>
                <a:gridCol w="3509025">
                  <a:extLst>
                    <a:ext uri="{9D8B030D-6E8A-4147-A177-3AD203B41FA5}">
                      <a16:colId xmlns:a16="http://schemas.microsoft.com/office/drawing/2014/main" val="20003"/>
                    </a:ext>
                  </a:extLst>
                </a:gridCol>
              </a:tblGrid>
              <a:tr h="4295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Line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Formula</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Level (2025 reference)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Market energy</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FMP x k x K_pp</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FMP avg ~1,426.6 VND/kWh; k~1.026; K_pp by voltage</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DPPA service fee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C_dppa_dv</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360 VND/kWh</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3</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Balancing fee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P_cl</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163.3 VND/kWh</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4</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Residual purchase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(Load - Q_Khc) x EVN retail</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TOU rates</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5</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CfD settlement</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(Strike - FMP) x min(Q_c, Q_Khc)</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a:solidFill>
                            <a:srgbClr val="222B33"/>
                          </a:solidFill>
                          <a:latin typeface="Montserrat"/>
                          <a:ea typeface="Montserrat"/>
                          <a:cs typeface="Montserrat"/>
                          <a:sym typeface="Montserrat"/>
                        </a:rPr>
                        <a:t>T</a:t>
                      </a:r>
                      <a:r>
                        <a:rPr lang="en" sz="1250" u="none" strike="noStrike" cap="none">
                          <a:solidFill>
                            <a:srgbClr val="222B33"/>
                          </a:solidFill>
                          <a:latin typeface="Montserrat"/>
                          <a:ea typeface="Montserrat"/>
                          <a:cs typeface="Montserrat"/>
                          <a:sym typeface="Montserrat"/>
                        </a:rPr>
                        <a:t>wo-way: can be + or -</a:t>
                      </a:r>
                      <a:endParaRPr>
                        <a:latin typeface="Montserrat"/>
                        <a:ea typeface="Montserrat"/>
                        <a:cs typeface="Montserrat"/>
                        <a:sym typeface="Montserrat"/>
                      </a:endParaRPr>
                    </a:p>
                  </a:txBody>
                  <a:tcPr marL="91450" marR="91450" marT="25400" marB="25400" anchor="ctr">
                    <a:solidFill>
                      <a:srgbClr val="FBEEDD"/>
                    </a:solidFill>
                  </a:tcPr>
                </a:tc>
                <a:extLst>
                  <a:ext uri="{0D108BD9-81ED-4DB2-BD59-A6C34878D82A}">
                    <a16:rowId xmlns:a16="http://schemas.microsoft.com/office/drawing/2014/main" val="10005"/>
                  </a:ext>
                </a:extLst>
              </a:tr>
            </a:tbl>
          </a:graphicData>
        </a:graphic>
      </p:graphicFrame>
      <p:sp>
        <p:nvSpPr>
          <p:cNvPr id="1635" name="Google Shape;1635;p168"/>
          <p:cNvSpPr txBox="1"/>
          <p:nvPr/>
        </p:nvSpPr>
        <p:spPr>
          <a:xfrm>
            <a:off x="147416" y="3670238"/>
            <a:ext cx="8523000" cy="1044600"/>
          </a:xfrm>
          <a:prstGeom prst="rect">
            <a:avLst/>
          </a:prstGeom>
          <a:noFill/>
          <a:ln>
            <a:noFill/>
          </a:ln>
        </p:spPr>
        <p:txBody>
          <a:bodyPr spcFirstLastPara="1" wrap="square" lIns="91425" tIns="45700" rIns="91425" bIns="45700" anchor="t" anchorCtr="0">
            <a:spAutoFit/>
          </a:bodyPr>
          <a:lstStyle/>
          <a:p>
            <a:pPr marL="457200" marR="0" lvl="0" indent="-304800" algn="l" rtl="0">
              <a:lnSpc>
                <a:spcPct val="120000"/>
              </a:lnSpc>
              <a:spcBef>
                <a:spcPts val="0"/>
              </a:spcBef>
              <a:spcAft>
                <a:spcPts val="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Lines 1-4 are billed by EVN. Line 5 settles bilaterally with the generator under CfD contract.</a:t>
            </a:r>
            <a:endParaRPr sz="1200">
              <a:latin typeface="Montserrat"/>
              <a:ea typeface="Montserrat"/>
              <a:cs typeface="Montserrat"/>
              <a:sym typeface="Montserrat"/>
            </a:endParaRPr>
          </a:p>
          <a:p>
            <a:pPr marL="457200" marR="0" lvl="0" indent="-304800" algn="l" rtl="0">
              <a:lnSpc>
                <a:spcPct val="120000"/>
              </a:lnSpc>
              <a:spcBef>
                <a:spcPts val="400"/>
              </a:spcBef>
              <a:spcAft>
                <a:spcPts val="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Q_Khc = the renewable volume actually received and consumed (defined next slide).</a:t>
            </a:r>
            <a:endParaRPr sz="1200">
              <a:latin typeface="Montserrat"/>
              <a:ea typeface="Montserrat"/>
              <a:cs typeface="Montserrat"/>
              <a:sym typeface="Montserrat"/>
            </a:endParaRPr>
          </a:p>
          <a:p>
            <a:pPr marL="457200" marR="0" lvl="0" indent="-304800" algn="l" rtl="0">
              <a:lnSpc>
                <a:spcPct val="120000"/>
              </a:lnSpc>
              <a:spcBef>
                <a:spcPts val="400"/>
              </a:spcBef>
              <a:spcAft>
                <a:spcPts val="40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CFMP = FMP x k: k converts the market price to the customer delivery point (price conversion, not a volume loss).</a:t>
            </a:r>
            <a:endParaRPr sz="120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grpSp>
        <p:nvGrpSpPr>
          <p:cNvPr id="1640" name="Google Shape;1640;p169"/>
          <p:cNvGrpSpPr/>
          <p:nvPr/>
        </p:nvGrpSpPr>
        <p:grpSpPr>
          <a:xfrm>
            <a:off x="239992" y="63853"/>
            <a:ext cx="8728050" cy="745997"/>
            <a:chOff x="236700" y="63853"/>
            <a:chExt cx="8728050" cy="745997"/>
          </a:xfrm>
        </p:grpSpPr>
        <p:sp>
          <p:nvSpPr>
            <p:cNvPr id="1641" name="Google Shape;1641;p16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42" name="Google Shape;1642;p16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43" name="Google Shape;1643;p16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44" name="Google Shape;1644;p16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45" name="Google Shape;1645;p16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46" name="Google Shape;1646;p16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47" name="Google Shape;1647;p16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48" name="Google Shape;1648;p16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Contracted Volumes &amp; Actual Electricity Consumption</a:t>
              </a:r>
              <a:endParaRPr sz="2100">
                <a:solidFill>
                  <a:schemeClr val="lt1"/>
                </a:solidFill>
                <a:latin typeface="Montserrat ExtraBold"/>
                <a:ea typeface="Montserrat ExtraBold"/>
                <a:cs typeface="Montserrat ExtraBold"/>
                <a:sym typeface="Montserrat ExtraBold"/>
              </a:endParaRPr>
            </a:p>
          </p:txBody>
        </p:sp>
        <p:cxnSp>
          <p:nvCxnSpPr>
            <p:cNvPr id="1649" name="Google Shape;1649;p169"/>
            <p:cNvCxnSpPr/>
            <p:nvPr/>
          </p:nvCxnSpPr>
          <p:spPr>
            <a:xfrm rot="10800000">
              <a:off x="236700" y="712275"/>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50" name="Google Shape;1650;p16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1651" name="Google Shape;1651;p169"/>
          <p:cNvSpPr/>
          <p:nvPr/>
        </p:nvSpPr>
        <p:spPr>
          <a:xfrm>
            <a:off x="459518" y="1315950"/>
            <a:ext cx="7282200" cy="1695900"/>
          </a:xfrm>
          <a:prstGeom prst="roundRect">
            <a:avLst>
              <a:gd name="adj" fmla="val 16667"/>
            </a:avLst>
          </a:prstGeom>
          <a:solidFill>
            <a:srgbClr val="EEF4F4"/>
          </a:solidFill>
          <a:ln w="12700" cap="flat" cmpd="sng">
            <a:solidFill>
              <a:srgbClr val="127A7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64575" tIns="73150" rIns="164575" bIns="73150" anchor="ctr" anchorCtr="0">
            <a:noAutofit/>
          </a:bodyPr>
          <a:lstStyle/>
          <a:p>
            <a:pPr marL="0" marR="0" lvl="0" indent="0" algn="l" rtl="0">
              <a:lnSpc>
                <a:spcPct val="200000"/>
              </a:lnSpc>
              <a:spcBef>
                <a:spcPts val="0"/>
              </a:spcBef>
              <a:spcAft>
                <a:spcPts val="0"/>
              </a:spcAft>
              <a:buNone/>
            </a:pPr>
            <a:r>
              <a:rPr lang="en" sz="1400" b="0" i="0" u="none" strike="noStrike" cap="none">
                <a:solidFill>
                  <a:srgbClr val="0F293D"/>
                </a:solidFill>
                <a:latin typeface="Consolas"/>
                <a:ea typeface="Consolas"/>
                <a:cs typeface="Consolas"/>
                <a:sym typeface="Consolas"/>
              </a:rPr>
              <a:t>Q_adj = Q_meter / K_pp        delivered volume at your meter</a:t>
            </a:r>
            <a:endParaRPr/>
          </a:p>
          <a:p>
            <a:pPr marL="0" marR="0" lvl="0" indent="0" algn="l" rtl="0">
              <a:lnSpc>
                <a:spcPct val="200000"/>
              </a:lnSpc>
              <a:spcBef>
                <a:spcPts val="200"/>
              </a:spcBef>
              <a:spcAft>
                <a:spcPts val="0"/>
              </a:spcAft>
              <a:buNone/>
            </a:pPr>
            <a:r>
              <a:rPr lang="en" sz="1400" b="0" i="0" u="none" strike="noStrike" cap="none">
                <a:solidFill>
                  <a:srgbClr val="0F293D"/>
                </a:solidFill>
                <a:latin typeface="Consolas"/>
                <a:ea typeface="Consolas"/>
                <a:cs typeface="Consolas"/>
                <a:sym typeface="Consolas"/>
              </a:rPr>
              <a:t>Q_Khc = min(Load, Q_adj)      settled volume (lines 1-3)</a:t>
            </a:r>
            <a:endParaRPr/>
          </a:p>
          <a:p>
            <a:pPr marL="0" marR="0" lvl="0" indent="0" algn="l" rtl="0">
              <a:lnSpc>
                <a:spcPct val="200000"/>
              </a:lnSpc>
              <a:spcBef>
                <a:spcPts val="200"/>
              </a:spcBef>
              <a:spcAft>
                <a:spcPts val="0"/>
              </a:spcAft>
              <a:buNone/>
            </a:pPr>
            <a:r>
              <a:rPr lang="en" sz="1400" b="0" i="0" u="none" strike="noStrike" cap="none">
                <a:solidFill>
                  <a:srgbClr val="0F293D"/>
                </a:solidFill>
                <a:latin typeface="Consolas"/>
                <a:ea typeface="Consolas"/>
                <a:cs typeface="Consolas"/>
                <a:sym typeface="Consolas"/>
              </a:rPr>
              <a:t>Q_CfD = min(Q_c, Q_Khc)       CfD settles on received volume</a:t>
            </a:r>
            <a:endParaRPr/>
          </a:p>
        </p:txBody>
      </p:sp>
      <p:sp>
        <p:nvSpPr>
          <p:cNvPr id="1652" name="Google Shape;1652;p169"/>
          <p:cNvSpPr txBox="1"/>
          <p:nvPr/>
        </p:nvSpPr>
        <p:spPr>
          <a:xfrm>
            <a:off x="393875" y="3238525"/>
            <a:ext cx="8685000" cy="15456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000000"/>
              </a:buClr>
              <a:buSzPts val="1300"/>
              <a:buFont typeface="Montserrat"/>
              <a:buChar char="●"/>
            </a:pPr>
            <a:r>
              <a:rPr lang="en" sz="1300">
                <a:solidFill>
                  <a:srgbClr val="000000"/>
                </a:solidFill>
                <a:latin typeface="Montserrat"/>
                <a:ea typeface="Montserrat"/>
                <a:cs typeface="Montserrat"/>
                <a:sym typeface="Montserrat"/>
              </a:rPr>
              <a:t>Grid losses are reflected through coordinated volume and price conversions: </a:t>
            </a:r>
            <a:br>
              <a:rPr lang="en" sz="1300">
                <a:solidFill>
                  <a:srgbClr val="000000"/>
                </a:solidFill>
                <a:latin typeface="Montserrat"/>
                <a:ea typeface="Montserrat"/>
                <a:cs typeface="Montserrat"/>
                <a:sym typeface="Montserrat"/>
              </a:rPr>
            </a:br>
            <a:r>
              <a:rPr lang="en" sz="1300">
                <a:solidFill>
                  <a:srgbClr val="000000"/>
                </a:solidFill>
                <a:latin typeface="Montserrat"/>
                <a:ea typeface="Montserrat"/>
                <a:cs typeface="Montserrat"/>
                <a:sym typeface="Montserrat"/>
              </a:rPr>
              <a:t>K_pp converts generator-meter output into buyer-side credited volume, while </a:t>
            </a:r>
            <a:br>
              <a:rPr lang="en" sz="1300">
                <a:solidFill>
                  <a:srgbClr val="000000"/>
                </a:solidFill>
                <a:latin typeface="Montserrat"/>
                <a:ea typeface="Montserrat"/>
                <a:cs typeface="Montserrat"/>
                <a:sym typeface="Montserrat"/>
              </a:rPr>
            </a:br>
            <a:r>
              <a:rPr lang="en" sz="1300">
                <a:solidFill>
                  <a:srgbClr val="000000"/>
                </a:solidFill>
                <a:latin typeface="Montserrat"/>
                <a:ea typeface="Montserrat"/>
                <a:cs typeface="Montserrat"/>
                <a:sym typeface="Montserrat"/>
              </a:rPr>
              <a:t>k and K_pp convert FMP into the corresponding buyer-side market-energy price.</a:t>
            </a:r>
            <a:endParaRPr>
              <a:solidFill>
                <a:srgbClr val="000000"/>
              </a:solidFill>
              <a:latin typeface="Montserrat"/>
              <a:ea typeface="Montserrat"/>
              <a:cs typeface="Montserrat"/>
              <a:sym typeface="Montserrat"/>
            </a:endParaRPr>
          </a:p>
          <a:p>
            <a:pPr marL="457200" marR="0" lvl="0" indent="-311150" algn="l" rtl="0">
              <a:lnSpc>
                <a:spcPct val="115000"/>
              </a:lnSpc>
              <a:spcBef>
                <a:spcPts val="400"/>
              </a:spcBef>
              <a:spcAft>
                <a:spcPts val="0"/>
              </a:spcAft>
              <a:buClr>
                <a:srgbClr val="000000"/>
              </a:buClr>
              <a:buSzPts val="1300"/>
              <a:buFont typeface="Montserrat"/>
              <a:buChar char="●"/>
            </a:pPr>
            <a:r>
              <a:rPr lang="en" sz="1300" i="0" u="none" strike="noStrike" cap="none">
                <a:solidFill>
                  <a:srgbClr val="000000"/>
                </a:solidFill>
                <a:latin typeface="Montserrat"/>
                <a:ea typeface="Montserrat"/>
                <a:cs typeface="Montserrat"/>
                <a:sym typeface="Montserrat"/>
              </a:rPr>
              <a:t>If the plant generates more than you consume in an hour, the excess earns the generator spot revenue only</a:t>
            </a:r>
            <a:r>
              <a:rPr lang="en" sz="1300">
                <a:solidFill>
                  <a:srgbClr val="000000"/>
                </a:solidFill>
                <a:latin typeface="Montserrat"/>
                <a:ea typeface="Montserrat"/>
                <a:cs typeface="Montserrat"/>
                <a:sym typeface="Montserrat"/>
              </a:rPr>
              <a:t>; </a:t>
            </a:r>
            <a:r>
              <a:rPr lang="en" sz="1300" i="0" u="none" strike="noStrike" cap="none">
                <a:solidFill>
                  <a:srgbClr val="000000"/>
                </a:solidFill>
                <a:latin typeface="Montserrat"/>
                <a:ea typeface="Montserrat"/>
                <a:cs typeface="Montserrat"/>
                <a:sym typeface="Montserrat"/>
              </a:rPr>
              <a:t>it is NOT billed to you and does NOT earn CfD</a:t>
            </a:r>
            <a:endParaRPr>
              <a:solidFill>
                <a:srgbClr val="000000"/>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rgbClr val="000000"/>
              </a:buClr>
              <a:buSzPts val="1300"/>
              <a:buFont typeface="Montserrat"/>
              <a:buChar char="●"/>
            </a:pPr>
            <a:r>
              <a:rPr lang="en" sz="1300" b="1" i="0" u="none" strike="noStrike" cap="none">
                <a:solidFill>
                  <a:srgbClr val="000000"/>
                </a:solidFill>
                <a:latin typeface="Montserrat"/>
                <a:ea typeface="Montserrat"/>
                <a:cs typeface="Montserrat"/>
                <a:sym typeface="Montserrat"/>
              </a:rPr>
              <a:t>Practical consequence: </a:t>
            </a:r>
            <a:r>
              <a:rPr lang="en" sz="1300">
                <a:latin typeface="Montserrat"/>
                <a:ea typeface="Montserrat"/>
                <a:cs typeface="Montserrat"/>
                <a:sym typeface="Montserrat"/>
              </a:rPr>
              <a:t>C</a:t>
            </a:r>
            <a:r>
              <a:rPr lang="en" sz="1300" i="0" u="none" strike="noStrike" cap="none">
                <a:solidFill>
                  <a:srgbClr val="000000"/>
                </a:solidFill>
                <a:latin typeface="Montserrat"/>
                <a:ea typeface="Montserrat"/>
                <a:cs typeface="Montserrat"/>
                <a:sym typeface="Montserrat"/>
              </a:rPr>
              <a:t>ontracted volume (Q_c) above your real consumption buys nothing</a:t>
            </a:r>
            <a:endParaRPr>
              <a:solidFill>
                <a:srgbClr val="000000"/>
              </a:solidFill>
              <a:latin typeface="Montserrat"/>
              <a:ea typeface="Montserrat"/>
              <a:cs typeface="Montserrat"/>
              <a:sym typeface="Montserrat"/>
            </a:endParaRPr>
          </a:p>
        </p:txBody>
      </p:sp>
      <p:sp>
        <p:nvSpPr>
          <p:cNvPr id="1653" name="Google Shape;1653;p169"/>
          <p:cNvSpPr txBox="1"/>
          <p:nvPr/>
        </p:nvSpPr>
        <p:spPr>
          <a:xfrm>
            <a:off x="363039" y="878250"/>
            <a:ext cx="6941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200" b="1">
                <a:solidFill>
                  <a:srgbClr val="127A7A"/>
                </a:solidFill>
                <a:latin typeface="Montserrat"/>
                <a:ea typeface="Montserrat"/>
                <a:cs typeface="Montserrat"/>
                <a:sym typeface="Montserrat"/>
              </a:rPr>
              <a:t>Which volume? You settle only on what you actually consume</a:t>
            </a:r>
            <a:endParaRPr sz="1200" b="1">
              <a:solidFill>
                <a:srgbClr val="127A7A"/>
              </a:solidFill>
              <a:latin typeface="Montserrat"/>
              <a:ea typeface="Montserrat"/>
              <a:cs typeface="Montserrat"/>
              <a:sym typeface="Montserrat"/>
            </a:endParaRPr>
          </a:p>
        </p:txBody>
      </p:sp>
      <p:pic>
        <p:nvPicPr>
          <p:cNvPr id="1654" name="Google Shape;1654;p16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55" name="Google Shape;1655;p169"/>
          <p:cNvPicPr preferRelativeResize="0"/>
          <p:nvPr/>
        </p:nvPicPr>
        <p:blipFill>
          <a:blip r:embed="rId4">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1660" name="Google Shape;1660;p170"/>
          <p:cNvGrpSpPr/>
          <p:nvPr/>
        </p:nvGrpSpPr>
        <p:grpSpPr>
          <a:xfrm>
            <a:off x="239992" y="63853"/>
            <a:ext cx="8728050" cy="745997"/>
            <a:chOff x="236700" y="63853"/>
            <a:chExt cx="8728050" cy="745997"/>
          </a:xfrm>
        </p:grpSpPr>
        <p:sp>
          <p:nvSpPr>
            <p:cNvPr id="1661" name="Google Shape;1661;p17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62" name="Google Shape;1662;p17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63" name="Google Shape;1663;p17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64" name="Google Shape;1664;p17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65" name="Google Shape;1665;p17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66" name="Google Shape;1666;p17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67" name="Google Shape;1667;p17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68" name="Google Shape;1668;p170"/>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Simulation: Industrial Park Buys 6,000 MWh/month</a:t>
              </a:r>
              <a:endParaRPr sz="2100">
                <a:solidFill>
                  <a:schemeClr val="lt1"/>
                </a:solidFill>
                <a:latin typeface="Montserrat ExtraBold"/>
                <a:ea typeface="Montserrat ExtraBold"/>
                <a:cs typeface="Montserrat ExtraBold"/>
                <a:sym typeface="Montserrat ExtraBold"/>
              </a:endParaRPr>
            </a:p>
          </p:txBody>
        </p:sp>
        <p:cxnSp>
          <p:nvCxnSpPr>
            <p:cNvPr id="1669" name="Google Shape;1669;p17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70" name="Google Shape;1670;p17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1671" name="Google Shape;1671;p170"/>
          <p:cNvGraphicFramePr/>
          <p:nvPr/>
        </p:nvGraphicFramePr>
        <p:xfrm>
          <a:off x="453128" y="984674"/>
          <a:ext cx="3000000" cy="3000000"/>
        </p:xfrm>
        <a:graphic>
          <a:graphicData uri="http://schemas.openxmlformats.org/drawingml/2006/table">
            <a:tbl>
              <a:tblPr firstRow="1" bandRow="1">
                <a:noFill/>
                <a:tableStyleId>{CE8BD2AF-5D0D-4EDC-AE96-A30A7DA1AF2F}</a:tableStyleId>
              </a:tblPr>
              <a:tblGrid>
                <a:gridCol w="2170750">
                  <a:extLst>
                    <a:ext uri="{9D8B030D-6E8A-4147-A177-3AD203B41FA5}">
                      <a16:colId xmlns:a16="http://schemas.microsoft.com/office/drawing/2014/main" val="20000"/>
                    </a:ext>
                  </a:extLst>
                </a:gridCol>
                <a:gridCol w="1129325">
                  <a:extLst>
                    <a:ext uri="{9D8B030D-6E8A-4147-A177-3AD203B41FA5}">
                      <a16:colId xmlns:a16="http://schemas.microsoft.com/office/drawing/2014/main" val="20001"/>
                    </a:ext>
                  </a:extLst>
                </a:gridCol>
                <a:gridCol w="1431875">
                  <a:extLst>
                    <a:ext uri="{9D8B030D-6E8A-4147-A177-3AD203B41FA5}">
                      <a16:colId xmlns:a16="http://schemas.microsoft.com/office/drawing/2014/main" val="20002"/>
                    </a:ext>
                  </a:extLst>
                </a:gridCol>
              </a:tblGrid>
              <a:tr h="33122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Parameter</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Symbol</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Value</a:t>
                      </a:r>
                      <a:endParaRPr sz="1000">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19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Consumption = received RE volume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Q_KH = Q_Khc</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6,000,000 kWh/mo</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19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Contracted CfD volume</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Q_c</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6,000,000 kWh/mo</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CfD strike price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P_c</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1,300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Market price (monthly avg)</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FMP</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1,200 VND/kWh</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Price conversion factor</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k</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1.026</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Loss factor (110 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K_pp</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1.008</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DPPA service fee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C_dppa_dv</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360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7"/>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Balancing fee</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P_cl</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163.3 VND/kWh</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8"/>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Avg retail price (residual)</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P1</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2,204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9"/>
                  </a:ext>
                </a:extLst>
              </a:tr>
            </a:tbl>
          </a:graphicData>
        </a:graphic>
      </p:graphicFrame>
      <p:sp>
        <p:nvSpPr>
          <p:cNvPr id="1672" name="Google Shape;1672;p170"/>
          <p:cNvSpPr txBox="1"/>
          <p:nvPr/>
        </p:nvSpPr>
        <p:spPr>
          <a:xfrm>
            <a:off x="5262110" y="1008155"/>
            <a:ext cx="3638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Scenario</a:t>
            </a:r>
            <a:endParaRPr>
              <a:latin typeface="Montserrat"/>
              <a:ea typeface="Montserrat"/>
              <a:cs typeface="Montserrat"/>
              <a:sym typeface="Montserrat"/>
            </a:endParaRPr>
          </a:p>
        </p:txBody>
      </p:sp>
      <p:sp>
        <p:nvSpPr>
          <p:cNvPr id="1673" name="Google Shape;1673;p170"/>
          <p:cNvSpPr txBox="1"/>
          <p:nvPr/>
        </p:nvSpPr>
        <p:spPr>
          <a:xfrm>
            <a:off x="5166710" y="1345080"/>
            <a:ext cx="3733500" cy="1775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A 50 MW solar plant contracts its full output to one industrial customer</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Consumption exactly equals delivered RE volume - no residual EVN purchase this month</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Strike just 100 VND above market - watch what the fees do</a:t>
            </a:r>
            <a:endParaRPr sz="1300">
              <a:solidFill>
                <a:srgbClr val="222B33"/>
              </a:solidFill>
              <a:latin typeface="Montserrat"/>
              <a:ea typeface="Montserrat"/>
              <a:cs typeface="Montserrat"/>
              <a:sym typeface="Montserrat"/>
            </a:endParaRPr>
          </a:p>
        </p:txBody>
      </p:sp>
      <p:pic>
        <p:nvPicPr>
          <p:cNvPr id="1674" name="Google Shape;1674;p17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75" name="Google Shape;1675;p170"/>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676" name="Google Shape;1676;p170"/>
          <p:cNvSpPr txBox="1"/>
          <p:nvPr/>
        </p:nvSpPr>
        <p:spPr>
          <a:xfrm>
            <a:off x="504775" y="4659046"/>
            <a:ext cx="20004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en" sz="900" i="1">
                <a:solidFill>
                  <a:srgbClr val="222B33"/>
                </a:solidFill>
                <a:latin typeface="Montserrat"/>
                <a:ea typeface="Montserrat"/>
                <a:cs typeface="Montserrat"/>
                <a:sym typeface="Montserrat"/>
              </a:rPr>
              <a:t>Source: EAVCED public training</a:t>
            </a:r>
            <a:endParaRPr sz="1000"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grpSp>
        <p:nvGrpSpPr>
          <p:cNvPr id="1681" name="Google Shape;1681;p171"/>
          <p:cNvGrpSpPr/>
          <p:nvPr/>
        </p:nvGrpSpPr>
        <p:grpSpPr>
          <a:xfrm>
            <a:off x="239992" y="63853"/>
            <a:ext cx="8728050" cy="745997"/>
            <a:chOff x="236700" y="63853"/>
            <a:chExt cx="8728050" cy="745997"/>
          </a:xfrm>
        </p:grpSpPr>
        <p:sp>
          <p:nvSpPr>
            <p:cNvPr id="1682" name="Google Shape;1682;p17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83" name="Google Shape;1683;p17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84" name="Google Shape;1684;p17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85" name="Google Shape;1685;p17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86" name="Google Shape;1686;p17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87" name="Google Shape;1687;p17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88" name="Google Shape;1688;p17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89" name="Google Shape;1689;p171"/>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The Five Lines, Computed</a:t>
              </a:r>
              <a:endParaRPr sz="2100">
                <a:solidFill>
                  <a:schemeClr val="lt1"/>
                </a:solidFill>
                <a:latin typeface="Montserrat ExtraBold"/>
                <a:ea typeface="Montserrat ExtraBold"/>
                <a:cs typeface="Montserrat ExtraBold"/>
                <a:sym typeface="Montserrat ExtraBold"/>
              </a:endParaRPr>
            </a:p>
          </p:txBody>
        </p:sp>
        <p:cxnSp>
          <p:nvCxnSpPr>
            <p:cNvPr id="1690" name="Google Shape;1690;p17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91" name="Google Shape;1691;p17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692" name="Google Shape;1692;p171"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93" name="Google Shape;1693;p171"/>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694" name="Google Shape;1694;p171"/>
          <p:cNvGraphicFramePr/>
          <p:nvPr/>
        </p:nvGraphicFramePr>
        <p:xfrm>
          <a:off x="454280" y="1076025"/>
          <a:ext cx="3000000" cy="3000000"/>
        </p:xfrm>
        <a:graphic>
          <a:graphicData uri="http://schemas.openxmlformats.org/drawingml/2006/table">
            <a:tbl>
              <a:tblPr firstRow="1" bandRow="1">
                <a:noFill/>
                <a:tableStyleId>{CE8BD2AF-5D0D-4EDC-AE96-A30A7DA1AF2F}</a:tableStyleId>
              </a:tblPr>
              <a:tblGrid>
                <a:gridCol w="2651250">
                  <a:extLst>
                    <a:ext uri="{9D8B030D-6E8A-4147-A177-3AD203B41FA5}">
                      <a16:colId xmlns:a16="http://schemas.microsoft.com/office/drawing/2014/main" val="20000"/>
                    </a:ext>
                  </a:extLst>
                </a:gridCol>
                <a:gridCol w="2704175">
                  <a:extLst>
                    <a:ext uri="{9D8B030D-6E8A-4147-A177-3AD203B41FA5}">
                      <a16:colId xmlns:a16="http://schemas.microsoft.com/office/drawing/2014/main" val="20001"/>
                    </a:ext>
                  </a:extLst>
                </a:gridCol>
                <a:gridCol w="2652500">
                  <a:extLst>
                    <a:ext uri="{9D8B030D-6E8A-4147-A177-3AD203B41FA5}">
                      <a16:colId xmlns:a16="http://schemas.microsoft.com/office/drawing/2014/main" val="20002"/>
                    </a:ext>
                  </a:extLst>
                </a:gridCol>
              </a:tblGrid>
              <a:tr h="3129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Line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Calculation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VND/month</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  Market energy (C_DN)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1,200 x 1.026 x 1.008</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7,446,297,600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  Service fee (C_dppa)</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360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2,160,000,000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  Balancing fee (C_cl)</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163.3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979,800,000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  Residual (C_bl)</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 kWh x 2,204</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12950">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   EVN bill (C_EVN)</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lines 1 + 2 + 3 + 4</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10,586,097,600</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extLst>
                  <a:ext uri="{0D108BD9-81ED-4DB2-BD59-A6C34878D82A}">
                    <a16:rowId xmlns:a16="http://schemas.microsoft.com/office/drawing/2014/main" val="10005"/>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5.  CfD settlement (C_CfD)</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(1,300 - 1,200) x 6,000,000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600,000,000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12950">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   TOTAL (C_KH)</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C_EVN + C_CfD</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11,186,097,600</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extLst>
                  <a:ext uri="{0D108BD9-81ED-4DB2-BD59-A6C34878D82A}">
                    <a16:rowId xmlns:a16="http://schemas.microsoft.com/office/drawing/2014/main" val="10007"/>
                  </a:ext>
                </a:extLst>
              </a:tr>
            </a:tbl>
          </a:graphicData>
        </a:graphic>
      </p:graphicFrame>
      <p:sp>
        <p:nvSpPr>
          <p:cNvPr id="1695" name="Google Shape;1695;p171"/>
          <p:cNvSpPr txBox="1"/>
          <p:nvPr/>
        </p:nvSpPr>
        <p:spPr>
          <a:xfrm>
            <a:off x="252333" y="3686620"/>
            <a:ext cx="8550900" cy="797700"/>
          </a:xfrm>
          <a:prstGeom prst="rect">
            <a:avLst/>
          </a:prstGeom>
          <a:noFill/>
          <a:ln>
            <a:noFill/>
          </a:ln>
        </p:spPr>
        <p:txBody>
          <a:bodyPr spcFirstLastPara="1" wrap="square" lIns="91425" tIns="45700" rIns="91425" bIns="45700" anchor="t" anchorCtr="0">
            <a:spAutoFit/>
          </a:bodyPr>
          <a:lstStyle/>
          <a:p>
            <a:pPr marL="457200" marR="0" lvl="0" indent="-307975" algn="l" rtl="0">
              <a:lnSpc>
                <a:spcPct val="120000"/>
              </a:lnSpc>
              <a:spcBef>
                <a:spcPts val="0"/>
              </a:spcBef>
              <a:spcAft>
                <a:spcPts val="0"/>
              </a:spcAft>
              <a:buClr>
                <a:schemeClr val="dk1"/>
              </a:buClr>
              <a:buSzPts val="1250"/>
              <a:buFont typeface="Montserrat"/>
              <a:buChar char="●"/>
            </a:pPr>
            <a:r>
              <a:rPr lang="en" sz="1250" i="0" u="none" strike="noStrike" cap="none">
                <a:solidFill>
                  <a:schemeClr val="dk1"/>
                </a:solidFill>
                <a:latin typeface="Montserrat"/>
                <a:ea typeface="Montserrat"/>
                <a:cs typeface="Montserrat"/>
                <a:sym typeface="Montserrat"/>
              </a:rPr>
              <a:t>Effective cost = 11,186,097,600 / 6,000,000 = ~1,864 VND/kWh for fully renewable supply (</a:t>
            </a:r>
            <a:r>
              <a:rPr lang="en" sz="1250">
                <a:solidFill>
                  <a:schemeClr val="dk1"/>
                </a:solidFill>
                <a:latin typeface="Montserrat"/>
                <a:ea typeface="Montserrat"/>
                <a:cs typeface="Montserrat"/>
                <a:sym typeface="Montserrat"/>
              </a:rPr>
              <a:t>versus </a:t>
            </a:r>
            <a:r>
              <a:rPr lang="en" sz="1250" i="0" u="none" strike="noStrike" cap="none">
                <a:solidFill>
                  <a:schemeClr val="dk1"/>
                </a:solidFill>
                <a:latin typeface="Montserrat"/>
                <a:ea typeface="Montserrat"/>
                <a:cs typeface="Montserrat"/>
                <a:sym typeface="Montserrat"/>
              </a:rPr>
              <a:t>~2,204</a:t>
            </a:r>
            <a:r>
              <a:rPr lang="en" sz="1250">
                <a:solidFill>
                  <a:schemeClr val="dk1"/>
                </a:solidFill>
                <a:latin typeface="Montserrat"/>
                <a:ea typeface="Montserrat"/>
                <a:cs typeface="Montserrat"/>
                <a:sym typeface="Montserrat"/>
              </a:rPr>
              <a:t> </a:t>
            </a:r>
            <a:r>
              <a:rPr lang="en" sz="1250" i="0" u="none" strike="noStrike" cap="none">
                <a:solidFill>
                  <a:schemeClr val="dk1"/>
                </a:solidFill>
                <a:latin typeface="Montserrat"/>
                <a:ea typeface="Montserrat"/>
                <a:cs typeface="Montserrat"/>
                <a:sym typeface="Montserrat"/>
              </a:rPr>
              <a:t>VND avg retail in the example)</a:t>
            </a:r>
            <a:endParaRPr>
              <a:solidFill>
                <a:schemeClr val="dk1"/>
              </a:solidFill>
              <a:latin typeface="Montserrat"/>
              <a:ea typeface="Montserrat"/>
              <a:cs typeface="Montserrat"/>
              <a:sym typeface="Montserrat"/>
            </a:endParaRPr>
          </a:p>
          <a:p>
            <a:pPr marL="457200" marR="0" lvl="0" indent="-307975" algn="l" rtl="0">
              <a:lnSpc>
                <a:spcPct val="120000"/>
              </a:lnSpc>
              <a:spcBef>
                <a:spcPts val="400"/>
              </a:spcBef>
              <a:spcAft>
                <a:spcPts val="400"/>
              </a:spcAft>
              <a:buClr>
                <a:schemeClr val="dk1"/>
              </a:buClr>
              <a:buSzPts val="1250"/>
              <a:buFont typeface="Montserrat"/>
              <a:buChar char="●"/>
            </a:pPr>
            <a:r>
              <a:rPr lang="en" sz="1250" i="0" u="none" strike="noStrike" cap="none">
                <a:solidFill>
                  <a:schemeClr val="dk1"/>
                </a:solidFill>
                <a:latin typeface="Montserrat"/>
                <a:ea typeface="Montserrat"/>
                <a:cs typeface="Montserrat"/>
                <a:sym typeface="Montserrat"/>
              </a:rPr>
              <a:t>Generator side: 6,048,000 kWh x 1,200 (spot) + 600,000,000 (CfD) = 7,857,600,000 VND</a:t>
            </a:r>
            <a:endParaRPr>
              <a:solidFill>
                <a:schemeClr val="dk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9"/>
        <p:cNvGrpSpPr/>
        <p:nvPr/>
      </p:nvGrpSpPr>
      <p:grpSpPr>
        <a:xfrm>
          <a:off x="0" y="0"/>
          <a:ext cx="0" cy="0"/>
          <a:chOff x="0" y="0"/>
          <a:chExt cx="0" cy="0"/>
        </a:xfrm>
      </p:grpSpPr>
      <p:sp>
        <p:nvSpPr>
          <p:cNvPr id="1700" name="Google Shape;1700;p172"/>
          <p:cNvSpPr/>
          <p:nvPr/>
        </p:nvSpPr>
        <p:spPr>
          <a:xfrm>
            <a:off x="431323" y="3865058"/>
            <a:ext cx="8459400" cy="8301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E77A10"/>
                </a:solidFill>
                <a:latin typeface="Montserrat"/>
                <a:ea typeface="Montserrat"/>
                <a:cs typeface="Montserrat"/>
                <a:sym typeface="Montserrat"/>
              </a:rPr>
              <a:t>Virtual DPPA is rarely a Day-1 discount. Its value</a:t>
            </a:r>
            <a:r>
              <a:rPr lang="en" b="1">
                <a:solidFill>
                  <a:srgbClr val="E77A10"/>
                </a:solidFill>
                <a:latin typeface="Montserrat"/>
                <a:ea typeface="Montserrat"/>
                <a:cs typeface="Montserrat"/>
                <a:sym typeface="Montserrat"/>
              </a:rPr>
              <a:t> comes from</a:t>
            </a:r>
            <a:r>
              <a:rPr lang="en" sz="1400" b="1" i="0" u="none" strike="noStrike" cap="none">
                <a:solidFill>
                  <a:srgbClr val="E77A10"/>
                </a:solidFill>
                <a:latin typeface="Montserrat"/>
                <a:ea typeface="Montserrat"/>
                <a:cs typeface="Montserrat"/>
                <a:sym typeface="Montserrat"/>
              </a:rPr>
              <a:t> price certainty </a:t>
            </a:r>
            <a:r>
              <a:rPr lang="en" b="1">
                <a:solidFill>
                  <a:srgbClr val="E77A10"/>
                </a:solidFill>
                <a:latin typeface="Montserrat"/>
                <a:ea typeface="Montserrat"/>
                <a:cs typeface="Montserrat"/>
                <a:sym typeface="Montserrat"/>
              </a:rPr>
              <a:t>versus </a:t>
            </a:r>
            <a:r>
              <a:rPr lang="en" sz="1400" b="1" i="0" u="none" strike="noStrike" cap="none">
                <a:solidFill>
                  <a:srgbClr val="E77A10"/>
                </a:solidFill>
                <a:latin typeface="Montserrat"/>
                <a:ea typeface="Montserrat"/>
                <a:cs typeface="Montserrat"/>
                <a:sym typeface="Montserrat"/>
              </a:rPr>
              <a:t>EVN escalation</a:t>
            </a:r>
            <a:r>
              <a:rPr lang="en" b="1">
                <a:solidFill>
                  <a:srgbClr val="E77A10"/>
                </a:solidFill>
                <a:latin typeface="Montserrat"/>
                <a:ea typeface="Montserrat"/>
                <a:cs typeface="Montserrat"/>
                <a:sym typeface="Montserrat"/>
              </a:rPr>
              <a:t>, </a:t>
            </a:r>
            <a:r>
              <a:rPr lang="en" sz="1500">
                <a:solidFill>
                  <a:schemeClr val="lt1"/>
                </a:solidFill>
                <a:latin typeface="Montserrat"/>
                <a:ea typeface="Montserrat"/>
                <a:cs typeface="Montserrat"/>
                <a:sym typeface="Montserrat"/>
              </a:rPr>
              <a:t>being able to cover 100% of annual electricity demand with contracted renewable generation, and utilizing </a:t>
            </a:r>
            <a:r>
              <a:rPr lang="en" sz="1400" b="1" i="0" u="none" strike="noStrike" cap="none">
                <a:solidFill>
                  <a:srgbClr val="E77A10"/>
                </a:solidFill>
                <a:latin typeface="Montserrat"/>
                <a:ea typeface="Montserrat"/>
                <a:cs typeface="Montserrat"/>
                <a:sym typeface="Montserrat"/>
              </a:rPr>
              <a:t>credible renewable claims.</a:t>
            </a:r>
            <a:endParaRPr>
              <a:solidFill>
                <a:srgbClr val="E77A10"/>
              </a:solidFill>
              <a:latin typeface="Montserrat"/>
              <a:ea typeface="Montserrat"/>
              <a:cs typeface="Montserrat"/>
              <a:sym typeface="Montserrat"/>
            </a:endParaRPr>
          </a:p>
        </p:txBody>
      </p:sp>
      <p:pic>
        <p:nvPicPr>
          <p:cNvPr id="1701" name="Google Shape;1701;p17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02" name="Google Shape;1702;p172"/>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703" name="Google Shape;1703;p172"/>
          <p:cNvGraphicFramePr/>
          <p:nvPr/>
        </p:nvGraphicFramePr>
        <p:xfrm>
          <a:off x="431317" y="1017908"/>
          <a:ext cx="3000000" cy="3000000"/>
        </p:xfrm>
        <a:graphic>
          <a:graphicData uri="http://schemas.openxmlformats.org/drawingml/2006/table">
            <a:tbl>
              <a:tblPr firstRow="1" bandRow="1">
                <a:noFill/>
                <a:tableStyleId>{CE8BD2AF-5D0D-4EDC-AE96-A30A7DA1AF2F}</a:tableStyleId>
              </a:tblPr>
              <a:tblGrid>
                <a:gridCol w="3082500">
                  <a:extLst>
                    <a:ext uri="{9D8B030D-6E8A-4147-A177-3AD203B41FA5}">
                      <a16:colId xmlns:a16="http://schemas.microsoft.com/office/drawing/2014/main" val="20000"/>
                    </a:ext>
                  </a:extLst>
                </a:gridCol>
                <a:gridCol w="1120600">
                  <a:extLst>
                    <a:ext uri="{9D8B030D-6E8A-4147-A177-3AD203B41FA5}">
                      <a16:colId xmlns:a16="http://schemas.microsoft.com/office/drawing/2014/main" val="20001"/>
                    </a:ext>
                  </a:extLst>
                </a:gridCol>
                <a:gridCol w="1083975">
                  <a:extLst>
                    <a:ext uri="{9D8B030D-6E8A-4147-A177-3AD203B41FA5}">
                      <a16:colId xmlns:a16="http://schemas.microsoft.com/office/drawing/2014/main" val="20002"/>
                    </a:ext>
                  </a:extLst>
                </a:gridCol>
              </a:tblGrid>
              <a:tr h="5528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Component (per matched kWh)</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VND/kWh</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USD/kWh (cents)</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5675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Market energy at 2025 avg FMP x k x K_pp (22-110kV)</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~1,504</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5528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DPPA service fee (C_dppa_dv)</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360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1.4</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5528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Balancing fee (P_cl)</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163.3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0.7</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552825">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Delivered cost before CfD</a:t>
                      </a:r>
                      <a:endParaRPr b="1">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~2,027</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~8.1</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704" name="Google Shape;1704;p172"/>
          <p:cNvSpPr txBox="1"/>
          <p:nvPr/>
        </p:nvSpPr>
        <p:spPr>
          <a:xfrm>
            <a:off x="5709486" y="1017895"/>
            <a:ext cx="3181200" cy="24660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The 523 VND/kWh of fixed fees applies to every matched kWh, regardless of your strike</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They are set by regulation, not negotiation</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Compare ~2,027 VND delivered (pre-CfD) with your own TOU mix - for many factories that is already near or above average grid cost</a:t>
            </a:r>
            <a:endParaRPr>
              <a:latin typeface="Montserrat"/>
              <a:ea typeface="Montserrat"/>
              <a:cs typeface="Montserrat"/>
              <a:sym typeface="Montserrat"/>
            </a:endParaRPr>
          </a:p>
        </p:txBody>
      </p:sp>
      <p:grpSp>
        <p:nvGrpSpPr>
          <p:cNvPr id="1705" name="Google Shape;1705;p172"/>
          <p:cNvGrpSpPr/>
          <p:nvPr/>
        </p:nvGrpSpPr>
        <p:grpSpPr>
          <a:xfrm>
            <a:off x="239992" y="63853"/>
            <a:ext cx="8728050" cy="745997"/>
            <a:chOff x="236700" y="63853"/>
            <a:chExt cx="8728050" cy="745997"/>
          </a:xfrm>
        </p:grpSpPr>
        <p:sp>
          <p:nvSpPr>
            <p:cNvPr id="1706" name="Google Shape;1706;p17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07" name="Google Shape;1707;p17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08" name="Google Shape;1708;p17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09" name="Google Shape;1709;p17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10" name="Google Shape;1710;p17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11" name="Google Shape;1711;p17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12" name="Google Shape;1712;p17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13" name="Google Shape;1713;p172"/>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Your Monthly Settlement Has Five Lines</a:t>
              </a:r>
              <a:endParaRPr sz="2100">
                <a:solidFill>
                  <a:schemeClr val="lt1"/>
                </a:solidFill>
                <a:latin typeface="Montserrat ExtraBold"/>
                <a:ea typeface="Montserrat ExtraBold"/>
                <a:cs typeface="Montserrat ExtraBold"/>
                <a:sym typeface="Montserrat ExtraBold"/>
              </a:endParaRPr>
            </a:p>
          </p:txBody>
        </p:sp>
        <p:cxnSp>
          <p:nvCxnSpPr>
            <p:cNvPr id="1714" name="Google Shape;1714;p17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15" name="Google Shape;1715;p17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9"/>
        <p:cNvGrpSpPr/>
        <p:nvPr/>
      </p:nvGrpSpPr>
      <p:grpSpPr>
        <a:xfrm>
          <a:off x="0" y="0"/>
          <a:ext cx="0" cy="0"/>
          <a:chOff x="0" y="0"/>
          <a:chExt cx="0" cy="0"/>
        </a:xfrm>
      </p:grpSpPr>
      <p:cxnSp>
        <p:nvCxnSpPr>
          <p:cNvPr id="1720" name="Google Shape;1720;p173"/>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721" name="Google Shape;1721;p173"/>
          <p:cNvSpPr txBox="1"/>
          <p:nvPr/>
        </p:nvSpPr>
        <p:spPr>
          <a:xfrm>
            <a:off x="4572000" y="1440675"/>
            <a:ext cx="4572000" cy="19857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3:</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CfD Mechanics: What Drives Your Quoted Price</a:t>
            </a:r>
            <a:endParaRPr sz="2800" b="1">
              <a:solidFill>
                <a:srgbClr val="0F172A"/>
              </a:solidFill>
              <a:highlight>
                <a:srgbClr val="FFFFFF"/>
              </a:highlight>
              <a:latin typeface="Montserrat"/>
              <a:ea typeface="Montserrat"/>
              <a:cs typeface="Montserrat"/>
              <a:sym typeface="Montserrat"/>
            </a:endParaRPr>
          </a:p>
        </p:txBody>
      </p:sp>
      <p:pic>
        <p:nvPicPr>
          <p:cNvPr id="1722" name="Google Shape;1722;p173"/>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723" name="Google Shape;1723;p173"/>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724" name="Google Shape;1724;p173"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725" name="Google Shape;1725;p173"/>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grpSp>
        <p:nvGrpSpPr>
          <p:cNvPr id="1730" name="Google Shape;1730;p174"/>
          <p:cNvGrpSpPr/>
          <p:nvPr/>
        </p:nvGrpSpPr>
        <p:grpSpPr>
          <a:xfrm>
            <a:off x="239992" y="63853"/>
            <a:ext cx="8728050" cy="745997"/>
            <a:chOff x="236700" y="63853"/>
            <a:chExt cx="8728050" cy="745997"/>
          </a:xfrm>
        </p:grpSpPr>
        <p:sp>
          <p:nvSpPr>
            <p:cNvPr id="1731" name="Google Shape;1731;p17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32" name="Google Shape;1732;p17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33" name="Google Shape;1733;p17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34" name="Google Shape;1734;p17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35" name="Google Shape;1735;p17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36" name="Google Shape;1736;p17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37" name="Google Shape;1737;p17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38" name="Google Shape;1738;p174"/>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1900" b="1">
                  <a:solidFill>
                    <a:schemeClr val="lt1"/>
                  </a:solidFill>
                  <a:latin typeface="Montserrat"/>
                  <a:ea typeface="Montserrat"/>
                  <a:cs typeface="Montserrat"/>
                  <a:sym typeface="Montserrat"/>
                </a:rPr>
                <a:t>The CfD Is Two-Way: Certainty, Not Automatic Savings</a:t>
              </a:r>
              <a:endParaRPr sz="1900" b="1">
                <a:solidFill>
                  <a:schemeClr val="lt1"/>
                </a:solidFill>
                <a:latin typeface="Montserrat"/>
                <a:ea typeface="Montserrat"/>
                <a:cs typeface="Montserrat"/>
                <a:sym typeface="Montserrat"/>
              </a:endParaRPr>
            </a:p>
          </p:txBody>
        </p:sp>
        <p:cxnSp>
          <p:nvCxnSpPr>
            <p:cNvPr id="1739" name="Google Shape;1739;p17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40" name="Google Shape;1740;p17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41" name="Google Shape;1741;p17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42" name="Google Shape;1742;p174"/>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743" name="Google Shape;1743;p174"/>
          <p:cNvSpPr/>
          <p:nvPr/>
        </p:nvSpPr>
        <p:spPr>
          <a:xfrm>
            <a:off x="452050" y="1392175"/>
            <a:ext cx="4731600" cy="777300"/>
          </a:xfrm>
          <a:prstGeom prst="roundRect">
            <a:avLst>
              <a:gd name="adj" fmla="val 16667"/>
            </a:avLst>
          </a:prstGeom>
          <a:solidFill>
            <a:srgbClr val="EEF4F4"/>
          </a:solidFill>
          <a:ln w="12700" cap="flat" cmpd="sng">
            <a:solidFill>
              <a:srgbClr val="127A7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64575" tIns="73150" rIns="164575" bIns="73150" anchor="ctr" anchorCtr="0">
            <a:noAutofit/>
          </a:bodyPr>
          <a:lstStyle/>
          <a:p>
            <a:pPr marL="0" marR="0" lvl="0" indent="0" algn="l" rtl="0">
              <a:lnSpc>
                <a:spcPct val="100000"/>
              </a:lnSpc>
              <a:spcBef>
                <a:spcPts val="0"/>
              </a:spcBef>
              <a:spcAft>
                <a:spcPts val="0"/>
              </a:spcAft>
              <a:buNone/>
            </a:pPr>
            <a:r>
              <a:rPr lang="en" sz="1600" b="0" i="0" u="none" strike="noStrike" cap="none">
                <a:solidFill>
                  <a:srgbClr val="0F293D"/>
                </a:solidFill>
                <a:latin typeface="Consolas"/>
                <a:ea typeface="Consolas"/>
                <a:cs typeface="Consolas"/>
                <a:sym typeface="Consolas"/>
              </a:rPr>
              <a:t>CfD cash flow = (Strike - FMP) x Q_CfD</a:t>
            </a:r>
            <a:endParaRPr/>
          </a:p>
        </p:txBody>
      </p:sp>
      <p:graphicFrame>
        <p:nvGraphicFramePr>
          <p:cNvPr id="1744" name="Google Shape;1744;p174"/>
          <p:cNvGraphicFramePr/>
          <p:nvPr/>
        </p:nvGraphicFramePr>
        <p:xfrm>
          <a:off x="452045" y="2489455"/>
          <a:ext cx="3000000" cy="3000000"/>
        </p:xfrm>
        <a:graphic>
          <a:graphicData uri="http://schemas.openxmlformats.org/drawingml/2006/table">
            <a:tbl>
              <a:tblPr firstRow="1" bandRow="1">
                <a:noFill/>
                <a:tableStyleId>{CE8BD2AF-5D0D-4EDC-AE96-A30A7DA1AF2F}</a:tableStyleId>
              </a:tblPr>
              <a:tblGrid>
                <a:gridCol w="2026450">
                  <a:extLst>
                    <a:ext uri="{9D8B030D-6E8A-4147-A177-3AD203B41FA5}">
                      <a16:colId xmlns:a16="http://schemas.microsoft.com/office/drawing/2014/main" val="20000"/>
                    </a:ext>
                  </a:extLst>
                </a:gridCol>
                <a:gridCol w="2705150">
                  <a:extLst>
                    <a:ext uri="{9D8B030D-6E8A-4147-A177-3AD203B41FA5}">
                      <a16:colId xmlns:a16="http://schemas.microsoft.com/office/drawing/2014/main" val="20001"/>
                    </a:ext>
                  </a:extLst>
                </a:gridCol>
              </a:tblGrid>
              <a:tr h="42062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Market condition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Who pays whom</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20625">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FMP below strike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You top up the generator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20625">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FMP above strike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Generator pays you back</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bl>
          </a:graphicData>
        </a:graphic>
      </p:graphicFrame>
      <p:sp>
        <p:nvSpPr>
          <p:cNvPr id="1745" name="Google Shape;1745;p174"/>
          <p:cNvSpPr txBox="1"/>
          <p:nvPr/>
        </p:nvSpPr>
        <p:spPr>
          <a:xfrm>
            <a:off x="5276250" y="1392175"/>
            <a:ext cx="3691800" cy="27963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20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Net effect: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renewable energy cost is locked near the strike (+ fees), whatever the market does</a:t>
            </a:r>
            <a:endParaRPr>
              <a:latin typeface="Montserrat"/>
              <a:ea typeface="Montserrat"/>
              <a:cs typeface="Montserrat"/>
              <a:sym typeface="Montserrat"/>
            </a:endParaRPr>
          </a:p>
          <a:p>
            <a:pPr marL="457200" marR="0" lvl="0" indent="-311150" algn="l" rtl="0">
              <a:lnSpc>
                <a:spcPct val="120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2025 reference: FMP averaged ~1,427</a:t>
            </a:r>
            <a:r>
              <a:rPr lang="en" sz="1300">
                <a:solidFill>
                  <a:srgbClr val="222B33"/>
                </a:solidFill>
                <a:latin typeface="Montserrat"/>
                <a:ea typeface="Montserrat"/>
                <a:cs typeface="Montserrat"/>
                <a:sym typeface="Montserrat"/>
              </a:rPr>
              <a:t> </a:t>
            </a:r>
            <a:r>
              <a:rPr lang="en" sz="1300" i="0" u="none" strike="noStrike" cap="none">
                <a:solidFill>
                  <a:srgbClr val="222B33"/>
                </a:solidFill>
                <a:latin typeface="Montserrat"/>
                <a:ea typeface="Montserrat"/>
                <a:cs typeface="Montserrat"/>
                <a:sym typeface="Montserrat"/>
              </a:rPr>
              <a:t>VND/kWh with strong hourly volatility</a:t>
            </a:r>
            <a:r>
              <a:rPr lang="en" sz="1300">
                <a:solidFill>
                  <a:srgbClr val="222B33"/>
                </a:solidFill>
                <a:latin typeface="Montserrat"/>
                <a:ea typeface="Montserrat"/>
                <a:cs typeface="Montserrat"/>
                <a:sym typeface="Montserrat"/>
              </a:rPr>
              <a:t>;</a:t>
            </a:r>
            <a:r>
              <a:rPr lang="en" sz="1300" i="0" u="none" strike="noStrike" cap="none">
                <a:solidFill>
                  <a:srgbClr val="222B33"/>
                </a:solidFill>
                <a:latin typeface="Montserrat"/>
                <a:ea typeface="Montserrat"/>
                <a:cs typeface="Montserrat"/>
                <a:sym typeface="Montserrat"/>
              </a:rPr>
              <a:t> the CfD removes that volatility from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budget</a:t>
            </a:r>
            <a:endParaRPr>
              <a:latin typeface="Montserrat"/>
              <a:ea typeface="Montserrat"/>
              <a:cs typeface="Montserrat"/>
              <a:sym typeface="Montserrat"/>
            </a:endParaRPr>
          </a:p>
          <a:p>
            <a:pPr marL="457200" marR="0" lvl="0" indent="-311150" algn="l" rtl="0">
              <a:lnSpc>
                <a:spcPct val="120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A strike below expected average FMP would mean expected receipts</a:t>
            </a:r>
            <a:r>
              <a:rPr lang="en" sz="1300">
                <a:solidFill>
                  <a:srgbClr val="222B33"/>
                </a:solidFill>
                <a:latin typeface="Montserrat"/>
                <a:ea typeface="Montserrat"/>
                <a:cs typeface="Montserrat"/>
                <a:sym typeface="Montserrat"/>
              </a:rPr>
              <a:t>, </a:t>
            </a:r>
            <a:r>
              <a:rPr lang="en" sz="1300" i="0" u="none" strike="noStrike" cap="none">
                <a:solidFill>
                  <a:srgbClr val="222B33"/>
                </a:solidFill>
                <a:latin typeface="Montserrat"/>
                <a:ea typeface="Montserrat"/>
                <a:cs typeface="Montserrat"/>
                <a:sym typeface="Montserrat"/>
              </a:rPr>
              <a:t>but no developer can finance that (Module 4)</a:t>
            </a:r>
            <a:endParaRPr>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grpSp>
        <p:nvGrpSpPr>
          <p:cNvPr id="1750" name="Google Shape;1750;p175"/>
          <p:cNvGrpSpPr/>
          <p:nvPr/>
        </p:nvGrpSpPr>
        <p:grpSpPr>
          <a:xfrm>
            <a:off x="239992" y="63853"/>
            <a:ext cx="8728050" cy="745997"/>
            <a:chOff x="236700" y="63853"/>
            <a:chExt cx="8728050" cy="745997"/>
          </a:xfrm>
        </p:grpSpPr>
        <p:sp>
          <p:nvSpPr>
            <p:cNvPr id="1751" name="Google Shape;1751;p17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52" name="Google Shape;1752;p17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53" name="Google Shape;1753;p17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54" name="Google Shape;1754;p17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55" name="Google Shape;1755;p17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56" name="Google Shape;1756;p17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57" name="Google Shape;1757;p17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58" name="Google Shape;1758;p175"/>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Strike Escalation &amp; The Year 1 Reality</a:t>
              </a:r>
              <a:endParaRPr sz="2000">
                <a:solidFill>
                  <a:schemeClr val="lt1"/>
                </a:solidFill>
                <a:latin typeface="Montserrat ExtraBold"/>
                <a:ea typeface="Montserrat ExtraBold"/>
                <a:cs typeface="Montserrat ExtraBold"/>
                <a:sym typeface="Montserrat ExtraBold"/>
              </a:endParaRPr>
            </a:p>
          </p:txBody>
        </p:sp>
        <p:cxnSp>
          <p:nvCxnSpPr>
            <p:cNvPr id="1759" name="Google Shape;1759;p175"/>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60" name="Google Shape;1760;p175"/>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61" name="Google Shape;1761;p175"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62" name="Google Shape;1762;p175"/>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763" name="Google Shape;1763;p175"/>
          <p:cNvSpPr txBox="1"/>
          <p:nvPr/>
        </p:nvSpPr>
        <p:spPr>
          <a:xfrm>
            <a:off x="396013" y="1225275"/>
            <a:ext cx="4090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Strike escalation (e.g., 4%/yr)</a:t>
            </a:r>
            <a:endParaRPr>
              <a:latin typeface="Montserrat"/>
              <a:ea typeface="Montserrat"/>
              <a:cs typeface="Montserrat"/>
              <a:sym typeface="Montserrat"/>
            </a:endParaRPr>
          </a:p>
        </p:txBody>
      </p:sp>
      <p:sp>
        <p:nvSpPr>
          <p:cNvPr id="1764" name="Google Shape;1764;p175"/>
          <p:cNvSpPr txBox="1"/>
          <p:nvPr/>
        </p:nvSpPr>
        <p:spPr>
          <a:xfrm>
            <a:off x="396013" y="1557005"/>
            <a:ext cx="4090800" cy="1775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Escalating strikes improve the seller's and lender's lifetime economics...</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...but do nothing for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Year 1 cost and compound against </a:t>
            </a:r>
            <a:r>
              <a:rPr lang="en" sz="1300">
                <a:solidFill>
                  <a:srgbClr val="222B33"/>
                </a:solidFill>
                <a:latin typeface="Montserrat"/>
                <a:ea typeface="Montserrat"/>
                <a:cs typeface="Montserrat"/>
                <a:sym typeface="Montserrat"/>
              </a:rPr>
              <a:t>BUYER </a:t>
            </a:r>
            <a:r>
              <a:rPr lang="en" sz="1300" i="0" u="none" strike="noStrike" cap="none">
                <a:solidFill>
                  <a:srgbClr val="222B33"/>
                </a:solidFill>
                <a:latin typeface="Montserrat"/>
                <a:ea typeface="Montserrat"/>
                <a:cs typeface="Montserrat"/>
                <a:sym typeface="Montserrat"/>
              </a:rPr>
              <a:t>later</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Negotiate the escalation index as hard as the starting strike (fixed VND vs CPI vs USD-linked)</a:t>
            </a:r>
            <a:endParaRPr>
              <a:latin typeface="Montserrat"/>
              <a:ea typeface="Montserrat"/>
              <a:cs typeface="Montserrat"/>
              <a:sym typeface="Montserrat"/>
            </a:endParaRPr>
          </a:p>
        </p:txBody>
      </p:sp>
      <p:sp>
        <p:nvSpPr>
          <p:cNvPr id="1765" name="Google Shape;1765;p175"/>
          <p:cNvSpPr txBox="1"/>
          <p:nvPr/>
        </p:nvSpPr>
        <p:spPr>
          <a:xfrm>
            <a:off x="4793688" y="1225275"/>
            <a:ext cx="3954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What Year 1 usually looks like</a:t>
            </a:r>
            <a:endParaRPr>
              <a:latin typeface="Montserrat"/>
              <a:ea typeface="Montserrat"/>
              <a:cs typeface="Montserrat"/>
              <a:sym typeface="Montserrat"/>
            </a:endParaRPr>
          </a:p>
        </p:txBody>
      </p:sp>
      <p:sp>
        <p:nvSpPr>
          <p:cNvPr id="1766" name="Google Shape;1766;p175"/>
          <p:cNvSpPr txBox="1"/>
          <p:nvPr/>
        </p:nvSpPr>
        <p:spPr>
          <a:xfrm>
            <a:off x="4793700" y="1557000"/>
            <a:ext cx="4090800" cy="1844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In most realistic structures, Year 1 DPPA cost is at or above BAU</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Savings build as EVN tariffs escalate (~4%/yr) against </a:t>
            </a:r>
            <a:r>
              <a:rPr lang="en" sz="1300">
                <a:solidFill>
                  <a:schemeClr val="dk1"/>
                </a:solidFill>
                <a:latin typeface="Montserrat"/>
                <a:ea typeface="Montserrat"/>
                <a:cs typeface="Montserrat"/>
                <a:sym typeface="Montserrat"/>
              </a:rPr>
              <a:t>BUYER </a:t>
            </a:r>
            <a:r>
              <a:rPr lang="en" sz="1300" i="0" u="none" strike="noStrike" cap="none">
                <a:solidFill>
                  <a:schemeClr val="dk1"/>
                </a:solidFill>
                <a:latin typeface="Montserrat"/>
                <a:ea typeface="Montserrat"/>
                <a:cs typeface="Montserrat"/>
                <a:sym typeface="Montserrat"/>
              </a:rPr>
              <a:t>locked strike</a:t>
            </a:r>
            <a:endParaRPr>
              <a:solidFill>
                <a:schemeClr val="dk1"/>
              </a:solidFill>
              <a:latin typeface="Montserrat"/>
              <a:ea typeface="Montserrat"/>
              <a:cs typeface="Montserrat"/>
              <a:sym typeface="Montserrat"/>
            </a:endParaRPr>
          </a:p>
          <a:p>
            <a:pPr marL="457200" marR="0" lvl="0" indent="0" algn="l" rtl="0">
              <a:lnSpc>
                <a:spcPct val="115000"/>
              </a:lnSpc>
              <a:spcBef>
                <a:spcPts val="400"/>
              </a:spcBef>
              <a:spcAft>
                <a:spcPts val="0"/>
              </a:spcAft>
              <a:buNone/>
            </a:pPr>
            <a:endParaRPr>
              <a:solidFill>
                <a:schemeClr val="dk1"/>
              </a:solidFill>
              <a:latin typeface="Montserrat"/>
              <a:ea typeface="Montserrat"/>
              <a:cs typeface="Montserrat"/>
              <a:sym typeface="Montserrat"/>
            </a:endParaRPr>
          </a:p>
          <a:p>
            <a:pPr marL="0" marR="0" lvl="0" indent="0" algn="l" rtl="0">
              <a:lnSpc>
                <a:spcPct val="115000"/>
              </a:lnSpc>
              <a:spcBef>
                <a:spcPts val="400"/>
              </a:spcBef>
              <a:spcAft>
                <a:spcPts val="400"/>
              </a:spcAft>
              <a:buNone/>
            </a:pPr>
            <a:r>
              <a:rPr lang="en" sz="1300" b="1">
                <a:solidFill>
                  <a:schemeClr val="dk1"/>
                </a:solidFill>
                <a:latin typeface="Montserrat"/>
                <a:ea typeface="Montserrat"/>
                <a:cs typeface="Montserrat"/>
                <a:sym typeface="Montserrat"/>
              </a:rPr>
              <a:t>→ Advice: E</a:t>
            </a:r>
            <a:r>
              <a:rPr lang="en" sz="1300" b="1" i="0" u="none" strike="noStrike" cap="none">
                <a:solidFill>
                  <a:schemeClr val="dk1"/>
                </a:solidFill>
                <a:latin typeface="Montserrat"/>
                <a:ea typeface="Montserrat"/>
                <a:cs typeface="Montserrat"/>
                <a:sym typeface="Montserrat"/>
              </a:rPr>
              <a:t>valuate on 10-year and lifetime cumulative cost</a:t>
            </a:r>
            <a:r>
              <a:rPr lang="en" sz="1300" b="1">
                <a:solidFill>
                  <a:schemeClr val="dk1"/>
                </a:solidFill>
                <a:latin typeface="Montserrat"/>
                <a:ea typeface="Montserrat"/>
                <a:cs typeface="Montserrat"/>
                <a:sym typeface="Montserrat"/>
              </a:rPr>
              <a:t>, not </a:t>
            </a:r>
            <a:r>
              <a:rPr lang="en" sz="1300" b="1" i="0" u="none" strike="noStrike" cap="none">
                <a:solidFill>
                  <a:schemeClr val="dk1"/>
                </a:solidFill>
                <a:latin typeface="Montserrat"/>
                <a:ea typeface="Montserrat"/>
                <a:cs typeface="Montserrat"/>
                <a:sym typeface="Montserrat"/>
              </a:rPr>
              <a:t>on Year 1 alone</a:t>
            </a:r>
            <a:endParaRPr b="1">
              <a:solidFill>
                <a:schemeClr val="dk1"/>
              </a:solidFill>
              <a:latin typeface="Montserrat"/>
              <a:ea typeface="Montserrat"/>
              <a:cs typeface="Montserrat"/>
              <a:sym typeface="Montserrat"/>
            </a:endParaRPr>
          </a:p>
        </p:txBody>
      </p:sp>
      <p:sp>
        <p:nvSpPr>
          <p:cNvPr id="1767" name="Google Shape;1767;p175"/>
          <p:cNvSpPr/>
          <p:nvPr/>
        </p:nvSpPr>
        <p:spPr>
          <a:xfrm>
            <a:off x="395850" y="3609092"/>
            <a:ext cx="8352300" cy="7107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b="1">
                <a:solidFill>
                  <a:srgbClr val="FFFFFF"/>
                </a:solidFill>
                <a:latin typeface="Montserrat"/>
                <a:ea typeface="Montserrat"/>
                <a:cs typeface="Montserrat"/>
                <a:sym typeface="Montserrat"/>
              </a:rPr>
              <a:t>Internal </a:t>
            </a:r>
            <a:r>
              <a:rPr lang="en" sz="1400" b="1" i="0" u="none" strike="noStrike" cap="none">
                <a:solidFill>
                  <a:srgbClr val="FFFFFF"/>
                </a:solidFill>
                <a:latin typeface="Montserrat"/>
                <a:ea typeface="Montserrat"/>
                <a:cs typeface="Montserrat"/>
                <a:sym typeface="Montserrat"/>
              </a:rPr>
              <a:t>Budget </a:t>
            </a:r>
            <a:r>
              <a:rPr lang="en" b="1">
                <a:solidFill>
                  <a:srgbClr val="FFFFFF"/>
                </a:solidFill>
                <a:latin typeface="Montserrat"/>
                <a:ea typeface="Montserrat"/>
                <a:cs typeface="Montserrat"/>
                <a:sym typeface="Montserrat"/>
              </a:rPr>
              <a:t>Q</a:t>
            </a:r>
            <a:r>
              <a:rPr lang="en" sz="1400" b="1" i="0" u="none" strike="noStrike" cap="none">
                <a:solidFill>
                  <a:srgbClr val="FFFFFF"/>
                </a:solidFill>
                <a:latin typeface="Montserrat"/>
                <a:ea typeface="Montserrat"/>
                <a:cs typeface="Montserrat"/>
                <a:sym typeface="Montserrat"/>
              </a:rPr>
              <a:t>uestion to Consider: </a:t>
            </a:r>
            <a:r>
              <a:rPr lang="en" b="1">
                <a:solidFill>
                  <a:srgbClr val="FFFFFF"/>
                </a:solidFill>
                <a:latin typeface="Montserrat"/>
                <a:ea typeface="Montserrat"/>
                <a:cs typeface="Montserrat"/>
                <a:sym typeface="Montserrat"/>
              </a:rPr>
              <a:t>Can</a:t>
            </a:r>
            <a:r>
              <a:rPr lang="en" sz="1400" b="1" i="0" u="none" strike="noStrike" cap="none">
                <a:solidFill>
                  <a:srgbClr val="FFFFFF"/>
                </a:solidFill>
                <a:latin typeface="Montserrat"/>
                <a:ea typeface="Montserrat"/>
                <a:cs typeface="Montserrat"/>
                <a:sym typeface="Montserrat"/>
              </a:rPr>
              <a:t> we accept a modest Year 1 premium to cap </a:t>
            </a:r>
            <a:r>
              <a:rPr lang="en" b="1">
                <a:solidFill>
                  <a:srgbClr val="FFFFFF"/>
                </a:solidFill>
                <a:latin typeface="Montserrat"/>
                <a:ea typeface="Montserrat"/>
                <a:cs typeface="Montserrat"/>
                <a:sym typeface="Montserrat"/>
              </a:rPr>
              <a:t>15~25 </a:t>
            </a:r>
            <a:r>
              <a:rPr lang="en" sz="1400" b="1" i="0" u="none" strike="noStrike" cap="none">
                <a:solidFill>
                  <a:srgbClr val="FFFFFF"/>
                </a:solidFill>
                <a:latin typeface="Montserrat"/>
                <a:ea typeface="Montserrat"/>
                <a:cs typeface="Montserrat"/>
                <a:sym typeface="Montserrat"/>
              </a:rPr>
              <a:t>year exposure?</a:t>
            </a:r>
            <a:endParaRPr>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grpSp>
        <p:nvGrpSpPr>
          <p:cNvPr id="1772" name="Google Shape;1772;p176"/>
          <p:cNvGrpSpPr/>
          <p:nvPr/>
        </p:nvGrpSpPr>
        <p:grpSpPr>
          <a:xfrm>
            <a:off x="239992" y="63853"/>
            <a:ext cx="8728050" cy="745997"/>
            <a:chOff x="236700" y="63853"/>
            <a:chExt cx="8728050" cy="745997"/>
          </a:xfrm>
        </p:grpSpPr>
        <p:sp>
          <p:nvSpPr>
            <p:cNvPr id="1773" name="Google Shape;1773;p17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74" name="Google Shape;1774;p17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75" name="Google Shape;1775;p17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76" name="Google Shape;1776;p17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77" name="Google Shape;1777;p17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78" name="Google Shape;1778;p17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79" name="Google Shape;1779;p17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80" name="Google Shape;1780;p17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Contract Volume VS Your Load Shape</a:t>
              </a:r>
              <a:endParaRPr sz="2000">
                <a:solidFill>
                  <a:schemeClr val="lt1"/>
                </a:solidFill>
                <a:latin typeface="Montserrat ExtraBold"/>
                <a:ea typeface="Montserrat ExtraBold"/>
                <a:cs typeface="Montserrat ExtraBold"/>
                <a:sym typeface="Montserrat ExtraBold"/>
              </a:endParaRPr>
            </a:p>
          </p:txBody>
        </p:sp>
        <p:cxnSp>
          <p:nvCxnSpPr>
            <p:cNvPr id="1781" name="Google Shape;1781;p17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82" name="Google Shape;1782;p17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83" name="Google Shape;1783;p17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84" name="Google Shape;1784;p176"/>
          <p:cNvPicPr preferRelativeResize="0"/>
          <p:nvPr/>
        </p:nvPicPr>
        <p:blipFill>
          <a:blip r:embed="rId4">
            <a:alphaModFix/>
          </a:blip>
          <a:stretch>
            <a:fillRect/>
          </a:stretch>
        </p:blipFill>
        <p:spPr>
          <a:xfrm>
            <a:off x="7472673" y="4659876"/>
            <a:ext cx="894924" cy="312775"/>
          </a:xfrm>
          <a:prstGeom prst="rect">
            <a:avLst/>
          </a:prstGeom>
          <a:noFill/>
          <a:ln>
            <a:noFill/>
          </a:ln>
        </p:spPr>
      </p:pic>
      <p:sp>
        <p:nvSpPr>
          <p:cNvPr id="1785" name="Google Shape;1785;p176"/>
          <p:cNvSpPr txBox="1"/>
          <p:nvPr/>
        </p:nvSpPr>
        <p:spPr>
          <a:xfrm>
            <a:off x="396525" y="1107850"/>
            <a:ext cx="7911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i="0" u="none" strike="noStrike" cap="none">
                <a:solidFill>
                  <a:srgbClr val="222B33"/>
                </a:solidFill>
                <a:latin typeface="Montserrat"/>
                <a:ea typeface="Montserrat"/>
                <a:cs typeface="Montserrat"/>
                <a:sym typeface="Montserrat"/>
              </a:rPr>
              <a:t>Solar generat</a:t>
            </a:r>
            <a:r>
              <a:rPr lang="en">
                <a:solidFill>
                  <a:srgbClr val="222B33"/>
                </a:solidFill>
                <a:latin typeface="Montserrat"/>
                <a:ea typeface="Montserrat"/>
                <a:cs typeface="Montserrat"/>
                <a:sym typeface="Montserrat"/>
              </a:rPr>
              <a:t>ion peaks </a:t>
            </a:r>
            <a:r>
              <a:rPr lang="en" sz="1400" i="0" u="none" strike="noStrike" cap="none">
                <a:solidFill>
                  <a:srgbClr val="222B33"/>
                </a:solidFill>
                <a:latin typeface="Montserrat"/>
                <a:ea typeface="Montserrat"/>
                <a:cs typeface="Montserrat"/>
                <a:sym typeface="Montserrat"/>
              </a:rPr>
              <a:t> midday</a:t>
            </a:r>
            <a:r>
              <a:rPr lang="en">
                <a:solidFill>
                  <a:srgbClr val="222B33"/>
                </a:solidFill>
                <a:latin typeface="Montserrat"/>
                <a:ea typeface="Montserrat"/>
                <a:cs typeface="Montserrat"/>
                <a:sym typeface="Montserrat"/>
              </a:rPr>
              <a:t>, but the </a:t>
            </a:r>
            <a:r>
              <a:rPr lang="en" sz="1400" i="0" u="none" strike="noStrike" cap="none">
                <a:solidFill>
                  <a:srgbClr val="222B33"/>
                </a:solidFill>
                <a:latin typeface="Montserrat"/>
                <a:ea typeface="Montserrat"/>
                <a:cs typeface="Montserrat"/>
                <a:sym typeface="Montserrat"/>
              </a:rPr>
              <a:t>factory runs its own shape. The overlap</a:t>
            </a:r>
            <a:r>
              <a:rPr lang="en">
                <a:solidFill>
                  <a:srgbClr val="222B33"/>
                </a:solidFill>
                <a:latin typeface="Montserrat"/>
                <a:ea typeface="Montserrat"/>
                <a:cs typeface="Montserrat"/>
                <a:sym typeface="Montserrat"/>
              </a:rPr>
              <a:t>—</a:t>
            </a:r>
            <a:r>
              <a:rPr lang="en" sz="1400" i="0" u="none" strike="noStrike" cap="none">
                <a:solidFill>
                  <a:srgbClr val="222B33"/>
                </a:solidFill>
                <a:latin typeface="Montserrat"/>
                <a:ea typeface="Montserrat"/>
                <a:cs typeface="Montserrat"/>
                <a:sym typeface="Montserrat"/>
              </a:rPr>
              <a:t>hour by hour</a:t>
            </a:r>
            <a:r>
              <a:rPr lang="en">
                <a:solidFill>
                  <a:srgbClr val="222B33"/>
                </a:solidFill>
                <a:latin typeface="Montserrat"/>
                <a:ea typeface="Montserrat"/>
                <a:cs typeface="Montserrat"/>
                <a:sym typeface="Montserrat"/>
              </a:rPr>
              <a:t> -</a:t>
            </a:r>
            <a:r>
              <a:rPr lang="en" sz="1400" i="0" u="none" strike="noStrike" cap="none">
                <a:solidFill>
                  <a:srgbClr val="222B33"/>
                </a:solidFill>
                <a:latin typeface="Montserrat"/>
                <a:ea typeface="Montserrat"/>
                <a:cs typeface="Montserrat"/>
                <a:sym typeface="Montserrat"/>
              </a:rPr>
              <a:t> is </a:t>
            </a:r>
            <a:r>
              <a:rPr lang="en">
                <a:solidFill>
                  <a:srgbClr val="222B33"/>
                </a:solidFill>
                <a:latin typeface="Montserrat"/>
                <a:ea typeface="Montserrat"/>
                <a:cs typeface="Montserrat"/>
                <a:sym typeface="Montserrat"/>
              </a:rPr>
              <a:t>what matters most.</a:t>
            </a:r>
            <a:endParaRPr>
              <a:latin typeface="Montserrat"/>
              <a:ea typeface="Montserrat"/>
              <a:cs typeface="Montserrat"/>
              <a:sym typeface="Montserrat"/>
            </a:endParaRPr>
          </a:p>
        </p:txBody>
      </p:sp>
      <p:graphicFrame>
        <p:nvGraphicFramePr>
          <p:cNvPr id="1786" name="Google Shape;1786;p176"/>
          <p:cNvGraphicFramePr/>
          <p:nvPr/>
        </p:nvGraphicFramePr>
        <p:xfrm>
          <a:off x="400170" y="1716625"/>
          <a:ext cx="3000000" cy="3000000"/>
        </p:xfrm>
        <a:graphic>
          <a:graphicData uri="http://schemas.openxmlformats.org/drawingml/2006/table">
            <a:tbl>
              <a:tblPr firstRow="1" bandRow="1">
                <a:noFill/>
                <a:tableStyleId>{CE8BD2AF-5D0D-4EDC-AE96-A30A7DA1AF2F}</a:tableStyleId>
              </a:tblPr>
              <a:tblGrid>
                <a:gridCol w="2347975">
                  <a:extLst>
                    <a:ext uri="{9D8B030D-6E8A-4147-A177-3AD203B41FA5}">
                      <a16:colId xmlns:a16="http://schemas.microsoft.com/office/drawing/2014/main" val="20000"/>
                    </a:ext>
                  </a:extLst>
                </a:gridCol>
                <a:gridCol w="3176700">
                  <a:extLst>
                    <a:ext uri="{9D8B030D-6E8A-4147-A177-3AD203B41FA5}">
                      <a16:colId xmlns:a16="http://schemas.microsoft.com/office/drawing/2014/main" val="20001"/>
                    </a:ext>
                  </a:extLst>
                </a:gridCol>
                <a:gridCol w="2900475">
                  <a:extLst>
                    <a:ext uri="{9D8B030D-6E8A-4147-A177-3AD203B41FA5}">
                      <a16:colId xmlns:a16="http://schemas.microsoft.com/office/drawing/2014/main" val="20002"/>
                    </a:ext>
                  </a:extLst>
                </a:gridCol>
              </a:tblGrid>
              <a:tr h="46640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If you...</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a:latin typeface="Montserrat"/>
                          <a:ea typeface="Montserrat"/>
                          <a:cs typeface="Montserrat"/>
                          <a:sym typeface="Montserrat"/>
                        </a:rPr>
                        <a:t>Then…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Cost consequence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Over-contract </a:t>
                      </a:r>
                      <a:endParaRPr sz="125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(Q_c &gt; consumption)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CfD caps at consumed volume - excess earns nothing</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You paid contract terms for volume you ca</a:t>
                      </a:r>
                      <a:r>
                        <a:rPr lang="en" sz="1250">
                          <a:solidFill>
                            <a:schemeClr val="dk1"/>
                          </a:solidFill>
                          <a:latin typeface="Montserrat"/>
                          <a:ea typeface="Montserrat"/>
                          <a:cs typeface="Montserrat"/>
                          <a:sym typeface="Montserrat"/>
                        </a:rPr>
                        <a:t>n’t </a:t>
                      </a:r>
                      <a:r>
                        <a:rPr lang="en" sz="1250" u="none" strike="noStrike" cap="none">
                          <a:solidFill>
                            <a:schemeClr val="dk1"/>
                          </a:solidFill>
                          <a:latin typeface="Montserrat"/>
                          <a:ea typeface="Montserrat"/>
                          <a:cs typeface="Montserrat"/>
                          <a:sym typeface="Montserrat"/>
                        </a:rPr>
                        <a:t> settle</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Match contract to hourly overlap</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Every contracted kWh settles</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Efficient</a:t>
                      </a:r>
                      <a:r>
                        <a:rPr lang="en" sz="1250" b="1">
                          <a:solidFill>
                            <a:schemeClr val="dk1"/>
                          </a:solidFill>
                          <a:latin typeface="Montserrat"/>
                          <a:ea typeface="Montserrat"/>
                          <a:cs typeface="Montserrat"/>
                          <a:sym typeface="Montserrat"/>
                        </a:rPr>
                        <a:t>; this is</a:t>
                      </a:r>
                      <a:r>
                        <a:rPr lang="en" sz="1250" b="1" u="none" strike="noStrike" cap="none">
                          <a:solidFill>
                            <a:schemeClr val="dk1"/>
                          </a:solidFill>
                          <a:latin typeface="Montserrat"/>
                          <a:ea typeface="Montserrat"/>
                          <a:cs typeface="Montserrat"/>
                          <a:sym typeface="Montserrat"/>
                        </a:rPr>
                        <a:t> the target</a:t>
                      </a:r>
                      <a:endParaRPr b="1">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Under-contract </a:t>
                      </a:r>
                      <a:endParaRPr sz="125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(Q_c &lt; overlap)</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More residual purchased from EVN at TOU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Less price certainty, smaller renewable claim</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bl>
          </a:graphicData>
        </a:graphic>
      </p:graphicFrame>
      <p:sp>
        <p:nvSpPr>
          <p:cNvPr id="1787" name="Google Shape;1787;p176"/>
          <p:cNvSpPr txBox="1"/>
          <p:nvPr/>
        </p:nvSpPr>
        <p:spPr>
          <a:xfrm>
            <a:off x="323025" y="3786200"/>
            <a:ext cx="8562000" cy="8040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Ask every developer for an hourly (8760 hour) matching analysis against </a:t>
            </a:r>
            <a:r>
              <a:rPr lang="en" sz="1300">
                <a:solidFill>
                  <a:schemeClr val="dk1"/>
                </a:solidFill>
                <a:latin typeface="Montserrat"/>
                <a:ea typeface="Montserrat"/>
                <a:cs typeface="Montserrat"/>
                <a:sym typeface="Montserrat"/>
              </a:rPr>
              <a:t>your </a:t>
            </a:r>
            <a:r>
              <a:rPr lang="en" sz="1300" i="0" u="none" strike="noStrike" cap="none">
                <a:solidFill>
                  <a:schemeClr val="dk1"/>
                </a:solidFill>
                <a:latin typeface="Montserrat"/>
                <a:ea typeface="Montserrat"/>
                <a:cs typeface="Montserrat"/>
                <a:sym typeface="Montserrat"/>
              </a:rPr>
              <a:t>meter data</a:t>
            </a:r>
            <a:r>
              <a:rPr lang="en" sz="1300">
                <a:solidFill>
                  <a:schemeClr val="dk1"/>
                </a:solidFill>
                <a:latin typeface="Montserrat"/>
                <a:ea typeface="Montserrat"/>
                <a:cs typeface="Montserrat"/>
                <a:sym typeface="Montserrat"/>
              </a:rPr>
              <a:t>, </a:t>
            </a:r>
            <a:r>
              <a:rPr lang="en" sz="1300" i="0" u="none" strike="noStrike" cap="none">
                <a:solidFill>
                  <a:schemeClr val="dk1"/>
                </a:solidFill>
                <a:latin typeface="Montserrat"/>
                <a:ea typeface="Montserrat"/>
                <a:cs typeface="Montserrat"/>
                <a:sym typeface="Montserrat"/>
              </a:rPr>
              <a:t>not an annual percentage</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Batteries can shift the overlap window but add </a:t>
            </a:r>
            <a:r>
              <a:rPr lang="en" sz="1300">
                <a:solidFill>
                  <a:schemeClr val="dk1"/>
                </a:solidFill>
                <a:latin typeface="Montserrat"/>
                <a:ea typeface="Montserrat"/>
                <a:cs typeface="Montserrat"/>
                <a:sym typeface="Montserrat"/>
              </a:rPr>
              <a:t>CAPEX</a:t>
            </a:r>
            <a:r>
              <a:rPr lang="en" sz="1300" i="0" u="none" strike="noStrike" cap="none">
                <a:solidFill>
                  <a:schemeClr val="dk1"/>
                </a:solidFill>
                <a:latin typeface="Montserrat"/>
                <a:ea typeface="Montserrat"/>
                <a:cs typeface="Montserrat"/>
                <a:sym typeface="Montserrat"/>
              </a:rPr>
              <a:t> the tariff must carry (see the case study)</a:t>
            </a:r>
            <a:endParaRPr>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91"/>
        <p:cNvGrpSpPr/>
        <p:nvPr/>
      </p:nvGrpSpPr>
      <p:grpSpPr>
        <a:xfrm>
          <a:off x="0" y="0"/>
          <a:ext cx="0" cy="0"/>
          <a:chOff x="0" y="0"/>
          <a:chExt cx="0" cy="0"/>
        </a:xfrm>
      </p:grpSpPr>
      <p:cxnSp>
        <p:nvCxnSpPr>
          <p:cNvPr id="1792" name="Google Shape;1792;p177"/>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793" name="Google Shape;1793;p177"/>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4:</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Developer Economics and the Three Gates</a:t>
            </a:r>
            <a:endParaRPr sz="2800" b="1">
              <a:solidFill>
                <a:srgbClr val="0F172A"/>
              </a:solidFill>
              <a:highlight>
                <a:srgbClr val="FFFFFF"/>
              </a:highlight>
              <a:latin typeface="Montserrat"/>
              <a:ea typeface="Montserrat"/>
              <a:cs typeface="Montserrat"/>
              <a:sym typeface="Montserrat"/>
            </a:endParaRPr>
          </a:p>
        </p:txBody>
      </p:sp>
      <p:pic>
        <p:nvPicPr>
          <p:cNvPr id="1794" name="Google Shape;1794;p177"/>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795" name="Google Shape;1795;p177"/>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796" name="Google Shape;1796;p177"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797" name="Google Shape;1797;p177"/>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grpSp>
        <p:nvGrpSpPr>
          <p:cNvPr id="1802" name="Google Shape;1802;p178"/>
          <p:cNvGrpSpPr/>
          <p:nvPr/>
        </p:nvGrpSpPr>
        <p:grpSpPr>
          <a:xfrm>
            <a:off x="239992" y="63853"/>
            <a:ext cx="8728050" cy="745997"/>
            <a:chOff x="236700" y="63853"/>
            <a:chExt cx="8728050" cy="745997"/>
          </a:xfrm>
        </p:grpSpPr>
        <p:sp>
          <p:nvSpPr>
            <p:cNvPr id="1803" name="Google Shape;1803;p17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04" name="Google Shape;1804;p17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05" name="Google Shape;1805;p17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06" name="Google Shape;1806;p17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07" name="Google Shape;1807;p17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08" name="Google Shape;1808;p17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09" name="Google Shape;1809;p17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10" name="Google Shape;1810;p17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Developer’s Perspective on Economics</a:t>
              </a:r>
              <a:endParaRPr sz="2000">
                <a:solidFill>
                  <a:schemeClr val="lt1"/>
                </a:solidFill>
                <a:latin typeface="Montserrat ExtraBold"/>
                <a:ea typeface="Montserrat ExtraBold"/>
                <a:cs typeface="Montserrat ExtraBold"/>
                <a:sym typeface="Montserrat ExtraBold"/>
              </a:endParaRPr>
            </a:p>
          </p:txBody>
        </p:sp>
        <p:cxnSp>
          <p:nvCxnSpPr>
            <p:cNvPr id="1811" name="Google Shape;1811;p17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12" name="Google Shape;1812;p17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13" name="Google Shape;1813;p17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14" name="Google Shape;1814;p17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815" name="Google Shape;1815;p178"/>
          <p:cNvSpPr/>
          <p:nvPr/>
        </p:nvSpPr>
        <p:spPr>
          <a:xfrm>
            <a:off x="454275" y="1039125"/>
            <a:ext cx="5093700" cy="1751700"/>
          </a:xfrm>
          <a:prstGeom prst="roundRect">
            <a:avLst>
              <a:gd name="adj" fmla="val 16667"/>
            </a:avLst>
          </a:prstGeom>
          <a:solidFill>
            <a:srgbClr val="EEF4F4"/>
          </a:solidFill>
          <a:ln w="9375" cap="flat" cmpd="sng">
            <a:solidFill>
              <a:srgbClr val="127A7A"/>
            </a:solidFill>
            <a:prstDash val="solid"/>
            <a:round/>
            <a:headEnd type="none" w="sm" len="sm"/>
            <a:tailEnd type="none" w="sm" len="sm"/>
          </a:ln>
          <a:effectLst>
            <a:outerShdw blurRad="29555" dist="16994" dir="5400000" rotWithShape="0">
              <a:srgbClr val="000000">
                <a:alpha val="349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Consolas"/>
                <a:ea typeface="Consolas"/>
                <a:cs typeface="Consolas"/>
                <a:sym typeface="Consolas"/>
              </a:rPr>
              <a:t>Revenue</a:t>
            </a:r>
            <a:r>
              <a:rPr lang="en" sz="1600" i="0" u="none" strike="noStrike" cap="none">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endParaRPr sz="160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r>
              <a:rPr lang="en" sz="1600">
                <a:solidFill>
                  <a:schemeClr val="dk1"/>
                </a:solidFill>
                <a:latin typeface="Consolas"/>
                <a:ea typeface="Consolas"/>
                <a:cs typeface="Consolas"/>
                <a:sym typeface="Consolas"/>
              </a:rPr>
              <a:t> </a:t>
            </a:r>
            <a:r>
              <a:rPr lang="en" sz="1600" i="0" u="none" strike="noStrike" cap="none">
                <a:solidFill>
                  <a:schemeClr val="dk1"/>
                </a:solidFill>
                <a:latin typeface="Consolas"/>
                <a:ea typeface="Consolas"/>
                <a:cs typeface="Consolas"/>
                <a:sym typeface="Consolas"/>
              </a:rPr>
              <a:t>Q_meter x FMP</a:t>
            </a:r>
            <a:r>
              <a:rPr lang="en" sz="1600">
                <a:solidFill>
                  <a:schemeClr val="dk1"/>
                </a:solidFill>
                <a:latin typeface="Consolas"/>
                <a:ea typeface="Consolas"/>
                <a:cs typeface="Consolas"/>
                <a:sym typeface="Consolas"/>
              </a:rPr>
              <a:t>	</a:t>
            </a:r>
            <a:r>
              <a:rPr lang="en" sz="1600" i="1" u="none" strike="noStrike" cap="none">
                <a:solidFill>
                  <a:schemeClr val="dk1"/>
                </a:solidFill>
                <a:latin typeface="Consolas"/>
                <a:ea typeface="Consolas"/>
                <a:cs typeface="Consolas"/>
                <a:sym typeface="Consolas"/>
              </a:rPr>
              <a:t>spot sales (volatile)</a:t>
            </a:r>
            <a:br>
              <a:rPr lang="en" sz="1600" i="1" u="none" strike="noStrike" cap="none">
                <a:solidFill>
                  <a:schemeClr val="dk1"/>
                </a:solidFill>
                <a:latin typeface="Consolas"/>
                <a:ea typeface="Consolas"/>
                <a:cs typeface="Consolas"/>
                <a:sym typeface="Consolas"/>
              </a:rPr>
            </a:br>
            <a:r>
              <a:rPr lang="en" sz="1600" i="1" u="none" strike="noStrike" cap="none">
                <a:solidFill>
                  <a:schemeClr val="dk1"/>
                </a:solidFill>
                <a:latin typeface="Consolas"/>
                <a:ea typeface="Consolas"/>
                <a:cs typeface="Consolas"/>
                <a:sym typeface="Consolas"/>
              </a:rPr>
              <a:t>	</a:t>
            </a:r>
            <a:r>
              <a:rPr lang="en" sz="1600">
                <a:solidFill>
                  <a:schemeClr val="dk1"/>
                </a:solidFill>
                <a:latin typeface="Consolas"/>
                <a:ea typeface="Consolas"/>
                <a:cs typeface="Consolas"/>
                <a:sym typeface="Consolas"/>
              </a:rPr>
              <a:t>+ </a:t>
            </a:r>
            <a:endParaRPr sz="1600" i="1">
              <a:solidFill>
                <a:schemeClr val="dk1"/>
              </a:solidFill>
              <a:latin typeface="Consolas"/>
              <a:ea typeface="Consolas"/>
              <a:cs typeface="Consolas"/>
              <a:sym typeface="Consolas"/>
            </a:endParaRPr>
          </a:p>
          <a:p>
            <a:pPr marL="0" marR="0" lvl="0" indent="0" algn="l" rtl="0">
              <a:lnSpc>
                <a:spcPct val="100000"/>
              </a:lnSpc>
              <a:spcBef>
                <a:spcPts val="148"/>
              </a:spcBef>
              <a:spcAft>
                <a:spcPts val="0"/>
              </a:spcAft>
              <a:buNone/>
            </a:pPr>
            <a:r>
              <a:rPr lang="en" sz="1600" i="0" u="none" strike="noStrike" cap="none">
                <a:solidFill>
                  <a:schemeClr val="dk1"/>
                </a:solidFill>
                <a:latin typeface="Consolas"/>
                <a:ea typeface="Consolas"/>
                <a:cs typeface="Consolas"/>
                <a:sym typeface="Consolas"/>
              </a:rPr>
              <a:t> (Strike - FMP) x Q_CfD  	</a:t>
            </a:r>
            <a:endParaRPr sz="1600" i="0" u="none" strike="noStrike" cap="none">
              <a:solidFill>
                <a:schemeClr val="dk1"/>
              </a:solidFill>
              <a:latin typeface="Consolas"/>
              <a:ea typeface="Consolas"/>
              <a:cs typeface="Consolas"/>
              <a:sym typeface="Consolas"/>
            </a:endParaRPr>
          </a:p>
          <a:p>
            <a:pPr marL="1828800" marR="0" lvl="0" indent="0" algn="l" rtl="0">
              <a:lnSpc>
                <a:spcPct val="100000"/>
              </a:lnSpc>
              <a:spcBef>
                <a:spcPts val="148"/>
              </a:spcBef>
              <a:spcAft>
                <a:spcPts val="0"/>
              </a:spcAft>
              <a:buNone/>
            </a:pPr>
            <a:r>
              <a:rPr lang="en" sz="1600" i="1" u="none" strike="noStrike" cap="none">
                <a:solidFill>
                  <a:schemeClr val="dk1"/>
                </a:solidFill>
                <a:latin typeface="Consolas"/>
                <a:ea typeface="Consolas"/>
                <a:cs typeface="Consolas"/>
                <a:sym typeface="Consolas"/>
              </a:rPr>
              <a:t>CfD with you</a:t>
            </a:r>
            <a:r>
              <a:rPr lang="en" sz="1600" i="1">
                <a:solidFill>
                  <a:schemeClr val="dk1"/>
                </a:solidFill>
                <a:latin typeface="Consolas"/>
                <a:ea typeface="Consolas"/>
                <a:cs typeface="Consolas"/>
                <a:sym typeface="Consolas"/>
              </a:rPr>
              <a:t>r factory </a:t>
            </a:r>
            <a:r>
              <a:rPr lang="en" sz="1600" i="1" u="none" strike="noStrike" cap="none">
                <a:solidFill>
                  <a:schemeClr val="dk1"/>
                </a:solidFill>
                <a:latin typeface="Consolas"/>
                <a:ea typeface="Consolas"/>
                <a:cs typeface="Consolas"/>
                <a:sym typeface="Consolas"/>
              </a:rPr>
              <a:t>(stabiliser)</a:t>
            </a:r>
            <a:endParaRPr sz="1600" i="1">
              <a:solidFill>
                <a:schemeClr val="dk1"/>
              </a:solidFill>
              <a:latin typeface="Consolas"/>
              <a:ea typeface="Consolas"/>
              <a:cs typeface="Consolas"/>
              <a:sym typeface="Consolas"/>
            </a:endParaRPr>
          </a:p>
        </p:txBody>
      </p:sp>
      <p:sp>
        <p:nvSpPr>
          <p:cNvPr id="1816" name="Google Shape;1816;p178"/>
          <p:cNvSpPr txBox="1"/>
          <p:nvPr/>
        </p:nvSpPr>
        <p:spPr>
          <a:xfrm>
            <a:off x="5642025" y="1196161"/>
            <a:ext cx="3165900" cy="1629900"/>
          </a:xfrm>
          <a:prstGeom prst="rect">
            <a:avLst/>
          </a:prstGeom>
          <a:noFill/>
          <a:ln>
            <a:noFill/>
          </a:ln>
        </p:spPr>
        <p:txBody>
          <a:bodyPr spcFirstLastPara="1" wrap="square" lIns="67550" tIns="33775" rIns="67550" bIns="33775" anchor="t" anchorCtr="0">
            <a:spAutoFit/>
          </a:bodyPr>
          <a:lstStyle/>
          <a:p>
            <a:pPr marL="457200" marR="0" lvl="0" indent="-304800" algn="l" rtl="0">
              <a:lnSpc>
                <a:spcPct val="115000"/>
              </a:lnSpc>
              <a:spcBef>
                <a:spcPts val="0"/>
              </a:spcBef>
              <a:spcAft>
                <a:spcPts val="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The CfD converts volatile spot revenue into a near-fixed price on matched volume</a:t>
            </a:r>
            <a:endParaRPr sz="1200">
              <a:solidFill>
                <a:schemeClr val="dk1"/>
              </a:solidFill>
              <a:latin typeface="Montserrat"/>
              <a:ea typeface="Montserrat"/>
              <a:cs typeface="Montserrat"/>
              <a:sym typeface="Montserrat"/>
            </a:endParaRPr>
          </a:p>
          <a:p>
            <a:pPr marL="457200" marR="0" lvl="0" indent="-304800" algn="l" rtl="0">
              <a:lnSpc>
                <a:spcPct val="115000"/>
              </a:lnSpc>
              <a:spcBef>
                <a:spcPts val="400"/>
              </a:spcBef>
              <a:spcAft>
                <a:spcPts val="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Your strike IS the developer's bankable revenue line</a:t>
            </a:r>
            <a:endParaRPr sz="1200">
              <a:solidFill>
                <a:schemeClr val="dk1"/>
              </a:solidFill>
              <a:latin typeface="Montserrat"/>
              <a:ea typeface="Montserrat"/>
              <a:cs typeface="Montserrat"/>
              <a:sym typeface="Montserrat"/>
            </a:endParaRPr>
          </a:p>
          <a:p>
            <a:pPr marL="457200" marR="0" lvl="0" indent="-304800" algn="l" rtl="0">
              <a:lnSpc>
                <a:spcPct val="115000"/>
              </a:lnSpc>
              <a:spcBef>
                <a:spcPts val="400"/>
              </a:spcBef>
              <a:spcAft>
                <a:spcPts val="40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Everything the lender checks flows from it</a:t>
            </a:r>
            <a:endParaRPr sz="1200">
              <a:solidFill>
                <a:schemeClr val="dk1"/>
              </a:solidFill>
              <a:latin typeface="Montserrat"/>
              <a:ea typeface="Montserrat"/>
              <a:cs typeface="Montserrat"/>
              <a:sym typeface="Montserrat"/>
            </a:endParaRPr>
          </a:p>
        </p:txBody>
      </p:sp>
      <p:graphicFrame>
        <p:nvGraphicFramePr>
          <p:cNvPr id="1817" name="Google Shape;1817;p178"/>
          <p:cNvGraphicFramePr/>
          <p:nvPr/>
        </p:nvGraphicFramePr>
        <p:xfrm>
          <a:off x="461982" y="2920461"/>
          <a:ext cx="3000000" cy="3000000"/>
        </p:xfrm>
        <a:graphic>
          <a:graphicData uri="http://schemas.openxmlformats.org/drawingml/2006/table">
            <a:tbl>
              <a:tblPr>
                <a:noFill/>
                <a:tableStyleId>{121033D3-121A-4ABF-A30B-B91F07BF1167}</a:tableStyleId>
              </a:tblPr>
              <a:tblGrid>
                <a:gridCol w="2168425">
                  <a:extLst>
                    <a:ext uri="{9D8B030D-6E8A-4147-A177-3AD203B41FA5}">
                      <a16:colId xmlns:a16="http://schemas.microsoft.com/office/drawing/2014/main" val="20000"/>
                    </a:ext>
                  </a:extLst>
                </a:gridCol>
                <a:gridCol w="2925325">
                  <a:extLst>
                    <a:ext uri="{9D8B030D-6E8A-4147-A177-3AD203B41FA5}">
                      <a16:colId xmlns:a16="http://schemas.microsoft.com/office/drawing/2014/main" val="20001"/>
                    </a:ext>
                  </a:extLst>
                </a:gridCol>
              </a:tblGrid>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Capital Structure</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70% Debt / 30% Equity</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0"/>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Term</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~10 years</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Interest Rate (VND)</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~8.5% per year</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Interest Rate (USD)</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~5% per year (International)</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Equity Target Return</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12 - 15%+ IRR</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4"/>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CIT Incentives</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4 years exempt + 9 years at half rate</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grpSp>
        <p:nvGrpSpPr>
          <p:cNvPr id="1822" name="Google Shape;1822;p179"/>
          <p:cNvGrpSpPr/>
          <p:nvPr/>
        </p:nvGrpSpPr>
        <p:grpSpPr>
          <a:xfrm>
            <a:off x="239992" y="63853"/>
            <a:ext cx="8728050" cy="745997"/>
            <a:chOff x="236700" y="63853"/>
            <a:chExt cx="8728050" cy="745997"/>
          </a:xfrm>
        </p:grpSpPr>
        <p:sp>
          <p:nvSpPr>
            <p:cNvPr id="1823" name="Google Shape;1823;p17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24" name="Google Shape;1824;p17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25" name="Google Shape;1825;p17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26" name="Google Shape;1826;p17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27" name="Google Shape;1827;p17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28" name="Google Shape;1828;p17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29" name="Google Shape;1829;p17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30" name="Google Shape;1830;p17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 Deal Must Pass Three Gates to Proceed</a:t>
              </a:r>
              <a:endParaRPr sz="2000">
                <a:solidFill>
                  <a:schemeClr val="lt1"/>
                </a:solidFill>
                <a:latin typeface="Montserrat ExtraBold"/>
                <a:ea typeface="Montserrat ExtraBold"/>
                <a:cs typeface="Montserrat ExtraBold"/>
                <a:sym typeface="Montserrat ExtraBold"/>
              </a:endParaRPr>
            </a:p>
          </p:txBody>
        </p:sp>
        <p:cxnSp>
          <p:nvCxnSpPr>
            <p:cNvPr id="1831" name="Google Shape;1831;p17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32" name="Google Shape;1832;p17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33" name="Google Shape;1833;p17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34" name="Google Shape;1834;p179"/>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835" name="Google Shape;1835;p179"/>
          <p:cNvGraphicFramePr/>
          <p:nvPr/>
        </p:nvGraphicFramePr>
        <p:xfrm>
          <a:off x="454273" y="1352177"/>
          <a:ext cx="3000000" cy="3000000"/>
        </p:xfrm>
        <a:graphic>
          <a:graphicData uri="http://schemas.openxmlformats.org/drawingml/2006/table">
            <a:tbl>
              <a:tblPr firstRow="1" bandRow="1">
                <a:noFill/>
                <a:tableStyleId>{CE8BD2AF-5D0D-4EDC-AE96-A30A7DA1AF2F}</a:tableStyleId>
              </a:tblPr>
              <a:tblGrid>
                <a:gridCol w="1062500">
                  <a:extLst>
                    <a:ext uri="{9D8B030D-6E8A-4147-A177-3AD203B41FA5}">
                      <a16:colId xmlns:a16="http://schemas.microsoft.com/office/drawing/2014/main" val="20000"/>
                    </a:ext>
                  </a:extLst>
                </a:gridCol>
                <a:gridCol w="1062500">
                  <a:extLst>
                    <a:ext uri="{9D8B030D-6E8A-4147-A177-3AD203B41FA5}">
                      <a16:colId xmlns:a16="http://schemas.microsoft.com/office/drawing/2014/main" val="20001"/>
                    </a:ext>
                  </a:extLst>
                </a:gridCol>
                <a:gridCol w="3966650">
                  <a:extLst>
                    <a:ext uri="{9D8B030D-6E8A-4147-A177-3AD203B41FA5}">
                      <a16:colId xmlns:a16="http://schemas.microsoft.com/office/drawing/2014/main" val="20002"/>
                    </a:ext>
                  </a:extLst>
                </a:gridCol>
                <a:gridCol w="2266675">
                  <a:extLst>
                    <a:ext uri="{9D8B030D-6E8A-4147-A177-3AD203B41FA5}">
                      <a16:colId xmlns:a16="http://schemas.microsoft.com/office/drawing/2014/main" val="20003"/>
                    </a:ext>
                  </a:extLst>
                </a:gridCol>
              </a:tblGrid>
              <a:tr h="34357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Gate</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Who</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Test</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Strike pressure</a:t>
                      </a:r>
                      <a:endParaRPr>
                        <a:latin typeface="Montserrat"/>
                        <a:ea typeface="Montserrat"/>
                        <a:cs typeface="Montserrat"/>
                        <a:sym typeface="Montserrat"/>
                      </a:endParaRPr>
                    </a:p>
                  </a:txBody>
                  <a:tcPr marL="91450" marR="91450" marT="25400" marB="25400" anchor="ctr">
                    <a:solidFill>
                      <a:srgbClr val="2F645B"/>
                    </a:solidFill>
                  </a:tcPr>
                </a:tc>
                <a:extLst>
                  <a:ext uri="{0D108BD9-81ED-4DB2-BD59-A6C34878D82A}">
                    <a16:rowId xmlns:a16="http://schemas.microsoft.com/office/drawing/2014/main" val="10000"/>
                  </a:ext>
                </a:extLst>
              </a:tr>
              <a:tr h="3881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1. Buyer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You</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Cumulative cost &lt;= BAU over 10 yr AND lifetime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DOWN</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435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2. Seller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Developer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Equity IRR &gt;= 12-15%</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UP</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881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3. </a:t>
                      </a:r>
                      <a:r>
                        <a:rPr lang="en" sz="1300" u="none" strike="noStrike" cap="none">
                          <a:solidFill>
                            <a:srgbClr val="222B33"/>
                          </a:solidFill>
                          <a:latin typeface="Montserrat"/>
                          <a:ea typeface="Montserrat"/>
                          <a:cs typeface="Montserrat"/>
                          <a:sym typeface="Montserrat"/>
                        </a:rPr>
                        <a:t>L</a:t>
                      </a:r>
                      <a:r>
                        <a:rPr lang="en" sz="1300">
                          <a:solidFill>
                            <a:srgbClr val="222B33"/>
                          </a:solidFill>
                          <a:latin typeface="Montserrat"/>
                          <a:ea typeface="Montserrat"/>
                          <a:cs typeface="Montserrat"/>
                          <a:sym typeface="Montserrat"/>
                        </a:rPr>
                        <a:t>ender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Bank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Minimum DSCR &gt;= ~1.20x every year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UP (hardest gate)</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bl>
          </a:graphicData>
        </a:graphic>
      </p:graphicFrame>
      <p:sp>
        <p:nvSpPr>
          <p:cNvPr id="1836" name="Google Shape;1836;p179"/>
          <p:cNvSpPr txBox="1"/>
          <p:nvPr/>
        </p:nvSpPr>
        <p:spPr>
          <a:xfrm>
            <a:off x="400125" y="3211875"/>
            <a:ext cx="8358300" cy="966000"/>
          </a:xfrm>
          <a:prstGeom prst="rect">
            <a:avLst/>
          </a:prstGeom>
          <a:noFill/>
          <a:ln>
            <a:noFill/>
          </a:ln>
        </p:spPr>
        <p:txBody>
          <a:bodyPr spcFirstLastPara="1" wrap="square" lIns="91425" tIns="45700" rIns="91425" bIns="45700" anchor="t" anchorCtr="0">
            <a:spAutoFit/>
          </a:bodyPr>
          <a:lstStyle/>
          <a:p>
            <a:pPr marL="457200" marR="0" lvl="0" indent="-298450" algn="l" rtl="0">
              <a:lnSpc>
                <a:spcPct val="115000"/>
              </a:lnSpc>
              <a:spcBef>
                <a:spcPts val="0"/>
              </a:spcBef>
              <a:spcAft>
                <a:spcPts val="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DSCR = </a:t>
            </a:r>
            <a:r>
              <a:rPr lang="en" sz="1100">
                <a:solidFill>
                  <a:schemeClr val="dk1"/>
                </a:solidFill>
                <a:latin typeface="Montserrat"/>
                <a:ea typeface="Montserrat"/>
                <a:cs typeface="Montserrat"/>
                <a:sym typeface="Montserrat"/>
              </a:rPr>
              <a:t>					, </a:t>
            </a:r>
            <a:r>
              <a:rPr lang="en" sz="1100" i="0" u="none" strike="noStrike" cap="none">
                <a:solidFill>
                  <a:schemeClr val="dk1"/>
                </a:solidFill>
                <a:latin typeface="Montserrat"/>
                <a:ea typeface="Montserrat"/>
                <a:cs typeface="Montserrat"/>
                <a:sym typeface="Montserrat"/>
              </a:rPr>
              <a:t>computed for every year of the loan</a:t>
            </a:r>
            <a:br>
              <a:rPr lang="en" sz="1100" i="0" u="none" strike="noStrike" cap="none">
                <a:solidFill>
                  <a:schemeClr val="dk1"/>
                </a:solidFill>
                <a:latin typeface="Montserrat"/>
                <a:ea typeface="Montserrat"/>
                <a:cs typeface="Montserrat"/>
                <a:sym typeface="Montserrat"/>
              </a:rPr>
            </a:br>
            <a:endParaRPr sz="1200">
              <a:solidFill>
                <a:schemeClr val="dk1"/>
              </a:solidFill>
              <a:latin typeface="Montserrat"/>
              <a:ea typeface="Montserrat"/>
              <a:cs typeface="Montserrat"/>
              <a:sym typeface="Montserrat"/>
            </a:endParaRPr>
          </a:p>
          <a:p>
            <a:pPr marL="457200" marR="0" lvl="0" indent="-298450" algn="l" rtl="0">
              <a:lnSpc>
                <a:spcPct val="115000"/>
              </a:lnSpc>
              <a:spcBef>
                <a:spcPts val="400"/>
              </a:spcBef>
              <a:spcAft>
                <a:spcPts val="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One </a:t>
            </a:r>
            <a:r>
              <a:rPr lang="en" sz="1100">
                <a:solidFill>
                  <a:schemeClr val="dk1"/>
                </a:solidFill>
                <a:latin typeface="Montserrat"/>
                <a:ea typeface="Montserrat"/>
                <a:cs typeface="Montserrat"/>
                <a:sym typeface="Montserrat"/>
              </a:rPr>
              <a:t>CAPEX heavy year (</a:t>
            </a:r>
            <a:r>
              <a:rPr lang="en" sz="1100" i="0" u="none" strike="noStrike" cap="none">
                <a:solidFill>
                  <a:schemeClr val="dk1"/>
                </a:solidFill>
                <a:latin typeface="Montserrat"/>
                <a:ea typeface="Montserrat"/>
                <a:cs typeface="Montserrat"/>
                <a:sym typeface="Montserrat"/>
              </a:rPr>
              <a:t> e.g., a battery replacement</a:t>
            </a:r>
            <a:r>
              <a:rPr lang="en" sz="1100">
                <a:solidFill>
                  <a:schemeClr val="dk1"/>
                </a:solidFill>
                <a:latin typeface="Montserrat"/>
                <a:ea typeface="Montserrat"/>
                <a:cs typeface="Montserrat"/>
                <a:sym typeface="Montserrat"/>
              </a:rPr>
              <a:t>) </a:t>
            </a:r>
            <a:r>
              <a:rPr lang="en" sz="1100" i="0" u="none" strike="noStrike" cap="none">
                <a:solidFill>
                  <a:schemeClr val="dk1"/>
                </a:solidFill>
                <a:latin typeface="Montserrat"/>
                <a:ea typeface="Montserrat"/>
                <a:cs typeface="Montserrat"/>
                <a:sym typeface="Montserrat"/>
              </a:rPr>
              <a:t>can sink the whole financing even if averages look fine</a:t>
            </a:r>
            <a:endParaRPr sz="1200">
              <a:solidFill>
                <a:schemeClr val="dk1"/>
              </a:solidFill>
              <a:latin typeface="Montserrat"/>
              <a:ea typeface="Montserrat"/>
              <a:cs typeface="Montserrat"/>
              <a:sym typeface="Montserrat"/>
            </a:endParaRPr>
          </a:p>
          <a:p>
            <a:pPr marL="457200" marR="0" lvl="0" indent="-298450" algn="l" rtl="0">
              <a:lnSpc>
                <a:spcPct val="115000"/>
              </a:lnSpc>
              <a:spcBef>
                <a:spcPts val="400"/>
              </a:spcBef>
              <a:spcAft>
                <a:spcPts val="40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The negotiation window is the strike range where all three gates </a:t>
            </a:r>
            <a:r>
              <a:rPr lang="en" sz="1100">
                <a:solidFill>
                  <a:schemeClr val="dk1"/>
                </a:solidFill>
                <a:latin typeface="Montserrat"/>
                <a:ea typeface="Montserrat"/>
                <a:cs typeface="Montserrat"/>
                <a:sym typeface="Montserrat"/>
              </a:rPr>
              <a:t>“</a:t>
            </a:r>
            <a:r>
              <a:rPr lang="en" sz="1100" i="0" u="none" strike="noStrike" cap="none">
                <a:solidFill>
                  <a:schemeClr val="dk1"/>
                </a:solidFill>
                <a:latin typeface="Montserrat"/>
                <a:ea typeface="Montserrat"/>
                <a:cs typeface="Montserrat"/>
                <a:sym typeface="Montserrat"/>
              </a:rPr>
              <a:t>pass</a:t>
            </a:r>
            <a:r>
              <a:rPr lang="en" sz="1100">
                <a:solidFill>
                  <a:schemeClr val="dk1"/>
                </a:solidFill>
                <a:latin typeface="Montserrat"/>
                <a:ea typeface="Montserrat"/>
                <a:cs typeface="Montserrat"/>
                <a:sym typeface="Montserrat"/>
              </a:rPr>
              <a:t>”; but </a:t>
            </a:r>
            <a:r>
              <a:rPr lang="en" sz="1100" i="0" u="none" strike="noStrike" cap="none">
                <a:solidFill>
                  <a:schemeClr val="dk1"/>
                </a:solidFill>
                <a:latin typeface="Montserrat"/>
                <a:ea typeface="Montserrat"/>
                <a:cs typeface="Montserrat"/>
                <a:sym typeface="Montserrat"/>
              </a:rPr>
              <a:t> it can be empty (see case study)</a:t>
            </a:r>
            <a:endParaRPr sz="1200">
              <a:solidFill>
                <a:schemeClr val="dk1"/>
              </a:solidFill>
              <a:latin typeface="Montserrat"/>
              <a:ea typeface="Montserrat"/>
              <a:cs typeface="Montserrat"/>
              <a:sym typeface="Montserrat"/>
            </a:endParaRPr>
          </a:p>
        </p:txBody>
      </p:sp>
      <p:sp>
        <p:nvSpPr>
          <p:cNvPr id="1837" name="Google Shape;1837;p179"/>
          <p:cNvSpPr/>
          <p:nvPr/>
        </p:nvSpPr>
        <p:spPr>
          <a:xfrm>
            <a:off x="454275" y="4308376"/>
            <a:ext cx="7913400" cy="4422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300" b="1" i="0" u="none" strike="noStrike" cap="none">
                <a:solidFill>
                  <a:srgbClr val="FFFFFF"/>
                </a:solidFill>
                <a:latin typeface="Montserrat"/>
                <a:ea typeface="Montserrat"/>
                <a:cs typeface="Montserrat"/>
                <a:sym typeface="Montserrat"/>
              </a:rPr>
              <a:t>A strike below the developer's bankability floor does not mean a cheap deal</a:t>
            </a:r>
            <a:r>
              <a:rPr lang="en" sz="1300" b="1">
                <a:solidFill>
                  <a:srgbClr val="FFFFFF"/>
                </a:solidFill>
                <a:latin typeface="Montserrat"/>
                <a:ea typeface="Montserrat"/>
                <a:cs typeface="Montserrat"/>
                <a:sym typeface="Montserrat"/>
              </a:rPr>
              <a:t>; </a:t>
            </a:r>
            <a:endParaRPr sz="1300" b="1">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300" b="1" i="0" u="none" strike="noStrike" cap="none">
                <a:solidFill>
                  <a:schemeClr val="accent4"/>
                </a:solidFill>
                <a:latin typeface="Montserrat"/>
                <a:ea typeface="Montserrat"/>
                <a:cs typeface="Montserrat"/>
                <a:sym typeface="Montserrat"/>
              </a:rPr>
              <a:t>it means no project.</a:t>
            </a:r>
            <a:endParaRPr sz="1300">
              <a:solidFill>
                <a:schemeClr val="accent4"/>
              </a:solidFill>
              <a:latin typeface="Montserrat"/>
              <a:ea typeface="Montserrat"/>
              <a:cs typeface="Montserrat"/>
              <a:sym typeface="Montserrat"/>
            </a:endParaRPr>
          </a:p>
        </p:txBody>
      </p:sp>
      <p:sp>
        <p:nvSpPr>
          <p:cNvPr id="1838" name="Google Shape;1838;p179"/>
          <p:cNvSpPr txBox="1"/>
          <p:nvPr/>
        </p:nvSpPr>
        <p:spPr>
          <a:xfrm>
            <a:off x="400125" y="942563"/>
            <a:ext cx="5558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1">
                <a:solidFill>
                  <a:srgbClr val="E77A10"/>
                </a:solidFill>
                <a:latin typeface="Montserrat"/>
                <a:ea typeface="Montserrat"/>
                <a:cs typeface="Montserrat"/>
                <a:sym typeface="Montserrat"/>
              </a:rPr>
              <a:t>THREE GATES</a:t>
            </a:r>
            <a:endParaRPr b="1">
              <a:latin typeface="Montserrat"/>
              <a:ea typeface="Montserrat"/>
              <a:cs typeface="Montserrat"/>
              <a:sym typeface="Montserrat"/>
            </a:endParaRPr>
          </a:p>
        </p:txBody>
      </p:sp>
      <p:sp>
        <p:nvSpPr>
          <p:cNvPr id="1839" name="Google Shape;1839;p179"/>
          <p:cNvSpPr txBox="1"/>
          <p:nvPr/>
        </p:nvSpPr>
        <p:spPr>
          <a:xfrm>
            <a:off x="1517725" y="3344975"/>
            <a:ext cx="2146200" cy="21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Montserrat"/>
                <a:ea typeface="Montserrat"/>
                <a:cs typeface="Montserrat"/>
                <a:sym typeface="Montserrat"/>
              </a:rPr>
              <a:t>Debt Service</a:t>
            </a:r>
            <a:endParaRPr sz="1000">
              <a:solidFill>
                <a:schemeClr val="dk1"/>
              </a:solidFill>
              <a:latin typeface="Montserrat"/>
              <a:ea typeface="Montserrat"/>
              <a:cs typeface="Montserrat"/>
              <a:sym typeface="Montserrat"/>
            </a:endParaRPr>
          </a:p>
        </p:txBody>
      </p:sp>
      <p:cxnSp>
        <p:nvCxnSpPr>
          <p:cNvPr id="1840" name="Google Shape;1840;p179"/>
          <p:cNvCxnSpPr/>
          <p:nvPr/>
        </p:nvCxnSpPr>
        <p:spPr>
          <a:xfrm>
            <a:off x="1517725" y="3344975"/>
            <a:ext cx="2146200" cy="0"/>
          </a:xfrm>
          <a:prstGeom prst="straightConnector1">
            <a:avLst/>
          </a:prstGeom>
          <a:noFill/>
          <a:ln w="9525" cap="flat" cmpd="sng">
            <a:solidFill>
              <a:schemeClr val="dk1"/>
            </a:solidFill>
            <a:prstDash val="solid"/>
            <a:round/>
            <a:headEnd type="none" w="med" len="med"/>
            <a:tailEnd type="none" w="med" len="med"/>
          </a:ln>
        </p:spPr>
      </p:cxnSp>
      <p:sp>
        <p:nvSpPr>
          <p:cNvPr id="1841" name="Google Shape;1841;p179"/>
          <p:cNvSpPr txBox="1"/>
          <p:nvPr/>
        </p:nvSpPr>
        <p:spPr>
          <a:xfrm>
            <a:off x="1517725" y="3125125"/>
            <a:ext cx="2146200" cy="21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Montserrat"/>
                <a:ea typeface="Montserrat"/>
                <a:cs typeface="Montserrat"/>
                <a:sym typeface="Montserrat"/>
              </a:rPr>
              <a:t>Cash available for Debt service</a:t>
            </a:r>
            <a:endParaRPr sz="1000">
              <a:solidFill>
                <a:schemeClr val="dk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grpSp>
        <p:nvGrpSpPr>
          <p:cNvPr id="1846" name="Google Shape;1846;p180"/>
          <p:cNvGrpSpPr/>
          <p:nvPr/>
        </p:nvGrpSpPr>
        <p:grpSpPr>
          <a:xfrm>
            <a:off x="239992" y="63853"/>
            <a:ext cx="8728050" cy="745997"/>
            <a:chOff x="236700" y="63853"/>
            <a:chExt cx="8728050" cy="745997"/>
          </a:xfrm>
        </p:grpSpPr>
        <p:sp>
          <p:nvSpPr>
            <p:cNvPr id="1847" name="Google Shape;1847;p18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48" name="Google Shape;1848;p18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49" name="Google Shape;1849;p18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50" name="Google Shape;1850;p18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51" name="Google Shape;1851;p18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52" name="Google Shape;1852;p18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53" name="Google Shape;1853;p18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54" name="Google Shape;1854;p180"/>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Lifecycle Items The Tariff Must Contain</a:t>
              </a:r>
              <a:endParaRPr sz="2000">
                <a:solidFill>
                  <a:schemeClr val="lt1"/>
                </a:solidFill>
                <a:latin typeface="Montserrat ExtraBold"/>
                <a:ea typeface="Montserrat ExtraBold"/>
                <a:cs typeface="Montserrat ExtraBold"/>
                <a:sym typeface="Montserrat ExtraBold"/>
              </a:endParaRPr>
            </a:p>
          </p:txBody>
        </p:sp>
        <p:cxnSp>
          <p:nvCxnSpPr>
            <p:cNvPr id="1855" name="Google Shape;1855;p18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56" name="Google Shape;1856;p18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57" name="Google Shape;1857;p18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58" name="Google Shape;1858;p180"/>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859" name="Google Shape;1859;p180"/>
          <p:cNvGraphicFramePr/>
          <p:nvPr/>
        </p:nvGraphicFramePr>
        <p:xfrm>
          <a:off x="453115" y="1110455"/>
          <a:ext cx="3000000" cy="3000000"/>
        </p:xfrm>
        <a:graphic>
          <a:graphicData uri="http://schemas.openxmlformats.org/drawingml/2006/table">
            <a:tbl>
              <a:tblPr firstRow="1" bandRow="1">
                <a:noFill/>
                <a:tableStyleId>{CE8BD2AF-5D0D-4EDC-AE96-A30A7DA1AF2F}</a:tableStyleId>
              </a:tblPr>
              <a:tblGrid>
                <a:gridCol w="1649650">
                  <a:extLst>
                    <a:ext uri="{9D8B030D-6E8A-4147-A177-3AD203B41FA5}">
                      <a16:colId xmlns:a16="http://schemas.microsoft.com/office/drawing/2014/main" val="20000"/>
                    </a:ext>
                  </a:extLst>
                </a:gridCol>
                <a:gridCol w="2749450">
                  <a:extLst>
                    <a:ext uri="{9D8B030D-6E8A-4147-A177-3AD203B41FA5}">
                      <a16:colId xmlns:a16="http://schemas.microsoft.com/office/drawing/2014/main" val="20001"/>
                    </a:ext>
                  </a:extLst>
                </a:gridCol>
                <a:gridCol w="3986675">
                  <a:extLst>
                    <a:ext uri="{9D8B030D-6E8A-4147-A177-3AD203B41FA5}">
                      <a16:colId xmlns:a16="http://schemas.microsoft.com/office/drawing/2014/main" val="20002"/>
                    </a:ext>
                  </a:extLst>
                </a:gridCol>
              </a:tblGrid>
              <a:tr h="51440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Item</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Typical assumption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a:latin typeface="Montserrat"/>
                          <a:ea typeface="Montserrat"/>
                          <a:cs typeface="Montserrat"/>
                          <a:sym typeface="Montserrat"/>
                        </a:rPr>
                        <a:t>Buyer Implication</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PV degradation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~0.5%/yr output decline</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Matched volume shrinks; lost kWh repurchased from EVN at TOU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Battery replacement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a:solidFill>
                            <a:schemeClr val="dk1"/>
                          </a:solidFill>
                          <a:latin typeface="Montserrat"/>
                          <a:ea typeface="Montserrat"/>
                          <a:cs typeface="Montserrat"/>
                          <a:sym typeface="Montserrat"/>
                        </a:rPr>
                        <a:t>Large capex every 8-10 years</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Can </a:t>
                      </a:r>
                      <a:r>
                        <a:rPr lang="en" sz="1250">
                          <a:solidFill>
                            <a:schemeClr val="dk1"/>
                          </a:solidFill>
                          <a:latin typeface="Montserrat"/>
                          <a:ea typeface="Montserrat"/>
                          <a:cs typeface="Montserrat"/>
                          <a:sym typeface="Montserrat"/>
                        </a:rPr>
                        <a:t>highly impact </a:t>
                      </a:r>
                      <a:r>
                        <a:rPr lang="en" sz="1250" u="none" strike="noStrike" cap="none">
                          <a:solidFill>
                            <a:schemeClr val="dk1"/>
                          </a:solidFill>
                          <a:latin typeface="Montserrat"/>
                          <a:ea typeface="Montserrat"/>
                          <a:cs typeface="Montserrat"/>
                          <a:sym typeface="Montserrat"/>
                        </a:rPr>
                        <a:t>DSCR in that </a:t>
                      </a:r>
                      <a:r>
                        <a:rPr lang="en" sz="1250">
                          <a:solidFill>
                            <a:schemeClr val="dk1"/>
                          </a:solidFill>
                          <a:latin typeface="Montserrat"/>
                          <a:ea typeface="Montserrat"/>
                          <a:cs typeface="Montserrat"/>
                          <a:sym typeface="Montserrat"/>
                        </a:rPr>
                        <a:t>replacement</a:t>
                      </a:r>
                      <a:r>
                        <a:rPr lang="en" sz="1250" u="none" strike="noStrike" cap="none">
                          <a:solidFill>
                            <a:schemeClr val="dk1"/>
                          </a:solidFill>
                          <a:latin typeface="Montserrat"/>
                          <a:ea typeface="Montserrat"/>
                          <a:cs typeface="Montserrat"/>
                          <a:sym typeface="Montserrat"/>
                        </a:rPr>
                        <a:t> year</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CIT holiday</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 yr exempt + 9 yr half rate (RE projects)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Improves developer economics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FX exposure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VND strike vs USD capex/debt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USD-linked terms shift FX </a:t>
                      </a:r>
                      <a:r>
                        <a:rPr lang="en" sz="1250">
                          <a:solidFill>
                            <a:schemeClr val="dk1"/>
                          </a:solidFill>
                          <a:latin typeface="Montserrat"/>
                          <a:ea typeface="Montserrat"/>
                          <a:cs typeface="Montserrat"/>
                          <a:sym typeface="Montserrat"/>
                        </a:rPr>
                        <a:t>the</a:t>
                      </a:r>
                      <a:r>
                        <a:rPr lang="en" sz="1250" u="none" strike="noStrike" cap="none">
                          <a:solidFill>
                            <a:schemeClr val="dk1"/>
                          </a:solidFill>
                          <a:latin typeface="Montserrat"/>
                          <a:ea typeface="Montserrat"/>
                          <a:cs typeface="Montserrat"/>
                          <a:sym typeface="Montserrat"/>
                        </a:rPr>
                        <a:t> </a:t>
                      </a:r>
                      <a:r>
                        <a:rPr lang="en" sz="1250">
                          <a:solidFill>
                            <a:schemeClr val="dk1"/>
                          </a:solidFill>
                          <a:latin typeface="Montserrat"/>
                          <a:ea typeface="Montserrat"/>
                          <a:cs typeface="Montserrat"/>
                          <a:sym typeface="Montserrat"/>
                        </a:rPr>
                        <a:t>risks</a:t>
                      </a:r>
                      <a:r>
                        <a:rPr lang="en" sz="1250" u="none" strike="noStrike" cap="none">
                          <a:solidFill>
                            <a:schemeClr val="dk1"/>
                          </a:solidFill>
                          <a:latin typeface="Montserrat"/>
                          <a:ea typeface="Montserrat"/>
                          <a:cs typeface="Montserrat"/>
                          <a:sym typeface="Montserrat"/>
                        </a:rPr>
                        <a:t>; price it consciously</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860" name="Google Shape;1860;p180"/>
          <p:cNvSpPr txBox="1"/>
          <p:nvPr/>
        </p:nvSpPr>
        <p:spPr>
          <a:xfrm>
            <a:off x="283125" y="3983065"/>
            <a:ext cx="8385900" cy="900300"/>
          </a:xfrm>
          <a:prstGeom prst="rect">
            <a:avLst/>
          </a:prstGeom>
          <a:noFill/>
          <a:ln>
            <a:noFill/>
          </a:ln>
        </p:spPr>
        <p:txBody>
          <a:bodyPr spcFirstLastPara="1" wrap="square" lIns="91425" tIns="45700" rIns="91425" bIns="45700" anchor="t" anchorCtr="0">
            <a:spAutoFit/>
          </a:bodyPr>
          <a:lstStyle/>
          <a:p>
            <a:pPr marL="457200" lvl="0" indent="-311150" algn="l" rtl="0">
              <a:spcBef>
                <a:spcPts val="0"/>
              </a:spcBef>
              <a:spcAft>
                <a:spcPts val="0"/>
              </a:spcAft>
              <a:buSzPts val="1300"/>
              <a:buFont typeface="Montserrat"/>
              <a:buChar char="●"/>
            </a:pPr>
            <a:r>
              <a:rPr lang="en" sz="1300">
                <a:latin typeface="Montserrat"/>
                <a:ea typeface="Montserrat"/>
                <a:cs typeface="Montserrat"/>
                <a:sym typeface="Montserrat"/>
              </a:rPr>
              <a:t>The above terms are key components of the tariff and are included even when they are absent from the term sheet</a:t>
            </a:r>
            <a:endParaRPr sz="1300">
              <a:latin typeface="Montserrat"/>
              <a:ea typeface="Montserrat"/>
              <a:cs typeface="Montserrat"/>
              <a:sym typeface="Montserrat"/>
            </a:endParaRPr>
          </a:p>
          <a:p>
            <a:pPr marL="457200" marR="0" lvl="0" indent="-311150" algn="l" rtl="0">
              <a:lnSpc>
                <a:spcPct val="100000"/>
              </a:lnSpc>
              <a:spcBef>
                <a:spcPts val="400"/>
              </a:spcBef>
              <a:spcAft>
                <a:spcPts val="400"/>
              </a:spcAft>
              <a:buSzPts val="1300"/>
              <a:buFont typeface="Montserrat"/>
              <a:buChar char="●"/>
            </a:pPr>
            <a:r>
              <a:rPr lang="en" sz="1300" i="0" u="none" strike="noStrike" cap="none">
                <a:latin typeface="Montserrat"/>
                <a:ea typeface="Montserrat"/>
                <a:cs typeface="Montserrat"/>
                <a:sym typeface="Montserrat"/>
              </a:rPr>
              <a:t>These rarely appear in headline term sheets, but each one moves the bankable strike floor and therefore your price.</a:t>
            </a:r>
            <a:endParaRPr>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4"/>
        <p:cNvGrpSpPr/>
        <p:nvPr/>
      </p:nvGrpSpPr>
      <p:grpSpPr>
        <a:xfrm>
          <a:off x="0" y="0"/>
          <a:ext cx="0" cy="0"/>
          <a:chOff x="0" y="0"/>
          <a:chExt cx="0" cy="0"/>
        </a:xfrm>
      </p:grpSpPr>
      <p:cxnSp>
        <p:nvCxnSpPr>
          <p:cNvPr id="1865" name="Google Shape;1865;p181"/>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866" name="Google Shape;1866;p181"/>
          <p:cNvSpPr txBox="1"/>
          <p:nvPr/>
        </p:nvSpPr>
        <p:spPr>
          <a:xfrm>
            <a:off x="4572000" y="1440675"/>
            <a:ext cx="4572000" cy="11235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5:</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Case Studies 5 &amp; 6</a:t>
            </a:r>
            <a:endParaRPr sz="2800" b="1">
              <a:solidFill>
                <a:srgbClr val="0F172A"/>
              </a:solidFill>
              <a:highlight>
                <a:srgbClr val="FFFFFF"/>
              </a:highlight>
              <a:latin typeface="Montserrat"/>
              <a:ea typeface="Montserrat"/>
              <a:cs typeface="Montserrat"/>
              <a:sym typeface="Montserrat"/>
            </a:endParaRPr>
          </a:p>
        </p:txBody>
      </p:sp>
      <p:pic>
        <p:nvPicPr>
          <p:cNvPr id="1867" name="Google Shape;1867;p181"/>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868" name="Google Shape;1868;p181"/>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869" name="Google Shape;1869;p18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870" name="Google Shape;1870;p18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4"/>
        <p:cNvGrpSpPr/>
        <p:nvPr/>
      </p:nvGrpSpPr>
      <p:grpSpPr>
        <a:xfrm>
          <a:off x="0" y="0"/>
          <a:ext cx="0" cy="0"/>
          <a:chOff x="0" y="0"/>
          <a:chExt cx="0" cy="0"/>
        </a:xfrm>
      </p:grpSpPr>
      <p:grpSp>
        <p:nvGrpSpPr>
          <p:cNvPr id="1875" name="Google Shape;1875;p182"/>
          <p:cNvGrpSpPr/>
          <p:nvPr/>
        </p:nvGrpSpPr>
        <p:grpSpPr>
          <a:xfrm>
            <a:off x="239992" y="63853"/>
            <a:ext cx="8728050" cy="745997"/>
            <a:chOff x="236700" y="63853"/>
            <a:chExt cx="8728050" cy="745997"/>
          </a:xfrm>
        </p:grpSpPr>
        <p:sp>
          <p:nvSpPr>
            <p:cNvPr id="1876" name="Google Shape;1876;p18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77" name="Google Shape;1877;p18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78" name="Google Shape;1878;p18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79" name="Google Shape;1879;p18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80" name="Google Shape;1880;p18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81" name="Google Shape;1881;p18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82" name="Google Shape;1882;p18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83" name="Google Shape;1883;p182"/>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Same Factory As Yesterday - Now Procuring Offsite</a:t>
              </a:r>
              <a:endParaRPr sz="2000">
                <a:solidFill>
                  <a:schemeClr val="lt1"/>
                </a:solidFill>
                <a:latin typeface="Montserrat ExtraBold"/>
                <a:ea typeface="Montserrat ExtraBold"/>
                <a:cs typeface="Montserrat ExtraBold"/>
                <a:sym typeface="Montserrat ExtraBold"/>
              </a:endParaRPr>
            </a:p>
          </p:txBody>
        </p:sp>
        <p:cxnSp>
          <p:nvCxnSpPr>
            <p:cNvPr id="1884" name="Google Shape;1884;p18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85" name="Google Shape;1885;p18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86" name="Google Shape;1886;p18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87" name="Google Shape;1887;p18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888" name="Google Shape;1888;p182"/>
          <p:cNvSpPr txBox="1"/>
          <p:nvPr/>
        </p:nvSpPr>
        <p:spPr>
          <a:xfrm>
            <a:off x="457950" y="1022675"/>
            <a:ext cx="8228100" cy="1327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 sz="1350" i="1" u="none" strike="noStrike" cap="none">
                <a:solidFill>
                  <a:srgbClr val="222B33"/>
                </a:solidFill>
                <a:latin typeface="Montserrat"/>
                <a:ea typeface="Montserrat"/>
                <a:cs typeface="Montserrat"/>
                <a:sym typeface="Montserrat"/>
              </a:rPr>
              <a:t>Yesterday</a:t>
            </a:r>
            <a:r>
              <a:rPr lang="en" sz="1350" i="1">
                <a:solidFill>
                  <a:srgbClr val="222B33"/>
                </a:solidFill>
                <a:latin typeface="Montserrat"/>
                <a:ea typeface="Montserrat"/>
                <a:cs typeface="Montserrat"/>
                <a:sym typeface="Montserrat"/>
              </a:rPr>
              <a:t>’s </a:t>
            </a:r>
            <a:r>
              <a:rPr lang="en" sz="1350" i="1" u="none" strike="noStrike" cap="none">
                <a:solidFill>
                  <a:srgbClr val="222B33"/>
                </a:solidFill>
                <a:latin typeface="Montserrat"/>
                <a:ea typeface="Montserrat"/>
                <a:cs typeface="Montserrat"/>
                <a:sym typeface="Montserrat"/>
              </a:rPr>
              <a:t>On-Site </a:t>
            </a:r>
            <a:r>
              <a:rPr lang="en" sz="1350" i="1">
                <a:solidFill>
                  <a:srgbClr val="222B33"/>
                </a:solidFill>
                <a:latin typeface="Montserrat"/>
                <a:ea typeface="Montserrat"/>
                <a:cs typeface="Montserrat"/>
                <a:sym typeface="Montserrat"/>
              </a:rPr>
              <a:t>S</a:t>
            </a:r>
            <a:r>
              <a:rPr lang="en" sz="1350" i="1" u="none" strike="noStrike" cap="none">
                <a:solidFill>
                  <a:srgbClr val="222B33"/>
                </a:solidFill>
                <a:latin typeface="Montserrat"/>
                <a:ea typeface="Montserrat"/>
                <a:cs typeface="Montserrat"/>
                <a:sym typeface="Montserrat"/>
              </a:rPr>
              <a:t>ession: Cases 1-4 explored rooftop solar + BESS behind the meter. </a:t>
            </a:r>
            <a:endParaRPr sz="1350" i="1" u="none" strike="noStrike" cap="none">
              <a:solidFill>
                <a:srgbClr val="222B33"/>
              </a:solidFill>
              <a:latin typeface="Montserrat"/>
              <a:ea typeface="Montserrat"/>
              <a:cs typeface="Montserrat"/>
              <a:sym typeface="Montserrat"/>
            </a:endParaRPr>
          </a:p>
          <a:p>
            <a:pPr marL="0" marR="0" lvl="0" indent="0" algn="l" rtl="0">
              <a:lnSpc>
                <a:spcPct val="115000"/>
              </a:lnSpc>
              <a:spcBef>
                <a:spcPts val="400"/>
              </a:spcBef>
              <a:spcAft>
                <a:spcPts val="0"/>
              </a:spcAft>
              <a:buNone/>
            </a:pPr>
            <a:r>
              <a:rPr lang="en" sz="1350" b="1" i="0" u="none" strike="noStrike" cap="none">
                <a:solidFill>
                  <a:srgbClr val="222B33"/>
                </a:solidFill>
                <a:latin typeface="Montserrat"/>
                <a:ea typeface="Montserrat"/>
                <a:cs typeface="Montserrat"/>
                <a:sym typeface="Montserrat"/>
              </a:rPr>
              <a:t>Today:</a:t>
            </a:r>
            <a:r>
              <a:rPr lang="en" sz="1350" b="1">
                <a:solidFill>
                  <a:srgbClr val="222B33"/>
                </a:solidFill>
                <a:latin typeface="Montserrat"/>
                <a:ea typeface="Montserrat"/>
                <a:cs typeface="Montserrat"/>
                <a:sym typeface="Montserrat"/>
              </a:rPr>
              <a:t> </a:t>
            </a:r>
            <a:r>
              <a:rPr lang="en" sz="1350">
                <a:solidFill>
                  <a:srgbClr val="222B33"/>
                </a:solidFill>
                <a:latin typeface="Montserrat"/>
                <a:ea typeface="Montserrat"/>
                <a:cs typeface="Montserrat"/>
                <a:sym typeface="Montserrat"/>
              </a:rPr>
              <a:t>T</a:t>
            </a:r>
            <a:r>
              <a:rPr lang="en" sz="1350" i="0" u="none" strike="noStrike" cap="none">
                <a:solidFill>
                  <a:srgbClr val="222B33"/>
                </a:solidFill>
                <a:latin typeface="Montserrat"/>
                <a:ea typeface="Montserrat"/>
                <a:cs typeface="Montserrat"/>
                <a:sym typeface="Montserrat"/>
              </a:rPr>
              <a:t>he same southern</a:t>
            </a:r>
            <a:r>
              <a:rPr lang="en" sz="1350">
                <a:solidFill>
                  <a:srgbClr val="222B33"/>
                </a:solidFill>
                <a:latin typeface="Montserrat"/>
                <a:ea typeface="Montserrat"/>
                <a:cs typeface="Montserrat"/>
                <a:sym typeface="Montserrat"/>
              </a:rPr>
              <a:t> </a:t>
            </a:r>
            <a:r>
              <a:rPr lang="en" sz="1350" i="0" u="none" strike="noStrike" cap="none">
                <a:solidFill>
                  <a:srgbClr val="222B33"/>
                </a:solidFill>
                <a:latin typeface="Montserrat"/>
                <a:ea typeface="Montserrat"/>
                <a:cs typeface="Montserrat"/>
                <a:sym typeface="Montserrat"/>
              </a:rPr>
              <a:t>Vietnam manufacturing facility (22-110kV) signs a </a:t>
            </a:r>
            <a:r>
              <a:rPr lang="en" sz="1350" b="1" i="0" u="none" strike="noStrike" cap="none">
                <a:solidFill>
                  <a:srgbClr val="222B33"/>
                </a:solidFill>
                <a:latin typeface="Montserrat"/>
                <a:ea typeface="Montserrat"/>
                <a:cs typeface="Montserrat"/>
                <a:sym typeface="Montserrat"/>
              </a:rPr>
              <a:t>virtual DPPA</a:t>
            </a:r>
            <a:r>
              <a:rPr lang="en" sz="1350" i="0" u="none" strike="noStrike" cap="none">
                <a:solidFill>
                  <a:srgbClr val="222B33"/>
                </a:solidFill>
                <a:latin typeface="Montserrat"/>
                <a:ea typeface="Montserrat"/>
                <a:cs typeface="Montserrat"/>
                <a:sym typeface="Montserrat"/>
              </a:rPr>
              <a:t> with a dedicated solar + storage project.</a:t>
            </a:r>
            <a:endParaRPr sz="1350" i="0" u="none" strike="noStrike" cap="none">
              <a:solidFill>
                <a:srgbClr val="222B33"/>
              </a:solidFill>
              <a:latin typeface="Montserrat"/>
              <a:ea typeface="Montserrat"/>
              <a:cs typeface="Montserrat"/>
              <a:sym typeface="Montserrat"/>
            </a:endParaRPr>
          </a:p>
          <a:p>
            <a:pPr marL="457200" lvl="0" indent="-314325" algn="l" rtl="0">
              <a:spcBef>
                <a:spcPts val="400"/>
              </a:spcBef>
              <a:spcAft>
                <a:spcPts val="0"/>
              </a:spcAft>
              <a:buClr>
                <a:srgbClr val="222B33"/>
              </a:buClr>
              <a:buSzPts val="1350"/>
              <a:buFont typeface="Montserrat"/>
              <a:buChar char="●"/>
            </a:pPr>
            <a:r>
              <a:rPr lang="en" sz="1300" b="1">
                <a:solidFill>
                  <a:srgbClr val="222B33"/>
                </a:solidFill>
                <a:latin typeface="Montserrat"/>
                <a:ea typeface="Montserrat"/>
                <a:cs typeface="Montserrat"/>
                <a:sym typeface="Montserrat"/>
              </a:rPr>
              <a:t>Case 5: Solar + Large BESS</a:t>
            </a:r>
            <a:endParaRPr sz="1300" b="1">
              <a:solidFill>
                <a:srgbClr val="222B33"/>
              </a:solidFill>
              <a:latin typeface="Montserrat"/>
              <a:ea typeface="Montserrat"/>
              <a:cs typeface="Montserrat"/>
              <a:sym typeface="Montserrat"/>
            </a:endParaRPr>
          </a:p>
          <a:p>
            <a:pPr marL="457200" lvl="0" indent="-314325" algn="l" rtl="0">
              <a:spcBef>
                <a:spcPts val="0"/>
              </a:spcBef>
              <a:spcAft>
                <a:spcPts val="0"/>
              </a:spcAft>
              <a:buClr>
                <a:srgbClr val="222B33"/>
              </a:buClr>
              <a:buSzPts val="1350"/>
              <a:buFont typeface="Montserrat"/>
              <a:buChar char="●"/>
            </a:pPr>
            <a:r>
              <a:rPr lang="en" sz="1300" b="1">
                <a:solidFill>
                  <a:srgbClr val="222B33"/>
                </a:solidFill>
                <a:latin typeface="Montserrat"/>
                <a:ea typeface="Montserrat"/>
                <a:cs typeface="Montserrat"/>
                <a:sym typeface="Montserrat"/>
              </a:rPr>
              <a:t>Case 6: Solar + Minimum BESS</a:t>
            </a:r>
            <a:endParaRPr sz="1350">
              <a:solidFill>
                <a:srgbClr val="222B33"/>
              </a:solidFill>
              <a:latin typeface="Montserrat"/>
              <a:ea typeface="Montserrat"/>
              <a:cs typeface="Montserrat"/>
              <a:sym typeface="Montserrat"/>
            </a:endParaRPr>
          </a:p>
        </p:txBody>
      </p:sp>
      <p:graphicFrame>
        <p:nvGraphicFramePr>
          <p:cNvPr id="1889" name="Google Shape;1889;p182"/>
          <p:cNvGraphicFramePr/>
          <p:nvPr/>
        </p:nvGraphicFramePr>
        <p:xfrm>
          <a:off x="455701" y="2568688"/>
          <a:ext cx="3000000" cy="3000000"/>
        </p:xfrm>
        <a:graphic>
          <a:graphicData uri="http://schemas.openxmlformats.org/drawingml/2006/table">
            <a:tbl>
              <a:tblPr firstRow="1" bandRow="1">
                <a:noFill/>
                <a:tableStyleId>{CE8BD2AF-5D0D-4EDC-AE96-A30A7DA1AF2F}</a:tableStyleId>
              </a:tblPr>
              <a:tblGrid>
                <a:gridCol w="2645775">
                  <a:extLst>
                    <a:ext uri="{9D8B030D-6E8A-4147-A177-3AD203B41FA5}">
                      <a16:colId xmlns:a16="http://schemas.microsoft.com/office/drawing/2014/main" val="20000"/>
                    </a:ext>
                  </a:extLst>
                </a:gridCol>
                <a:gridCol w="5367125">
                  <a:extLst>
                    <a:ext uri="{9D8B030D-6E8A-4147-A177-3AD203B41FA5}">
                      <a16:colId xmlns:a16="http://schemas.microsoft.com/office/drawing/2014/main" val="20001"/>
                    </a:ext>
                  </a:extLst>
                </a:gridCol>
              </a:tblGrid>
              <a:tr h="312850">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Deal frame (both cases)</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Value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DPPA type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Virtual (grid CfD) under Decree 57/2025</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Strike price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2,000 VND/kWh, escalating 4%/yr</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Tenor / analysis period</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25 years</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Financing</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70% debt, 8.5% VND, 10-yr term</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312850">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Method</a:t>
                      </a:r>
                      <a:endParaRPr sz="1300" u="none" strike="noStrike" cap="none">
                        <a:solidFill>
                          <a:srgbClr val="222B33"/>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Montserrat"/>
                          <a:ea typeface="Montserrat"/>
                          <a:cs typeface="Montserrat"/>
                          <a:sym typeface="Montserrat"/>
                        </a:rPr>
                        <a:t>Full 8760-hour settlement simulation (ND57 formulas, hourly FMP/CFMP series) + 25-year project cash-flow model with the three gates.</a:t>
                      </a:r>
                      <a:endParaRPr sz="1300" u="none" strike="noStrike" cap="none">
                        <a:solidFill>
                          <a:srgbClr val="222B33"/>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grpSp>
        <p:nvGrpSpPr>
          <p:cNvPr id="1894" name="Google Shape;1894;p183"/>
          <p:cNvGrpSpPr/>
          <p:nvPr/>
        </p:nvGrpSpPr>
        <p:grpSpPr>
          <a:xfrm>
            <a:off x="239992" y="63853"/>
            <a:ext cx="8728050" cy="745997"/>
            <a:chOff x="236700" y="63853"/>
            <a:chExt cx="8728050" cy="745997"/>
          </a:xfrm>
        </p:grpSpPr>
        <p:sp>
          <p:nvSpPr>
            <p:cNvPr id="1895" name="Google Shape;1895;p18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96" name="Google Shape;1896;p18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97" name="Google Shape;1897;p18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98" name="Google Shape;1898;p18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99" name="Google Shape;1899;p18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00" name="Google Shape;1900;p18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01" name="Google Shape;1901;p18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902" name="Google Shape;1902;p18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03" name="Google Shape;1903;p18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04" name="Google Shape;1904;p18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05" name="Google Shape;1905;p183"/>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906" name="Google Shape;1906;p183"/>
          <p:cNvGraphicFramePr/>
          <p:nvPr/>
        </p:nvGraphicFramePr>
        <p:xfrm>
          <a:off x="463533" y="1174100"/>
          <a:ext cx="3000000" cy="3000000"/>
        </p:xfrm>
        <a:graphic>
          <a:graphicData uri="http://schemas.openxmlformats.org/drawingml/2006/table">
            <a:tbl>
              <a:tblPr firstRow="1" bandRow="1">
                <a:noFill/>
                <a:tableStyleId>{CE8BD2AF-5D0D-4EDC-AE96-A30A7DA1AF2F}</a:tableStyleId>
              </a:tblPr>
              <a:tblGrid>
                <a:gridCol w="2771350">
                  <a:extLst>
                    <a:ext uri="{9D8B030D-6E8A-4147-A177-3AD203B41FA5}">
                      <a16:colId xmlns:a16="http://schemas.microsoft.com/office/drawing/2014/main" val="20000"/>
                    </a:ext>
                  </a:extLst>
                </a:gridCol>
                <a:gridCol w="2155500">
                  <a:extLst>
                    <a:ext uri="{9D8B030D-6E8A-4147-A177-3AD203B41FA5}">
                      <a16:colId xmlns:a16="http://schemas.microsoft.com/office/drawing/2014/main" val="20001"/>
                    </a:ext>
                  </a:extLst>
                </a:gridCol>
              </a:tblGrid>
              <a:tr h="2770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Metric</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Result</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Seller equity IRR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16.9%</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Project IRR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13.5%</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Developer NPV</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$1.52M</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Minimum DSCR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1.14x  (replacement year)</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Payback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9.1 yr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Year 1</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-8.7%</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- 10-yr cumulative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-8.9%</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7"/>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lifetime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-9.3%</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8"/>
                  </a:ext>
                </a:extLst>
              </a:tr>
            </a:tbl>
          </a:graphicData>
        </a:graphic>
      </p:graphicFrame>
      <p:sp>
        <p:nvSpPr>
          <p:cNvPr id="1907" name="Google Shape;1907;p183"/>
          <p:cNvSpPr txBox="1"/>
          <p:nvPr/>
        </p:nvSpPr>
        <p:spPr>
          <a:xfrm>
            <a:off x="5488338" y="1340501"/>
            <a:ext cx="3437700" cy="19395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At strike 2,000 the buyer pays ~9% MORE than BAU on every horizon</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The oversized battery adds a ~$1.2M replacement around year 11 that the tariff must recover</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Even so, lender comfort is thin (min DSCR 1.14x &lt; 1.20x)</a:t>
            </a:r>
            <a:endParaRPr>
              <a:solidFill>
                <a:schemeClr val="dk1"/>
              </a:solidFill>
              <a:latin typeface="Montserrat"/>
              <a:ea typeface="Montserrat"/>
              <a:cs typeface="Montserrat"/>
              <a:sym typeface="Montserrat"/>
            </a:endParaRPr>
          </a:p>
        </p:txBody>
      </p:sp>
      <p:sp>
        <p:nvSpPr>
          <p:cNvPr id="1908" name="Google Shape;1908;p183"/>
          <p:cNvSpPr/>
          <p:nvPr/>
        </p:nvSpPr>
        <p:spPr>
          <a:xfrm>
            <a:off x="463525" y="3965638"/>
            <a:ext cx="8224200" cy="650700"/>
          </a:xfrm>
          <a:prstGeom prst="roundRect">
            <a:avLst>
              <a:gd name="adj" fmla="val 16667"/>
            </a:avLst>
          </a:prstGeom>
          <a:solidFill>
            <a:srgbClr val="B33A3A"/>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FFFFFF"/>
                </a:solidFill>
                <a:latin typeface="Montserrat"/>
                <a:ea typeface="Montserrat"/>
                <a:cs typeface="Montserrat"/>
                <a:sym typeface="Montserrat"/>
              </a:rPr>
              <a:t>Lesson 1: </a:t>
            </a:r>
            <a:r>
              <a:rPr lang="en" b="1">
                <a:solidFill>
                  <a:srgbClr val="FFFFFF"/>
                </a:solidFill>
                <a:latin typeface="Montserrat"/>
                <a:ea typeface="Montserrat"/>
                <a:cs typeface="Montserrat"/>
                <a:sym typeface="Montserrat"/>
              </a:rPr>
              <a:t>A</a:t>
            </a:r>
            <a:r>
              <a:rPr lang="en" sz="1400" b="1" i="0" u="none" strike="noStrike" cap="none">
                <a:solidFill>
                  <a:srgbClr val="FFFFFF"/>
                </a:solidFill>
                <a:latin typeface="Montserrat"/>
                <a:ea typeface="Montserrat"/>
                <a:cs typeface="Montserrat"/>
                <a:sym typeface="Montserrat"/>
              </a:rPr>
              <a:t>n oversized battery cannot carry its own replacement cost through the tariff</a:t>
            </a:r>
            <a:r>
              <a:rPr lang="en" b="1">
                <a:solidFill>
                  <a:srgbClr val="FFFFFF"/>
                </a:solidFill>
                <a:latin typeface="Montserrat"/>
                <a:ea typeface="Montserrat"/>
                <a:cs typeface="Montserrat"/>
                <a:sym typeface="Montserrat"/>
              </a:rPr>
              <a:t>;</a:t>
            </a:r>
            <a:r>
              <a:rPr lang="en" sz="1400" b="1" i="0" u="none" strike="noStrike" cap="none">
                <a:solidFill>
                  <a:srgbClr val="FFFFFF"/>
                </a:solidFill>
                <a:latin typeface="Montserrat"/>
                <a:ea typeface="Montserrat"/>
                <a:cs typeface="Montserrat"/>
                <a:sym typeface="Montserrat"/>
              </a:rPr>
              <a:t> everyone loses.</a:t>
            </a:r>
            <a:endParaRPr>
              <a:latin typeface="Montserrat"/>
              <a:ea typeface="Montserrat"/>
              <a:cs typeface="Montserrat"/>
              <a:sym typeface="Montserrat"/>
            </a:endParaRPr>
          </a:p>
        </p:txBody>
      </p:sp>
      <p:sp>
        <p:nvSpPr>
          <p:cNvPr id="1909" name="Google Shape;1909;p183"/>
          <p:cNvSpPr txBox="1"/>
          <p:nvPr/>
        </p:nvSpPr>
        <p:spPr>
          <a:xfrm>
            <a:off x="374425" y="857152"/>
            <a:ext cx="6228900" cy="276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 sz="1200" b="1">
                <a:solidFill>
                  <a:srgbClr val="B33A3A"/>
                </a:solidFill>
                <a:latin typeface="Montserrat"/>
                <a:ea typeface="Montserrat"/>
                <a:cs typeface="Montserrat"/>
                <a:sym typeface="Montserrat"/>
              </a:rPr>
              <a:t>BATTERY EATS THE DEAL</a:t>
            </a:r>
            <a:endParaRPr sz="1200" b="1">
              <a:solidFill>
                <a:srgbClr val="B33A3A"/>
              </a:solidFill>
              <a:latin typeface="Montserrat"/>
              <a:ea typeface="Montserrat"/>
              <a:cs typeface="Montserrat"/>
              <a:sym typeface="Montserrat"/>
            </a:endParaRPr>
          </a:p>
        </p:txBody>
      </p:sp>
      <p:sp>
        <p:nvSpPr>
          <p:cNvPr id="1910" name="Google Shape;1910;p183"/>
          <p:cNvSpPr txBox="1"/>
          <p:nvPr/>
        </p:nvSpPr>
        <p:spPr>
          <a:xfrm>
            <a:off x="672542"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Font typeface="Arial"/>
              <a:buNone/>
            </a:pPr>
            <a:r>
              <a:rPr lang="en" sz="2000" b="1">
                <a:solidFill>
                  <a:schemeClr val="lt1"/>
                </a:solidFill>
                <a:latin typeface="Montserrat"/>
                <a:ea typeface="Montserrat"/>
                <a:cs typeface="Montserrat"/>
                <a:sym typeface="Montserrat"/>
              </a:rPr>
              <a:t>Case Study 5: Solar + Large BESS</a:t>
            </a:r>
            <a:endParaRPr sz="20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4"/>
        <p:cNvGrpSpPr/>
        <p:nvPr/>
      </p:nvGrpSpPr>
      <p:grpSpPr>
        <a:xfrm>
          <a:off x="0" y="0"/>
          <a:ext cx="0" cy="0"/>
          <a:chOff x="0" y="0"/>
          <a:chExt cx="0" cy="0"/>
        </a:xfrm>
      </p:grpSpPr>
      <p:pic>
        <p:nvPicPr>
          <p:cNvPr id="1915" name="Google Shape;1915;p184" title="CEBA new logo.png"/>
          <p:cNvPicPr preferRelativeResize="0"/>
          <p:nvPr/>
        </p:nvPicPr>
        <p:blipFill>
          <a:blip r:embed="rId3">
            <a:alphaModFix/>
          </a:blip>
          <a:stretch>
            <a:fillRect/>
          </a:stretch>
        </p:blipFill>
        <p:spPr>
          <a:xfrm>
            <a:off x="8407423" y="4881212"/>
            <a:ext cx="708296" cy="211825"/>
          </a:xfrm>
          <a:prstGeom prst="rect">
            <a:avLst/>
          </a:prstGeom>
          <a:noFill/>
          <a:ln>
            <a:noFill/>
          </a:ln>
        </p:spPr>
      </p:pic>
      <p:pic>
        <p:nvPicPr>
          <p:cNvPr id="1916" name="Google Shape;1916;p184"/>
          <p:cNvPicPr preferRelativeResize="0"/>
          <p:nvPr/>
        </p:nvPicPr>
        <p:blipFill>
          <a:blip r:embed="rId4">
            <a:alphaModFix/>
          </a:blip>
          <a:stretch>
            <a:fillRect/>
          </a:stretch>
        </p:blipFill>
        <p:spPr>
          <a:xfrm>
            <a:off x="7512498" y="4830726"/>
            <a:ext cx="894924" cy="312775"/>
          </a:xfrm>
          <a:prstGeom prst="rect">
            <a:avLst/>
          </a:prstGeom>
          <a:noFill/>
          <a:ln>
            <a:noFill/>
          </a:ln>
        </p:spPr>
      </p:pic>
      <p:graphicFrame>
        <p:nvGraphicFramePr>
          <p:cNvPr id="1917" name="Google Shape;1917;p184"/>
          <p:cNvGraphicFramePr/>
          <p:nvPr/>
        </p:nvGraphicFramePr>
        <p:xfrm>
          <a:off x="444696" y="1324825"/>
          <a:ext cx="3000000" cy="3000000"/>
        </p:xfrm>
        <a:graphic>
          <a:graphicData uri="http://schemas.openxmlformats.org/drawingml/2006/table">
            <a:tbl>
              <a:tblPr firstRow="1" bandRow="1">
                <a:noFill/>
                <a:tableStyleId>{CE8BD2AF-5D0D-4EDC-AE96-A30A7DA1AF2F}</a:tableStyleId>
              </a:tblPr>
              <a:tblGrid>
                <a:gridCol w="2526625">
                  <a:extLst>
                    <a:ext uri="{9D8B030D-6E8A-4147-A177-3AD203B41FA5}">
                      <a16:colId xmlns:a16="http://schemas.microsoft.com/office/drawing/2014/main" val="20000"/>
                    </a:ext>
                  </a:extLst>
                </a:gridCol>
                <a:gridCol w="2321200">
                  <a:extLst>
                    <a:ext uri="{9D8B030D-6E8A-4147-A177-3AD203B41FA5}">
                      <a16:colId xmlns:a16="http://schemas.microsoft.com/office/drawing/2014/main" val="20001"/>
                    </a:ext>
                  </a:extLst>
                </a:gridCol>
              </a:tblGrid>
              <a:tr h="2965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Metric</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Result</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Seller equity IRR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26.9%</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Project IRR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18.2%</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Developer NPV</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$2.54M</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Minimum DSCR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1.50x  (comfortably &gt; 1.20x)</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Payback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4.7 yr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all horizons</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-14.4%</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bl>
          </a:graphicData>
        </a:graphic>
      </p:graphicFrame>
      <p:sp>
        <p:nvSpPr>
          <p:cNvPr id="1918" name="Google Shape;1918;p184"/>
          <p:cNvSpPr txBox="1"/>
          <p:nvPr/>
        </p:nvSpPr>
        <p:spPr>
          <a:xfrm>
            <a:off x="5341875" y="1414299"/>
            <a:ext cx="3464100" cy="22359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Lean sizing: seller and lender are now comfortable - returns strong, DSCR 1.50x</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But at strike 2,000 </a:t>
            </a:r>
            <a:r>
              <a:rPr lang="en" sz="1100">
                <a:solidFill>
                  <a:schemeClr val="dk1"/>
                </a:solidFill>
                <a:latin typeface="Montserrat"/>
                <a:ea typeface="Montserrat"/>
                <a:cs typeface="Montserrat"/>
                <a:sym typeface="Montserrat"/>
              </a:rPr>
              <a:t>VND/kWh</a:t>
            </a:r>
            <a:r>
              <a:rPr lang="en" sz="1300">
                <a:solidFill>
                  <a:schemeClr val="dk1"/>
                </a:solidFill>
                <a:latin typeface="Montserrat"/>
                <a:ea typeface="Montserrat"/>
                <a:cs typeface="Montserrat"/>
                <a:sym typeface="Montserrat"/>
              </a:rPr>
              <a:t> </a:t>
            </a:r>
            <a:r>
              <a:rPr lang="en" sz="1300" i="0" u="none" strike="noStrike" cap="none">
                <a:solidFill>
                  <a:schemeClr val="dk1"/>
                </a:solidFill>
                <a:latin typeface="Montserrat"/>
                <a:ea typeface="Montserrat"/>
                <a:cs typeface="Montserrat"/>
                <a:sym typeface="Montserrat"/>
              </a:rPr>
              <a:t>the buyer is ~14% worse than BAU: the seller's headroom IS the negotiation space</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a:solidFill>
                  <a:schemeClr val="dk1"/>
                </a:solidFill>
                <a:latin typeface="Montserrat"/>
                <a:ea typeface="Montserrat"/>
                <a:cs typeface="Montserrat"/>
                <a:sym typeface="Montserrat"/>
              </a:rPr>
              <a:t>Therefore, </a:t>
            </a:r>
            <a:r>
              <a:rPr lang="en" sz="1300" i="0" u="none" strike="noStrike" cap="none">
                <a:solidFill>
                  <a:schemeClr val="dk1"/>
                </a:solidFill>
                <a:latin typeface="Montserrat"/>
                <a:ea typeface="Montserrat"/>
                <a:cs typeface="Montserrat"/>
                <a:sym typeface="Montserrat"/>
              </a:rPr>
              <a:t>sweep the strike down and see where the gates cross</a:t>
            </a:r>
            <a:endParaRPr>
              <a:solidFill>
                <a:schemeClr val="dk1"/>
              </a:solidFill>
              <a:latin typeface="Montserrat"/>
              <a:ea typeface="Montserrat"/>
              <a:cs typeface="Montserrat"/>
              <a:sym typeface="Montserrat"/>
            </a:endParaRPr>
          </a:p>
        </p:txBody>
      </p:sp>
      <p:sp>
        <p:nvSpPr>
          <p:cNvPr id="1919" name="Google Shape;1919;p184"/>
          <p:cNvSpPr/>
          <p:nvPr/>
        </p:nvSpPr>
        <p:spPr>
          <a:xfrm>
            <a:off x="444700" y="3920100"/>
            <a:ext cx="8361300" cy="691200"/>
          </a:xfrm>
          <a:prstGeom prst="roundRect">
            <a:avLst>
              <a:gd name="adj" fmla="val 16667"/>
            </a:avLst>
          </a:prstGeom>
          <a:solidFill>
            <a:srgbClr val="01A86F"/>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FFFFFF"/>
                </a:solidFill>
                <a:latin typeface="Montserrat"/>
                <a:ea typeface="Montserrat"/>
                <a:cs typeface="Montserrat"/>
                <a:sym typeface="Montserrat"/>
              </a:rPr>
              <a:t>Lesson 2: </a:t>
            </a:r>
            <a:r>
              <a:rPr lang="en" b="1">
                <a:solidFill>
                  <a:srgbClr val="FFFFFF"/>
                </a:solidFill>
                <a:latin typeface="Montserrat"/>
                <a:ea typeface="Montserrat"/>
                <a:cs typeface="Montserrat"/>
                <a:sym typeface="Montserrat"/>
              </a:rPr>
              <a:t>R</a:t>
            </a:r>
            <a:r>
              <a:rPr lang="en" sz="1400" b="1" i="0" u="none" strike="noStrike" cap="none">
                <a:solidFill>
                  <a:srgbClr val="FFFFFF"/>
                </a:solidFill>
                <a:latin typeface="Montserrat"/>
                <a:ea typeface="Montserrat"/>
                <a:cs typeface="Montserrat"/>
                <a:sym typeface="Montserrat"/>
              </a:rPr>
              <a:t>ight-sized </a:t>
            </a:r>
            <a:r>
              <a:rPr lang="en" b="1">
                <a:solidFill>
                  <a:srgbClr val="FFFFFF"/>
                </a:solidFill>
                <a:latin typeface="Montserrat"/>
                <a:ea typeface="Montserrat"/>
                <a:cs typeface="Montserrat"/>
                <a:sym typeface="Montserrat"/>
              </a:rPr>
              <a:t>the BESS</a:t>
            </a:r>
            <a:r>
              <a:rPr lang="en" sz="1400" b="1" i="0" u="none" strike="noStrike" cap="none">
                <a:solidFill>
                  <a:srgbClr val="FFFFFF"/>
                </a:solidFill>
                <a:latin typeface="Montserrat"/>
                <a:ea typeface="Montserrat"/>
                <a:cs typeface="Montserrat"/>
                <a:sym typeface="Montserrat"/>
              </a:rPr>
              <a:t> makes the project financeable</a:t>
            </a:r>
            <a:r>
              <a:rPr lang="en" b="1">
                <a:solidFill>
                  <a:srgbClr val="FFFFFF"/>
                </a:solidFill>
                <a:latin typeface="Montserrat"/>
                <a:ea typeface="Montserrat"/>
                <a:cs typeface="Montserrat"/>
                <a:sym typeface="Montserrat"/>
              </a:rPr>
              <a:t>.</a:t>
            </a:r>
            <a:r>
              <a:rPr lang="en" sz="1400" b="1" i="0" u="none" strike="noStrike" cap="none">
                <a:solidFill>
                  <a:srgbClr val="FFFFFF"/>
                </a:solidFill>
                <a:latin typeface="Montserrat"/>
                <a:ea typeface="Montserrat"/>
                <a:cs typeface="Montserrat"/>
                <a:sym typeface="Montserrat"/>
              </a:rPr>
              <a:t> </a:t>
            </a:r>
            <a:r>
              <a:rPr lang="en" b="1">
                <a:solidFill>
                  <a:srgbClr val="FFFFFF"/>
                </a:solidFill>
                <a:latin typeface="Montserrat"/>
                <a:ea typeface="Montserrat"/>
                <a:cs typeface="Montserrat"/>
                <a:sym typeface="Montserrat"/>
              </a:rPr>
              <a:t>T</a:t>
            </a:r>
            <a:r>
              <a:rPr lang="en" sz="1400" b="1" i="0" u="none" strike="noStrike" cap="none">
                <a:solidFill>
                  <a:srgbClr val="FFFFFF"/>
                </a:solidFill>
                <a:latin typeface="Montserrat"/>
                <a:ea typeface="Montserrat"/>
                <a:cs typeface="Montserrat"/>
                <a:sym typeface="Montserrat"/>
              </a:rPr>
              <a:t>hen, the entire negotiation is the strike price.</a:t>
            </a:r>
            <a:endParaRPr>
              <a:latin typeface="Montserrat"/>
              <a:ea typeface="Montserrat"/>
              <a:cs typeface="Montserrat"/>
              <a:sym typeface="Montserrat"/>
            </a:endParaRPr>
          </a:p>
        </p:txBody>
      </p:sp>
      <p:sp>
        <p:nvSpPr>
          <p:cNvPr id="1920" name="Google Shape;1920;p184"/>
          <p:cNvSpPr txBox="1"/>
          <p:nvPr/>
        </p:nvSpPr>
        <p:spPr>
          <a:xfrm>
            <a:off x="414251" y="928899"/>
            <a:ext cx="7178100" cy="276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 sz="1200" b="1">
                <a:solidFill>
                  <a:srgbClr val="01A86F"/>
                </a:solidFill>
                <a:latin typeface="Montserrat"/>
                <a:ea typeface="Montserrat"/>
                <a:cs typeface="Montserrat"/>
                <a:sym typeface="Montserrat"/>
              </a:rPr>
              <a:t>CHALLENGING, YET BANKABLE</a:t>
            </a:r>
            <a:endParaRPr sz="1200" b="1">
              <a:solidFill>
                <a:srgbClr val="01A86F"/>
              </a:solidFill>
              <a:latin typeface="Montserrat"/>
              <a:ea typeface="Montserrat"/>
              <a:cs typeface="Montserrat"/>
              <a:sym typeface="Montserrat"/>
            </a:endParaRPr>
          </a:p>
        </p:txBody>
      </p:sp>
      <p:grpSp>
        <p:nvGrpSpPr>
          <p:cNvPr id="1921" name="Google Shape;1921;p184"/>
          <p:cNvGrpSpPr/>
          <p:nvPr/>
        </p:nvGrpSpPr>
        <p:grpSpPr>
          <a:xfrm>
            <a:off x="239992" y="63853"/>
            <a:ext cx="8728050" cy="745997"/>
            <a:chOff x="236700" y="63853"/>
            <a:chExt cx="8728050" cy="745997"/>
          </a:xfrm>
        </p:grpSpPr>
        <p:sp>
          <p:nvSpPr>
            <p:cNvPr id="1922" name="Google Shape;1922;p18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23" name="Google Shape;1923;p18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24" name="Google Shape;1924;p18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25" name="Google Shape;1925;p18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26" name="Google Shape;1926;p18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27" name="Google Shape;1927;p18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28" name="Google Shape;1928;p18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929" name="Google Shape;1929;p18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30" name="Google Shape;1930;p18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1931" name="Google Shape;1931;p184"/>
          <p:cNvSpPr txBox="1"/>
          <p:nvPr/>
        </p:nvSpPr>
        <p:spPr>
          <a:xfrm>
            <a:off x="672542"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br>
              <a:rPr lang="en" sz="2000">
                <a:solidFill>
                  <a:schemeClr val="lt1"/>
                </a:solidFill>
                <a:latin typeface="Montserrat ExtraBold"/>
                <a:ea typeface="Montserrat ExtraBold"/>
                <a:cs typeface="Montserrat ExtraBold"/>
                <a:sym typeface="Montserrat ExtraBold"/>
              </a:rPr>
            </a:br>
            <a:r>
              <a:rPr lang="en" sz="2000" b="1">
                <a:solidFill>
                  <a:schemeClr val="lt1"/>
                </a:solidFill>
                <a:latin typeface="Montserrat"/>
                <a:ea typeface="Montserrat"/>
                <a:cs typeface="Montserrat"/>
                <a:sym typeface="Montserrat"/>
              </a:rPr>
              <a:t>Case Study 6: Solar + Minimum BESS</a:t>
            </a:r>
            <a:endParaRPr sz="20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6" name="Google Shape;1936;p185"/>
          <p:cNvGrpSpPr/>
          <p:nvPr/>
        </p:nvGrpSpPr>
        <p:grpSpPr>
          <a:xfrm>
            <a:off x="239992" y="63853"/>
            <a:ext cx="8728050" cy="745997"/>
            <a:chOff x="236700" y="63853"/>
            <a:chExt cx="8728050" cy="745997"/>
          </a:xfrm>
        </p:grpSpPr>
        <p:sp>
          <p:nvSpPr>
            <p:cNvPr id="1937" name="Google Shape;1937;p18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38" name="Google Shape;1938;p18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39" name="Google Shape;1939;p18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40" name="Google Shape;1940;p18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41" name="Google Shape;1941;p18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42" name="Google Shape;1942;p18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43" name="Google Shape;1943;p18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44" name="Google Shape;1944;p185"/>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br>
                <a:rPr lang="en" sz="2100">
                  <a:solidFill>
                    <a:schemeClr val="lt1"/>
                  </a:solidFill>
                  <a:latin typeface="Montserrat ExtraBold"/>
                  <a:ea typeface="Montserrat ExtraBold"/>
                  <a:cs typeface="Montserrat ExtraBold"/>
                  <a:sym typeface="Montserrat ExtraBold"/>
                </a:rPr>
              </a:br>
              <a:r>
                <a:rPr lang="en" sz="2000" b="1">
                  <a:solidFill>
                    <a:schemeClr val="lt1"/>
                  </a:solidFill>
                  <a:latin typeface="Montserrat"/>
                  <a:ea typeface="Montserrat"/>
                  <a:cs typeface="Montserrat"/>
                  <a:sym typeface="Montserrat"/>
                </a:rPr>
                <a:t>Sweeping The Strike On Case Study 6: Empty Window</a:t>
              </a:r>
              <a:endParaRPr sz="2000">
                <a:solidFill>
                  <a:schemeClr val="lt1"/>
                </a:solidFill>
                <a:latin typeface="Montserrat ExtraBold"/>
                <a:ea typeface="Montserrat ExtraBold"/>
                <a:cs typeface="Montserrat ExtraBold"/>
                <a:sym typeface="Montserrat ExtraBold"/>
              </a:endParaRPr>
            </a:p>
          </p:txBody>
        </p:sp>
        <p:cxnSp>
          <p:nvCxnSpPr>
            <p:cNvPr id="1945" name="Google Shape;1945;p185"/>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46" name="Google Shape;1946;p185"/>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47" name="Google Shape;1947;p185"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48" name="Google Shape;1948;p185"/>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949" name="Google Shape;1949;p185"/>
          <p:cNvSpPr txBox="1"/>
          <p:nvPr/>
        </p:nvSpPr>
        <p:spPr>
          <a:xfrm>
            <a:off x="374425" y="952825"/>
            <a:ext cx="8538900" cy="74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00" i="0" u="none" strike="noStrike" cap="none">
                <a:solidFill>
                  <a:srgbClr val="222B33"/>
                </a:solidFill>
                <a:latin typeface="Montserrat"/>
                <a:ea typeface="Montserrat"/>
                <a:cs typeface="Montserrat"/>
                <a:sym typeface="Montserrat"/>
              </a:rPr>
              <a:t>56 scenarios anal</a:t>
            </a:r>
            <a:r>
              <a:rPr lang="en" sz="1300">
                <a:solidFill>
                  <a:srgbClr val="222B33"/>
                </a:solidFill>
                <a:latin typeface="Montserrat"/>
                <a:ea typeface="Montserrat"/>
                <a:cs typeface="Montserrat"/>
                <a:sym typeface="Montserrat"/>
              </a:rPr>
              <a:t>yzed</a:t>
            </a:r>
            <a:r>
              <a:rPr lang="en" sz="1300" i="0" u="none" strike="noStrike" cap="none">
                <a:solidFill>
                  <a:srgbClr val="222B33"/>
                </a:solidFill>
                <a:latin typeface="Montserrat"/>
                <a:ea typeface="Montserrat"/>
                <a:cs typeface="Montserrat"/>
                <a:sym typeface="Montserrat"/>
              </a:rPr>
              <a:t>: </a:t>
            </a:r>
            <a:r>
              <a:rPr lang="en" sz="1300">
                <a:solidFill>
                  <a:srgbClr val="222B33"/>
                </a:solidFill>
                <a:latin typeface="Montserrat"/>
                <a:ea typeface="Montserrat"/>
                <a:cs typeface="Montserrat"/>
                <a:sym typeface="Montserrat"/>
              </a:rPr>
              <a:t>12 strike prices ranging from </a:t>
            </a:r>
            <a:r>
              <a:rPr lang="en" sz="1300" i="0" u="none" strike="noStrike" cap="none">
                <a:solidFill>
                  <a:srgbClr val="222B33"/>
                </a:solidFill>
                <a:latin typeface="Montserrat"/>
                <a:ea typeface="Montserrat"/>
                <a:cs typeface="Montserrat"/>
                <a:sym typeface="Montserrat"/>
              </a:rPr>
              <a:t> 1,200-2,200 VND/kWh </a:t>
            </a:r>
            <a:r>
              <a:rPr lang="en" sz="1300">
                <a:solidFill>
                  <a:srgbClr val="222B33"/>
                </a:solidFill>
                <a:latin typeface="Montserrat"/>
                <a:ea typeface="Montserrat"/>
                <a:cs typeface="Montserrat"/>
                <a:sym typeface="Montserrat"/>
              </a:rPr>
              <a:t>and 4 </a:t>
            </a:r>
            <a:r>
              <a:rPr lang="en" sz="1300" i="0" u="none" strike="noStrike" cap="none">
                <a:solidFill>
                  <a:srgbClr val="222B33"/>
                </a:solidFill>
                <a:latin typeface="Montserrat"/>
                <a:ea typeface="Montserrat"/>
                <a:cs typeface="Montserrat"/>
                <a:sym typeface="Montserrat"/>
              </a:rPr>
              <a:t>contract volume</a:t>
            </a:r>
            <a:r>
              <a:rPr lang="en" sz="1300">
                <a:solidFill>
                  <a:srgbClr val="222B33"/>
                </a:solidFill>
                <a:latin typeface="Montserrat"/>
                <a:ea typeface="Montserrat"/>
                <a:cs typeface="Montserrat"/>
                <a:sym typeface="Montserrat"/>
              </a:rPr>
              <a:t>s ranging from </a:t>
            </a:r>
            <a:r>
              <a:rPr lang="en" sz="1300" i="0" u="none" strike="noStrike" cap="none">
                <a:solidFill>
                  <a:srgbClr val="222B33"/>
                </a:solidFill>
                <a:latin typeface="Montserrat"/>
                <a:ea typeface="Montserrat"/>
                <a:cs typeface="Montserrat"/>
                <a:sym typeface="Montserrat"/>
              </a:rPr>
              <a:t>70-100%. </a:t>
            </a:r>
            <a:endParaRPr sz="1300">
              <a:solidFill>
                <a:srgbClr val="222B33"/>
              </a:solidFill>
              <a:latin typeface="Montserrat"/>
              <a:ea typeface="Montserrat"/>
              <a:cs typeface="Montserrat"/>
              <a:sym typeface="Montserrat"/>
            </a:endParaRPr>
          </a:p>
          <a:p>
            <a:pPr marL="0" marR="0" lvl="0" indent="0" algn="l" rtl="0">
              <a:lnSpc>
                <a:spcPct val="100000"/>
              </a:lnSpc>
              <a:spcBef>
                <a:spcPts val="400"/>
              </a:spcBef>
              <a:spcAft>
                <a:spcPts val="400"/>
              </a:spcAft>
              <a:buNone/>
            </a:pPr>
            <a:r>
              <a:rPr lang="en" sz="1300" b="1" i="0" u="none" strike="noStrike" cap="none">
                <a:solidFill>
                  <a:srgbClr val="E77A10"/>
                </a:solidFill>
                <a:latin typeface="Montserrat"/>
                <a:ea typeface="Montserrat"/>
                <a:cs typeface="Montserrat"/>
                <a:sym typeface="Montserrat"/>
              </a:rPr>
              <a:t>Gate results:</a:t>
            </a:r>
            <a:endParaRPr b="1">
              <a:solidFill>
                <a:srgbClr val="E77A10"/>
              </a:solidFill>
              <a:latin typeface="Montserrat"/>
              <a:ea typeface="Montserrat"/>
              <a:cs typeface="Montserrat"/>
              <a:sym typeface="Montserrat"/>
            </a:endParaRPr>
          </a:p>
        </p:txBody>
      </p:sp>
      <p:graphicFrame>
        <p:nvGraphicFramePr>
          <p:cNvPr id="1950" name="Google Shape;1950;p185"/>
          <p:cNvGraphicFramePr/>
          <p:nvPr/>
        </p:nvGraphicFramePr>
        <p:xfrm>
          <a:off x="454270" y="1665232"/>
          <a:ext cx="3000000" cy="3000000"/>
        </p:xfrm>
        <a:graphic>
          <a:graphicData uri="http://schemas.openxmlformats.org/drawingml/2006/table">
            <a:tbl>
              <a:tblPr firstRow="1" bandRow="1">
                <a:noFill/>
                <a:tableStyleId>{CE8BD2AF-5D0D-4EDC-AE96-A30A7DA1AF2F}</a:tableStyleId>
              </a:tblPr>
              <a:tblGrid>
                <a:gridCol w="1812625">
                  <a:extLst>
                    <a:ext uri="{9D8B030D-6E8A-4147-A177-3AD203B41FA5}">
                      <a16:colId xmlns:a16="http://schemas.microsoft.com/office/drawing/2014/main" val="20000"/>
                    </a:ext>
                  </a:extLst>
                </a:gridCol>
                <a:gridCol w="1888175">
                  <a:extLst>
                    <a:ext uri="{9D8B030D-6E8A-4147-A177-3AD203B41FA5}">
                      <a16:colId xmlns:a16="http://schemas.microsoft.com/office/drawing/2014/main" val="20001"/>
                    </a:ext>
                  </a:extLst>
                </a:gridCol>
                <a:gridCol w="1510550">
                  <a:extLst>
                    <a:ext uri="{9D8B030D-6E8A-4147-A177-3AD203B41FA5}">
                      <a16:colId xmlns:a16="http://schemas.microsoft.com/office/drawing/2014/main" val="20002"/>
                    </a:ext>
                  </a:extLst>
                </a:gridCol>
                <a:gridCol w="2190300">
                  <a:extLst>
                    <a:ext uri="{9D8B030D-6E8A-4147-A177-3AD203B41FA5}">
                      <a16:colId xmlns:a16="http://schemas.microsoft.com/office/drawing/2014/main" val="20003"/>
                    </a:ext>
                  </a:extLst>
                </a:gridCol>
                <a:gridCol w="1057375">
                  <a:extLst>
                    <a:ext uri="{9D8B030D-6E8A-4147-A177-3AD203B41FA5}">
                      <a16:colId xmlns:a16="http://schemas.microsoft.com/office/drawing/2014/main" val="20004"/>
                    </a:ext>
                  </a:extLst>
                </a:gridCol>
              </a:tblGrid>
              <a:tr h="3392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Strike level </a:t>
                      </a:r>
                      <a:r>
                        <a:rPr lang="en" sz="1100" u="none" strike="noStrike" cap="none">
                          <a:solidFill>
                            <a:srgbClr val="FFFFFF"/>
                          </a:solidFill>
                          <a:latin typeface="Montserrat"/>
                          <a:ea typeface="Montserrat"/>
                          <a:cs typeface="Montserrat"/>
                          <a:sym typeface="Montserrat"/>
                        </a:rPr>
                        <a:t>(VND/kWh)</a:t>
                      </a:r>
                      <a:endParaRPr sz="11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Buyer gate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Seller gate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Lender gate (&gt;=1.20x)</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Balanced?</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~2,000 (offer)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-14%</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1.50x</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~1,400</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-1.4%</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19%</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1.19-1.5x</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~1,300 x 70% vol</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PASS  +0.5% lifetime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17.9%</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1.14x</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~1,200</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PASS  +2.9%</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&lt;1.20x</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951" name="Google Shape;1951;p185"/>
          <p:cNvSpPr txBox="1"/>
          <p:nvPr/>
        </p:nvSpPr>
        <p:spPr>
          <a:xfrm>
            <a:off x="374425" y="3513200"/>
            <a:ext cx="8356500" cy="507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50" b="1" i="0" u="none" strike="noStrike" cap="none">
                <a:solidFill>
                  <a:srgbClr val="0F293D"/>
                </a:solidFill>
                <a:latin typeface="Montserrat"/>
                <a:ea typeface="Montserrat"/>
                <a:cs typeface="Montserrat"/>
                <a:sym typeface="Montserrat"/>
              </a:rPr>
              <a:t>The buyer turns positive just as the lender drops out: </a:t>
            </a:r>
            <a:r>
              <a:rPr lang="en" sz="1350" b="1" u="sng">
                <a:solidFill>
                  <a:srgbClr val="0F293D"/>
                </a:solidFill>
                <a:latin typeface="Montserrat"/>
                <a:ea typeface="Montserrat"/>
                <a:cs typeface="Montserrat"/>
                <a:sym typeface="Montserrat"/>
              </a:rPr>
              <a:t>0</a:t>
            </a:r>
            <a:r>
              <a:rPr lang="en" sz="1350" b="1" i="0" u="none" strike="noStrike" cap="none">
                <a:solidFill>
                  <a:srgbClr val="0F293D"/>
                </a:solidFill>
                <a:latin typeface="Montserrat"/>
                <a:ea typeface="Montserrat"/>
                <a:cs typeface="Montserrat"/>
                <a:sym typeface="Montserrat"/>
              </a:rPr>
              <a:t> of 56 scenarios pass all three gates at current market prices and fee levels.</a:t>
            </a:r>
            <a:endParaRPr>
              <a:latin typeface="Montserrat"/>
              <a:ea typeface="Montserrat"/>
              <a:cs typeface="Montserrat"/>
              <a:sym typeface="Montserrat"/>
            </a:endParaRPr>
          </a:p>
        </p:txBody>
      </p:sp>
      <p:sp>
        <p:nvSpPr>
          <p:cNvPr id="1952" name="Google Shape;1952;p185"/>
          <p:cNvSpPr/>
          <p:nvPr/>
        </p:nvSpPr>
        <p:spPr>
          <a:xfrm>
            <a:off x="454275" y="4120225"/>
            <a:ext cx="8418000" cy="657000"/>
          </a:xfrm>
          <a:prstGeom prst="roundRect">
            <a:avLst>
              <a:gd name="adj" fmla="val 16667"/>
            </a:avLst>
          </a:prstGeom>
          <a:solidFill>
            <a:srgbClr val="E77A10"/>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350" b="1" i="0" u="none" strike="noStrike" cap="none">
                <a:solidFill>
                  <a:srgbClr val="FFFFFF"/>
                </a:solidFill>
                <a:latin typeface="Montserrat"/>
                <a:ea typeface="Montserrat"/>
                <a:cs typeface="Montserrat"/>
                <a:sym typeface="Montserrat"/>
              </a:rPr>
              <a:t>Pricing alone cannot balance this deal</a:t>
            </a:r>
            <a:r>
              <a:rPr lang="en" sz="1350" b="1">
                <a:solidFill>
                  <a:srgbClr val="FFFFFF"/>
                </a:solidFill>
                <a:latin typeface="Montserrat"/>
                <a:ea typeface="Montserrat"/>
                <a:cs typeface="Montserrat"/>
                <a:sym typeface="Montserrat"/>
              </a:rPr>
              <a:t>, BUT there</a:t>
            </a:r>
            <a:r>
              <a:rPr lang="en" sz="1350" b="1" i="0" u="none" strike="noStrike" cap="none">
                <a:solidFill>
                  <a:srgbClr val="FFFFFF"/>
                </a:solidFill>
                <a:latin typeface="Montserrat"/>
                <a:ea typeface="Montserrat"/>
                <a:cs typeface="Montserrat"/>
                <a:sym typeface="Montserrat"/>
              </a:rPr>
              <a:t> a</a:t>
            </a:r>
            <a:r>
              <a:rPr lang="en" sz="1350" b="1">
                <a:solidFill>
                  <a:srgbClr val="FFFFFF"/>
                </a:solidFill>
                <a:latin typeface="Montserrat"/>
                <a:ea typeface="Montserrat"/>
                <a:cs typeface="Montserrat"/>
                <a:sym typeface="Montserrat"/>
              </a:rPr>
              <a:t>re “</a:t>
            </a:r>
            <a:r>
              <a:rPr lang="en" sz="1350" b="1" i="0" u="none" strike="noStrike" cap="none">
                <a:solidFill>
                  <a:srgbClr val="FFFFFF"/>
                </a:solidFill>
                <a:latin typeface="Montserrat"/>
                <a:ea typeface="Montserrat"/>
                <a:cs typeface="Montserrat"/>
                <a:sym typeface="Montserrat"/>
              </a:rPr>
              <a:t>levers” that can: lower leverage, debt sculpting, USD-denominated debt (~5%), fee relief, longer tenor.</a:t>
            </a:r>
            <a:endParaRPr>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56"/>
        <p:cNvGrpSpPr/>
        <p:nvPr/>
      </p:nvGrpSpPr>
      <p:grpSpPr>
        <a:xfrm>
          <a:off x="0" y="0"/>
          <a:ext cx="0" cy="0"/>
          <a:chOff x="0" y="0"/>
          <a:chExt cx="0" cy="0"/>
        </a:xfrm>
      </p:grpSpPr>
      <p:grpSp>
        <p:nvGrpSpPr>
          <p:cNvPr id="1957" name="Google Shape;1957;p186"/>
          <p:cNvGrpSpPr/>
          <p:nvPr/>
        </p:nvGrpSpPr>
        <p:grpSpPr>
          <a:xfrm>
            <a:off x="239992" y="63853"/>
            <a:ext cx="8728050" cy="745997"/>
            <a:chOff x="236700" y="63853"/>
            <a:chExt cx="8728050" cy="745997"/>
          </a:xfrm>
        </p:grpSpPr>
        <p:sp>
          <p:nvSpPr>
            <p:cNvPr id="1958" name="Google Shape;1958;p18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59" name="Google Shape;1959;p18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60" name="Google Shape;1960;p18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61" name="Google Shape;1961;p18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62" name="Google Shape;1962;p18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63" name="Google Shape;1963;p18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64" name="Google Shape;1964;p18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65" name="Google Shape;1965;p18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br>
                <a:rPr lang="en" sz="2100">
                  <a:solidFill>
                    <a:schemeClr val="lt1"/>
                  </a:solidFill>
                  <a:latin typeface="Montserrat ExtraBold"/>
                  <a:ea typeface="Montserrat ExtraBold"/>
                  <a:cs typeface="Montserrat ExtraBold"/>
                  <a:sym typeface="Montserrat ExtraBold"/>
                </a:rPr>
              </a:br>
              <a:r>
                <a:rPr lang="en" sz="2000" b="1">
                  <a:solidFill>
                    <a:schemeClr val="lt1"/>
                  </a:solidFill>
                  <a:latin typeface="Montserrat"/>
                  <a:ea typeface="Montserrat"/>
                  <a:cs typeface="Montserrat"/>
                  <a:sym typeface="Montserrat"/>
                </a:rPr>
                <a:t>What This Means And Expectations</a:t>
              </a:r>
              <a:endParaRPr sz="2000">
                <a:solidFill>
                  <a:schemeClr val="lt1"/>
                </a:solidFill>
                <a:latin typeface="Montserrat ExtraBold"/>
                <a:ea typeface="Montserrat ExtraBold"/>
                <a:cs typeface="Montserrat ExtraBold"/>
                <a:sym typeface="Montserrat ExtraBold"/>
              </a:endParaRPr>
            </a:p>
          </p:txBody>
        </p:sp>
        <p:cxnSp>
          <p:nvCxnSpPr>
            <p:cNvPr id="1966" name="Google Shape;1966;p18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67" name="Google Shape;1967;p18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68" name="Google Shape;1968;p18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69" name="Google Shape;1969;p186"/>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970" name="Google Shape;1970;p186"/>
          <p:cNvSpPr txBox="1"/>
          <p:nvPr/>
        </p:nvSpPr>
        <p:spPr>
          <a:xfrm>
            <a:off x="466200" y="1316375"/>
            <a:ext cx="8069700" cy="3055500"/>
          </a:xfrm>
          <a:prstGeom prst="rect">
            <a:avLst/>
          </a:prstGeom>
          <a:noFill/>
          <a:ln>
            <a:noFill/>
          </a:ln>
        </p:spPr>
        <p:txBody>
          <a:bodyPr spcFirstLastPara="1" wrap="square" lIns="91425" tIns="45700" rIns="91425" bIns="45700" anchor="t" anchorCtr="0">
            <a:spAutoFit/>
          </a:bodyPr>
          <a:lstStyle/>
          <a:p>
            <a:pPr marL="457200" marR="0" lvl="0" indent="-323850" algn="l" rtl="0">
              <a:lnSpc>
                <a:spcPct val="115000"/>
              </a:lnSpc>
              <a:spcBef>
                <a:spcPts val="0"/>
              </a:spcBef>
              <a:spcAft>
                <a:spcPts val="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Expect low single-digit lifetime savings at best</a:t>
            </a:r>
            <a:r>
              <a:rPr lang="en" sz="1500" b="1">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T</a:t>
            </a:r>
            <a:r>
              <a:rPr lang="en" sz="1500" i="0" u="none" strike="noStrike" cap="none">
                <a:solidFill>
                  <a:schemeClr val="dk1"/>
                </a:solidFill>
                <a:latin typeface="Montserrat"/>
                <a:ea typeface="Montserrat"/>
                <a:cs typeface="Montserrat"/>
                <a:sym typeface="Montserrat"/>
              </a:rPr>
              <a:t>he product you are buying i</a:t>
            </a:r>
            <a:r>
              <a:rPr lang="en" sz="1500">
                <a:solidFill>
                  <a:schemeClr val="dk1"/>
                </a:solidFill>
                <a:latin typeface="Montserrat"/>
                <a:ea typeface="Montserrat"/>
                <a:cs typeface="Montserrat"/>
                <a:sym typeface="Montserrat"/>
              </a:rPr>
              <a:t>s 10-</a:t>
            </a:r>
            <a:r>
              <a:rPr lang="en" sz="1500" i="0" u="none" strike="noStrike" cap="none">
                <a:solidFill>
                  <a:schemeClr val="dk1"/>
                </a:solidFill>
                <a:latin typeface="Montserrat"/>
                <a:ea typeface="Montserrat"/>
                <a:cs typeface="Montserrat"/>
                <a:sym typeface="Montserrat"/>
              </a:rPr>
              <a:t>25</a:t>
            </a:r>
            <a:r>
              <a:rPr lang="en" sz="1500">
                <a:solidFill>
                  <a:schemeClr val="dk1"/>
                </a:solidFill>
                <a:latin typeface="Montserrat"/>
                <a:ea typeface="Montserrat"/>
                <a:cs typeface="Montserrat"/>
                <a:sym typeface="Montserrat"/>
              </a:rPr>
              <a:t> </a:t>
            </a:r>
            <a:r>
              <a:rPr lang="en" sz="1500" i="0" u="none" strike="noStrike" cap="none">
                <a:solidFill>
                  <a:schemeClr val="dk1"/>
                </a:solidFill>
                <a:latin typeface="Montserrat"/>
                <a:ea typeface="Montserrat"/>
                <a:cs typeface="Montserrat"/>
                <a:sym typeface="Montserrat"/>
              </a:rPr>
              <a:t>year price certaint</a:t>
            </a:r>
            <a:r>
              <a:rPr lang="en" sz="1500">
                <a:solidFill>
                  <a:schemeClr val="dk1"/>
                </a:solidFill>
                <a:latin typeface="Montserrat"/>
                <a:ea typeface="Montserrat"/>
                <a:cs typeface="Montserrat"/>
                <a:sym typeface="Montserrat"/>
              </a:rPr>
              <a:t>y, meet up to 100% of annual electricity demand with contracted renewable generation, and</a:t>
            </a:r>
            <a:r>
              <a:rPr lang="en" sz="1500" i="0" u="none" strike="noStrike" cap="none">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utilize </a:t>
            </a:r>
            <a:r>
              <a:rPr lang="en" sz="1500" i="0" u="none" strike="noStrike" cap="none">
                <a:solidFill>
                  <a:schemeClr val="dk1"/>
                </a:solidFill>
                <a:latin typeface="Montserrat"/>
                <a:ea typeface="Montserrat"/>
                <a:cs typeface="Montserrat"/>
                <a:sym typeface="Montserrat"/>
              </a:rPr>
              <a:t>credible renewable claims, but </a:t>
            </a:r>
            <a:r>
              <a:rPr lang="en" sz="1500">
                <a:solidFill>
                  <a:schemeClr val="dk1"/>
                </a:solidFill>
                <a:latin typeface="Montserrat"/>
                <a:ea typeface="Montserrat"/>
                <a:cs typeface="Montserrat"/>
                <a:sym typeface="Montserrat"/>
              </a:rPr>
              <a:t>all at a price premium.</a:t>
            </a:r>
            <a:endParaRPr>
              <a:solidFill>
                <a:schemeClr val="dk1"/>
              </a:solidFill>
              <a:latin typeface="Montserrat"/>
              <a:ea typeface="Montserrat"/>
              <a:cs typeface="Montserrat"/>
              <a:sym typeface="Montserrat"/>
            </a:endParaRPr>
          </a:p>
          <a:p>
            <a:pPr marL="457200" marR="0" lvl="0" indent="-323850" algn="l" rtl="0">
              <a:lnSpc>
                <a:spcPct val="115000"/>
              </a:lnSpc>
              <a:spcBef>
                <a:spcPts val="400"/>
              </a:spcBef>
              <a:spcAft>
                <a:spcPts val="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Expect Year 1 to cost more than BAU</a:t>
            </a:r>
            <a:r>
              <a:rPr lang="en" sz="1500" b="1">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P</a:t>
            </a:r>
            <a:r>
              <a:rPr lang="en" sz="1500" i="0" u="none" strike="noStrike" cap="none">
                <a:solidFill>
                  <a:schemeClr val="dk1"/>
                </a:solidFill>
                <a:latin typeface="Montserrat"/>
                <a:ea typeface="Montserrat"/>
                <a:cs typeface="Montserrat"/>
                <a:sym typeface="Montserrat"/>
              </a:rPr>
              <a:t>lan the internal approval around cumulative horizons.</a:t>
            </a:r>
            <a:endParaRPr>
              <a:solidFill>
                <a:schemeClr val="dk1"/>
              </a:solidFill>
              <a:latin typeface="Montserrat"/>
              <a:ea typeface="Montserrat"/>
              <a:cs typeface="Montserrat"/>
              <a:sym typeface="Montserrat"/>
            </a:endParaRPr>
          </a:p>
          <a:p>
            <a:pPr marL="457200" marR="0" lvl="0" indent="-323850" algn="l" rtl="0">
              <a:lnSpc>
                <a:spcPct val="115000"/>
              </a:lnSpc>
              <a:spcBef>
                <a:spcPts val="400"/>
              </a:spcBef>
              <a:spcAft>
                <a:spcPts val="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Strike offers near 2,000 VND/kWh leave the buyer deeply negative</a:t>
            </a:r>
            <a:r>
              <a:rPr lang="en" sz="1500" b="1">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R</a:t>
            </a:r>
            <a:r>
              <a:rPr lang="en" sz="1500" i="0" u="none" strike="noStrike" cap="none">
                <a:solidFill>
                  <a:schemeClr val="dk1"/>
                </a:solidFill>
                <a:latin typeface="Montserrat"/>
                <a:ea typeface="Montserrat"/>
                <a:cs typeface="Montserrat"/>
                <a:sym typeface="Montserrat"/>
              </a:rPr>
              <a:t>ealistic buyer-positive territory starts near ~1,300 VND, which today fails the lender.</a:t>
            </a:r>
            <a:endParaRPr>
              <a:solidFill>
                <a:schemeClr val="dk1"/>
              </a:solidFill>
              <a:latin typeface="Montserrat"/>
              <a:ea typeface="Montserrat"/>
              <a:cs typeface="Montserrat"/>
              <a:sym typeface="Montserrat"/>
            </a:endParaRPr>
          </a:p>
          <a:p>
            <a:pPr marL="457200" marR="0" lvl="0" indent="-323850" algn="l" rtl="0">
              <a:lnSpc>
                <a:spcPct val="115000"/>
              </a:lnSpc>
              <a:spcBef>
                <a:spcPts val="400"/>
              </a:spcBef>
              <a:spcAft>
                <a:spcPts val="40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Deal feasibility is decided by financing structure as much as by price.</a:t>
            </a:r>
            <a:r>
              <a:rPr lang="en" sz="1500" b="1">
                <a:solidFill>
                  <a:schemeClr val="dk1"/>
                </a:solidFill>
                <a:latin typeface="Montserrat"/>
                <a:ea typeface="Montserrat"/>
                <a:cs typeface="Montserrat"/>
                <a:sym typeface="Montserrat"/>
              </a:rPr>
              <a:t> </a:t>
            </a:r>
            <a:br>
              <a:rPr lang="en" sz="1500" b="1">
                <a:solidFill>
                  <a:schemeClr val="dk1"/>
                </a:solidFill>
                <a:latin typeface="Montserrat"/>
                <a:ea typeface="Montserrat"/>
                <a:cs typeface="Montserrat"/>
                <a:sym typeface="Montserrat"/>
              </a:rPr>
            </a:br>
            <a:r>
              <a:rPr lang="en" sz="1500">
                <a:solidFill>
                  <a:schemeClr val="dk1"/>
                </a:solidFill>
                <a:latin typeface="Montserrat"/>
                <a:ea typeface="Montserrat"/>
                <a:cs typeface="Montserrat"/>
                <a:sym typeface="Montserrat"/>
              </a:rPr>
              <a:t>As</a:t>
            </a:r>
            <a:r>
              <a:rPr lang="en" sz="1500" i="0" u="none" strike="noStrike" cap="none">
                <a:solidFill>
                  <a:schemeClr val="dk1"/>
                </a:solidFill>
                <a:latin typeface="Montserrat"/>
                <a:ea typeface="Montserrat"/>
                <a:cs typeface="Montserrat"/>
                <a:sym typeface="Montserrat"/>
              </a:rPr>
              <a:t>k developers HOW their project is financed, not just what they charge.</a:t>
            </a:r>
            <a:endParaRPr>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74"/>
        <p:cNvGrpSpPr/>
        <p:nvPr/>
      </p:nvGrpSpPr>
      <p:grpSpPr>
        <a:xfrm>
          <a:off x="0" y="0"/>
          <a:ext cx="0" cy="0"/>
          <a:chOff x="0" y="0"/>
          <a:chExt cx="0" cy="0"/>
        </a:xfrm>
      </p:grpSpPr>
      <p:cxnSp>
        <p:nvCxnSpPr>
          <p:cNvPr id="1975" name="Google Shape;1975;p187"/>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976" name="Google Shape;1976;p187"/>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6:</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Key Decision Points and Wrap-up</a:t>
            </a:r>
            <a:endParaRPr sz="2800" b="1">
              <a:solidFill>
                <a:srgbClr val="0F172A"/>
              </a:solidFill>
              <a:highlight>
                <a:srgbClr val="FFFFFF"/>
              </a:highlight>
              <a:latin typeface="Montserrat"/>
              <a:ea typeface="Montserrat"/>
              <a:cs typeface="Montserrat"/>
              <a:sym typeface="Montserrat"/>
            </a:endParaRPr>
          </a:p>
        </p:txBody>
      </p:sp>
      <p:pic>
        <p:nvPicPr>
          <p:cNvPr id="1977" name="Google Shape;1977;p187"/>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978" name="Google Shape;1978;p187"/>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979" name="Google Shape;1979;p187"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980" name="Google Shape;1980;p187"/>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grpSp>
        <p:nvGrpSpPr>
          <p:cNvPr id="1985" name="Google Shape;1985;p188"/>
          <p:cNvGrpSpPr/>
          <p:nvPr/>
        </p:nvGrpSpPr>
        <p:grpSpPr>
          <a:xfrm>
            <a:off x="239992" y="63853"/>
            <a:ext cx="8728050" cy="745997"/>
            <a:chOff x="236700" y="63853"/>
            <a:chExt cx="8728050" cy="745997"/>
          </a:xfrm>
        </p:grpSpPr>
        <p:sp>
          <p:nvSpPr>
            <p:cNvPr id="1986" name="Google Shape;1986;p18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87" name="Google Shape;1987;p18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88" name="Google Shape;1988;p18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89" name="Google Shape;1989;p18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90" name="Google Shape;1990;p18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91" name="Google Shape;1991;p18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92" name="Google Shape;1992;p18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93" name="Google Shape;1993;p18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6 - Decision Points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Five Questions That Change The Term Sheet</a:t>
              </a:r>
              <a:endParaRPr sz="2000">
                <a:solidFill>
                  <a:schemeClr val="lt1"/>
                </a:solidFill>
                <a:latin typeface="Montserrat ExtraBold"/>
                <a:ea typeface="Montserrat ExtraBold"/>
                <a:cs typeface="Montserrat ExtraBold"/>
                <a:sym typeface="Montserrat ExtraBold"/>
              </a:endParaRPr>
            </a:p>
          </p:txBody>
        </p:sp>
        <p:cxnSp>
          <p:nvCxnSpPr>
            <p:cNvPr id="1994" name="Google Shape;1994;p18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95" name="Google Shape;1995;p18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96" name="Google Shape;1996;p18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97" name="Google Shape;1997;p188"/>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998" name="Google Shape;1998;p188"/>
          <p:cNvGraphicFramePr/>
          <p:nvPr/>
        </p:nvGraphicFramePr>
        <p:xfrm>
          <a:off x="454270" y="1280800"/>
          <a:ext cx="3000000" cy="3000000"/>
        </p:xfrm>
        <a:graphic>
          <a:graphicData uri="http://schemas.openxmlformats.org/drawingml/2006/table">
            <a:tbl>
              <a:tblPr firstRow="1" bandRow="1">
                <a:noFill/>
                <a:tableStyleId>{CE8BD2AF-5D0D-4EDC-AE96-A30A7DA1AF2F}</a:tableStyleId>
              </a:tblPr>
              <a:tblGrid>
                <a:gridCol w="404075">
                  <a:extLst>
                    <a:ext uri="{9D8B030D-6E8A-4147-A177-3AD203B41FA5}">
                      <a16:colId xmlns:a16="http://schemas.microsoft.com/office/drawing/2014/main" val="20000"/>
                    </a:ext>
                  </a:extLst>
                </a:gridCol>
                <a:gridCol w="2693850">
                  <a:extLst>
                    <a:ext uri="{9D8B030D-6E8A-4147-A177-3AD203B41FA5}">
                      <a16:colId xmlns:a16="http://schemas.microsoft.com/office/drawing/2014/main" val="20001"/>
                    </a:ext>
                  </a:extLst>
                </a:gridCol>
                <a:gridCol w="5118300">
                  <a:extLst>
                    <a:ext uri="{9D8B030D-6E8A-4147-A177-3AD203B41FA5}">
                      <a16:colId xmlns:a16="http://schemas.microsoft.com/office/drawing/2014/main" val="20002"/>
                    </a:ext>
                  </a:extLst>
                </a:gridCol>
              </a:tblGrid>
              <a:tr h="4502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Decision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What to check</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Strike level &amp; escalation/indexation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Fixed VND vs </a:t>
                      </a:r>
                      <a:r>
                        <a:rPr lang="en" sz="1250">
                          <a:solidFill>
                            <a:schemeClr val="dk1"/>
                          </a:solidFill>
                          <a:latin typeface="Montserrat"/>
                          <a:ea typeface="Montserrat"/>
                          <a:cs typeface="Montserrat"/>
                          <a:sym typeface="Montserrat"/>
                        </a:rPr>
                        <a:t>escalating/deescalating</a:t>
                      </a:r>
                      <a:r>
                        <a:rPr lang="en" sz="1250" u="none" strike="noStrike" cap="none">
                          <a:solidFill>
                            <a:schemeClr val="dk1"/>
                          </a:solidFill>
                          <a:latin typeface="Montserrat"/>
                          <a:ea typeface="Montserrat"/>
                          <a:cs typeface="Montserrat"/>
                          <a:sym typeface="Montserrat"/>
                        </a:rPr>
                        <a:t> vs USD</a:t>
                      </a:r>
                      <a:r>
                        <a:rPr lang="en" sz="1250">
                          <a:solidFill>
                            <a:schemeClr val="dk1"/>
                          </a:solidFill>
                          <a:latin typeface="Montserrat"/>
                          <a:ea typeface="Montserrat"/>
                          <a:cs typeface="Montserrat"/>
                          <a:sym typeface="Montserrat"/>
                        </a:rPr>
                        <a:t> </a:t>
                      </a:r>
                      <a:r>
                        <a:rPr lang="en" sz="1250" u="none" strike="noStrike" cap="none">
                          <a:solidFill>
                            <a:schemeClr val="dk1"/>
                          </a:solidFill>
                          <a:latin typeface="Montserrat"/>
                          <a:ea typeface="Montserrat"/>
                          <a:cs typeface="Montserrat"/>
                          <a:sym typeface="Montserrat"/>
                        </a:rPr>
                        <a:t>linked; model </a:t>
                      </a:r>
                      <a:r>
                        <a:rPr lang="en" sz="1250">
                          <a:solidFill>
                            <a:schemeClr val="dk1"/>
                          </a:solidFill>
                          <a:latin typeface="Montserrat"/>
                          <a:ea typeface="Montserrat"/>
                          <a:cs typeface="Montserrat"/>
                          <a:sym typeface="Montserrat"/>
                        </a:rPr>
                        <a:t>these </a:t>
                      </a:r>
                      <a:r>
                        <a:rPr lang="en" sz="1250" u="none" strike="noStrike" cap="none">
                          <a:solidFill>
                            <a:schemeClr val="dk1"/>
                          </a:solidFill>
                          <a:latin typeface="Montserrat"/>
                          <a:ea typeface="Montserrat"/>
                          <a:cs typeface="Montserrat"/>
                          <a:sym typeface="Montserrat"/>
                        </a:rPr>
                        <a:t>vs BAU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Contract volume vs load shape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8760 hourly matching vs meter data; CfD caps at consumed volume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Tenor &amp; termination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Developer wants 15-25 yr; match to your lease / order book; exit terms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Voltage eligibility &amp; K_pp</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&gt;=22kV only today; which K_pp applies decides your loss adjustment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5</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Risk allocation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FMP volatility, curtailment, negative</a:t>
                      </a:r>
                      <a:r>
                        <a:rPr lang="en" sz="1250">
                          <a:solidFill>
                            <a:schemeClr val="dk1"/>
                          </a:solidFill>
                          <a:latin typeface="Montserrat"/>
                          <a:ea typeface="Montserrat"/>
                          <a:cs typeface="Montserrat"/>
                          <a:sym typeface="Montserrat"/>
                        </a:rPr>
                        <a:t> </a:t>
                      </a:r>
                      <a:r>
                        <a:rPr lang="en" sz="1250" u="none" strike="noStrike" cap="none">
                          <a:solidFill>
                            <a:schemeClr val="dk1"/>
                          </a:solidFill>
                          <a:latin typeface="Montserrat"/>
                          <a:ea typeface="Montserrat"/>
                          <a:cs typeface="Montserrat"/>
                          <a:sym typeface="Montserrat"/>
                        </a:rPr>
                        <a:t>CfD months, change-in-law</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bl>
          </a:graphicData>
        </a:graphic>
      </p:graphicFrame>
      <p:sp>
        <p:nvSpPr>
          <p:cNvPr id="1999" name="Google Shape;1999;p188"/>
          <p:cNvSpPr txBox="1"/>
          <p:nvPr/>
        </p:nvSpPr>
        <p:spPr>
          <a:xfrm>
            <a:off x="387798" y="4236473"/>
            <a:ext cx="6478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i="0" u="none" strike="noStrike" cap="none">
                <a:solidFill>
                  <a:srgbClr val="127A7A"/>
                </a:solidFill>
                <a:latin typeface="Montserrat"/>
                <a:ea typeface="Montserrat"/>
                <a:cs typeface="Montserrat"/>
                <a:sym typeface="Montserrat"/>
              </a:rPr>
              <a:t>Items 1-4 are quantifiable before negotiation</a:t>
            </a:r>
            <a:r>
              <a:rPr lang="en" sz="1200">
                <a:solidFill>
                  <a:srgbClr val="127A7A"/>
                </a:solidFill>
                <a:latin typeface="Montserrat"/>
                <a:ea typeface="Montserrat"/>
                <a:cs typeface="Montserrat"/>
                <a:sym typeface="Montserrat"/>
              </a:rPr>
              <a:t>;</a:t>
            </a:r>
            <a:r>
              <a:rPr lang="en" sz="1200" i="0" u="none" strike="noStrike" cap="none">
                <a:solidFill>
                  <a:srgbClr val="127A7A"/>
                </a:solidFill>
                <a:latin typeface="Montserrat"/>
                <a:ea typeface="Montserrat"/>
                <a:cs typeface="Montserrat"/>
                <a:sym typeface="Montserrat"/>
              </a:rPr>
              <a:t> run them against load data first.</a:t>
            </a:r>
            <a:endParaRPr sz="1200">
              <a:solidFill>
                <a:srgbClr val="127A7A"/>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03"/>
        <p:cNvGrpSpPr/>
        <p:nvPr/>
      </p:nvGrpSpPr>
      <p:grpSpPr>
        <a:xfrm>
          <a:off x="0" y="0"/>
          <a:ext cx="0" cy="0"/>
          <a:chOff x="0" y="0"/>
          <a:chExt cx="0" cy="0"/>
        </a:xfrm>
      </p:grpSpPr>
      <p:grpSp>
        <p:nvGrpSpPr>
          <p:cNvPr id="2004" name="Google Shape;2004;p189"/>
          <p:cNvGrpSpPr/>
          <p:nvPr/>
        </p:nvGrpSpPr>
        <p:grpSpPr>
          <a:xfrm>
            <a:off x="239992" y="63853"/>
            <a:ext cx="8728050" cy="745997"/>
            <a:chOff x="236700" y="63853"/>
            <a:chExt cx="8728050" cy="745997"/>
          </a:xfrm>
        </p:grpSpPr>
        <p:sp>
          <p:nvSpPr>
            <p:cNvPr id="2005" name="Google Shape;2005;p18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06" name="Google Shape;2006;p18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007" name="Google Shape;2007;p18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008" name="Google Shape;2008;p18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009" name="Google Shape;2009;p18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010" name="Google Shape;2010;p18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011" name="Google Shape;2011;p18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012" name="Google Shape;2012;p18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6 - Wrap-Up</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Three Core Reminders</a:t>
              </a:r>
              <a:endParaRPr sz="2000">
                <a:solidFill>
                  <a:schemeClr val="lt1"/>
                </a:solidFill>
                <a:latin typeface="Montserrat ExtraBold"/>
                <a:ea typeface="Montserrat ExtraBold"/>
                <a:cs typeface="Montserrat ExtraBold"/>
                <a:sym typeface="Montserrat ExtraBold"/>
              </a:endParaRPr>
            </a:p>
          </p:txBody>
        </p:sp>
        <p:cxnSp>
          <p:nvCxnSpPr>
            <p:cNvPr id="2013" name="Google Shape;2013;p18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014" name="Google Shape;2014;p18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015" name="Google Shape;2015;p18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016" name="Google Shape;2016;p189"/>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017" name="Google Shape;2017;p189"/>
          <p:cNvSpPr txBox="1"/>
          <p:nvPr/>
        </p:nvSpPr>
        <p:spPr>
          <a:xfrm>
            <a:off x="387800" y="1280800"/>
            <a:ext cx="8112000" cy="1693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Montserrat"/>
              <a:buChar char="●"/>
            </a:pPr>
            <a:r>
              <a:rPr lang="en" b="1">
                <a:latin typeface="Montserrat"/>
                <a:ea typeface="Montserrat"/>
                <a:cs typeface="Montserrat"/>
                <a:sym typeface="Montserrat"/>
              </a:rPr>
              <a:t>Know the five-line bill: </a:t>
            </a:r>
            <a:r>
              <a:rPr lang="en">
                <a:latin typeface="Montserrat"/>
                <a:ea typeface="Montserrat"/>
                <a:cs typeface="Montserrat"/>
                <a:sym typeface="Montserrat"/>
              </a:rPr>
              <a:t>523 VND/kWh of fees and the loss factor are fixed; the strike price remains the big number open to negotiation.</a:t>
            </a:r>
            <a:endParaRPr>
              <a:latin typeface="Montserrat"/>
              <a:ea typeface="Montserrat"/>
              <a:cs typeface="Montserrat"/>
              <a:sym typeface="Montserrat"/>
            </a:endParaRPr>
          </a:p>
          <a:p>
            <a:pPr marL="914400" lvl="0" indent="0" algn="l" rtl="0">
              <a:spcBef>
                <a:spcPts val="0"/>
              </a:spcBef>
              <a:spcAft>
                <a:spcPts val="0"/>
              </a:spcAft>
              <a:buNone/>
            </a:pPr>
            <a:endParaRPr>
              <a:latin typeface="Montserrat"/>
              <a:ea typeface="Montserrat"/>
              <a:cs typeface="Montserrat"/>
              <a:sym typeface="Montserrat"/>
            </a:endParaRPr>
          </a:p>
          <a:p>
            <a:pPr marL="457200" lvl="0" indent="-317500" algn="l" rtl="0">
              <a:spcBef>
                <a:spcPts val="0"/>
              </a:spcBef>
              <a:spcAft>
                <a:spcPts val="0"/>
              </a:spcAft>
              <a:buSzPts val="1400"/>
              <a:buFont typeface="Montserrat"/>
              <a:buChar char="●"/>
            </a:pPr>
            <a:r>
              <a:rPr lang="en" b="1">
                <a:latin typeface="Montserrat"/>
                <a:ea typeface="Montserrat"/>
                <a:cs typeface="Montserrat"/>
                <a:sym typeface="Montserrat"/>
              </a:rPr>
              <a:t>Evaluated the deal on 10-year and lifetime cost vs BAU</a:t>
            </a:r>
            <a:r>
              <a:rPr lang="en">
                <a:latin typeface="Montserrat"/>
                <a:ea typeface="Montserrat"/>
                <a:cs typeface="Montserrat"/>
                <a:sym typeface="Montserrat"/>
              </a:rPr>
              <a:t> - not on Year 1</a:t>
            </a:r>
            <a:endParaRPr>
              <a:latin typeface="Montserrat"/>
              <a:ea typeface="Montserrat"/>
              <a:cs typeface="Montserrat"/>
              <a:sym typeface="Montserrat"/>
            </a:endParaRPr>
          </a:p>
          <a:p>
            <a:pPr marL="914400" lvl="0" indent="0" algn="l" rtl="0">
              <a:spcBef>
                <a:spcPts val="0"/>
              </a:spcBef>
              <a:spcAft>
                <a:spcPts val="0"/>
              </a:spcAft>
              <a:buNone/>
            </a:pPr>
            <a:endParaRPr>
              <a:latin typeface="Montserrat"/>
              <a:ea typeface="Montserrat"/>
              <a:cs typeface="Montserrat"/>
              <a:sym typeface="Montserrat"/>
            </a:endParaRPr>
          </a:p>
          <a:p>
            <a:pPr marL="457200" lvl="0" indent="-317500" algn="l" rtl="0">
              <a:spcBef>
                <a:spcPts val="0"/>
              </a:spcBef>
              <a:spcAft>
                <a:spcPts val="0"/>
              </a:spcAft>
              <a:buSzPts val="1400"/>
              <a:buFont typeface="Montserrat"/>
              <a:buChar char="●"/>
            </a:pPr>
            <a:r>
              <a:rPr lang="en" b="1">
                <a:latin typeface="Montserrat"/>
                <a:ea typeface="Montserrat"/>
                <a:cs typeface="Montserrat"/>
                <a:sym typeface="Montserrat"/>
              </a:rPr>
              <a:t>Every deal must pass buyer, seller AND lender gates</a:t>
            </a:r>
            <a:r>
              <a:rPr lang="en">
                <a:latin typeface="Montserrat"/>
                <a:ea typeface="Montserrat"/>
                <a:cs typeface="Montserrat"/>
                <a:sym typeface="Montserrat"/>
              </a:rPr>
              <a:t>: If the window is empty, the fix is structural, not just price</a:t>
            </a:r>
            <a:endParaRPr>
              <a:latin typeface="Montserrat"/>
              <a:ea typeface="Montserrat"/>
              <a:cs typeface="Montserrat"/>
              <a:sym typeface="Montserrat"/>
            </a:endParaRPr>
          </a:p>
        </p:txBody>
      </p:sp>
      <p:sp>
        <p:nvSpPr>
          <p:cNvPr id="2018" name="Google Shape;2018;p189"/>
          <p:cNvSpPr/>
          <p:nvPr/>
        </p:nvSpPr>
        <p:spPr>
          <a:xfrm>
            <a:off x="452850" y="3147600"/>
            <a:ext cx="8208000" cy="6282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FFFFFF"/>
                </a:solidFill>
                <a:latin typeface="Montserrat"/>
                <a:ea typeface="Montserrat"/>
                <a:cs typeface="Montserrat"/>
                <a:sym typeface="Montserrat"/>
              </a:rPr>
              <a:t>Next: </a:t>
            </a:r>
            <a:r>
              <a:rPr lang="en" b="1">
                <a:solidFill>
                  <a:srgbClr val="FFFFFF"/>
                </a:solidFill>
                <a:latin typeface="Montserrat"/>
                <a:ea typeface="Montserrat"/>
                <a:cs typeface="Montserrat"/>
                <a:sym typeface="Montserrat"/>
              </a:rPr>
              <a:t>P</a:t>
            </a:r>
            <a:r>
              <a:rPr lang="en" sz="1400" b="1" i="0" u="none" strike="noStrike" cap="none">
                <a:solidFill>
                  <a:srgbClr val="FFFFFF"/>
                </a:solidFill>
                <a:latin typeface="Montserrat"/>
                <a:ea typeface="Montserrat"/>
                <a:cs typeface="Montserrat"/>
                <a:sym typeface="Montserrat"/>
              </a:rPr>
              <a:t>anel discussion on risk allocation and the reality of bank financing for </a:t>
            </a:r>
            <a:r>
              <a:rPr lang="en" b="1">
                <a:solidFill>
                  <a:srgbClr val="FFFFFF"/>
                </a:solidFill>
                <a:latin typeface="Montserrat"/>
                <a:ea typeface="Montserrat"/>
                <a:cs typeface="Montserrat"/>
                <a:sym typeface="Montserrat"/>
              </a:rPr>
              <a:t>Grid DPPA</a:t>
            </a:r>
            <a:endParaRPr>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2"/>
        <p:cNvGrpSpPr/>
        <p:nvPr/>
      </p:nvGrpSpPr>
      <p:grpSpPr>
        <a:xfrm>
          <a:off x="0" y="0"/>
          <a:ext cx="0" cy="0"/>
          <a:chOff x="0" y="0"/>
          <a:chExt cx="0" cy="0"/>
        </a:xfrm>
      </p:grpSpPr>
      <p:pic>
        <p:nvPicPr>
          <p:cNvPr id="2023" name="Google Shape;2023;p190"/>
          <p:cNvPicPr preferRelativeResize="0"/>
          <p:nvPr/>
        </p:nvPicPr>
        <p:blipFill rotWithShape="1">
          <a:blip r:embed="rId4">
            <a:alphaModFix/>
          </a:blip>
          <a:srcRect t="6775" b="8644"/>
          <a:stretch/>
        </p:blipFill>
        <p:spPr>
          <a:xfrm>
            <a:off x="0" y="0"/>
            <a:ext cx="9144003" cy="5143501"/>
          </a:xfrm>
          <a:prstGeom prst="rect">
            <a:avLst/>
          </a:prstGeom>
          <a:noFill/>
          <a:ln>
            <a:noFill/>
          </a:ln>
        </p:spPr>
      </p:pic>
      <p:pic>
        <p:nvPicPr>
          <p:cNvPr id="2024" name="Google Shape;2024;p190"/>
          <p:cNvPicPr preferRelativeResize="0"/>
          <p:nvPr/>
        </p:nvPicPr>
        <p:blipFill>
          <a:blip r:embed="rId5">
            <a:alphaModFix amt="60000"/>
          </a:blip>
          <a:stretch>
            <a:fillRect/>
          </a:stretch>
        </p:blipFill>
        <p:spPr>
          <a:xfrm>
            <a:off x="0" y="0"/>
            <a:ext cx="9144000" cy="5143500"/>
          </a:xfrm>
          <a:prstGeom prst="rect">
            <a:avLst/>
          </a:prstGeom>
          <a:noFill/>
          <a:ln>
            <a:noFill/>
          </a:ln>
        </p:spPr>
      </p:pic>
      <p:sp>
        <p:nvSpPr>
          <p:cNvPr id="2025" name="Google Shape;2025;p190"/>
          <p:cNvSpPr/>
          <p:nvPr/>
        </p:nvSpPr>
        <p:spPr>
          <a:xfrm>
            <a:off x="-12" y="15063"/>
            <a:ext cx="9144000" cy="5143500"/>
          </a:xfrm>
          <a:prstGeom prst="rect">
            <a:avLst/>
          </a:prstGeom>
          <a:solidFill>
            <a:srgbClr val="14645C">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6" name="Google Shape;2026;p190"/>
          <p:cNvSpPr/>
          <p:nvPr/>
        </p:nvSpPr>
        <p:spPr>
          <a:xfrm rot="10800000" flipH="1">
            <a:off x="-38225" y="15075"/>
            <a:ext cx="2063700" cy="1924800"/>
          </a:xfrm>
          <a:prstGeom prst="triangle">
            <a:avLst>
              <a:gd name="adj" fmla="val 50000"/>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7" name="Google Shape;2027;p190"/>
          <p:cNvSpPr/>
          <p:nvPr/>
        </p:nvSpPr>
        <p:spPr>
          <a:xfrm>
            <a:off x="6958625" y="2564475"/>
            <a:ext cx="2219100" cy="2594100"/>
          </a:xfrm>
          <a:prstGeom prst="triangle">
            <a:avLst>
              <a:gd name="adj" fmla="val 50000"/>
            </a:avLst>
          </a:prstGeom>
          <a:solidFill>
            <a:srgbClr val="237166">
              <a:alpha val="810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028" name="Google Shape;2028;p190"/>
          <p:cNvGrpSpPr/>
          <p:nvPr/>
        </p:nvGrpSpPr>
        <p:grpSpPr>
          <a:xfrm>
            <a:off x="233895" y="1759498"/>
            <a:ext cx="8733899" cy="1654622"/>
            <a:chOff x="1004448" y="1059052"/>
            <a:chExt cx="10826700" cy="2051100"/>
          </a:xfrm>
        </p:grpSpPr>
        <p:sp>
          <p:nvSpPr>
            <p:cNvPr id="2029" name="Google Shape;2029;p190"/>
            <p:cNvSpPr/>
            <p:nvPr/>
          </p:nvSpPr>
          <p:spPr>
            <a:xfrm>
              <a:off x="1004448" y="1059052"/>
              <a:ext cx="10826700" cy="2051100"/>
            </a:xfrm>
            <a:prstGeom prst="roundRect">
              <a:avLst>
                <a:gd name="adj" fmla="val 25170"/>
              </a:avLst>
            </a:prstGeom>
            <a:solidFill>
              <a:schemeClr val="lt1"/>
            </a:solidFill>
            <a:ln>
              <a:noFill/>
            </a:ln>
          </p:spPr>
          <p:txBody>
            <a:bodyPr spcFirstLastPara="1" wrap="square" lIns="73775" tIns="36875" rIns="73775" bIns="36875" anchor="ctr" anchorCtr="0">
              <a:noAutofit/>
            </a:bodyPr>
            <a:lstStyle/>
            <a:p>
              <a:pPr marL="0" marR="0" lvl="0" indent="0" algn="ctr" rtl="0">
                <a:spcBef>
                  <a:spcPts val="0"/>
                </a:spcBef>
                <a:spcAft>
                  <a:spcPts val="0"/>
                </a:spcAft>
                <a:buNone/>
              </a:pPr>
              <a:endParaRPr sz="1506" b="0" i="0" u="none" strike="noStrike" cap="none">
                <a:solidFill>
                  <a:schemeClr val="lt1"/>
                </a:solidFill>
                <a:latin typeface="Arial"/>
                <a:ea typeface="Arial"/>
                <a:cs typeface="Arial"/>
                <a:sym typeface="Arial"/>
              </a:endParaRPr>
            </a:p>
          </p:txBody>
        </p:sp>
        <p:sp>
          <p:nvSpPr>
            <p:cNvPr id="2030" name="Google Shape;2030;p190"/>
            <p:cNvSpPr txBox="1"/>
            <p:nvPr/>
          </p:nvSpPr>
          <p:spPr>
            <a:xfrm>
              <a:off x="1198486" y="1761026"/>
              <a:ext cx="6690300" cy="741000"/>
            </a:xfrm>
            <a:prstGeom prst="rect">
              <a:avLst/>
            </a:prstGeom>
            <a:noFill/>
            <a:ln>
              <a:noFill/>
            </a:ln>
          </p:spPr>
          <p:txBody>
            <a:bodyPr spcFirstLastPara="1" wrap="square" lIns="73775" tIns="36875" rIns="73775" bIns="36875" anchor="t" anchorCtr="0">
              <a:spAutoFit/>
            </a:bodyPr>
            <a:lstStyle/>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Questions &amp; Answers</a:t>
              </a:r>
              <a:endParaRPr sz="3400" b="1">
                <a:solidFill>
                  <a:srgbClr val="14645C"/>
                </a:solidFill>
                <a:latin typeface="Montserrat"/>
                <a:ea typeface="Montserrat"/>
                <a:cs typeface="Montserrat"/>
                <a:sym typeface="Montserrat"/>
              </a:endParaRPr>
            </a:p>
          </p:txBody>
        </p:sp>
      </p:grpSp>
      <p:pic>
        <p:nvPicPr>
          <p:cNvPr id="2031" name="Google Shape;2031;p190"/>
          <p:cNvPicPr preferRelativeResize="0"/>
          <p:nvPr/>
        </p:nvPicPr>
        <p:blipFill rotWithShape="1">
          <a:blip r:embed="rId6">
            <a:alphaModFix/>
          </a:blip>
          <a:srcRect b="25256"/>
          <a:stretch/>
        </p:blipFill>
        <p:spPr>
          <a:xfrm>
            <a:off x="3264498" y="105820"/>
            <a:ext cx="7637399" cy="5037676"/>
          </a:xfrm>
          <a:prstGeom prst="rect">
            <a:avLst/>
          </a:prstGeom>
          <a:noFill/>
          <a:ln>
            <a:noFill/>
          </a:ln>
        </p:spPr>
      </p:pic>
      <p:sp>
        <p:nvSpPr>
          <p:cNvPr id="2032" name="Google Shape;2032;p190"/>
          <p:cNvSpPr/>
          <p:nvPr/>
        </p:nvSpPr>
        <p:spPr>
          <a:xfrm>
            <a:off x="5710513" y="3604988"/>
            <a:ext cx="391200" cy="378900"/>
          </a:xfrm>
          <a:prstGeom prst="corner">
            <a:avLst>
              <a:gd name="adj1" fmla="val 50000"/>
              <a:gd name="adj2" fmla="val 5000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033" name="Google Shape;2033;p190"/>
          <p:cNvSpPr/>
          <p:nvPr/>
        </p:nvSpPr>
        <p:spPr>
          <a:xfrm rot="10800000">
            <a:off x="8079284" y="1274949"/>
            <a:ext cx="391200" cy="378900"/>
          </a:xfrm>
          <a:prstGeom prst="corner">
            <a:avLst>
              <a:gd name="adj1" fmla="val 50000"/>
              <a:gd name="adj2" fmla="val 5000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034" name="Google Shape;2034;p190"/>
          <p:cNvSpPr/>
          <p:nvPr/>
        </p:nvSpPr>
        <p:spPr>
          <a:xfrm>
            <a:off x="5951325" y="1518550"/>
            <a:ext cx="2274900" cy="2212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QR to be updated</a:t>
            </a:r>
            <a:endParaRPr/>
          </a:p>
        </p:txBody>
      </p:sp>
      <p:sp>
        <p:nvSpPr>
          <p:cNvPr id="2035" name="Google Shape;2035;p190"/>
          <p:cNvSpPr/>
          <p:nvPr/>
        </p:nvSpPr>
        <p:spPr>
          <a:xfrm>
            <a:off x="7378325" y="4819375"/>
            <a:ext cx="1765800" cy="312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36" name="Google Shape;2036;p190"/>
          <p:cNvPicPr preferRelativeResize="0"/>
          <p:nvPr/>
        </p:nvPicPr>
        <p:blipFill>
          <a:blip r:embed="rId7">
            <a:alphaModFix/>
          </a:blip>
          <a:stretch>
            <a:fillRect/>
          </a:stretch>
        </p:blipFill>
        <p:spPr>
          <a:xfrm>
            <a:off x="7472673" y="4830726"/>
            <a:ext cx="894924" cy="312775"/>
          </a:xfrm>
          <a:prstGeom prst="rect">
            <a:avLst/>
          </a:prstGeom>
          <a:noFill/>
          <a:ln>
            <a:noFill/>
          </a:ln>
        </p:spPr>
      </p:pic>
      <p:pic>
        <p:nvPicPr>
          <p:cNvPr id="2037" name="Google Shape;2037;p190" title="CEBA new logo.png"/>
          <p:cNvPicPr preferRelativeResize="0"/>
          <p:nvPr/>
        </p:nvPicPr>
        <p:blipFill>
          <a:blip r:embed="rId8">
            <a:alphaModFix/>
          </a:blip>
          <a:stretch>
            <a:fillRect/>
          </a:stretch>
        </p:blipFill>
        <p:spPr>
          <a:xfrm>
            <a:off x="8374923" y="4890787"/>
            <a:ext cx="708296" cy="211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41"/>
        <p:cNvGrpSpPr/>
        <p:nvPr/>
      </p:nvGrpSpPr>
      <p:grpSpPr>
        <a:xfrm>
          <a:off x="0" y="0"/>
          <a:ext cx="0" cy="0"/>
          <a:chOff x="0" y="0"/>
          <a:chExt cx="0" cy="0"/>
        </a:xfrm>
      </p:grpSpPr>
      <p:pic>
        <p:nvPicPr>
          <p:cNvPr id="2042" name="Google Shape;2042;p191"/>
          <p:cNvPicPr preferRelativeResize="0"/>
          <p:nvPr/>
        </p:nvPicPr>
        <p:blipFill>
          <a:blip r:embed="rId3">
            <a:alphaModFix/>
          </a:blip>
          <a:stretch>
            <a:fillRect/>
          </a:stretch>
        </p:blipFill>
        <p:spPr>
          <a:xfrm>
            <a:off x="0" y="0"/>
            <a:ext cx="9144026" cy="5143500"/>
          </a:xfrm>
          <a:prstGeom prst="rect">
            <a:avLst/>
          </a:prstGeom>
          <a:noFill/>
          <a:ln>
            <a:noFill/>
          </a:ln>
        </p:spPr>
      </p:pic>
      <p:pic>
        <p:nvPicPr>
          <p:cNvPr id="2043" name="Google Shape;2043;p191"/>
          <p:cNvPicPr preferRelativeResize="0"/>
          <p:nvPr/>
        </p:nvPicPr>
        <p:blipFill>
          <a:blip r:embed="rId4">
            <a:alphaModFix amt="60000"/>
          </a:blip>
          <a:stretch>
            <a:fillRect/>
          </a:stretch>
        </p:blipFill>
        <p:spPr>
          <a:xfrm>
            <a:off x="12" y="6"/>
            <a:ext cx="9144000" cy="5143500"/>
          </a:xfrm>
          <a:prstGeom prst="rect">
            <a:avLst/>
          </a:prstGeom>
          <a:noFill/>
          <a:ln>
            <a:noFill/>
          </a:ln>
        </p:spPr>
      </p:pic>
      <p:sp>
        <p:nvSpPr>
          <p:cNvPr id="2044" name="Google Shape;2044;p191"/>
          <p:cNvSpPr/>
          <p:nvPr/>
        </p:nvSpPr>
        <p:spPr>
          <a:xfrm>
            <a:off x="25" y="6"/>
            <a:ext cx="9144000" cy="5143500"/>
          </a:xfrm>
          <a:prstGeom prst="rect">
            <a:avLst/>
          </a:prstGeom>
          <a:solidFill>
            <a:srgbClr val="14645C">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5" name="Google Shape;2045;p191"/>
          <p:cNvSpPr/>
          <p:nvPr/>
        </p:nvSpPr>
        <p:spPr>
          <a:xfrm>
            <a:off x="7378325" y="4819375"/>
            <a:ext cx="1765800" cy="312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46" name="Google Shape;2046;p191"/>
          <p:cNvPicPr preferRelativeResize="0"/>
          <p:nvPr/>
        </p:nvPicPr>
        <p:blipFill>
          <a:blip r:embed="rId5">
            <a:alphaModFix/>
          </a:blip>
          <a:stretch>
            <a:fillRect/>
          </a:stretch>
        </p:blipFill>
        <p:spPr>
          <a:xfrm>
            <a:off x="7472673" y="4830726"/>
            <a:ext cx="894924" cy="312775"/>
          </a:xfrm>
          <a:prstGeom prst="rect">
            <a:avLst/>
          </a:prstGeom>
          <a:noFill/>
          <a:ln>
            <a:noFill/>
          </a:ln>
        </p:spPr>
      </p:pic>
      <p:pic>
        <p:nvPicPr>
          <p:cNvPr id="2047" name="Google Shape;2047;p191" title="CEBA new logo.png"/>
          <p:cNvPicPr preferRelativeResize="0"/>
          <p:nvPr/>
        </p:nvPicPr>
        <p:blipFill>
          <a:blip r:embed="rId6">
            <a:alphaModFix/>
          </a:blip>
          <a:stretch>
            <a:fillRect/>
          </a:stretch>
        </p:blipFill>
        <p:spPr>
          <a:xfrm>
            <a:off x="8374923" y="4890787"/>
            <a:ext cx="708296" cy="211825"/>
          </a:xfrm>
          <a:prstGeom prst="rect">
            <a:avLst/>
          </a:prstGeom>
          <a:noFill/>
          <a:ln>
            <a:noFill/>
          </a:ln>
        </p:spPr>
      </p:pic>
      <p:grpSp>
        <p:nvGrpSpPr>
          <p:cNvPr id="2048" name="Google Shape;2048;p191"/>
          <p:cNvGrpSpPr/>
          <p:nvPr/>
        </p:nvGrpSpPr>
        <p:grpSpPr>
          <a:xfrm>
            <a:off x="233895" y="1759498"/>
            <a:ext cx="8733899" cy="1947735"/>
            <a:chOff x="1004448" y="1059052"/>
            <a:chExt cx="10826700" cy="2414448"/>
          </a:xfrm>
        </p:grpSpPr>
        <p:sp>
          <p:nvSpPr>
            <p:cNvPr id="2049" name="Google Shape;2049;p191"/>
            <p:cNvSpPr/>
            <p:nvPr/>
          </p:nvSpPr>
          <p:spPr>
            <a:xfrm>
              <a:off x="1004448" y="1059052"/>
              <a:ext cx="10826700" cy="2051100"/>
            </a:xfrm>
            <a:prstGeom prst="roundRect">
              <a:avLst>
                <a:gd name="adj" fmla="val 25170"/>
              </a:avLst>
            </a:prstGeom>
            <a:solidFill>
              <a:schemeClr val="lt1"/>
            </a:solidFill>
            <a:ln>
              <a:noFill/>
            </a:ln>
          </p:spPr>
          <p:txBody>
            <a:bodyPr spcFirstLastPara="1" wrap="square" lIns="73775" tIns="36875" rIns="73775" bIns="36875" anchor="ctr" anchorCtr="0">
              <a:noAutofit/>
            </a:bodyPr>
            <a:lstStyle/>
            <a:p>
              <a:pPr marL="0" marR="0" lvl="0" indent="0" algn="ctr" rtl="0">
                <a:spcBef>
                  <a:spcPts val="0"/>
                </a:spcBef>
                <a:spcAft>
                  <a:spcPts val="0"/>
                </a:spcAft>
                <a:buNone/>
              </a:pPr>
              <a:endParaRPr sz="1506" b="0" i="0" u="none" strike="noStrike" cap="none">
                <a:solidFill>
                  <a:schemeClr val="lt1"/>
                </a:solidFill>
                <a:latin typeface="Arial"/>
                <a:ea typeface="Arial"/>
                <a:cs typeface="Arial"/>
                <a:sym typeface="Arial"/>
              </a:endParaRPr>
            </a:p>
          </p:txBody>
        </p:sp>
        <p:sp>
          <p:nvSpPr>
            <p:cNvPr id="2050" name="Google Shape;2050;p191"/>
            <p:cNvSpPr txBox="1"/>
            <p:nvPr/>
          </p:nvSpPr>
          <p:spPr>
            <a:xfrm>
              <a:off x="1208650" y="1435000"/>
              <a:ext cx="8242800" cy="2038500"/>
            </a:xfrm>
            <a:prstGeom prst="rect">
              <a:avLst/>
            </a:prstGeom>
            <a:noFill/>
            <a:ln>
              <a:noFill/>
            </a:ln>
          </p:spPr>
          <p:txBody>
            <a:bodyPr spcFirstLastPara="1" wrap="square" lIns="73775" tIns="36875" rIns="73775" bIns="36875" anchor="t" anchorCtr="0">
              <a:spAutoFit/>
            </a:bodyPr>
            <a:lstStyle/>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Lunch time</a:t>
              </a:r>
              <a:endParaRPr sz="3400" b="1">
                <a:solidFill>
                  <a:srgbClr val="14645C"/>
                </a:solidFill>
                <a:latin typeface="Montserrat"/>
                <a:ea typeface="Montserrat"/>
                <a:cs typeface="Montserrat"/>
                <a:sym typeface="Montserrat"/>
              </a:endParaRPr>
            </a:p>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Please come back by 13:15!</a:t>
              </a:r>
              <a:endParaRPr sz="3400" b="1">
                <a:solidFill>
                  <a:srgbClr val="14645C"/>
                </a:solidFill>
                <a:latin typeface="Montserrat"/>
                <a:ea typeface="Montserrat"/>
                <a:cs typeface="Montserrat"/>
                <a:sym typeface="Montserrat"/>
              </a:endParaRPr>
            </a:p>
            <a:p>
              <a:pPr marL="0" marR="0" lvl="0" indent="0" algn="l" rtl="0">
                <a:spcBef>
                  <a:spcPts val="0"/>
                </a:spcBef>
                <a:spcAft>
                  <a:spcPts val="0"/>
                </a:spcAft>
                <a:buNone/>
              </a:pPr>
              <a:endParaRPr sz="3400" b="1">
                <a:solidFill>
                  <a:srgbClr val="14645C"/>
                </a:solidFill>
                <a:latin typeface="Montserrat"/>
                <a:ea typeface="Montserrat"/>
                <a:cs typeface="Montserrat"/>
                <a:sym typeface="Montserrat"/>
              </a:endParaRPr>
            </a:p>
          </p:txBody>
        </p:sp>
      </p:grpSp>
      <p:pic>
        <p:nvPicPr>
          <p:cNvPr id="2051" name="Google Shape;2051;p191" title="cutlery.png"/>
          <p:cNvPicPr preferRelativeResize="0"/>
          <p:nvPr/>
        </p:nvPicPr>
        <p:blipFill>
          <a:blip r:embed="rId7">
            <a:alphaModFix/>
          </a:blip>
          <a:stretch>
            <a:fillRect/>
          </a:stretch>
        </p:blipFill>
        <p:spPr>
          <a:xfrm>
            <a:off x="7138675" y="1824700"/>
            <a:ext cx="1494100" cy="1494100"/>
          </a:xfrm>
          <a:prstGeom prst="rect">
            <a:avLst/>
          </a:prstGeom>
          <a:noFill/>
          <a:ln>
            <a:noFill/>
          </a:ln>
        </p:spPr>
      </p:pic>
      <p:sp>
        <p:nvSpPr>
          <p:cNvPr id="2052" name="Google Shape;2052;p191"/>
          <p:cNvSpPr txBox="1"/>
          <p:nvPr/>
        </p:nvSpPr>
        <p:spPr>
          <a:xfrm>
            <a:off x="2030626" y="3525525"/>
            <a:ext cx="2901600" cy="9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FFFFFF"/>
                </a:solidFill>
                <a:latin typeface="Montserrat"/>
                <a:ea typeface="Montserrat"/>
                <a:cs typeface="Montserrat"/>
                <a:sym typeface="Montserrat"/>
              </a:rPr>
              <a:t>Leave </a:t>
            </a:r>
            <a:endParaRPr sz="1600">
              <a:solidFill>
                <a:srgbClr val="FFFFFF"/>
              </a:solidFill>
              <a:latin typeface="Montserrat"/>
              <a:ea typeface="Montserrat"/>
              <a:cs typeface="Montserrat"/>
              <a:sym typeface="Montserrat"/>
            </a:endParaRPr>
          </a:p>
          <a:p>
            <a:pPr marL="0" lvl="0" indent="0" algn="l" rtl="0">
              <a:spcBef>
                <a:spcPts val="0"/>
              </a:spcBef>
              <a:spcAft>
                <a:spcPts val="0"/>
              </a:spcAft>
              <a:buNone/>
            </a:pPr>
            <a:r>
              <a:rPr lang="en" sz="1600">
                <a:solidFill>
                  <a:srgbClr val="FFFFFF"/>
                </a:solidFill>
                <a:latin typeface="Montserrat"/>
                <a:ea typeface="Montserrat"/>
                <a:cs typeface="Montserrat"/>
                <a:sym typeface="Montserrat"/>
              </a:rPr>
              <a:t>questions</a:t>
            </a:r>
            <a:endParaRPr sz="1600">
              <a:solidFill>
                <a:srgbClr val="FFFFFF"/>
              </a:solidFill>
              <a:latin typeface="Montserrat"/>
              <a:ea typeface="Montserrat"/>
              <a:cs typeface="Montserrat"/>
              <a:sym typeface="Montserrat"/>
            </a:endParaRPr>
          </a:p>
          <a:p>
            <a:pPr marL="0" lvl="0" indent="0" algn="l" rtl="0">
              <a:spcBef>
                <a:spcPts val="0"/>
              </a:spcBef>
              <a:spcAft>
                <a:spcPts val="0"/>
              </a:spcAft>
              <a:buNone/>
            </a:pPr>
            <a:r>
              <a:rPr lang="en" sz="1600">
                <a:solidFill>
                  <a:srgbClr val="FFFFFF"/>
                </a:solidFill>
                <a:latin typeface="Montserrat"/>
                <a:ea typeface="Montserrat"/>
                <a:cs typeface="Montserrat"/>
                <a:sym typeface="Montserrat"/>
              </a:rPr>
              <a:t>for us</a:t>
            </a:r>
            <a:endParaRPr sz="1600">
              <a:solidFill>
                <a:srgbClr val="FFFFFF"/>
              </a:solidFill>
              <a:latin typeface="Montserrat"/>
              <a:ea typeface="Montserrat"/>
              <a:cs typeface="Montserrat"/>
              <a:sym typeface="Montserrat"/>
            </a:endParaRPr>
          </a:p>
        </p:txBody>
      </p:sp>
      <p:sp>
        <p:nvSpPr>
          <p:cNvPr id="2053" name="Google Shape;2053;p191"/>
          <p:cNvSpPr/>
          <p:nvPr/>
        </p:nvSpPr>
        <p:spPr>
          <a:xfrm>
            <a:off x="512524" y="3534875"/>
            <a:ext cx="1440300" cy="1400700"/>
          </a:xfrm>
          <a:prstGeom prst="rect">
            <a:avLst/>
          </a:prstGeom>
          <a:solidFill>
            <a:srgbClr val="EEEEEE"/>
          </a:solidFill>
          <a:ln w="5150" cap="flat" cmpd="sng">
            <a:solidFill>
              <a:srgbClr val="595959"/>
            </a:solidFill>
            <a:prstDash val="solid"/>
            <a:round/>
            <a:headEnd type="none" w="sm" len="sm"/>
            <a:tailEnd type="none" w="sm" len="sm"/>
          </a:ln>
        </p:spPr>
        <p:txBody>
          <a:bodyPr spcFirstLastPara="1" wrap="square" lIns="49500" tIns="49500" rIns="49500" bIns="49500" anchor="ctr" anchorCtr="0">
            <a:noAutofit/>
          </a:bodyPr>
          <a:lstStyle/>
          <a:p>
            <a:pPr marL="0" lvl="0" indent="0" algn="ctr" rtl="0">
              <a:spcBef>
                <a:spcPts val="0"/>
              </a:spcBef>
              <a:spcAft>
                <a:spcPts val="0"/>
              </a:spcAft>
              <a:buNone/>
            </a:pPr>
            <a:r>
              <a:rPr lang="en" sz="758"/>
              <a:t>QR</a:t>
            </a:r>
            <a:endParaRPr sz="758"/>
          </a:p>
          <a:p>
            <a:pPr marL="0" lvl="0" indent="0" algn="ctr" rtl="0">
              <a:spcBef>
                <a:spcPts val="0"/>
              </a:spcBef>
              <a:spcAft>
                <a:spcPts val="0"/>
              </a:spcAft>
              <a:buNone/>
            </a:pPr>
            <a:endParaRPr sz="758"/>
          </a:p>
          <a:p>
            <a:pPr marL="0" lvl="0" indent="0" algn="ctr" rtl="0">
              <a:spcBef>
                <a:spcPts val="0"/>
              </a:spcBef>
              <a:spcAft>
                <a:spcPts val="0"/>
              </a:spcAft>
              <a:buNone/>
            </a:pPr>
            <a:r>
              <a:rPr lang="en" sz="758"/>
              <a:t>To be finalized</a:t>
            </a:r>
            <a:endParaRPr sz="758"/>
          </a:p>
        </p:txBody>
      </p:sp>
      <p:pic>
        <p:nvPicPr>
          <p:cNvPr id="2054" name="Google Shape;2054;p191" title="upward-arrow (2).png"/>
          <p:cNvPicPr preferRelativeResize="0"/>
          <p:nvPr/>
        </p:nvPicPr>
        <p:blipFill>
          <a:blip r:embed="rId8">
            <a:alphaModFix/>
          </a:blip>
          <a:stretch>
            <a:fillRect/>
          </a:stretch>
        </p:blipFill>
        <p:spPr>
          <a:xfrm rot="-5969904">
            <a:off x="2092675" y="4452089"/>
            <a:ext cx="449474" cy="4494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58"/>
        <p:cNvGrpSpPr/>
        <p:nvPr/>
      </p:nvGrpSpPr>
      <p:grpSpPr>
        <a:xfrm>
          <a:off x="0" y="0"/>
          <a:ext cx="0" cy="0"/>
          <a:chOff x="0" y="0"/>
          <a:chExt cx="0" cy="0"/>
        </a:xfrm>
      </p:grpSpPr>
      <p:pic>
        <p:nvPicPr>
          <p:cNvPr id="2059" name="Google Shape;2059;p192"/>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060" name="Google Shape;2060;p192"/>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61" name="Google Shape;2061;p192"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062" name="Google Shape;2062;p192"/>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063" name="Google Shape;2063;p192"/>
          <p:cNvSpPr/>
          <p:nvPr/>
        </p:nvSpPr>
        <p:spPr>
          <a:xfrm>
            <a:off x="226825" y="1233825"/>
            <a:ext cx="8649000" cy="3613500"/>
          </a:xfrm>
          <a:prstGeom prst="roundRect">
            <a:avLst>
              <a:gd name="adj" fmla="val 16667"/>
            </a:avLst>
          </a:prstGeom>
          <a:solidFill>
            <a:srgbClr val="B5D8D0">
              <a:alpha val="8101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064" name="Google Shape;2064;p192"/>
          <p:cNvSpPr/>
          <p:nvPr/>
        </p:nvSpPr>
        <p:spPr>
          <a:xfrm>
            <a:off x="3710300" y="2826489"/>
            <a:ext cx="1543200" cy="17739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Cong Nguyen</a:t>
            </a:r>
            <a:endParaRPr sz="1500" b="1">
              <a:solidFill>
                <a:srgbClr val="1B786E"/>
              </a:solidFill>
              <a:latin typeface="Montserrat"/>
              <a:ea typeface="Montserrat"/>
              <a:cs typeface="Montserrat"/>
              <a:sym typeface="Montserrat"/>
            </a:endParaRPr>
          </a:p>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(Speaker)</a:t>
            </a:r>
            <a:endParaRPr sz="1500" b="1">
              <a:solidFill>
                <a:srgbClr val="1B786E"/>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endParaRPr sz="600">
              <a:solidFill>
                <a:srgbClr val="1B786E"/>
              </a:solidFill>
              <a:latin typeface="Montserrat"/>
              <a:ea typeface="Montserrat"/>
              <a:cs typeface="Montserrat"/>
              <a:sym typeface="Montserrat"/>
            </a:endParaRPr>
          </a:p>
          <a:p>
            <a:pPr marL="0" lvl="0" indent="0" algn="ctr" rtl="0">
              <a:spcBef>
                <a:spcPts val="1000"/>
              </a:spcBef>
              <a:spcAft>
                <a:spcPts val="0"/>
              </a:spcAft>
              <a:buClr>
                <a:schemeClr val="dk1"/>
              </a:buClr>
              <a:buSzPts val="1100"/>
              <a:buFont typeface="Arial"/>
              <a:buNone/>
            </a:pPr>
            <a:r>
              <a:rPr lang="en" sz="1250">
                <a:solidFill>
                  <a:srgbClr val="1B786E"/>
                </a:solidFill>
                <a:latin typeface="Montserrat"/>
                <a:ea typeface="Montserrat"/>
                <a:cs typeface="Montserrat"/>
                <a:sym typeface="Montserrat"/>
              </a:rPr>
              <a:t>Vietnam Clean Energy Manager </a:t>
            </a:r>
            <a:endParaRPr sz="1250">
              <a:solidFill>
                <a:srgbClr val="1B786E"/>
              </a:solidFill>
              <a:latin typeface="Montserrat"/>
              <a:ea typeface="Montserrat"/>
              <a:cs typeface="Montserrat"/>
              <a:sym typeface="Montserrat"/>
            </a:endParaRPr>
          </a:p>
          <a:p>
            <a:pPr marL="0" lvl="0" indent="0" algn="ctr" rtl="0">
              <a:spcBef>
                <a:spcPts val="1200"/>
              </a:spcBef>
              <a:spcAft>
                <a:spcPts val="0"/>
              </a:spcAft>
              <a:buClr>
                <a:schemeClr val="dk1"/>
              </a:buClr>
              <a:buSzPts val="1100"/>
              <a:buFont typeface="Arial"/>
              <a:buNone/>
            </a:pPr>
            <a:r>
              <a:rPr lang="en" sz="1250" i="1">
                <a:solidFill>
                  <a:srgbClr val="1B786E"/>
                </a:solidFill>
                <a:latin typeface="Montserrat"/>
                <a:ea typeface="Montserrat"/>
                <a:cs typeface="Montserrat"/>
                <a:sym typeface="Montserrat"/>
              </a:rPr>
              <a:t>Allotrope Partners</a:t>
            </a:r>
            <a:endParaRPr sz="1250" b="1">
              <a:solidFill>
                <a:srgbClr val="1B786E"/>
              </a:solidFill>
              <a:latin typeface="Montserrat"/>
              <a:ea typeface="Montserrat"/>
              <a:cs typeface="Montserrat"/>
              <a:sym typeface="Montserrat"/>
            </a:endParaRPr>
          </a:p>
        </p:txBody>
      </p:sp>
      <p:sp>
        <p:nvSpPr>
          <p:cNvPr id="2065" name="Google Shape;2065;p192"/>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066" name="Google Shape;2066;p192"/>
          <p:cNvGrpSpPr/>
          <p:nvPr/>
        </p:nvGrpSpPr>
        <p:grpSpPr>
          <a:xfrm>
            <a:off x="1743000" y="1445850"/>
            <a:ext cx="1543200" cy="3154539"/>
            <a:chOff x="2778200" y="1369111"/>
            <a:chExt cx="1543200" cy="3154539"/>
          </a:xfrm>
        </p:grpSpPr>
        <p:sp>
          <p:nvSpPr>
            <p:cNvPr id="2067" name="Google Shape;2067;p192"/>
            <p:cNvSpPr/>
            <p:nvPr/>
          </p:nvSpPr>
          <p:spPr>
            <a:xfrm>
              <a:off x="2778200" y="2749750"/>
              <a:ext cx="1543200" cy="1773900"/>
            </a:xfrm>
            <a:prstGeom prst="rect">
              <a:avLst/>
            </a:pr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Tung Ho</a:t>
              </a:r>
              <a:endParaRPr sz="1500" b="1">
                <a:solidFill>
                  <a:srgbClr val="1B786E"/>
                </a:solidFill>
                <a:latin typeface="Montserrat"/>
                <a:ea typeface="Montserrat"/>
                <a:cs typeface="Montserrat"/>
                <a:sym typeface="Montserrat"/>
              </a:endParaRPr>
            </a:p>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(Moderator)</a:t>
              </a:r>
              <a:endParaRPr sz="1500" b="1">
                <a:solidFill>
                  <a:srgbClr val="1B786E"/>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endParaRPr sz="600">
                <a:solidFill>
                  <a:srgbClr val="1B786E"/>
                </a:solidFill>
                <a:latin typeface="Montserrat"/>
                <a:ea typeface="Montserrat"/>
                <a:cs typeface="Montserrat"/>
                <a:sym typeface="Montserrat"/>
              </a:endParaRPr>
            </a:p>
            <a:p>
              <a:pPr marL="0" lvl="0" indent="0" algn="ctr" rtl="0">
                <a:spcBef>
                  <a:spcPts val="1000"/>
                </a:spcBef>
                <a:spcAft>
                  <a:spcPts val="0"/>
                </a:spcAft>
                <a:buClr>
                  <a:schemeClr val="dk1"/>
                </a:buClr>
                <a:buSzPts val="1100"/>
                <a:buFont typeface="Arial"/>
                <a:buNone/>
              </a:pPr>
              <a:r>
                <a:rPr lang="en" sz="1250">
                  <a:solidFill>
                    <a:srgbClr val="1B786E"/>
                  </a:solidFill>
                  <a:latin typeface="Montserrat"/>
                  <a:ea typeface="Montserrat"/>
                  <a:cs typeface="Montserrat"/>
                  <a:sym typeface="Montserrat"/>
                </a:rPr>
                <a:t>Vietnam Country Director</a:t>
              </a:r>
              <a:endParaRPr sz="1250">
                <a:solidFill>
                  <a:srgbClr val="1B786E"/>
                </a:solidFill>
                <a:latin typeface="Montserrat"/>
                <a:ea typeface="Montserrat"/>
                <a:cs typeface="Montserrat"/>
                <a:sym typeface="Montserrat"/>
              </a:endParaRPr>
            </a:p>
            <a:p>
              <a:pPr marL="0" lvl="0" indent="0" algn="ctr" rtl="0">
                <a:spcBef>
                  <a:spcPts val="1200"/>
                </a:spcBef>
                <a:spcAft>
                  <a:spcPts val="0"/>
                </a:spcAft>
                <a:buClr>
                  <a:schemeClr val="dk1"/>
                </a:buClr>
                <a:buSzPts val="1100"/>
                <a:buFont typeface="Arial"/>
                <a:buNone/>
              </a:pPr>
              <a:r>
                <a:rPr lang="en" sz="1250" i="1">
                  <a:solidFill>
                    <a:srgbClr val="1B786E"/>
                  </a:solidFill>
                  <a:latin typeface="Montserrat"/>
                  <a:ea typeface="Montserrat"/>
                  <a:cs typeface="Montserrat"/>
                  <a:sym typeface="Montserrat"/>
                </a:rPr>
                <a:t>Allotrope Partners</a:t>
              </a:r>
              <a:endParaRPr sz="1250" b="1">
                <a:solidFill>
                  <a:srgbClr val="1B786E"/>
                </a:solidFill>
                <a:latin typeface="Montserrat"/>
                <a:ea typeface="Montserrat"/>
                <a:cs typeface="Montserrat"/>
                <a:sym typeface="Montserrat"/>
              </a:endParaRPr>
            </a:p>
          </p:txBody>
        </p:sp>
        <p:pic>
          <p:nvPicPr>
            <p:cNvPr id="2068" name="Google Shape;2068;p192" title="Professional Photo reduced.png"/>
            <p:cNvPicPr preferRelativeResize="0"/>
            <p:nvPr/>
          </p:nvPicPr>
          <p:blipFill rotWithShape="1">
            <a:blip r:embed="rId6">
              <a:alphaModFix/>
            </a:blip>
            <a:srcRect t="6949" b="6949"/>
            <a:stretch/>
          </p:blipFill>
          <p:spPr>
            <a:xfrm>
              <a:off x="2891675" y="1369111"/>
              <a:ext cx="1239000" cy="1249500"/>
            </a:xfrm>
            <a:prstGeom prst="ellipse">
              <a:avLst/>
            </a:prstGeom>
            <a:noFill/>
            <a:ln w="28575" cap="flat" cmpd="sng">
              <a:solidFill>
                <a:schemeClr val="lt1"/>
              </a:solidFill>
              <a:prstDash val="solid"/>
              <a:round/>
              <a:headEnd type="none" w="sm" len="sm"/>
              <a:tailEnd type="none" w="sm" len="sm"/>
            </a:ln>
          </p:spPr>
        </p:pic>
      </p:grpSp>
      <p:sp>
        <p:nvSpPr>
          <p:cNvPr id="2069" name="Google Shape;2069;p192"/>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0" name="Google Shape;2070;p192"/>
          <p:cNvSpPr/>
          <p:nvPr/>
        </p:nvSpPr>
        <p:spPr>
          <a:xfrm>
            <a:off x="5677600" y="2826489"/>
            <a:ext cx="1543200" cy="17739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Duc Nguyen</a:t>
            </a:r>
            <a:endParaRPr sz="1500" b="1">
              <a:solidFill>
                <a:srgbClr val="1B786E"/>
              </a:solidFill>
              <a:latin typeface="Montserrat"/>
              <a:ea typeface="Montserrat"/>
              <a:cs typeface="Montserrat"/>
              <a:sym typeface="Montserrat"/>
            </a:endParaRPr>
          </a:p>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(Speaker)</a:t>
            </a:r>
            <a:endParaRPr sz="1500" b="1">
              <a:solidFill>
                <a:srgbClr val="1B786E"/>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600">
              <a:solidFill>
                <a:srgbClr val="1B786E"/>
              </a:solidFill>
              <a:latin typeface="Montserrat"/>
              <a:ea typeface="Montserrat"/>
              <a:cs typeface="Montserrat"/>
              <a:sym typeface="Montserrat"/>
            </a:endParaRPr>
          </a:p>
          <a:p>
            <a:pPr marL="0" lvl="0" indent="0" algn="ctr" rtl="0">
              <a:spcBef>
                <a:spcPts val="1000"/>
              </a:spcBef>
              <a:spcAft>
                <a:spcPts val="0"/>
              </a:spcAft>
              <a:buClr>
                <a:schemeClr val="dk1"/>
              </a:buClr>
              <a:buSzPts val="1100"/>
              <a:buFont typeface="Arial"/>
              <a:buNone/>
            </a:pPr>
            <a:endParaRPr sz="1250" b="1">
              <a:solidFill>
                <a:srgbClr val="1B786E"/>
              </a:solidFill>
              <a:latin typeface="Montserrat"/>
              <a:ea typeface="Montserrat"/>
              <a:cs typeface="Montserrat"/>
              <a:sym typeface="Montserrat"/>
            </a:endParaRPr>
          </a:p>
        </p:txBody>
      </p:sp>
      <p:sp>
        <p:nvSpPr>
          <p:cNvPr id="2071" name="Google Shape;2071;p192"/>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2" name="Google Shape;2072;p192"/>
          <p:cNvSpPr txBox="1"/>
          <p:nvPr/>
        </p:nvSpPr>
        <p:spPr>
          <a:xfrm>
            <a:off x="323917" y="195875"/>
            <a:ext cx="8649000" cy="76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a:solidFill>
                  <a:schemeClr val="lt1"/>
                </a:solidFill>
                <a:latin typeface="Montserrat"/>
                <a:ea typeface="Montserrat"/>
                <a:cs typeface="Montserrat"/>
                <a:sym typeface="Montserrat"/>
              </a:rPr>
              <a:t>Panel Discussion</a:t>
            </a:r>
            <a:endParaRPr sz="2600" b="1">
              <a:solidFill>
                <a:schemeClr val="lt1"/>
              </a:solidFill>
              <a:latin typeface="Montserrat"/>
              <a:ea typeface="Montserrat"/>
              <a:cs typeface="Montserrat"/>
              <a:sym typeface="Montserrat"/>
            </a:endParaRPr>
          </a:p>
        </p:txBody>
      </p:sp>
      <p:sp>
        <p:nvSpPr>
          <p:cNvPr id="2073" name="Google Shape;2073;p192"/>
          <p:cNvSpPr txBox="1"/>
          <p:nvPr/>
        </p:nvSpPr>
        <p:spPr>
          <a:xfrm>
            <a:off x="-403425" y="635688"/>
            <a:ext cx="10103700" cy="507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100" b="1">
                <a:solidFill>
                  <a:schemeClr val="lt1"/>
                </a:solidFill>
                <a:latin typeface="Montserrat"/>
                <a:ea typeface="Montserrat"/>
                <a:cs typeface="Montserrat"/>
                <a:sym typeface="Montserrat"/>
              </a:rPr>
              <a:t>Off-Site Solutions Deep-Dive: Unlocking DPPA</a:t>
            </a:r>
            <a:endParaRPr sz="2100" b="1">
              <a:solidFill>
                <a:schemeClr val="lt1"/>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77"/>
        <p:cNvGrpSpPr/>
        <p:nvPr/>
      </p:nvGrpSpPr>
      <p:grpSpPr>
        <a:xfrm>
          <a:off x="0" y="0"/>
          <a:ext cx="0" cy="0"/>
          <a:chOff x="0" y="0"/>
          <a:chExt cx="0" cy="0"/>
        </a:xfrm>
      </p:grpSpPr>
      <p:pic>
        <p:nvPicPr>
          <p:cNvPr id="2078" name="Google Shape;2078;p193"/>
          <p:cNvPicPr preferRelativeResize="0"/>
          <p:nvPr/>
        </p:nvPicPr>
        <p:blipFill>
          <a:blip r:embed="rId3">
            <a:alphaModFix/>
          </a:blip>
          <a:stretch>
            <a:fillRect/>
          </a:stretch>
        </p:blipFill>
        <p:spPr>
          <a:xfrm>
            <a:off x="0" y="0"/>
            <a:ext cx="9156375" cy="5132275"/>
          </a:xfrm>
          <a:prstGeom prst="rect">
            <a:avLst/>
          </a:prstGeom>
          <a:noFill/>
          <a:ln>
            <a:noFill/>
          </a:ln>
        </p:spPr>
      </p:pic>
      <p:pic>
        <p:nvPicPr>
          <p:cNvPr id="2079" name="Google Shape;2079;p193"/>
          <p:cNvPicPr preferRelativeResize="0"/>
          <p:nvPr/>
        </p:nvPicPr>
        <p:blipFill>
          <a:blip r:embed="rId4">
            <a:alphaModFix amt="60000"/>
          </a:blip>
          <a:stretch>
            <a:fillRect/>
          </a:stretch>
        </p:blipFill>
        <p:spPr>
          <a:xfrm>
            <a:off x="0" y="0"/>
            <a:ext cx="9144000" cy="5163900"/>
          </a:xfrm>
          <a:prstGeom prst="rect">
            <a:avLst/>
          </a:prstGeom>
          <a:noFill/>
          <a:ln>
            <a:noFill/>
          </a:ln>
        </p:spPr>
      </p:pic>
      <p:sp>
        <p:nvSpPr>
          <p:cNvPr id="2080" name="Google Shape;2080;p193"/>
          <p:cNvSpPr/>
          <p:nvPr/>
        </p:nvSpPr>
        <p:spPr>
          <a:xfrm>
            <a:off x="2144" y="12"/>
            <a:ext cx="9144000" cy="5163900"/>
          </a:xfrm>
          <a:prstGeom prst="rect">
            <a:avLst/>
          </a:prstGeom>
          <a:solidFill>
            <a:srgbClr val="14645C">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1" name="Google Shape;2081;p193"/>
          <p:cNvSpPr/>
          <p:nvPr/>
        </p:nvSpPr>
        <p:spPr>
          <a:xfrm>
            <a:off x="7378325" y="4819375"/>
            <a:ext cx="1765800" cy="312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82" name="Google Shape;2082;p193"/>
          <p:cNvPicPr preferRelativeResize="0"/>
          <p:nvPr/>
        </p:nvPicPr>
        <p:blipFill>
          <a:blip r:embed="rId5">
            <a:alphaModFix/>
          </a:blip>
          <a:stretch>
            <a:fillRect/>
          </a:stretch>
        </p:blipFill>
        <p:spPr>
          <a:xfrm>
            <a:off x="7472673" y="4830726"/>
            <a:ext cx="894924" cy="312775"/>
          </a:xfrm>
          <a:prstGeom prst="rect">
            <a:avLst/>
          </a:prstGeom>
          <a:noFill/>
          <a:ln>
            <a:noFill/>
          </a:ln>
        </p:spPr>
      </p:pic>
      <p:pic>
        <p:nvPicPr>
          <p:cNvPr id="2083" name="Google Shape;2083;p193" title="CEBA new logo.png"/>
          <p:cNvPicPr preferRelativeResize="0"/>
          <p:nvPr/>
        </p:nvPicPr>
        <p:blipFill>
          <a:blip r:embed="rId6">
            <a:alphaModFix/>
          </a:blip>
          <a:stretch>
            <a:fillRect/>
          </a:stretch>
        </p:blipFill>
        <p:spPr>
          <a:xfrm>
            <a:off x="8374923" y="4890787"/>
            <a:ext cx="708296" cy="211825"/>
          </a:xfrm>
          <a:prstGeom prst="rect">
            <a:avLst/>
          </a:prstGeom>
          <a:noFill/>
          <a:ln>
            <a:noFill/>
          </a:ln>
        </p:spPr>
      </p:pic>
      <p:grpSp>
        <p:nvGrpSpPr>
          <p:cNvPr id="2084" name="Google Shape;2084;p193"/>
          <p:cNvGrpSpPr/>
          <p:nvPr/>
        </p:nvGrpSpPr>
        <p:grpSpPr>
          <a:xfrm>
            <a:off x="233895" y="1759498"/>
            <a:ext cx="8733899" cy="1654622"/>
            <a:chOff x="1004448" y="1059052"/>
            <a:chExt cx="10826700" cy="2051100"/>
          </a:xfrm>
        </p:grpSpPr>
        <p:sp>
          <p:nvSpPr>
            <p:cNvPr id="2085" name="Google Shape;2085;p193"/>
            <p:cNvSpPr/>
            <p:nvPr/>
          </p:nvSpPr>
          <p:spPr>
            <a:xfrm>
              <a:off x="1004448" y="1059052"/>
              <a:ext cx="10826700" cy="2051100"/>
            </a:xfrm>
            <a:prstGeom prst="roundRect">
              <a:avLst>
                <a:gd name="adj" fmla="val 25170"/>
              </a:avLst>
            </a:prstGeom>
            <a:solidFill>
              <a:schemeClr val="lt1"/>
            </a:solidFill>
            <a:ln>
              <a:noFill/>
            </a:ln>
          </p:spPr>
          <p:txBody>
            <a:bodyPr spcFirstLastPara="1" wrap="square" lIns="73775" tIns="36875" rIns="73775" bIns="36875" anchor="ctr" anchorCtr="0">
              <a:noAutofit/>
            </a:bodyPr>
            <a:lstStyle/>
            <a:p>
              <a:pPr marL="0" marR="0" lvl="0" indent="0" algn="ctr" rtl="0">
                <a:spcBef>
                  <a:spcPts val="0"/>
                </a:spcBef>
                <a:spcAft>
                  <a:spcPts val="0"/>
                </a:spcAft>
                <a:buNone/>
              </a:pPr>
              <a:endParaRPr sz="1506" b="0" i="0" u="none" strike="noStrike" cap="none">
                <a:solidFill>
                  <a:schemeClr val="lt1"/>
                </a:solidFill>
                <a:latin typeface="Arial"/>
                <a:ea typeface="Arial"/>
                <a:cs typeface="Arial"/>
                <a:sym typeface="Arial"/>
              </a:endParaRPr>
            </a:p>
          </p:txBody>
        </p:sp>
        <p:sp>
          <p:nvSpPr>
            <p:cNvPr id="2086" name="Google Shape;2086;p193"/>
            <p:cNvSpPr txBox="1"/>
            <p:nvPr/>
          </p:nvSpPr>
          <p:spPr>
            <a:xfrm>
              <a:off x="1208650" y="1434998"/>
              <a:ext cx="6690300" cy="1389900"/>
            </a:xfrm>
            <a:prstGeom prst="rect">
              <a:avLst/>
            </a:prstGeom>
            <a:noFill/>
            <a:ln>
              <a:noFill/>
            </a:ln>
          </p:spPr>
          <p:txBody>
            <a:bodyPr spcFirstLastPara="1" wrap="square" lIns="73775" tIns="36875" rIns="73775" bIns="36875" anchor="t" anchorCtr="0">
              <a:spAutoFit/>
            </a:bodyPr>
            <a:lstStyle/>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Break</a:t>
              </a:r>
              <a:endParaRPr sz="3400" b="1">
                <a:solidFill>
                  <a:srgbClr val="14645C"/>
                </a:solidFill>
                <a:latin typeface="Montserrat"/>
                <a:ea typeface="Montserrat"/>
                <a:cs typeface="Montserrat"/>
                <a:sym typeface="Montserrat"/>
              </a:endParaRPr>
            </a:p>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~20 minutes</a:t>
              </a:r>
              <a:endParaRPr sz="3400" b="1">
                <a:solidFill>
                  <a:srgbClr val="14645C"/>
                </a:solidFill>
                <a:latin typeface="Montserrat"/>
                <a:ea typeface="Montserrat"/>
                <a:cs typeface="Montserrat"/>
                <a:sym typeface="Montserrat"/>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2090"/>
        <p:cNvGrpSpPr/>
        <p:nvPr/>
      </p:nvGrpSpPr>
      <p:grpSpPr>
        <a:xfrm>
          <a:off x="0" y="0"/>
          <a:ext cx="0" cy="0"/>
          <a:chOff x="0" y="0"/>
          <a:chExt cx="0" cy="0"/>
        </a:xfrm>
      </p:grpSpPr>
      <p:pic>
        <p:nvPicPr>
          <p:cNvPr id="2091" name="Google Shape;2091;p194"/>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092" name="Google Shape;2092;p194"/>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93" name="Google Shape;2093;p194"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094" name="Google Shape;2094;p194"/>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095" name="Google Shape;2095;p194"/>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096" name="Google Shape;2096;p194"/>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7" name="Google Shape;2097;p194"/>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8" name="Google Shape;2098;p194"/>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9" name="Google Shape;2099;p194"/>
          <p:cNvSpPr txBox="1"/>
          <p:nvPr/>
        </p:nvSpPr>
        <p:spPr>
          <a:xfrm>
            <a:off x="323917" y="195875"/>
            <a:ext cx="8649000" cy="76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a:solidFill>
                  <a:schemeClr val="lt1"/>
                </a:solidFill>
                <a:latin typeface="Montserrat"/>
                <a:ea typeface="Montserrat"/>
                <a:cs typeface="Montserrat"/>
                <a:sym typeface="Montserrat"/>
              </a:rPr>
              <a:t>Interactive </a:t>
            </a:r>
            <a:br>
              <a:rPr lang="en" sz="2600" b="1">
                <a:solidFill>
                  <a:schemeClr val="lt1"/>
                </a:solidFill>
                <a:latin typeface="Montserrat"/>
                <a:ea typeface="Montserrat"/>
                <a:cs typeface="Montserrat"/>
                <a:sym typeface="Montserrat"/>
              </a:rPr>
            </a:br>
            <a:r>
              <a:rPr lang="en" sz="2600" b="1">
                <a:solidFill>
                  <a:schemeClr val="lt1"/>
                </a:solidFill>
                <a:latin typeface="Montserrat"/>
                <a:ea typeface="Montserrat"/>
                <a:cs typeface="Montserrat"/>
                <a:sym typeface="Montserrat"/>
              </a:rPr>
              <a:t>Group Exercise</a:t>
            </a:r>
            <a:endParaRPr sz="2600" b="1">
              <a:solidFill>
                <a:schemeClr val="lt1"/>
              </a:solidFill>
              <a:latin typeface="Montserrat"/>
              <a:ea typeface="Montserrat"/>
              <a:cs typeface="Montserrat"/>
              <a:sym typeface="Montserrat"/>
            </a:endParaRPr>
          </a:p>
        </p:txBody>
      </p:sp>
      <p:sp>
        <p:nvSpPr>
          <p:cNvPr id="2100" name="Google Shape;2100;p194"/>
          <p:cNvSpPr txBox="1"/>
          <p:nvPr/>
        </p:nvSpPr>
        <p:spPr>
          <a:xfrm>
            <a:off x="492675" y="1499462"/>
            <a:ext cx="8019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Roundtable Discussions on Procurement Lessons Sharing</a:t>
            </a:r>
            <a:endParaRPr sz="2100" i="1">
              <a:solidFill>
                <a:srgbClr val="34537D"/>
              </a:solidFill>
              <a:latin typeface="Montserrat"/>
              <a:ea typeface="Montserrat"/>
              <a:cs typeface="Montserrat"/>
              <a:sym typeface="Montserrat"/>
            </a:endParaRPr>
          </a:p>
          <a:p>
            <a:pPr marL="0" lvl="0" indent="0" algn="l" rtl="0">
              <a:spcBef>
                <a:spcPts val="0"/>
              </a:spcBef>
              <a:spcAft>
                <a:spcPts val="0"/>
              </a:spcAft>
              <a:buNone/>
            </a:pPr>
            <a:r>
              <a:rPr lang="en" sz="2100" i="1">
                <a:solidFill>
                  <a:srgbClr val="34537D"/>
                </a:solidFill>
                <a:latin typeface="Montserrat"/>
                <a:ea typeface="Montserrat"/>
                <a:cs typeface="Montserrat"/>
                <a:sym typeface="Montserrat"/>
              </a:rPr>
              <a:t>(~45 minutes)</a:t>
            </a:r>
            <a:endParaRPr>
              <a:solidFill>
                <a:srgbClr val="34537D"/>
              </a:solidFill>
            </a:endParaRPr>
          </a:p>
        </p:txBody>
      </p:sp>
      <p:sp>
        <p:nvSpPr>
          <p:cNvPr id="2101" name="Google Shape;2101;p194"/>
          <p:cNvSpPr txBox="1"/>
          <p:nvPr/>
        </p:nvSpPr>
        <p:spPr>
          <a:xfrm>
            <a:off x="-20675" y="2308900"/>
            <a:ext cx="8532300" cy="16392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questions to discuss in an open dialogue format among the participants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b="1">
                <a:solidFill>
                  <a:srgbClr val="34537D"/>
                </a:solidFill>
                <a:latin typeface="Montserrat"/>
                <a:ea typeface="Montserrat"/>
                <a:cs typeface="Montserrat"/>
                <a:sym typeface="Montserrat"/>
              </a:rPr>
              <a:t>Please share lessons from clean energy procurement processes that your company has conducted or challenges that have prevented clean energy action to date.</a:t>
            </a:r>
            <a:endParaRPr b="1">
              <a:solidFill>
                <a:srgbClr val="34537D"/>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pic>
        <p:nvPicPr>
          <p:cNvPr id="2106" name="Google Shape;2106;p195"/>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107" name="Google Shape;2107;p195"/>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08" name="Google Shape;2108;p19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109" name="Google Shape;2109;p195"/>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110" name="Google Shape;2110;p195"/>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111" name="Google Shape;2111;p195"/>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2" name="Google Shape;2112;p195"/>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3" name="Google Shape;2113;p195"/>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4" name="Google Shape;2114;p195"/>
          <p:cNvSpPr txBox="1"/>
          <p:nvPr/>
        </p:nvSpPr>
        <p:spPr>
          <a:xfrm>
            <a:off x="323925" y="263700"/>
            <a:ext cx="8649000" cy="69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900" b="1">
                <a:solidFill>
                  <a:schemeClr val="lt1"/>
                </a:solidFill>
                <a:latin typeface="Montserrat"/>
                <a:ea typeface="Montserrat"/>
                <a:cs typeface="Montserrat"/>
                <a:sym typeface="Montserrat"/>
              </a:rPr>
              <a:t>Interactive Exercise</a:t>
            </a:r>
            <a:endParaRPr sz="2900" b="1">
              <a:solidFill>
                <a:schemeClr val="lt1"/>
              </a:solidFill>
              <a:latin typeface="Montserrat"/>
              <a:ea typeface="Montserrat"/>
              <a:cs typeface="Montserrat"/>
              <a:sym typeface="Montserrat"/>
            </a:endParaRPr>
          </a:p>
        </p:txBody>
      </p:sp>
      <p:sp>
        <p:nvSpPr>
          <p:cNvPr id="2115" name="Google Shape;2115;p195"/>
          <p:cNvSpPr txBox="1"/>
          <p:nvPr/>
        </p:nvSpPr>
        <p:spPr>
          <a:xfrm>
            <a:off x="-20675" y="2046141"/>
            <a:ext cx="8532300" cy="18870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you with a resource packet containing case studies, description of roles, and key questions to facilitate the activity.</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Collaborate with other participants to formulate a strategy, identify key terms and questions, and engage in a simulated DPPA negotiation.</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Once the negotiation is complete, raise any remaining questions, or share challenges you experienced during the negotiation.</a:t>
            </a:r>
            <a:endParaRPr>
              <a:solidFill>
                <a:srgbClr val="34537D"/>
              </a:solidFill>
              <a:latin typeface="Montserrat"/>
              <a:ea typeface="Montserrat"/>
              <a:cs typeface="Montserrat"/>
              <a:sym typeface="Montserrat"/>
            </a:endParaRPr>
          </a:p>
        </p:txBody>
      </p:sp>
      <p:sp>
        <p:nvSpPr>
          <p:cNvPr id="2116" name="Google Shape;2116;p195"/>
          <p:cNvSpPr txBox="1"/>
          <p:nvPr/>
        </p:nvSpPr>
        <p:spPr>
          <a:xfrm>
            <a:off x="492675" y="1499462"/>
            <a:ext cx="8019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DPPA Scenario Analysis (~60 minutes)</a:t>
            </a:r>
            <a:endParaRPr>
              <a:solidFill>
                <a:srgbClr val="34537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sp>
        <p:nvSpPr>
          <p:cNvPr id="2121" name="Google Shape;2121;p1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latin typeface="Montserrat"/>
                <a:ea typeface="Montserrat"/>
                <a:cs typeface="Montserrat"/>
                <a:sym typeface="Montserrat"/>
              </a:rPr>
              <a:t>Based on Decree</a:t>
            </a:r>
            <a:r>
              <a:rPr lang="en" sz="1200">
                <a:solidFill>
                  <a:srgbClr val="1B3E6D"/>
                </a:solidFill>
                <a:latin typeface="Montserrat"/>
                <a:ea typeface="Montserrat"/>
                <a:cs typeface="Montserrat"/>
                <a:sym typeface="Montserrat"/>
              </a:rPr>
              <a:t> </a:t>
            </a:r>
            <a:r>
              <a:rPr lang="en" sz="1200" b="1">
                <a:solidFill>
                  <a:srgbClr val="E77A10"/>
                </a:solidFill>
                <a:latin typeface="Montserrat"/>
                <a:ea typeface="Montserrat"/>
                <a:cs typeface="Montserrat"/>
                <a:sym typeface="Montserrat"/>
              </a:rPr>
              <a:t>57/2025/ND-CP</a:t>
            </a:r>
            <a:r>
              <a:rPr lang="en" sz="1200">
                <a:solidFill>
                  <a:schemeClr val="dk1"/>
                </a:solidFill>
                <a:latin typeface="Montserrat"/>
                <a:ea typeface="Montserrat"/>
                <a:cs typeface="Montserrat"/>
                <a:sym typeface="Montserrat"/>
              </a:rPr>
              <a:t>, the cost calculation parameters are assumed as follows:</a:t>
            </a:r>
            <a:endParaRPr sz="1200">
              <a:solidFill>
                <a:schemeClr val="dk1"/>
              </a:solidFill>
              <a:latin typeface="Montserrat"/>
              <a:ea typeface="Montserrat"/>
              <a:cs typeface="Montserrat"/>
              <a:sym typeface="Montserrat"/>
            </a:endParaRPr>
          </a:p>
          <a:p>
            <a:pPr marL="0" lvl="0" indent="0" algn="l" rtl="0">
              <a:spcBef>
                <a:spcPts val="1200"/>
              </a:spcBef>
              <a:spcAft>
                <a:spcPts val="1200"/>
              </a:spcAft>
              <a:buNone/>
            </a:pPr>
            <a:endParaRPr sz="1200">
              <a:solidFill>
                <a:srgbClr val="1B3E6D"/>
              </a:solidFill>
              <a:latin typeface="Montserrat"/>
              <a:ea typeface="Montserrat"/>
              <a:cs typeface="Montserrat"/>
              <a:sym typeface="Montserrat"/>
            </a:endParaRPr>
          </a:p>
        </p:txBody>
      </p:sp>
      <p:grpSp>
        <p:nvGrpSpPr>
          <p:cNvPr id="2122" name="Google Shape;2122;p196"/>
          <p:cNvGrpSpPr/>
          <p:nvPr/>
        </p:nvGrpSpPr>
        <p:grpSpPr>
          <a:xfrm>
            <a:off x="239992" y="63853"/>
            <a:ext cx="8728050" cy="745997"/>
            <a:chOff x="236700" y="63853"/>
            <a:chExt cx="8728050" cy="745997"/>
          </a:xfrm>
        </p:grpSpPr>
        <p:sp>
          <p:nvSpPr>
            <p:cNvPr id="2123" name="Google Shape;2123;p19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24" name="Google Shape;2124;p19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25" name="Google Shape;2125;p19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26" name="Google Shape;2126;p19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27" name="Google Shape;2127;p19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28" name="Google Shape;2128;p19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29" name="Google Shape;2129;p19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30" name="Google Shape;2130;p196"/>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General Assumptions &amp; Formula</a:t>
              </a:r>
              <a:endParaRPr sz="2100">
                <a:solidFill>
                  <a:srgbClr val="FFFFFF"/>
                </a:solidFill>
                <a:latin typeface="Montserrat ExtraBold"/>
                <a:ea typeface="Montserrat ExtraBold"/>
                <a:cs typeface="Montserrat ExtraBold"/>
                <a:sym typeface="Montserrat ExtraBold"/>
              </a:endParaRPr>
            </a:p>
          </p:txBody>
        </p:sp>
        <p:cxnSp>
          <p:nvCxnSpPr>
            <p:cNvPr id="2131" name="Google Shape;2131;p19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32" name="Google Shape;2132;p19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2133" name="Google Shape;2133;p196"/>
          <p:cNvGraphicFramePr/>
          <p:nvPr/>
        </p:nvGraphicFramePr>
        <p:xfrm>
          <a:off x="377550" y="1592300"/>
          <a:ext cx="3000000" cy="3000000"/>
        </p:xfrm>
        <a:graphic>
          <a:graphicData uri="http://schemas.openxmlformats.org/drawingml/2006/table">
            <a:tbl>
              <a:tblPr>
                <a:noFill/>
                <a:tableStyleId>{F1742F6B-ED47-481C-AEBF-CD6BD0922621}</a:tableStyleId>
              </a:tblPr>
              <a:tblGrid>
                <a:gridCol w="884100">
                  <a:extLst>
                    <a:ext uri="{9D8B030D-6E8A-4147-A177-3AD203B41FA5}">
                      <a16:colId xmlns:a16="http://schemas.microsoft.com/office/drawing/2014/main" val="20000"/>
                    </a:ext>
                  </a:extLst>
                </a:gridCol>
                <a:gridCol w="965625">
                  <a:extLst>
                    <a:ext uri="{9D8B030D-6E8A-4147-A177-3AD203B41FA5}">
                      <a16:colId xmlns:a16="http://schemas.microsoft.com/office/drawing/2014/main" val="20001"/>
                    </a:ext>
                  </a:extLst>
                </a:gridCol>
                <a:gridCol w="991150">
                  <a:extLst>
                    <a:ext uri="{9D8B030D-6E8A-4147-A177-3AD203B41FA5}">
                      <a16:colId xmlns:a16="http://schemas.microsoft.com/office/drawing/2014/main" val="20002"/>
                    </a:ext>
                  </a:extLst>
                </a:gridCol>
                <a:gridCol w="1836950">
                  <a:extLst>
                    <a:ext uri="{9D8B030D-6E8A-4147-A177-3AD203B41FA5}">
                      <a16:colId xmlns:a16="http://schemas.microsoft.com/office/drawing/2014/main" val="20003"/>
                    </a:ext>
                  </a:extLst>
                </a:gridCol>
              </a:tblGrid>
              <a:tr h="381600">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Symbol</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Unit</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Assumed Value</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Description</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extLst>
                  <a:ext uri="{0D108BD9-81ED-4DB2-BD59-A6C34878D82A}">
                    <a16:rowId xmlns:a16="http://schemas.microsoft.com/office/drawing/2014/main" val="10000"/>
                  </a:ext>
                </a:extLst>
              </a:tr>
              <a:tr h="331350">
                <a:tc>
                  <a:txBody>
                    <a:bodyPr/>
                    <a:lstStyle/>
                    <a:p>
                      <a:pPr marL="0" lvl="0" indent="0" algn="l" rtl="0">
                        <a:spcBef>
                          <a:spcPts val="0"/>
                        </a:spcBef>
                        <a:spcAft>
                          <a:spcPts val="0"/>
                        </a:spcAft>
                        <a:buNone/>
                      </a:pPr>
                      <a:r>
                        <a:rPr lang="en" sz="1000">
                          <a:latin typeface="Montserrat"/>
                          <a:ea typeface="Montserrat"/>
                          <a:cs typeface="Montserrat"/>
                          <a:sym typeface="Montserrat"/>
                        </a:rPr>
                        <a:t>k</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1,026</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Adjustment coefficient</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extLst>
                  <a:ext uri="{0D108BD9-81ED-4DB2-BD59-A6C34878D82A}">
                    <a16:rowId xmlns:a16="http://schemas.microsoft.com/office/drawing/2014/main" val="10001"/>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CDPPA_dv</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360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Power system service cost</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Pcl</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163,3</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Differential clearing fee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505075">
                <a:tc>
                  <a:txBody>
                    <a:bodyPr/>
                    <a:lstStyle/>
                    <a:p>
                      <a:pPr marL="0" lvl="0" indent="0" algn="l" rtl="0">
                        <a:spcBef>
                          <a:spcPts val="0"/>
                        </a:spcBef>
                        <a:spcAft>
                          <a:spcPts val="0"/>
                        </a:spcAft>
                        <a:buNone/>
                      </a:pPr>
                      <a:r>
                        <a:rPr lang="en" sz="1000">
                          <a:latin typeface="Montserrat"/>
                          <a:ea typeface="Montserrat"/>
                          <a:cs typeface="Montserrat"/>
                          <a:sym typeface="Montserrat"/>
                        </a:rPr>
                        <a:t>Kpp</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1,008</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Loss conversion coefficient at 110 kV voltage level</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P1</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2,204</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Average retail electricity price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bl>
          </a:graphicData>
        </a:graphic>
      </p:graphicFrame>
      <p:sp>
        <p:nvSpPr>
          <p:cNvPr id="2134" name="Google Shape;2134;p196"/>
          <p:cNvSpPr txBox="1"/>
          <p:nvPr/>
        </p:nvSpPr>
        <p:spPr>
          <a:xfrm>
            <a:off x="5173475" y="1588600"/>
            <a:ext cx="3970500" cy="28197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r>
              <a:rPr lang="en" sz="1150">
                <a:solidFill>
                  <a:srgbClr val="1C5648"/>
                </a:solidFill>
                <a:latin typeface="Montserrat"/>
                <a:ea typeface="Montserrat"/>
                <a:cs typeface="Montserrat"/>
                <a:sym typeface="Montserrat"/>
              </a:rPr>
              <a:t>Cost Formulas</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150">
              <a:solidFill>
                <a:srgbClr val="1C5648"/>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600" b="1">
                <a:solidFill>
                  <a:srgbClr val="C8902B"/>
                </a:solidFill>
                <a:latin typeface="Montserrat"/>
                <a:ea typeface="Montserrat"/>
                <a:cs typeface="Montserrat"/>
                <a:sym typeface="Montserrat"/>
              </a:rPr>
              <a:t>C_KH</a:t>
            </a:r>
            <a:r>
              <a:rPr lang="en" sz="1600" b="1">
                <a:solidFill>
                  <a:srgbClr val="1B2D2A"/>
                </a:solidFill>
                <a:latin typeface="Montserrat"/>
                <a:ea typeface="Montserrat"/>
                <a:cs typeface="Montserrat"/>
                <a:sym typeface="Montserrat"/>
              </a:rPr>
              <a:t>  =  	C_EVN  +  	C_CfD</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800">
              <a:solidFill>
                <a:schemeClr val="dk2"/>
              </a:solidFill>
              <a:latin typeface="Montserrat"/>
              <a:ea typeface="Montserrat"/>
              <a:cs typeface="Montserrat"/>
              <a:sym typeface="Montserrat"/>
            </a:endParaRPr>
          </a:p>
        </p:txBody>
      </p:sp>
      <p:sp>
        <p:nvSpPr>
          <p:cNvPr id="2135" name="Google Shape;2135;p196"/>
          <p:cNvSpPr txBox="1"/>
          <p:nvPr/>
        </p:nvSpPr>
        <p:spPr>
          <a:xfrm>
            <a:off x="344700" y="4556025"/>
            <a:ext cx="85206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127A7A"/>
                </a:solidFill>
                <a:latin typeface="Montserrat"/>
                <a:ea typeface="Montserrat"/>
                <a:cs typeface="Montserrat"/>
                <a:sym typeface="Montserrat"/>
              </a:rPr>
              <a:t>Note:  The plant sells all output to the spot market (receives FMP); the CfD only adjusts the price to Pc for the contracted volume Qc.</a:t>
            </a:r>
            <a:endParaRPr sz="900" i="1">
              <a:solidFill>
                <a:srgbClr val="127A7A"/>
              </a:solidFill>
              <a:latin typeface="Montserrat"/>
              <a:ea typeface="Montserrat"/>
              <a:cs typeface="Montserrat"/>
              <a:sym typeface="Montserrat"/>
            </a:endParaRPr>
          </a:p>
        </p:txBody>
      </p:sp>
      <p:sp>
        <p:nvSpPr>
          <p:cNvPr id="2136" name="Google Shape;2136;p196"/>
          <p:cNvSpPr txBox="1"/>
          <p:nvPr/>
        </p:nvSpPr>
        <p:spPr>
          <a:xfrm>
            <a:off x="7786200" y="2521750"/>
            <a:ext cx="1357800" cy="13308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endParaRPr sz="1150">
              <a:solidFill>
                <a:srgbClr val="1B2D2A"/>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r>
              <a:rPr lang="en" sz="1150">
                <a:solidFill>
                  <a:srgbClr val="1B2D2A"/>
                </a:solidFill>
                <a:latin typeface="Montserrat"/>
                <a:ea typeface="Montserrat"/>
                <a:cs typeface="Montserrat"/>
                <a:sym typeface="Montserrat"/>
              </a:rPr>
              <a:t>(Pc − FMP) * Qc</a:t>
            </a:r>
            <a:endParaRPr sz="1800">
              <a:solidFill>
                <a:schemeClr val="dk2"/>
              </a:solidFill>
            </a:endParaRPr>
          </a:p>
        </p:txBody>
      </p:sp>
      <p:sp>
        <p:nvSpPr>
          <p:cNvPr id="2137" name="Google Shape;2137;p196"/>
          <p:cNvSpPr txBox="1"/>
          <p:nvPr/>
        </p:nvSpPr>
        <p:spPr>
          <a:xfrm rot="5400000">
            <a:off x="6891650"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
        <p:nvSpPr>
          <p:cNvPr id="2138" name="Google Shape;2138;p196"/>
          <p:cNvSpPr txBox="1"/>
          <p:nvPr/>
        </p:nvSpPr>
        <p:spPr>
          <a:xfrm>
            <a:off x="5119525" y="2766575"/>
            <a:ext cx="2212200" cy="1645500"/>
          </a:xfrm>
          <a:prstGeom prst="rect">
            <a:avLst/>
          </a:prstGeom>
          <a:noFill/>
          <a:ln>
            <a:noFill/>
          </a:ln>
        </p:spPr>
        <p:txBody>
          <a:bodyPr spcFirstLastPara="1" wrap="square" lIns="91425" tIns="91425" rIns="91425" bIns="91425" anchor="t" anchorCtr="0">
            <a:noAutofit/>
          </a:bodyPr>
          <a:lstStyle/>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FMP * k * Kpp = </a:t>
            </a:r>
            <a:r>
              <a:rPr lang="en" sz="1050" b="1">
                <a:solidFill>
                  <a:srgbClr val="1B2D2A"/>
                </a:solidFill>
                <a:latin typeface="Montserrat"/>
                <a:ea typeface="Montserrat"/>
                <a:cs typeface="Montserrat"/>
                <a:sym typeface="Montserrat"/>
              </a:rPr>
              <a:t>C_DN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C_dppa_dv = </a:t>
            </a:r>
            <a:r>
              <a:rPr lang="en" sz="1050" b="1">
                <a:solidFill>
                  <a:srgbClr val="1B2D2A"/>
                </a:solidFill>
                <a:latin typeface="Montserrat"/>
                <a:ea typeface="Montserrat"/>
                <a:cs typeface="Montserrat"/>
                <a:sym typeface="Montserrat"/>
              </a:rPr>
              <a:t>C_dppa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Pcl = </a:t>
            </a:r>
            <a:r>
              <a:rPr lang="en" sz="1050" b="1">
                <a:solidFill>
                  <a:srgbClr val="1B2D2A"/>
                </a:solidFill>
                <a:latin typeface="Montserrat"/>
                <a:ea typeface="Montserrat"/>
                <a:cs typeface="Montserrat"/>
                <a:sym typeface="Montserrat"/>
              </a:rPr>
              <a:t>C_cl</a:t>
            </a:r>
            <a:r>
              <a:rPr lang="en" sz="1050">
                <a:solidFill>
                  <a:srgbClr val="1B2D2A"/>
                </a:solidFill>
                <a:latin typeface="Montserrat"/>
                <a:ea typeface="Montserrat"/>
                <a:cs typeface="Montserrat"/>
                <a:sym typeface="Montserrat"/>
              </a:rPr>
              <a:t> </a:t>
            </a: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 − Qkhhc) * P1 = </a:t>
            </a:r>
            <a:r>
              <a:rPr lang="en" sz="1050" b="1">
                <a:solidFill>
                  <a:srgbClr val="1B2D2A"/>
                </a:solidFill>
                <a:latin typeface="Montserrat"/>
                <a:ea typeface="Montserrat"/>
                <a:cs typeface="Montserrat"/>
                <a:sym typeface="Montserrat"/>
              </a:rPr>
              <a:t>C_bl</a:t>
            </a:r>
            <a:endParaRPr sz="1050" b="1">
              <a:solidFill>
                <a:srgbClr val="1B2D2A"/>
              </a:solidFill>
              <a:latin typeface="Montserrat"/>
              <a:ea typeface="Montserrat"/>
              <a:cs typeface="Montserrat"/>
              <a:sym typeface="Montserrat"/>
            </a:endParaRPr>
          </a:p>
          <a:p>
            <a:pPr marL="0" lvl="0" indent="0" algn="r" rtl="0">
              <a:spcBef>
                <a:spcPts val="0"/>
              </a:spcBef>
              <a:spcAft>
                <a:spcPts val="0"/>
              </a:spcAft>
              <a:buNone/>
            </a:pPr>
            <a:endParaRPr sz="1700">
              <a:solidFill>
                <a:schemeClr val="dk2"/>
              </a:solidFill>
            </a:endParaRPr>
          </a:p>
        </p:txBody>
      </p:sp>
      <p:sp>
        <p:nvSpPr>
          <p:cNvPr id="2139" name="Google Shape;2139;p196"/>
          <p:cNvSpPr txBox="1"/>
          <p:nvPr/>
        </p:nvSpPr>
        <p:spPr>
          <a:xfrm>
            <a:off x="6648175" y="3005450"/>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0" name="Google Shape;2140;p196"/>
          <p:cNvSpPr txBox="1"/>
          <p:nvPr/>
        </p:nvSpPr>
        <p:spPr>
          <a:xfrm>
            <a:off x="6643550" y="338562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1" name="Google Shape;2141;p196"/>
          <p:cNvSpPr txBox="1"/>
          <p:nvPr/>
        </p:nvSpPr>
        <p:spPr>
          <a:xfrm>
            <a:off x="6643550" y="376587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2" name="Google Shape;2142;p196"/>
          <p:cNvSpPr txBox="1"/>
          <p:nvPr/>
        </p:nvSpPr>
        <p:spPr>
          <a:xfrm rot="5400000">
            <a:off x="8195075"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46"/>
        <p:cNvGrpSpPr/>
        <p:nvPr/>
      </p:nvGrpSpPr>
      <p:grpSpPr>
        <a:xfrm>
          <a:off x="0" y="0"/>
          <a:ext cx="0" cy="0"/>
          <a:chOff x="0" y="0"/>
          <a:chExt cx="0" cy="0"/>
        </a:xfrm>
      </p:grpSpPr>
      <p:pic>
        <p:nvPicPr>
          <p:cNvPr id="2147" name="Google Shape;2147;p19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48" name="Google Shape;2148;p197"/>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149" name="Google Shape;2149;p197"/>
          <p:cNvGrpSpPr/>
          <p:nvPr/>
        </p:nvGrpSpPr>
        <p:grpSpPr>
          <a:xfrm>
            <a:off x="239992" y="63853"/>
            <a:ext cx="8728050" cy="745997"/>
            <a:chOff x="236700" y="63853"/>
            <a:chExt cx="8728050" cy="745997"/>
          </a:xfrm>
        </p:grpSpPr>
        <p:sp>
          <p:nvSpPr>
            <p:cNvPr id="2150" name="Google Shape;2150;p19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51" name="Google Shape;2151;p19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52" name="Google Shape;2152;p19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53" name="Google Shape;2153;p19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54" name="Google Shape;2154;p19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55" name="Google Shape;2155;p19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56" name="Google Shape;2156;p19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57" name="Google Shape;2157;p197"/>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1: The Base Case</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158" name="Google Shape;2158;p19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59" name="Google Shape;2159;p19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60" name="Google Shape;2160;p197"/>
          <p:cNvSpPr txBox="1"/>
          <p:nvPr/>
        </p:nvSpPr>
        <p:spPr>
          <a:xfrm>
            <a:off x="240000" y="948875"/>
            <a:ext cx="8685900" cy="375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1B3E6D"/>
                </a:solidFill>
                <a:latin typeface="Montserrat"/>
                <a:ea typeface="Montserrat"/>
                <a:cs typeface="Montserrat"/>
                <a:sym typeface="Montserrat"/>
              </a:rPr>
              <a:t>Your manufacturing plant has a strict corporate target to reach 100% renewable energy consumption by 2030. To achieve this, your team wants to sign a DPPA via National Grid (Virtual DPPA) with a large solar developer.</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Operational issue:</a:t>
            </a:r>
            <a:r>
              <a:rPr lang="en" sz="1200">
                <a:solidFill>
                  <a:srgbClr val="1B3E6D"/>
                </a:solidFill>
                <a:latin typeface="Montserrat"/>
                <a:ea typeface="Montserrat"/>
                <a:cs typeface="Montserrat"/>
                <a:sym typeface="Montserrat"/>
              </a:rPr>
              <a:t> Your factory doesn’t buy electricity directly from EVN. Instead, you pay your monthly electricity bill to the private Industrial Park Management Board, who buys bulk power from EVN and resells it to you through their internal grid.</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Under Decree 57, an Electricity Buyer must consume ≥200,000 kWh/month. If the IP lumps your factory into their master EVN meter, how do you accurately track and prove your specific energy use to qualify?</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A standard Virtual PPA is a bilateral agreement (Between Buyer and Seller). However, since electricity delivery is controlled by the IP (Retailer), who actually needs to be at the negotiation table to make this work?</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What happens if the IP demands a new, non-negotiable "infrastructure fee" to facilitate this DPPA setup? How does that impact your budget forecasting and management buy-in over a typical 15-to-20-year PPA Contract Term?</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b="1">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64"/>
        <p:cNvGrpSpPr/>
        <p:nvPr/>
      </p:nvGrpSpPr>
      <p:grpSpPr>
        <a:xfrm>
          <a:off x="0" y="0"/>
          <a:ext cx="0" cy="0"/>
          <a:chOff x="0" y="0"/>
          <a:chExt cx="0" cy="0"/>
        </a:xfrm>
      </p:grpSpPr>
      <p:grpSp>
        <p:nvGrpSpPr>
          <p:cNvPr id="2165" name="Google Shape;2165;p198"/>
          <p:cNvGrpSpPr/>
          <p:nvPr/>
        </p:nvGrpSpPr>
        <p:grpSpPr>
          <a:xfrm>
            <a:off x="239992" y="63853"/>
            <a:ext cx="8728050" cy="745997"/>
            <a:chOff x="236700" y="63853"/>
            <a:chExt cx="8728050" cy="745997"/>
          </a:xfrm>
        </p:grpSpPr>
        <p:sp>
          <p:nvSpPr>
            <p:cNvPr id="2166" name="Google Shape;2166;p19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67" name="Google Shape;2167;p19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68" name="Google Shape;2168;p19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69" name="Google Shape;2169;p19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70" name="Google Shape;2170;p19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71" name="Google Shape;2171;p19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72" name="Google Shape;2172;p19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73" name="Google Shape;2173;p198"/>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1000" b="1">
                <a:solidFill>
                  <a:schemeClr val="lt1"/>
                </a:solidFill>
                <a:latin typeface="Montserrat"/>
                <a:ea typeface="Montserrat"/>
                <a:cs typeface="Montserrat"/>
                <a:sym typeface="Montserrat"/>
              </a:endParaRPr>
            </a:p>
          </p:txBody>
        </p:sp>
        <p:cxnSp>
          <p:nvCxnSpPr>
            <p:cNvPr id="2174" name="Google Shape;2174;p19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75" name="Google Shape;2175;p19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76" name="Google Shape;2176;p198"/>
          <p:cNvSpPr txBox="1"/>
          <p:nvPr/>
        </p:nvSpPr>
        <p:spPr>
          <a:xfrm>
            <a:off x="2619700" y="1563575"/>
            <a:ext cx="6470400" cy="258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5-Line Bill</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5,000,000 kWh * 1,150 VND/kWh * 1.026 * 1.008 = </a:t>
            </a:r>
            <a:r>
              <a:rPr lang="en" sz="1100" b="1">
                <a:solidFill>
                  <a:srgbClr val="E77A10"/>
                </a:solidFill>
                <a:latin typeface="Montserrat"/>
                <a:ea typeface="Montserrat"/>
                <a:cs typeface="Montserrat"/>
                <a:sym typeface="Montserrat"/>
              </a:rPr>
              <a:t>5,946,696,000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5,000,000 kWh * 360 VND/kWh = </a:t>
            </a:r>
            <a:r>
              <a:rPr lang="en" sz="1100" b="1">
                <a:solidFill>
                  <a:srgbClr val="E77A10"/>
                </a:solidFill>
                <a:latin typeface="Montserrat"/>
                <a:ea typeface="Montserrat"/>
                <a:cs typeface="Montserrat"/>
                <a:sym typeface="Montserrat"/>
              </a:rPr>
              <a:t>1,800,000,000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5,000,000 kWh * 163.30 VND/kWh = </a:t>
            </a:r>
            <a:r>
              <a:rPr lang="en" sz="1100" b="1">
                <a:solidFill>
                  <a:srgbClr val="E77A10"/>
                </a:solidFill>
                <a:latin typeface="Montserrat"/>
                <a:ea typeface="Montserrat"/>
                <a:cs typeface="Montserrat"/>
                <a:sym typeface="Montserrat"/>
              </a:rPr>
              <a:t>816,500,000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0 kWh * 2,204 VND/kWh = </a:t>
            </a:r>
            <a:r>
              <a:rPr lang="en" sz="1100" b="1">
                <a:solidFill>
                  <a:srgbClr val="E77A10"/>
                </a:solidFill>
                <a:latin typeface="Montserrat"/>
                <a:ea typeface="Montserrat"/>
                <a:cs typeface="Montserrat"/>
                <a:sym typeface="Montserrat"/>
              </a:rPr>
              <a:t>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177" name="Google Shape;2177;p19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78" name="Google Shape;2178;p19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179" name="Google Shape;2179;p198"/>
          <p:cNvSpPr txBox="1"/>
          <p:nvPr/>
        </p:nvSpPr>
        <p:spPr>
          <a:xfrm>
            <a:off x="2619700" y="901912"/>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0 MWh</a:t>
            </a:r>
            <a:endParaRPr sz="1200">
              <a:solidFill>
                <a:srgbClr val="1B3E6D"/>
              </a:solidFill>
              <a:latin typeface="Montserrat"/>
              <a:ea typeface="Montserrat"/>
              <a:cs typeface="Montserrat"/>
              <a:sym typeface="Montserrat"/>
            </a:endParaRPr>
          </a:p>
        </p:txBody>
      </p:sp>
      <p:sp>
        <p:nvSpPr>
          <p:cNvPr id="2180" name="Google Shape;2180;p198"/>
          <p:cNvSpPr txBox="1"/>
          <p:nvPr/>
        </p:nvSpPr>
        <p:spPr>
          <a:xfrm>
            <a:off x="5920650" y="901912"/>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doesn’t need additional electricity from EVN</a:t>
            </a:r>
            <a:endParaRPr sz="1200">
              <a:solidFill>
                <a:srgbClr val="1B3E6D"/>
              </a:solidFill>
              <a:latin typeface="Montserrat"/>
              <a:ea typeface="Montserrat"/>
              <a:cs typeface="Montserrat"/>
              <a:sym typeface="Montserrat"/>
            </a:endParaRPr>
          </a:p>
        </p:txBody>
      </p:sp>
      <p:cxnSp>
        <p:nvCxnSpPr>
          <p:cNvPr id="2181" name="Google Shape;2181;p198"/>
          <p:cNvCxnSpPr>
            <a:stCxn id="2179" idx="3"/>
            <a:endCxn id="2180" idx="1"/>
          </p:cNvCxnSpPr>
          <p:nvPr/>
        </p:nvCxnSpPr>
        <p:spPr>
          <a:xfrm>
            <a:off x="5667100" y="1144762"/>
            <a:ext cx="253500" cy="0"/>
          </a:xfrm>
          <a:prstGeom prst="straightConnector1">
            <a:avLst/>
          </a:prstGeom>
          <a:noFill/>
          <a:ln w="9525" cap="flat" cmpd="sng">
            <a:solidFill>
              <a:schemeClr val="dk2"/>
            </a:solidFill>
            <a:prstDash val="solid"/>
            <a:round/>
            <a:headEnd type="none" w="med" len="med"/>
            <a:tailEnd type="triangle" w="med" len="med"/>
          </a:ln>
        </p:spPr>
      </p:cxnSp>
      <p:sp>
        <p:nvSpPr>
          <p:cNvPr id="2182" name="Google Shape;2182;p198"/>
          <p:cNvSpPr/>
          <p:nvPr/>
        </p:nvSpPr>
        <p:spPr>
          <a:xfrm>
            <a:off x="2373900" y="435442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5,946,696,000 + 1,800,000,000 + 816,500,000 + 0 = </a:t>
            </a:r>
            <a:r>
              <a:rPr lang="en" sz="1100" b="1">
                <a:solidFill>
                  <a:srgbClr val="E77A10"/>
                </a:solidFill>
                <a:latin typeface="Montserrat"/>
                <a:ea typeface="Montserrat"/>
                <a:cs typeface="Montserrat"/>
                <a:sym typeface="Montserrat"/>
              </a:rPr>
              <a:t>8,263,196,000 VND</a:t>
            </a:r>
            <a:endParaRPr sz="1300"/>
          </a:p>
        </p:txBody>
      </p:sp>
      <p:grpSp>
        <p:nvGrpSpPr>
          <p:cNvPr id="2183" name="Google Shape;2183;p198"/>
          <p:cNvGrpSpPr/>
          <p:nvPr/>
        </p:nvGrpSpPr>
        <p:grpSpPr>
          <a:xfrm>
            <a:off x="76778" y="939562"/>
            <a:ext cx="2543025" cy="3723037"/>
            <a:chOff x="76784" y="895150"/>
            <a:chExt cx="2573391" cy="3767493"/>
          </a:xfrm>
        </p:grpSpPr>
        <p:grpSp>
          <p:nvGrpSpPr>
            <p:cNvPr id="2184" name="Google Shape;2184;p198"/>
            <p:cNvGrpSpPr/>
            <p:nvPr/>
          </p:nvGrpSpPr>
          <p:grpSpPr>
            <a:xfrm>
              <a:off x="76784" y="895150"/>
              <a:ext cx="2573391" cy="3767493"/>
              <a:chOff x="133650" y="895150"/>
              <a:chExt cx="2573391" cy="3767493"/>
            </a:xfrm>
          </p:grpSpPr>
          <p:pic>
            <p:nvPicPr>
              <p:cNvPr id="2185" name="Google Shape;2185;p198"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186" name="Google Shape;2186;p198"/>
              <p:cNvCxnSpPr>
                <a:stCxn id="2187" idx="2"/>
                <a:endCxn id="2185"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188" name="Google Shape;2188;p198"/>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189" name="Google Shape;2189;p198"/>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190" name="Google Shape;2190;p198"/>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191" name="Google Shape;2191;p198"/>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192" name="Google Shape;2192;p198"/>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193" name="Google Shape;2193;p198"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194" name="Google Shape;2194;p198"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grpSp>
        <p:nvGrpSpPr>
          <p:cNvPr id="2199" name="Google Shape;2199;p199"/>
          <p:cNvGrpSpPr/>
          <p:nvPr/>
        </p:nvGrpSpPr>
        <p:grpSpPr>
          <a:xfrm>
            <a:off x="239992" y="63853"/>
            <a:ext cx="8728050" cy="745997"/>
            <a:chOff x="236700" y="63853"/>
            <a:chExt cx="8728050" cy="745997"/>
          </a:xfrm>
        </p:grpSpPr>
        <p:sp>
          <p:nvSpPr>
            <p:cNvPr id="2200" name="Google Shape;2200;p19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01" name="Google Shape;2201;p19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02" name="Google Shape;2202;p19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03" name="Google Shape;2203;p19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04" name="Google Shape;2204;p19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05" name="Google Shape;2205;p19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06" name="Google Shape;2206;p19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07" name="Google Shape;2207;p199"/>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(2)</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08" name="Google Shape;2208;p19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09" name="Google Shape;2209;p19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10" name="Google Shape;2210;p199"/>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(1,250 - 1,150) VND/kWh * 5,000,000 kWh = </a:t>
            </a:r>
            <a:r>
              <a:rPr lang="en" sz="1100" b="1">
                <a:solidFill>
                  <a:srgbClr val="E77A10"/>
                </a:solidFill>
                <a:latin typeface="Montserrat"/>
                <a:ea typeface="Montserrat"/>
                <a:cs typeface="Montserrat"/>
                <a:sym typeface="Montserrat"/>
              </a:rPr>
              <a:t>500,000,000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211" name="Google Shape;2211;p19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12" name="Google Shape;2212;p199"/>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13" name="Google Shape;2213;p199"/>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8,263,196,000 + 500,000,000 = </a:t>
            </a:r>
            <a:r>
              <a:rPr lang="en" sz="1100" b="1">
                <a:solidFill>
                  <a:srgbClr val="176B62"/>
                </a:solidFill>
                <a:latin typeface="Montserrat"/>
                <a:ea typeface="Montserrat"/>
                <a:cs typeface="Montserrat"/>
                <a:sym typeface="Montserrat"/>
              </a:rPr>
              <a:t>8,763,196,000 VND</a:t>
            </a:r>
            <a:endParaRPr b="1">
              <a:solidFill>
                <a:srgbClr val="176B62"/>
              </a:solidFill>
            </a:endParaRPr>
          </a:p>
        </p:txBody>
      </p:sp>
      <p:sp>
        <p:nvSpPr>
          <p:cNvPr id="2214" name="Google Shape;2214;p199"/>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5,000 MWh</a:t>
            </a:r>
            <a:r>
              <a:rPr lang="en" sz="1100">
                <a:solidFill>
                  <a:srgbClr val="1B3E6D"/>
                </a:solidFill>
                <a:latin typeface="Montserrat"/>
                <a:ea typeface="Montserrat"/>
                <a:cs typeface="Montserrat"/>
                <a:sym typeface="Montserrat"/>
              </a:rPr>
              <a:t> (after loss ~5,040,000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(Qm * FMP) = 5,040,000 kWh * 1,150 VND/kWh = </a:t>
            </a:r>
            <a:r>
              <a:rPr lang="en" sz="1100" b="1">
                <a:solidFill>
                  <a:srgbClr val="E77A10"/>
                </a:solidFill>
                <a:latin typeface="Montserrat"/>
                <a:ea typeface="Montserrat"/>
                <a:cs typeface="Montserrat"/>
                <a:sym typeface="Montserrat"/>
              </a:rPr>
              <a:t>5,796,000,000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5,000,000 kWh * (1,250 - 1,150) = </a:t>
            </a:r>
            <a:r>
              <a:rPr lang="en" sz="1100" b="1">
                <a:solidFill>
                  <a:srgbClr val="E77A10"/>
                </a:solidFill>
                <a:latin typeface="Montserrat"/>
                <a:ea typeface="Montserrat"/>
                <a:cs typeface="Montserrat"/>
                <a:sym typeface="Montserrat"/>
              </a:rPr>
              <a:t>500,000,000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5,796,000,000 + 500,000,000 = </a:t>
            </a:r>
            <a:r>
              <a:rPr lang="en" sz="1100" b="1">
                <a:solidFill>
                  <a:srgbClr val="E77A10"/>
                </a:solidFill>
                <a:latin typeface="Montserrat"/>
                <a:ea typeface="Montserrat"/>
                <a:cs typeface="Montserrat"/>
                <a:sym typeface="Montserrat"/>
              </a:rPr>
              <a:t>6,296,000,000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215" name="Google Shape;2215;p199"/>
          <p:cNvGrpSpPr/>
          <p:nvPr/>
        </p:nvGrpSpPr>
        <p:grpSpPr>
          <a:xfrm>
            <a:off x="76778" y="939562"/>
            <a:ext cx="2543025" cy="3723037"/>
            <a:chOff x="76784" y="895150"/>
            <a:chExt cx="2573391" cy="3767493"/>
          </a:xfrm>
        </p:grpSpPr>
        <p:grpSp>
          <p:nvGrpSpPr>
            <p:cNvPr id="2216" name="Google Shape;2216;p199"/>
            <p:cNvGrpSpPr/>
            <p:nvPr/>
          </p:nvGrpSpPr>
          <p:grpSpPr>
            <a:xfrm>
              <a:off x="76784" y="895150"/>
              <a:ext cx="2573391" cy="3767493"/>
              <a:chOff x="133650" y="895150"/>
              <a:chExt cx="2573391" cy="3767493"/>
            </a:xfrm>
          </p:grpSpPr>
          <p:pic>
            <p:nvPicPr>
              <p:cNvPr id="2217" name="Google Shape;2217;p199"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218" name="Google Shape;2218;p199"/>
              <p:cNvCxnSpPr>
                <a:endCxn id="2217"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219" name="Google Shape;2219;p199"/>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220" name="Google Shape;2220;p199"/>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221" name="Google Shape;2221;p199"/>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222" name="Google Shape;2222;p199"/>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223" name="Google Shape;2223;p199"/>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224" name="Google Shape;2224;p199"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225" name="Google Shape;2225;p199"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29"/>
        <p:cNvGrpSpPr/>
        <p:nvPr/>
      </p:nvGrpSpPr>
      <p:grpSpPr>
        <a:xfrm>
          <a:off x="0" y="0"/>
          <a:ext cx="0" cy="0"/>
          <a:chOff x="0" y="0"/>
          <a:chExt cx="0" cy="0"/>
        </a:xfrm>
      </p:grpSpPr>
      <p:grpSp>
        <p:nvGrpSpPr>
          <p:cNvPr id="2230" name="Google Shape;2230;p200"/>
          <p:cNvGrpSpPr/>
          <p:nvPr/>
        </p:nvGrpSpPr>
        <p:grpSpPr>
          <a:xfrm>
            <a:off x="239992" y="63853"/>
            <a:ext cx="8728050" cy="745997"/>
            <a:chOff x="236700" y="63853"/>
            <a:chExt cx="8728050" cy="745997"/>
          </a:xfrm>
        </p:grpSpPr>
        <p:sp>
          <p:nvSpPr>
            <p:cNvPr id="2231" name="Google Shape;2231;p20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32" name="Google Shape;2232;p20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33" name="Google Shape;2233;p20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34" name="Google Shape;2234;p20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35" name="Google Shape;2235;p20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36" name="Google Shape;2236;p20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37" name="Google Shape;2237;p20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38" name="Google Shape;2238;p200"/>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(3)</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39" name="Google Shape;2239;p20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40" name="Google Shape;2240;p20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241" name="Google Shape;2241;p20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42" name="Google Shape;2242;p200"/>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243" name="Google Shape;2243;p200"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244" name="Google Shape;2244;p200"/>
          <p:cNvPicPr preferRelativeResize="0"/>
          <p:nvPr/>
        </p:nvPicPr>
        <p:blipFill>
          <a:blip r:embed="rId6">
            <a:alphaModFix/>
          </a:blip>
          <a:stretch>
            <a:fillRect/>
          </a:stretch>
        </p:blipFill>
        <p:spPr>
          <a:xfrm>
            <a:off x="6744360" y="1741588"/>
            <a:ext cx="894924" cy="894924"/>
          </a:xfrm>
          <a:prstGeom prst="rect">
            <a:avLst/>
          </a:prstGeom>
          <a:noFill/>
          <a:ln>
            <a:noFill/>
          </a:ln>
        </p:spPr>
      </p:pic>
      <p:cxnSp>
        <p:nvCxnSpPr>
          <p:cNvPr id="2245" name="Google Shape;2245;p200"/>
          <p:cNvCxnSpPr>
            <a:stCxn id="2243" idx="3"/>
            <a:endCxn id="2244"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246" name="Google Shape;2246;p200"/>
          <p:cNvCxnSpPr>
            <a:stCxn id="2243" idx="2"/>
            <a:endCxn id="2247"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248" name="Google Shape;2248;p200"/>
          <p:cNvCxnSpPr>
            <a:stCxn id="2247" idx="3"/>
            <a:endCxn id="2244" idx="2"/>
          </p:cNvCxnSpPr>
          <p:nvPr/>
        </p:nvCxnSpPr>
        <p:spPr>
          <a:xfrm rot="10800000" flipH="1">
            <a:off x="4974822" y="263651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249" name="Google Shape;2249;p200"/>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250" name="Google Shape;2250;p200"/>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251" name="Google Shape;2251;p200"/>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252" name="Google Shape;2252;p200"/>
          <p:cNvSpPr txBox="1"/>
          <p:nvPr/>
        </p:nvSpPr>
        <p:spPr>
          <a:xfrm>
            <a:off x="2449625" y="947723"/>
            <a:ext cx="45387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4A86E8"/>
                </a:solidFill>
                <a:latin typeface="Montserrat"/>
                <a:ea typeface="Montserrat"/>
                <a:cs typeface="Montserrat"/>
                <a:sym typeface="Montserrat"/>
              </a:rPr>
              <a:t>8,2 billion VND = 5,9 billion VND for market electricity energy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+ 1,8 billion VND service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+ 0.8 billion VND difference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 VND additional electricity purchase fee</a:t>
            </a:r>
            <a:endParaRPr sz="1200">
              <a:solidFill>
                <a:srgbClr val="4A86E8"/>
              </a:solidFill>
              <a:latin typeface="Montserrat"/>
              <a:ea typeface="Montserrat"/>
              <a:cs typeface="Montserrat"/>
              <a:sym typeface="Montserrat"/>
            </a:endParaRPr>
          </a:p>
        </p:txBody>
      </p:sp>
      <p:sp>
        <p:nvSpPr>
          <p:cNvPr id="2253" name="Google Shape;2253;p200"/>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0.5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254" name="Google Shape;2254;p200"/>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6.2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pic>
        <p:nvPicPr>
          <p:cNvPr id="2255" name="Google Shape;2255;p200" title="solar-panel (1).png"/>
          <p:cNvPicPr preferRelativeResize="0"/>
          <p:nvPr/>
        </p:nvPicPr>
        <p:blipFill>
          <a:blip r:embed="rId7">
            <a:alphaModFix/>
          </a:blip>
          <a:stretch>
            <a:fillRect/>
          </a:stretch>
        </p:blipFill>
        <p:spPr>
          <a:xfrm>
            <a:off x="3995576" y="3683396"/>
            <a:ext cx="894925" cy="89495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grpSp>
        <p:nvGrpSpPr>
          <p:cNvPr id="2260" name="Google Shape;2260;p201"/>
          <p:cNvGrpSpPr/>
          <p:nvPr/>
        </p:nvGrpSpPr>
        <p:grpSpPr>
          <a:xfrm>
            <a:off x="239992" y="63853"/>
            <a:ext cx="8728050" cy="745997"/>
            <a:chOff x="236700" y="63853"/>
            <a:chExt cx="8728050" cy="745997"/>
          </a:xfrm>
        </p:grpSpPr>
        <p:sp>
          <p:nvSpPr>
            <p:cNvPr id="2261" name="Google Shape;2261;p20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2" name="Google Shape;2262;p20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63" name="Google Shape;2263;p20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64" name="Google Shape;2264;p20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65" name="Google Shape;2265;p20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66" name="Google Shape;2266;p20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67" name="Google Shape;2267;p20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68" name="Google Shape;2268;p201"/>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2: The "Duck Curve" &amp; Price Crashes</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269" name="Google Shape;2269;p20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70" name="Google Shape;2270;p20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71" name="Google Shape;2271;p201"/>
          <p:cNvSpPr txBox="1"/>
          <p:nvPr/>
        </p:nvSpPr>
        <p:spPr>
          <a:xfrm>
            <a:off x="240000" y="873763"/>
            <a:ext cx="8904000" cy="39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B3E6D"/>
                </a:solidFill>
                <a:latin typeface="Montserrat"/>
                <a:ea typeface="Montserrat"/>
                <a:cs typeface="Montserrat"/>
                <a:sym typeface="Montserrat"/>
              </a:rPr>
              <a:t>Your factory agrees to a </a:t>
            </a:r>
            <a:r>
              <a:rPr lang="en" sz="1200" b="1">
                <a:solidFill>
                  <a:srgbClr val="1B3E6D"/>
                </a:solidFill>
                <a:latin typeface="Montserrat"/>
                <a:ea typeface="Montserrat"/>
                <a:cs typeface="Montserrat"/>
                <a:sym typeface="Montserrat"/>
              </a:rPr>
              <a:t>Virtual DPPA</a:t>
            </a:r>
            <a:r>
              <a:rPr lang="en" sz="1200">
                <a:solidFill>
                  <a:srgbClr val="1B3E6D"/>
                </a:solidFill>
                <a:latin typeface="Montserrat"/>
                <a:ea typeface="Montserrat"/>
                <a:cs typeface="Montserrat"/>
                <a:sym typeface="Montserrat"/>
              </a:rPr>
              <a:t> (grid-connected) with a solar developer</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Fixed </a:t>
            </a:r>
            <a:r>
              <a:rPr lang="en" sz="1200" b="1">
                <a:solidFill>
                  <a:srgbClr val="1B3E6D"/>
                </a:solidFill>
                <a:latin typeface="Montserrat"/>
                <a:ea typeface="Montserrat"/>
                <a:cs typeface="Montserrat"/>
                <a:sym typeface="Montserrat"/>
              </a:rPr>
              <a:t>"Strike Price" of 1,800 VND/kWh.</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continues to pay local utility for the physical electricity you consume to keep the machines running.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&amp; developer settle the difference between the Strike Price &amp; the wholesale spot market floating price (FMP)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Sunny month: solar energy floods </a:t>
            </a:r>
            <a:r>
              <a:rPr lang="en" sz="1200" b="1">
                <a:solidFill>
                  <a:srgbClr val="1B3E6D"/>
                </a:solidFill>
                <a:latin typeface="Montserrat"/>
                <a:ea typeface="Montserrat"/>
                <a:cs typeface="Montserrat"/>
                <a:sym typeface="Montserrat"/>
              </a:rPr>
              <a:t>the national grid &amp; the midday FMP drops to 800 VND/kWh.</a:t>
            </a:r>
            <a:endParaRPr sz="1200" b="1">
              <a:solidFill>
                <a:srgbClr val="1B3E6D"/>
              </a:solidFill>
              <a:latin typeface="Montserrat"/>
              <a:ea typeface="Montserrat"/>
              <a:cs typeface="Montserrat"/>
              <a:sym typeface="Montserrat"/>
            </a:endParaRPr>
          </a:p>
        </p:txBody>
      </p:sp>
      <p:pic>
        <p:nvPicPr>
          <p:cNvPr id="2272" name="Google Shape;2272;p201"/>
          <p:cNvPicPr preferRelativeResize="0"/>
          <p:nvPr/>
        </p:nvPicPr>
        <p:blipFill>
          <a:blip r:embed="rId3">
            <a:alphaModFix/>
          </a:blip>
          <a:stretch>
            <a:fillRect/>
          </a:stretch>
        </p:blipFill>
        <p:spPr>
          <a:xfrm>
            <a:off x="4326350" y="2127675"/>
            <a:ext cx="4760074" cy="2798400"/>
          </a:xfrm>
          <a:prstGeom prst="rect">
            <a:avLst/>
          </a:prstGeom>
          <a:noFill/>
          <a:ln>
            <a:noFill/>
          </a:ln>
        </p:spPr>
      </p:pic>
      <p:sp>
        <p:nvSpPr>
          <p:cNvPr id="2273" name="Google Shape;2273;p201"/>
          <p:cNvSpPr txBox="1"/>
          <p:nvPr/>
        </p:nvSpPr>
        <p:spPr>
          <a:xfrm>
            <a:off x="236692" y="2078829"/>
            <a:ext cx="4138500" cy="293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Who owes money to whom? Since you are essentially paying two bills, how does this complicate your factory's monthly operational costs?</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Imagine a severe heat wave causes a power shortage, and the FMP spikes to 2,500 VND/kWh. How does the VPPA financially protect your factory's budget in this situation?</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If EVN raises the DPPA fees next year, your overall energy costs go up. How do you communicate this ongoing regulatory risk to your CFO for DPPA approval?</a:t>
            </a:r>
            <a:endParaRPr sz="1200">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pic>
        <p:nvPicPr>
          <p:cNvPr id="2274" name="Google Shape;2274;p20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275" name="Google Shape;2275;p20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grpSp>
        <p:nvGrpSpPr>
          <p:cNvPr id="2280" name="Google Shape;2280;p202"/>
          <p:cNvGrpSpPr/>
          <p:nvPr/>
        </p:nvGrpSpPr>
        <p:grpSpPr>
          <a:xfrm>
            <a:off x="239992" y="63853"/>
            <a:ext cx="8728050" cy="745997"/>
            <a:chOff x="236700" y="63853"/>
            <a:chExt cx="8728050" cy="745997"/>
          </a:xfrm>
        </p:grpSpPr>
        <p:sp>
          <p:nvSpPr>
            <p:cNvPr id="2281" name="Google Shape;2281;p20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82" name="Google Shape;2282;p20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83" name="Google Shape;2283;p20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84" name="Google Shape;2284;p20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85" name="Google Shape;2285;p20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86" name="Google Shape;2286;p20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87" name="Google Shape;2287;p20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88" name="Google Shape;2288;p202"/>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Actual Consumption Exceeds Contract Output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000" b="1">
                <a:solidFill>
                  <a:schemeClr val="lt1"/>
                </a:solidFill>
                <a:latin typeface="Montserrat"/>
                <a:ea typeface="Montserrat"/>
                <a:cs typeface="Montserrat"/>
                <a:sym typeface="Montserrat"/>
              </a:endParaRPr>
            </a:p>
          </p:txBody>
        </p:sp>
        <p:cxnSp>
          <p:nvCxnSpPr>
            <p:cNvPr id="2289" name="Google Shape;2289;p20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90" name="Google Shape;2290;p20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91" name="Google Shape;2291;p202"/>
          <p:cNvSpPr txBox="1"/>
          <p:nvPr/>
        </p:nvSpPr>
        <p:spPr>
          <a:xfrm>
            <a:off x="2619700" y="1558200"/>
            <a:ext cx="6470400" cy="266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8,000,000 kWh * 1,600 VND/kWh * 1.026 * 1.008 = </a:t>
            </a:r>
            <a:r>
              <a:rPr lang="en" sz="1100" b="1">
                <a:solidFill>
                  <a:srgbClr val="E77A10"/>
                </a:solidFill>
                <a:latin typeface="Montserrat"/>
                <a:ea typeface="Montserrat"/>
                <a:cs typeface="Montserrat"/>
                <a:sym typeface="Montserrat"/>
              </a:rPr>
              <a:t>13,237,862,400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8,000,000 kWh * 360 VND/kWh = </a:t>
            </a:r>
            <a:r>
              <a:rPr lang="en" sz="1100" b="1">
                <a:solidFill>
                  <a:srgbClr val="E77A10"/>
                </a:solidFill>
                <a:latin typeface="Montserrat"/>
                <a:ea typeface="Montserrat"/>
                <a:cs typeface="Montserrat"/>
                <a:sym typeface="Montserrat"/>
              </a:rPr>
              <a:t>2,880,000,000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8,000,000 kWh * 163.30 VND/kWh = </a:t>
            </a:r>
            <a:r>
              <a:rPr lang="en" sz="1100" b="1">
                <a:solidFill>
                  <a:srgbClr val="E77A10"/>
                </a:solidFill>
                <a:latin typeface="Montserrat"/>
                <a:ea typeface="Montserrat"/>
                <a:cs typeface="Montserrat"/>
                <a:sym typeface="Montserrat"/>
              </a:rPr>
              <a:t>1,306,400,000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1,000,000 kWh * 2,204 VND/kWh = </a:t>
            </a:r>
            <a:r>
              <a:rPr lang="en" sz="1100" b="1">
                <a:solidFill>
                  <a:srgbClr val="E77A10"/>
                </a:solidFill>
                <a:latin typeface="Montserrat"/>
                <a:ea typeface="Montserrat"/>
                <a:cs typeface="Montserrat"/>
                <a:sym typeface="Montserrat"/>
              </a:rPr>
              <a:t>2,204,000,000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292" name="Google Shape;2292;p20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93" name="Google Shape;2293;p20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94" name="Google Shape;2294;p202"/>
          <p:cNvSpPr txBox="1"/>
          <p:nvPr/>
        </p:nvSpPr>
        <p:spPr>
          <a:xfrm>
            <a:off x="2619700" y="941175"/>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1000 MWh</a:t>
            </a:r>
            <a:endParaRPr sz="1200">
              <a:solidFill>
                <a:srgbClr val="1B3E6D"/>
              </a:solidFill>
              <a:latin typeface="Montserrat"/>
              <a:ea typeface="Montserrat"/>
              <a:cs typeface="Montserrat"/>
              <a:sym typeface="Montserrat"/>
            </a:endParaRPr>
          </a:p>
        </p:txBody>
      </p:sp>
      <p:sp>
        <p:nvSpPr>
          <p:cNvPr id="2295" name="Google Shape;2295;p202"/>
          <p:cNvSpPr txBox="1"/>
          <p:nvPr/>
        </p:nvSpPr>
        <p:spPr>
          <a:xfrm>
            <a:off x="5920650" y="941175"/>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must purchase additional electricity from EVN</a:t>
            </a:r>
            <a:endParaRPr sz="1200">
              <a:solidFill>
                <a:srgbClr val="1B3E6D"/>
              </a:solidFill>
              <a:latin typeface="Montserrat"/>
              <a:ea typeface="Montserrat"/>
              <a:cs typeface="Montserrat"/>
              <a:sym typeface="Montserrat"/>
            </a:endParaRPr>
          </a:p>
        </p:txBody>
      </p:sp>
      <p:cxnSp>
        <p:nvCxnSpPr>
          <p:cNvPr id="2296" name="Google Shape;2296;p202"/>
          <p:cNvCxnSpPr>
            <a:stCxn id="2294" idx="3"/>
            <a:endCxn id="2295" idx="1"/>
          </p:cNvCxnSpPr>
          <p:nvPr/>
        </p:nvCxnSpPr>
        <p:spPr>
          <a:xfrm>
            <a:off x="5667100" y="1184025"/>
            <a:ext cx="253500" cy="0"/>
          </a:xfrm>
          <a:prstGeom prst="straightConnector1">
            <a:avLst/>
          </a:prstGeom>
          <a:noFill/>
          <a:ln w="9525" cap="flat" cmpd="sng">
            <a:solidFill>
              <a:schemeClr val="dk2"/>
            </a:solidFill>
            <a:prstDash val="solid"/>
            <a:round/>
            <a:headEnd type="none" w="med" len="med"/>
            <a:tailEnd type="triangle" w="med" len="med"/>
          </a:ln>
        </p:spPr>
      </p:cxnSp>
      <p:sp>
        <p:nvSpPr>
          <p:cNvPr id="2297" name="Google Shape;2297;p202"/>
          <p:cNvSpPr/>
          <p:nvPr/>
        </p:nvSpPr>
        <p:spPr>
          <a:xfrm>
            <a:off x="2388525" y="409857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13,237,862,400 + 2,880,000,000 + 1,306,400,000 + 2,204,000,000 = </a:t>
            </a:r>
            <a:r>
              <a:rPr lang="en" sz="1100" b="1">
                <a:solidFill>
                  <a:srgbClr val="E77A10"/>
                </a:solidFill>
                <a:latin typeface="Montserrat"/>
                <a:ea typeface="Montserrat"/>
                <a:cs typeface="Montserrat"/>
                <a:sym typeface="Montserrat"/>
              </a:rPr>
              <a:t>19,628,262,400 VND</a:t>
            </a:r>
            <a:endParaRPr sz="1300"/>
          </a:p>
        </p:txBody>
      </p:sp>
      <p:grpSp>
        <p:nvGrpSpPr>
          <p:cNvPr id="2298" name="Google Shape;2298;p202"/>
          <p:cNvGrpSpPr/>
          <p:nvPr/>
        </p:nvGrpSpPr>
        <p:grpSpPr>
          <a:xfrm>
            <a:off x="76784" y="895150"/>
            <a:ext cx="2573391" cy="3767493"/>
            <a:chOff x="76784" y="895150"/>
            <a:chExt cx="2573391" cy="3767493"/>
          </a:xfrm>
        </p:grpSpPr>
        <p:grpSp>
          <p:nvGrpSpPr>
            <p:cNvPr id="2299" name="Google Shape;2299;p202"/>
            <p:cNvGrpSpPr/>
            <p:nvPr/>
          </p:nvGrpSpPr>
          <p:grpSpPr>
            <a:xfrm>
              <a:off x="76784" y="895150"/>
              <a:ext cx="2573391" cy="3767493"/>
              <a:chOff x="133650" y="895150"/>
              <a:chExt cx="2573391" cy="3767493"/>
            </a:xfrm>
          </p:grpSpPr>
          <p:pic>
            <p:nvPicPr>
              <p:cNvPr id="2300" name="Google Shape;2300;p202"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01" name="Google Shape;2301;p202"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02" name="Google Shape;2302;p202"/>
              <p:cNvCxnSpPr>
                <a:stCxn id="2300" idx="2"/>
                <a:endCxn id="2301"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03" name="Google Shape;2303;p202"/>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04" name="Google Shape;2304;p202"/>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05" name="Google Shape;2305;p202"/>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06" name="Google Shape;2306;p202"/>
              <p:cNvSpPr txBox="1"/>
              <p:nvPr/>
            </p:nvSpPr>
            <p:spPr>
              <a:xfrm>
                <a:off x="1401653" y="37049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07" name="Google Shape;2307;p202"/>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08" name="Google Shape;2308;p202"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12"/>
        <p:cNvGrpSpPr/>
        <p:nvPr/>
      </p:nvGrpSpPr>
      <p:grpSpPr>
        <a:xfrm>
          <a:off x="0" y="0"/>
          <a:ext cx="0" cy="0"/>
          <a:chOff x="0" y="0"/>
          <a:chExt cx="0" cy="0"/>
        </a:xfrm>
      </p:grpSpPr>
      <p:grpSp>
        <p:nvGrpSpPr>
          <p:cNvPr id="2313" name="Google Shape;2313;p203"/>
          <p:cNvGrpSpPr/>
          <p:nvPr/>
        </p:nvGrpSpPr>
        <p:grpSpPr>
          <a:xfrm>
            <a:off x="239992" y="63853"/>
            <a:ext cx="8728050" cy="745997"/>
            <a:chOff x="236700" y="63853"/>
            <a:chExt cx="8728050" cy="745997"/>
          </a:xfrm>
        </p:grpSpPr>
        <p:sp>
          <p:nvSpPr>
            <p:cNvPr id="2314" name="Google Shape;2314;p20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15" name="Google Shape;2315;p20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16" name="Google Shape;2316;p20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17" name="Google Shape;2317;p20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18" name="Google Shape;2318;p20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19" name="Google Shape;2319;p20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20" name="Google Shape;2320;p20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21" name="Google Shape;2321;p203"/>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(2)</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22" name="Google Shape;2322;p20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23" name="Google Shape;2323;p20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324" name="Google Shape;2324;p203"/>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(1,500 - 1,600) VND/kWh * 8,000,000 kWh = -</a:t>
            </a:r>
            <a:r>
              <a:rPr lang="en" sz="1100" b="1">
                <a:solidFill>
                  <a:srgbClr val="E77A10"/>
                </a:solidFill>
                <a:latin typeface="Montserrat"/>
                <a:ea typeface="Montserrat"/>
                <a:cs typeface="Montserrat"/>
                <a:sym typeface="Montserrat"/>
              </a:rPr>
              <a:t>800,000,000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325" name="Google Shape;2325;p20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26" name="Google Shape;2326;p203"/>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327" name="Google Shape;2327;p203"/>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19,628,262,400 + (-800,000,000) = </a:t>
            </a:r>
            <a:r>
              <a:rPr lang="en" sz="1100" b="1">
                <a:solidFill>
                  <a:srgbClr val="176B62"/>
                </a:solidFill>
                <a:latin typeface="Montserrat"/>
                <a:ea typeface="Montserrat"/>
                <a:cs typeface="Montserrat"/>
                <a:sym typeface="Montserrat"/>
              </a:rPr>
              <a:t>18,828,262,400 VND</a:t>
            </a:r>
            <a:endParaRPr b="1">
              <a:solidFill>
                <a:srgbClr val="176B62"/>
              </a:solidFill>
            </a:endParaRPr>
          </a:p>
        </p:txBody>
      </p:sp>
      <p:sp>
        <p:nvSpPr>
          <p:cNvPr id="2328" name="Google Shape;2328;p203"/>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8,000 MWh</a:t>
            </a:r>
            <a:r>
              <a:rPr lang="en" sz="1100">
                <a:solidFill>
                  <a:srgbClr val="1B3E6D"/>
                </a:solidFill>
                <a:latin typeface="Montserrat"/>
                <a:ea typeface="Montserrat"/>
                <a:cs typeface="Montserrat"/>
                <a:sym typeface="Montserrat"/>
              </a:rPr>
              <a:t> (after loss ~8,064,000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8,064,000 kWh * 1,600 VND/kWh = </a:t>
            </a:r>
            <a:r>
              <a:rPr lang="en" sz="1100" b="1">
                <a:solidFill>
                  <a:srgbClr val="E77A10"/>
                </a:solidFill>
                <a:latin typeface="Montserrat"/>
                <a:ea typeface="Montserrat"/>
                <a:cs typeface="Montserrat"/>
                <a:sym typeface="Montserrat"/>
              </a:rPr>
              <a:t>12,902,400,000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8,000,000 kWh * (1,500 - 1,600) = </a:t>
            </a:r>
            <a:r>
              <a:rPr lang="en" sz="1100" b="1">
                <a:solidFill>
                  <a:srgbClr val="E77A10"/>
                </a:solidFill>
                <a:latin typeface="Montserrat"/>
                <a:ea typeface="Montserrat"/>
                <a:cs typeface="Montserrat"/>
                <a:sym typeface="Montserrat"/>
              </a:rPr>
              <a:t>-800,000,000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12,902,400,000 + (-800,000,000) = </a:t>
            </a:r>
            <a:r>
              <a:rPr lang="en" sz="1100" b="1">
                <a:solidFill>
                  <a:srgbClr val="E77A10"/>
                </a:solidFill>
                <a:latin typeface="Montserrat"/>
                <a:ea typeface="Montserrat"/>
                <a:cs typeface="Montserrat"/>
                <a:sym typeface="Montserrat"/>
              </a:rPr>
              <a:t>12,102,400,000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329" name="Google Shape;2329;p203"/>
          <p:cNvGrpSpPr/>
          <p:nvPr/>
        </p:nvGrpSpPr>
        <p:grpSpPr>
          <a:xfrm>
            <a:off x="76784" y="895150"/>
            <a:ext cx="2573391" cy="3767493"/>
            <a:chOff x="76784" y="895150"/>
            <a:chExt cx="2573391" cy="3767493"/>
          </a:xfrm>
        </p:grpSpPr>
        <p:grpSp>
          <p:nvGrpSpPr>
            <p:cNvPr id="2330" name="Google Shape;2330;p203"/>
            <p:cNvGrpSpPr/>
            <p:nvPr/>
          </p:nvGrpSpPr>
          <p:grpSpPr>
            <a:xfrm>
              <a:off x="76784" y="895150"/>
              <a:ext cx="2573391" cy="3767493"/>
              <a:chOff x="133650" y="895150"/>
              <a:chExt cx="2573391" cy="3767493"/>
            </a:xfrm>
          </p:grpSpPr>
          <p:pic>
            <p:nvPicPr>
              <p:cNvPr id="2331" name="Google Shape;2331;p203"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32" name="Google Shape;2332;p203"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33" name="Google Shape;2333;p203"/>
              <p:cNvCxnSpPr>
                <a:stCxn id="2331" idx="2"/>
                <a:endCxn id="2332"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34" name="Google Shape;2334;p203"/>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35" name="Google Shape;2335;p203"/>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36" name="Google Shape;2336;p203"/>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37" name="Google Shape;2337;p203"/>
              <p:cNvSpPr txBox="1"/>
              <p:nvPr/>
            </p:nvSpPr>
            <p:spPr>
              <a:xfrm>
                <a:off x="1359716" y="37857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38" name="Google Shape;2338;p203"/>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39" name="Google Shape;2339;p203"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grpSp>
        <p:nvGrpSpPr>
          <p:cNvPr id="2344" name="Google Shape;2344;p204"/>
          <p:cNvGrpSpPr/>
          <p:nvPr/>
        </p:nvGrpSpPr>
        <p:grpSpPr>
          <a:xfrm>
            <a:off x="239992" y="63853"/>
            <a:ext cx="8728050" cy="745997"/>
            <a:chOff x="236700" y="63853"/>
            <a:chExt cx="8728050" cy="745997"/>
          </a:xfrm>
        </p:grpSpPr>
        <p:sp>
          <p:nvSpPr>
            <p:cNvPr id="2345" name="Google Shape;2345;p20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46" name="Google Shape;2346;p20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47" name="Google Shape;2347;p20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48" name="Google Shape;2348;p20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49" name="Google Shape;2349;p20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50" name="Google Shape;2350;p20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51" name="Google Shape;2351;p20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52" name="Google Shape;2352;p204"/>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(3)</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53" name="Google Shape;2353;p20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54" name="Google Shape;2354;p20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355" name="Google Shape;2355;p20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56" name="Google Shape;2356;p204"/>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357" name="Google Shape;2357;p204"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358" name="Google Shape;2358;p204"/>
          <p:cNvPicPr preferRelativeResize="0"/>
          <p:nvPr/>
        </p:nvPicPr>
        <p:blipFill>
          <a:blip r:embed="rId6">
            <a:alphaModFix/>
          </a:blip>
          <a:stretch>
            <a:fillRect/>
          </a:stretch>
        </p:blipFill>
        <p:spPr>
          <a:xfrm>
            <a:off x="6744360" y="1741588"/>
            <a:ext cx="894924" cy="894924"/>
          </a:xfrm>
          <a:prstGeom prst="rect">
            <a:avLst/>
          </a:prstGeom>
          <a:noFill/>
          <a:ln>
            <a:noFill/>
          </a:ln>
        </p:spPr>
      </p:pic>
      <p:pic>
        <p:nvPicPr>
          <p:cNvPr id="2359" name="Google Shape;2359;p204" title="renewable-energy.png"/>
          <p:cNvPicPr preferRelativeResize="0"/>
          <p:nvPr/>
        </p:nvPicPr>
        <p:blipFill>
          <a:blip r:embed="rId7">
            <a:alphaModFix/>
          </a:blip>
          <a:stretch>
            <a:fillRect/>
          </a:stretch>
        </p:blipFill>
        <p:spPr>
          <a:xfrm>
            <a:off x="3910239" y="3436770"/>
            <a:ext cx="1064475" cy="1064504"/>
          </a:xfrm>
          <a:prstGeom prst="rect">
            <a:avLst/>
          </a:prstGeom>
          <a:noFill/>
          <a:ln>
            <a:noFill/>
          </a:ln>
        </p:spPr>
      </p:pic>
      <p:cxnSp>
        <p:nvCxnSpPr>
          <p:cNvPr id="2360" name="Google Shape;2360;p204"/>
          <p:cNvCxnSpPr>
            <a:stCxn id="2357" idx="3"/>
            <a:endCxn id="2358"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361" name="Google Shape;2361;p204"/>
          <p:cNvCxnSpPr>
            <a:stCxn id="2357" idx="2"/>
            <a:endCxn id="2359"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362" name="Google Shape;2362;p204"/>
          <p:cNvCxnSpPr>
            <a:stCxn id="2359" idx="3"/>
            <a:endCxn id="2358" idx="2"/>
          </p:cNvCxnSpPr>
          <p:nvPr/>
        </p:nvCxnSpPr>
        <p:spPr>
          <a:xfrm rot="10800000" flipH="1">
            <a:off x="4974714" y="263642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363" name="Google Shape;2363;p204"/>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364" name="Google Shape;2364;p204"/>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365" name="Google Shape;2365;p204"/>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366" name="Google Shape;2366;p204"/>
          <p:cNvSpPr txBox="1"/>
          <p:nvPr/>
        </p:nvSpPr>
        <p:spPr>
          <a:xfrm>
            <a:off x="2449625" y="947728"/>
            <a:ext cx="4538700" cy="6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4A86E8"/>
                </a:solidFill>
                <a:latin typeface="Montserrat"/>
                <a:ea typeface="Montserrat"/>
                <a:cs typeface="Montserrat"/>
                <a:sym typeface="Montserrat"/>
              </a:rPr>
              <a:t>19.628 billion VND = 13.238 billion for market electricity energy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+ 2.880 billion service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+ 1.306 billion difference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+ 2.204 billion additional electricity purchase fee</a:t>
            </a:r>
            <a:endParaRPr sz="1300">
              <a:solidFill>
                <a:srgbClr val="4A86E8"/>
              </a:solidFill>
              <a:latin typeface="Montserrat"/>
              <a:ea typeface="Montserrat"/>
              <a:cs typeface="Montserrat"/>
              <a:sym typeface="Montserrat"/>
            </a:endParaRPr>
          </a:p>
        </p:txBody>
      </p:sp>
      <p:sp>
        <p:nvSpPr>
          <p:cNvPr id="2367" name="Google Shape;2367;p204"/>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0.800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368" name="Google Shape;2368;p204"/>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12.902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72"/>
        <p:cNvGrpSpPr/>
        <p:nvPr/>
      </p:nvGrpSpPr>
      <p:grpSpPr>
        <a:xfrm>
          <a:off x="0" y="0"/>
          <a:ext cx="0" cy="0"/>
          <a:chOff x="0" y="0"/>
          <a:chExt cx="0" cy="0"/>
        </a:xfrm>
      </p:grpSpPr>
      <p:pic>
        <p:nvPicPr>
          <p:cNvPr id="2373" name="Google Shape;2373;p205"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74" name="Google Shape;2374;p205"/>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375" name="Google Shape;2375;p205"/>
          <p:cNvSpPr txBox="1"/>
          <p:nvPr/>
        </p:nvSpPr>
        <p:spPr>
          <a:xfrm>
            <a:off x="240000" y="2689725"/>
            <a:ext cx="8685900" cy="20151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The average EVN retail price is about</a:t>
            </a:r>
            <a:r>
              <a:rPr lang="en" sz="1200" b="1">
                <a:solidFill>
                  <a:srgbClr val="1B3E6D"/>
                </a:solidFill>
                <a:latin typeface="Montserrat"/>
                <a:ea typeface="Montserrat"/>
                <a:cs typeface="Montserrat"/>
                <a:sym typeface="Montserrat"/>
              </a:rPr>
              <a:t> 1,800 VND/kWh.</a:t>
            </a:r>
            <a:r>
              <a:rPr lang="en" sz="1200">
                <a:solidFill>
                  <a:srgbClr val="1B3E6D"/>
                </a:solidFill>
                <a:latin typeface="Montserrat"/>
                <a:ea typeface="Montserrat"/>
                <a:cs typeface="Montserrat"/>
                <a:sym typeface="Montserrat"/>
              </a:rPr>
              <a:t> </a:t>
            </a:r>
            <a:r>
              <a:rPr lang="en" sz="1200" b="1">
                <a:solidFill>
                  <a:srgbClr val="4A86E8"/>
                </a:solidFill>
                <a:latin typeface="Montserrat"/>
                <a:ea typeface="Montserrat"/>
                <a:cs typeface="Montserrat"/>
                <a:sym typeface="Montserrat"/>
              </a:rPr>
              <a:t>Customer C</a:t>
            </a:r>
            <a:r>
              <a:rPr lang="en" sz="1200">
                <a:solidFill>
                  <a:srgbClr val="1B3E6D"/>
                </a:solidFill>
                <a:latin typeface="Montserrat"/>
                <a:ea typeface="Montserrat"/>
                <a:cs typeface="Montserrat"/>
                <a:sym typeface="Montserrat"/>
              </a:rPr>
              <a:t> receives </a:t>
            </a:r>
            <a:r>
              <a:rPr lang="en" sz="1200" b="1">
                <a:solidFill>
                  <a:srgbClr val="1B3E6D"/>
                </a:solidFill>
                <a:latin typeface="Montserrat"/>
                <a:ea typeface="Montserrat"/>
                <a:cs typeface="Montserrat"/>
                <a:sym typeface="Montserrat"/>
              </a:rPr>
              <a:t>900,000 kWh</a:t>
            </a:r>
            <a:r>
              <a:rPr lang="en" sz="1200">
                <a:solidFill>
                  <a:srgbClr val="1B3E6D"/>
                </a:solidFill>
                <a:latin typeface="Montserrat"/>
                <a:ea typeface="Montserrat"/>
                <a:cs typeface="Montserrat"/>
                <a:sym typeface="Montserrat"/>
              </a:rPr>
              <a:t> of renewable electricity via DPPA (</a:t>
            </a:r>
            <a:r>
              <a:rPr lang="en" sz="1200" b="1">
                <a:solidFill>
                  <a:srgbClr val="FF9900"/>
                </a:solidFill>
                <a:latin typeface="Montserrat"/>
                <a:ea typeface="Montserrat"/>
                <a:cs typeface="Montserrat"/>
                <a:sym typeface="Montserrat"/>
              </a:rPr>
              <a:t>600k from X</a:t>
            </a:r>
            <a:r>
              <a:rPr lang="en" sz="1200">
                <a:solidFill>
                  <a:srgbClr val="1B3E6D"/>
                </a:solidFill>
                <a:latin typeface="Montserrat"/>
                <a:ea typeface="Montserrat"/>
                <a:cs typeface="Montserrat"/>
                <a:sym typeface="Montserrat"/>
              </a:rPr>
              <a:t>, </a:t>
            </a:r>
            <a:r>
              <a:rPr lang="en" sz="1200" b="1">
                <a:solidFill>
                  <a:srgbClr val="6DBA7F"/>
                </a:solidFill>
                <a:latin typeface="Montserrat"/>
                <a:ea typeface="Montserrat"/>
                <a:cs typeface="Montserrat"/>
                <a:sym typeface="Montserrat"/>
              </a:rPr>
              <a:t>300k from Y</a:t>
            </a:r>
            <a:r>
              <a:rPr lang="en" sz="1200">
                <a:solidFill>
                  <a:srgbClr val="1B3E6D"/>
                </a:solidFill>
                <a:latin typeface="Montserrat"/>
                <a:ea typeface="Montserrat"/>
                <a:cs typeface="Montserrat"/>
                <a:sym typeface="Montserrat"/>
              </a:rPr>
              <a:t>) and must purchase an additional </a:t>
            </a:r>
            <a:r>
              <a:rPr lang="en" sz="1200" b="1">
                <a:solidFill>
                  <a:srgbClr val="1B3E6D"/>
                </a:solidFill>
                <a:latin typeface="Montserrat"/>
                <a:ea typeface="Montserrat"/>
                <a:cs typeface="Montserrat"/>
                <a:sym typeface="Montserrat"/>
              </a:rPr>
              <a:t>100,000 kWh</a:t>
            </a:r>
            <a:r>
              <a:rPr lang="en" sz="1200">
                <a:solidFill>
                  <a:srgbClr val="1B3E6D"/>
                </a:solidFill>
                <a:latin typeface="Montserrat"/>
                <a:ea typeface="Montserrat"/>
                <a:cs typeface="Montserrat"/>
                <a:sym typeface="Montserrat"/>
              </a:rPr>
              <a:t> from EVN (regular grid electricity) to meet demand.</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Assume the average electricity market price for that month is SMP = 1,600 VND/kWh (applied equally to both plants)</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Then, comparing prices, </a:t>
            </a:r>
            <a:r>
              <a:rPr lang="en" sz="1200" b="1">
                <a:solidFill>
                  <a:srgbClr val="FF9900"/>
                </a:solidFill>
                <a:latin typeface="Montserrat"/>
                <a:ea typeface="Montserrat"/>
                <a:cs typeface="Montserrat"/>
                <a:sym typeface="Montserrat"/>
              </a:rPr>
              <a:t>plant X has Pc,X = 1,500</a:t>
            </a:r>
            <a:r>
              <a:rPr lang="en" sz="1200">
                <a:solidFill>
                  <a:srgbClr val="1B3E6D"/>
                </a:solidFill>
                <a:latin typeface="Montserrat"/>
                <a:ea typeface="Montserrat"/>
                <a:cs typeface="Montserrat"/>
                <a:sym typeface="Montserrat"/>
              </a:rPr>
              <a:t> which is lower than SMP, </a:t>
            </a:r>
            <a:r>
              <a:rPr lang="en" sz="1200" b="1">
                <a:solidFill>
                  <a:srgbClr val="6DBA7F"/>
                </a:solidFill>
                <a:latin typeface="Montserrat"/>
                <a:ea typeface="Montserrat"/>
                <a:cs typeface="Montserrat"/>
                <a:sym typeface="Montserrat"/>
              </a:rPr>
              <a:t>plant Y has Pc,Y = 1,700</a:t>
            </a:r>
            <a:r>
              <a:rPr lang="en" sz="1200">
                <a:solidFill>
                  <a:srgbClr val="1B3E6D"/>
                </a:solidFill>
                <a:latin typeface="Montserrat"/>
                <a:ea typeface="Montserrat"/>
                <a:cs typeface="Montserrat"/>
                <a:sym typeface="Montserrat"/>
              </a:rPr>
              <a:t> which is higher than SMP. This leads to </a:t>
            </a:r>
            <a:r>
              <a:rPr lang="en" sz="1200" b="1">
                <a:solidFill>
                  <a:srgbClr val="FF9900"/>
                </a:solidFill>
                <a:latin typeface="Montserrat"/>
                <a:ea typeface="Montserrat"/>
                <a:cs typeface="Montserrat"/>
                <a:sym typeface="Montserrat"/>
              </a:rPr>
              <a:t>plant X</a:t>
            </a:r>
            <a:r>
              <a:rPr lang="en" sz="1200">
                <a:solidFill>
                  <a:srgbClr val="1B3E6D"/>
                </a:solidFill>
                <a:latin typeface="Montserrat"/>
                <a:ea typeface="Montserrat"/>
                <a:cs typeface="Montserrat"/>
                <a:sym typeface="Montserrat"/>
              </a:rPr>
              <a:t> having to pay the difference to </a:t>
            </a:r>
            <a:r>
              <a:rPr lang="en" sz="1200" b="1">
                <a:solidFill>
                  <a:srgbClr val="4A86E8"/>
                </a:solidFill>
                <a:latin typeface="Montserrat"/>
                <a:ea typeface="Montserrat"/>
                <a:cs typeface="Montserrat"/>
                <a:sym typeface="Montserrat"/>
              </a:rPr>
              <a:t>customer C</a:t>
            </a:r>
            <a:r>
              <a:rPr lang="en" sz="1200">
                <a:solidFill>
                  <a:srgbClr val="1B3E6D"/>
                </a:solidFill>
                <a:latin typeface="Montserrat"/>
                <a:ea typeface="Montserrat"/>
                <a:cs typeface="Montserrat"/>
                <a:sym typeface="Montserrat"/>
              </a:rPr>
              <a:t>, while </a:t>
            </a:r>
            <a:r>
              <a:rPr lang="en" sz="1200" b="1">
                <a:solidFill>
                  <a:srgbClr val="4A86E8"/>
                </a:solidFill>
                <a:latin typeface="Montserrat"/>
                <a:ea typeface="Montserrat"/>
                <a:cs typeface="Montserrat"/>
                <a:sym typeface="Montserrat"/>
              </a:rPr>
              <a:t>customer C</a:t>
            </a:r>
            <a:r>
              <a:rPr lang="en" sz="1200">
                <a:solidFill>
                  <a:srgbClr val="1B3E6D"/>
                </a:solidFill>
                <a:latin typeface="Montserrat"/>
                <a:ea typeface="Montserrat"/>
                <a:cs typeface="Montserrat"/>
                <a:sym typeface="Montserrat"/>
              </a:rPr>
              <a:t> has to pay the difference to </a:t>
            </a:r>
            <a:r>
              <a:rPr lang="en" sz="1200" b="1">
                <a:solidFill>
                  <a:srgbClr val="6DBA7F"/>
                </a:solidFill>
                <a:latin typeface="Montserrat"/>
                <a:ea typeface="Montserrat"/>
                <a:cs typeface="Montserrat"/>
                <a:sym typeface="Montserrat"/>
              </a:rPr>
              <a:t>plant Y</a:t>
            </a:r>
            <a:r>
              <a:rPr lang="en" sz="1200">
                <a:solidFill>
                  <a:srgbClr val="1B3E6D"/>
                </a:solidFill>
                <a:latin typeface="Montserrat"/>
                <a:ea typeface="Montserrat"/>
                <a:cs typeface="Montserrat"/>
                <a:sym typeface="Montserrat"/>
              </a:rPr>
              <a:t>.</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200">
              <a:solidFill>
                <a:srgbClr val="1B3E6D"/>
              </a:solidFill>
              <a:latin typeface="Montserrat"/>
              <a:ea typeface="Montserrat"/>
              <a:cs typeface="Montserrat"/>
              <a:sym typeface="Montserrat"/>
            </a:endParaRPr>
          </a:p>
        </p:txBody>
      </p:sp>
      <p:grpSp>
        <p:nvGrpSpPr>
          <p:cNvPr id="2376" name="Google Shape;2376;p205"/>
          <p:cNvGrpSpPr/>
          <p:nvPr/>
        </p:nvGrpSpPr>
        <p:grpSpPr>
          <a:xfrm>
            <a:off x="239992" y="63853"/>
            <a:ext cx="8728050" cy="745997"/>
            <a:chOff x="236700" y="63853"/>
            <a:chExt cx="8728050" cy="745997"/>
          </a:xfrm>
        </p:grpSpPr>
        <p:sp>
          <p:nvSpPr>
            <p:cNvPr id="2377" name="Google Shape;2377;p20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78" name="Google Shape;2378;p20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79" name="Google Shape;2379;p20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80" name="Google Shape;2380;p20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81" name="Google Shape;2381;p20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82" name="Google Shape;2382;p205"/>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500" b="1">
                  <a:solidFill>
                    <a:schemeClr val="lt1"/>
                  </a:solidFill>
                  <a:latin typeface="Montserrat"/>
                  <a:ea typeface="Montserrat"/>
                  <a:cs typeface="Montserrat"/>
                  <a:sym typeface="Montserrat"/>
                </a:rPr>
                <a:t>Scenario 4: One Large Customer buys Electricity from Multiple Power Plants (Different Contract Price for Each Plant) (1)</a:t>
              </a:r>
              <a:endParaRPr sz="15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1500">
                <a:solidFill>
                  <a:srgbClr val="FFFFFF"/>
                </a:solidFill>
                <a:latin typeface="Montserrat ExtraBold"/>
                <a:ea typeface="Montserrat ExtraBold"/>
                <a:cs typeface="Montserrat ExtraBold"/>
                <a:sym typeface="Montserrat ExtraBold"/>
              </a:endParaRPr>
            </a:p>
          </p:txBody>
        </p:sp>
        <p:cxnSp>
          <p:nvCxnSpPr>
            <p:cNvPr id="2383" name="Google Shape;2383;p205"/>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cxnSp>
          <p:nvCxnSpPr>
            <p:cNvPr id="2384" name="Google Shape;2384;p20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85" name="Google Shape;2385;p20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86" name="Google Shape;2386;p205"/>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grpSp>
      <p:grpSp>
        <p:nvGrpSpPr>
          <p:cNvPr id="2387" name="Google Shape;2387;p205"/>
          <p:cNvGrpSpPr/>
          <p:nvPr/>
        </p:nvGrpSpPr>
        <p:grpSpPr>
          <a:xfrm>
            <a:off x="240000" y="862450"/>
            <a:ext cx="8426351" cy="1774975"/>
            <a:chOff x="240000" y="862450"/>
            <a:chExt cx="8426351" cy="1774975"/>
          </a:xfrm>
        </p:grpSpPr>
        <p:grpSp>
          <p:nvGrpSpPr>
            <p:cNvPr id="2388" name="Google Shape;2388;p205"/>
            <p:cNvGrpSpPr/>
            <p:nvPr/>
          </p:nvGrpSpPr>
          <p:grpSpPr>
            <a:xfrm>
              <a:off x="240000" y="862450"/>
              <a:ext cx="8426351" cy="1774975"/>
              <a:chOff x="240000" y="862450"/>
              <a:chExt cx="8426351" cy="1774975"/>
            </a:xfrm>
          </p:grpSpPr>
          <p:pic>
            <p:nvPicPr>
              <p:cNvPr id="2389" name="Google Shape;2389;p205" title="wind-turbine.png"/>
              <p:cNvPicPr preferRelativeResize="0"/>
              <p:nvPr/>
            </p:nvPicPr>
            <p:blipFill>
              <a:blip r:embed="rId5">
                <a:alphaModFix/>
              </a:blip>
              <a:stretch>
                <a:fillRect/>
              </a:stretch>
            </p:blipFill>
            <p:spPr>
              <a:xfrm>
                <a:off x="873375" y="1191951"/>
                <a:ext cx="958175" cy="958175"/>
              </a:xfrm>
              <a:prstGeom prst="rect">
                <a:avLst/>
              </a:prstGeom>
              <a:noFill/>
              <a:ln>
                <a:noFill/>
              </a:ln>
            </p:spPr>
          </p:pic>
          <p:pic>
            <p:nvPicPr>
              <p:cNvPr id="2390" name="Google Shape;2390;p205" title="factory.png"/>
              <p:cNvPicPr preferRelativeResize="0"/>
              <p:nvPr/>
            </p:nvPicPr>
            <p:blipFill>
              <a:blip r:embed="rId6">
                <a:alphaModFix/>
              </a:blip>
              <a:stretch>
                <a:fillRect/>
              </a:stretch>
            </p:blipFill>
            <p:spPr>
              <a:xfrm>
                <a:off x="4061766" y="1153193"/>
                <a:ext cx="1064475" cy="1064475"/>
              </a:xfrm>
              <a:prstGeom prst="rect">
                <a:avLst/>
              </a:prstGeom>
              <a:noFill/>
              <a:ln>
                <a:noFill/>
              </a:ln>
            </p:spPr>
          </p:pic>
          <p:pic>
            <p:nvPicPr>
              <p:cNvPr id="2391" name="Google Shape;2391;p205" title="solar-panel (1).png"/>
              <p:cNvPicPr preferRelativeResize="0"/>
              <p:nvPr/>
            </p:nvPicPr>
            <p:blipFill>
              <a:blip r:embed="rId7">
                <a:alphaModFix/>
              </a:blip>
              <a:stretch>
                <a:fillRect/>
              </a:stretch>
            </p:blipFill>
            <p:spPr>
              <a:xfrm>
                <a:off x="7279250" y="1223576"/>
                <a:ext cx="894925" cy="894925"/>
              </a:xfrm>
              <a:prstGeom prst="rect">
                <a:avLst/>
              </a:prstGeom>
              <a:noFill/>
              <a:ln>
                <a:noFill/>
              </a:ln>
            </p:spPr>
          </p:pic>
          <p:cxnSp>
            <p:nvCxnSpPr>
              <p:cNvPr id="2392" name="Google Shape;2392;p205"/>
              <p:cNvCxnSpPr>
                <a:stCxn id="2389" idx="3"/>
                <a:endCxn id="2390" idx="1"/>
              </p:cNvCxnSpPr>
              <p:nvPr/>
            </p:nvCxnSpPr>
            <p:spPr>
              <a:xfrm>
                <a:off x="1831550" y="1671038"/>
                <a:ext cx="2230200" cy="14400"/>
              </a:xfrm>
              <a:prstGeom prst="straightConnector1">
                <a:avLst/>
              </a:prstGeom>
              <a:noFill/>
              <a:ln w="9525" cap="flat" cmpd="sng">
                <a:solidFill>
                  <a:schemeClr val="dk2"/>
                </a:solidFill>
                <a:prstDash val="solid"/>
                <a:round/>
                <a:headEnd type="triangle" w="med" len="med"/>
                <a:tailEnd type="triangle" w="med" len="med"/>
              </a:ln>
            </p:spPr>
          </p:cxnSp>
          <p:cxnSp>
            <p:nvCxnSpPr>
              <p:cNvPr id="2393" name="Google Shape;2393;p205"/>
              <p:cNvCxnSpPr>
                <a:stCxn id="2390" idx="3"/>
                <a:endCxn id="2391" idx="1"/>
              </p:cNvCxnSpPr>
              <p:nvPr/>
            </p:nvCxnSpPr>
            <p:spPr>
              <a:xfrm rot="10800000" flipH="1">
                <a:off x="5126241" y="1671030"/>
                <a:ext cx="2153100" cy="14400"/>
              </a:xfrm>
              <a:prstGeom prst="straightConnector1">
                <a:avLst/>
              </a:prstGeom>
              <a:noFill/>
              <a:ln w="9525" cap="flat" cmpd="sng">
                <a:solidFill>
                  <a:schemeClr val="dk2"/>
                </a:solidFill>
                <a:prstDash val="solid"/>
                <a:round/>
                <a:headEnd type="triangle" w="med" len="med"/>
                <a:tailEnd type="triangle" w="med" len="med"/>
              </a:ln>
            </p:spPr>
          </p:cxnSp>
          <p:sp>
            <p:nvSpPr>
              <p:cNvPr id="2394" name="Google Shape;2394;p205"/>
              <p:cNvSpPr txBox="1"/>
              <p:nvPr/>
            </p:nvSpPr>
            <p:spPr>
              <a:xfrm>
                <a:off x="634476" y="862450"/>
                <a:ext cx="14802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6DBA7F"/>
                    </a:solidFill>
                    <a:latin typeface="Montserrat"/>
                    <a:ea typeface="Montserrat"/>
                    <a:cs typeface="Montserrat"/>
                    <a:sym typeface="Montserrat"/>
                  </a:rPr>
                  <a:t>Wind Plant Y</a:t>
                </a:r>
                <a:endParaRPr b="1">
                  <a:solidFill>
                    <a:srgbClr val="6DBA7F"/>
                  </a:solidFill>
                  <a:latin typeface="Montserrat"/>
                  <a:ea typeface="Montserrat"/>
                  <a:cs typeface="Montserrat"/>
                  <a:sym typeface="Montserrat"/>
                </a:endParaRPr>
              </a:p>
            </p:txBody>
          </p:sp>
          <p:sp>
            <p:nvSpPr>
              <p:cNvPr id="2395" name="Google Shape;2395;p205"/>
              <p:cNvSpPr txBox="1"/>
              <p:nvPr/>
            </p:nvSpPr>
            <p:spPr>
              <a:xfrm>
                <a:off x="7073351" y="862450"/>
                <a:ext cx="15930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9900"/>
                    </a:solidFill>
                    <a:latin typeface="Montserrat"/>
                    <a:ea typeface="Montserrat"/>
                    <a:cs typeface="Montserrat"/>
                    <a:sym typeface="Montserrat"/>
                  </a:rPr>
                  <a:t>Solar Plant X</a:t>
                </a:r>
                <a:endParaRPr b="1">
                  <a:solidFill>
                    <a:srgbClr val="FF9900"/>
                  </a:solidFill>
                  <a:latin typeface="Montserrat"/>
                  <a:ea typeface="Montserrat"/>
                  <a:cs typeface="Montserrat"/>
                  <a:sym typeface="Montserrat"/>
                </a:endParaRPr>
              </a:p>
            </p:txBody>
          </p:sp>
          <p:sp>
            <p:nvSpPr>
              <p:cNvPr id="2396" name="Google Shape;2396;p205"/>
              <p:cNvSpPr txBox="1"/>
              <p:nvPr/>
            </p:nvSpPr>
            <p:spPr>
              <a:xfrm>
                <a:off x="4014754" y="862450"/>
                <a:ext cx="13644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A86E8"/>
                    </a:solidFill>
                    <a:latin typeface="Montserrat"/>
                    <a:ea typeface="Montserrat"/>
                    <a:cs typeface="Montserrat"/>
                    <a:sym typeface="Montserrat"/>
                  </a:rPr>
                  <a:t>Customer C</a:t>
                </a:r>
                <a:endParaRPr b="1">
                  <a:solidFill>
                    <a:srgbClr val="4A86E8"/>
                  </a:solidFill>
                  <a:latin typeface="Montserrat"/>
                  <a:ea typeface="Montserrat"/>
                  <a:cs typeface="Montserrat"/>
                  <a:sym typeface="Montserrat"/>
                </a:endParaRPr>
              </a:p>
            </p:txBody>
          </p:sp>
          <p:sp>
            <p:nvSpPr>
              <p:cNvPr id="2397" name="Google Shape;2397;p205"/>
              <p:cNvSpPr txBox="1"/>
              <p:nvPr/>
            </p:nvSpPr>
            <p:spPr>
              <a:xfrm>
                <a:off x="240000" y="2202425"/>
                <a:ext cx="20550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rgbClr val="6DBA7F"/>
                    </a:solidFill>
                    <a:latin typeface="Montserrat"/>
                    <a:ea typeface="Montserrat"/>
                    <a:cs typeface="Montserrat"/>
                    <a:sym typeface="Montserrat"/>
                  </a:rPr>
                  <a:t>Actual Delivered Quantity = 300,000 kWh</a:t>
                </a:r>
                <a:endParaRPr sz="1100" b="1">
                  <a:solidFill>
                    <a:srgbClr val="6DBA7F"/>
                  </a:solidFill>
                  <a:latin typeface="Montserrat"/>
                  <a:ea typeface="Montserrat"/>
                  <a:cs typeface="Montserrat"/>
                  <a:sym typeface="Montserrat"/>
                </a:endParaRPr>
              </a:p>
            </p:txBody>
          </p:sp>
          <p:sp>
            <p:nvSpPr>
              <p:cNvPr id="2398" name="Google Shape;2398;p205"/>
              <p:cNvSpPr txBox="1"/>
              <p:nvPr/>
            </p:nvSpPr>
            <p:spPr>
              <a:xfrm>
                <a:off x="3427600" y="2184725"/>
                <a:ext cx="24843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rgbClr val="4A86E8"/>
                    </a:solidFill>
                    <a:latin typeface="Montserrat"/>
                    <a:ea typeface="Montserrat"/>
                    <a:cs typeface="Montserrat"/>
                    <a:sym typeface="Montserrat"/>
                  </a:rPr>
                  <a:t>Consumption  = 1,000,000 kWh</a:t>
                </a:r>
                <a:endParaRPr sz="1100" b="1">
                  <a:solidFill>
                    <a:srgbClr val="4A86E8"/>
                  </a:solidFill>
                  <a:latin typeface="Montserrat"/>
                  <a:ea typeface="Montserrat"/>
                  <a:cs typeface="Montserrat"/>
                  <a:sym typeface="Montserrat"/>
                </a:endParaRPr>
              </a:p>
            </p:txBody>
          </p:sp>
          <p:sp>
            <p:nvSpPr>
              <p:cNvPr id="2399" name="Google Shape;2399;p205"/>
              <p:cNvSpPr txBox="1"/>
              <p:nvPr/>
            </p:nvSpPr>
            <p:spPr>
              <a:xfrm>
                <a:off x="6611350" y="2202414"/>
                <a:ext cx="20550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rgbClr val="FF9900"/>
                    </a:solidFill>
                    <a:latin typeface="Montserrat"/>
                    <a:ea typeface="Montserrat"/>
                    <a:cs typeface="Montserrat"/>
                    <a:sym typeface="Montserrat"/>
                  </a:rPr>
                  <a:t>Actual Delivered Quantity = 600,000 kWh</a:t>
                </a:r>
                <a:endParaRPr sz="1100" b="1">
                  <a:solidFill>
                    <a:srgbClr val="FF9900"/>
                  </a:solidFill>
                  <a:latin typeface="Montserrat"/>
                  <a:ea typeface="Montserrat"/>
                  <a:cs typeface="Montserrat"/>
                  <a:sym typeface="Montserrat"/>
                </a:endParaRPr>
              </a:p>
            </p:txBody>
          </p:sp>
          <p:sp>
            <p:nvSpPr>
              <p:cNvPr id="2400" name="Google Shape;2400;p205"/>
              <p:cNvSpPr txBox="1"/>
              <p:nvPr/>
            </p:nvSpPr>
            <p:spPr>
              <a:xfrm>
                <a:off x="1704500" y="1210766"/>
                <a:ext cx="24843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CfD</a:t>
                </a:r>
                <a:endParaRPr sz="1100" b="1">
                  <a:solidFill>
                    <a:schemeClr val="dk2"/>
                  </a:solidFill>
                  <a:latin typeface="Montserrat"/>
                  <a:ea typeface="Montserrat"/>
                  <a:cs typeface="Montserrat"/>
                  <a:sym typeface="Montserrat"/>
                </a:endParaRPr>
              </a:p>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Pc,Y = 1,700 VND/kWh</a:t>
                </a:r>
                <a:endParaRPr sz="1100" b="1">
                  <a:solidFill>
                    <a:schemeClr val="dk2"/>
                  </a:solidFill>
                  <a:latin typeface="Montserrat"/>
                  <a:ea typeface="Montserrat"/>
                  <a:cs typeface="Montserrat"/>
                  <a:sym typeface="Montserrat"/>
                </a:endParaRPr>
              </a:p>
            </p:txBody>
          </p:sp>
          <p:sp>
            <p:nvSpPr>
              <p:cNvPr id="2401" name="Google Shape;2401;p205"/>
              <p:cNvSpPr txBox="1"/>
              <p:nvPr/>
            </p:nvSpPr>
            <p:spPr>
              <a:xfrm>
                <a:off x="4960650" y="1201041"/>
                <a:ext cx="24843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CfD</a:t>
                </a:r>
                <a:endParaRPr sz="1100" b="1">
                  <a:solidFill>
                    <a:schemeClr val="dk2"/>
                  </a:solidFill>
                  <a:latin typeface="Montserrat"/>
                  <a:ea typeface="Montserrat"/>
                  <a:cs typeface="Montserrat"/>
                  <a:sym typeface="Montserrat"/>
                </a:endParaRPr>
              </a:p>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Pc,X = 1,500 VND/kWh</a:t>
                </a:r>
                <a:endParaRPr sz="1100" b="1">
                  <a:solidFill>
                    <a:schemeClr val="dk2"/>
                  </a:solidFill>
                  <a:latin typeface="Montserrat"/>
                  <a:ea typeface="Montserrat"/>
                  <a:cs typeface="Montserrat"/>
                  <a:sym typeface="Montserrat"/>
                </a:endParaRPr>
              </a:p>
            </p:txBody>
          </p:sp>
        </p:grpSp>
        <p:pic>
          <p:nvPicPr>
            <p:cNvPr id="2402" name="Google Shape;2402;p205" title="handshake (1).png"/>
            <p:cNvPicPr preferRelativeResize="0"/>
            <p:nvPr/>
          </p:nvPicPr>
          <p:blipFill>
            <a:blip r:embed="rId8">
              <a:alphaModFix/>
            </a:blip>
            <a:stretch>
              <a:fillRect/>
            </a:stretch>
          </p:blipFill>
          <p:spPr>
            <a:xfrm>
              <a:off x="2614450" y="1666250"/>
              <a:ext cx="485775" cy="485775"/>
            </a:xfrm>
            <a:prstGeom prst="rect">
              <a:avLst/>
            </a:prstGeom>
            <a:noFill/>
            <a:ln>
              <a:noFill/>
            </a:ln>
          </p:spPr>
        </p:pic>
        <p:pic>
          <p:nvPicPr>
            <p:cNvPr id="2403" name="Google Shape;2403;p205" title="handshake (1).png"/>
            <p:cNvPicPr preferRelativeResize="0"/>
            <p:nvPr/>
          </p:nvPicPr>
          <p:blipFill>
            <a:blip r:embed="rId8">
              <a:alphaModFix/>
            </a:blip>
            <a:stretch>
              <a:fillRect/>
            </a:stretch>
          </p:blipFill>
          <p:spPr>
            <a:xfrm>
              <a:off x="5957725" y="1666250"/>
              <a:ext cx="485775" cy="485775"/>
            </a:xfrm>
            <a:prstGeom prst="rect">
              <a:avLst/>
            </a:prstGeom>
            <a:noFill/>
            <a:ln>
              <a:noFill/>
            </a:ln>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07"/>
        <p:cNvGrpSpPr/>
        <p:nvPr/>
      </p:nvGrpSpPr>
      <p:grpSpPr>
        <a:xfrm>
          <a:off x="0" y="0"/>
          <a:ext cx="0" cy="0"/>
          <a:chOff x="0" y="0"/>
          <a:chExt cx="0" cy="0"/>
        </a:xfrm>
      </p:grpSpPr>
      <p:sp>
        <p:nvSpPr>
          <p:cNvPr id="2408" name="Google Shape;2408;p206"/>
          <p:cNvSpPr/>
          <p:nvPr/>
        </p:nvSpPr>
        <p:spPr>
          <a:xfrm>
            <a:off x="242200" y="4488500"/>
            <a:ext cx="7862400" cy="392700"/>
          </a:xfrm>
          <a:prstGeom prst="rect">
            <a:avLst/>
          </a:prstGeom>
          <a:solidFill>
            <a:srgbClr val="C9DAF8"/>
          </a:solidFill>
          <a:ln w="19050" cap="flat" cmpd="sng">
            <a:solidFill>
              <a:srgbClr val="144B7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09" name="Google Shape;2409;p20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410" name="Google Shape;2410;p206"/>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411" name="Google Shape;2411;p206"/>
          <p:cNvGrpSpPr/>
          <p:nvPr/>
        </p:nvGrpSpPr>
        <p:grpSpPr>
          <a:xfrm>
            <a:off x="239992" y="63853"/>
            <a:ext cx="8728050" cy="745997"/>
            <a:chOff x="236700" y="63853"/>
            <a:chExt cx="8728050" cy="745997"/>
          </a:xfrm>
        </p:grpSpPr>
        <p:sp>
          <p:nvSpPr>
            <p:cNvPr id="2412" name="Google Shape;2412;p20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413" name="Google Shape;2413;p20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414" name="Google Shape;2414;p20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415" name="Google Shape;2415;p20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416" name="Google Shape;2416;p20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417" name="Google Shape;2417;p20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418" name="Google Shape;2418;p20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419" name="Google Shape;2419;p206"/>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500" b="1">
                  <a:solidFill>
                    <a:schemeClr val="lt1"/>
                  </a:solidFill>
                  <a:latin typeface="Montserrat"/>
                  <a:ea typeface="Montserrat"/>
                  <a:cs typeface="Montserrat"/>
                  <a:sym typeface="Montserrat"/>
                </a:rPr>
                <a:t>Scenario 4: One Large Customer buys Electricity from Multiple Power Plants (Different Contract Price for Each Plant) (2)</a:t>
              </a:r>
              <a:endParaRPr sz="15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1500">
                <a:solidFill>
                  <a:srgbClr val="FFFFFF"/>
                </a:solidFill>
                <a:latin typeface="Montserrat ExtraBold"/>
                <a:ea typeface="Montserrat ExtraBold"/>
                <a:cs typeface="Montserrat ExtraBold"/>
                <a:sym typeface="Montserrat ExtraBold"/>
              </a:endParaRPr>
            </a:p>
          </p:txBody>
        </p:sp>
        <p:cxnSp>
          <p:nvCxnSpPr>
            <p:cNvPr id="2420" name="Google Shape;2420;p20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421" name="Google Shape;2421;p20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422" name="Google Shape;2422;p206"/>
          <p:cNvSpPr txBox="1"/>
          <p:nvPr/>
        </p:nvSpPr>
        <p:spPr>
          <a:xfrm>
            <a:off x="242198" y="952514"/>
            <a:ext cx="8685900" cy="4158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CALCULATIONS</a:t>
            </a:r>
            <a:endParaRPr sz="1200" b="1">
              <a:solidFill>
                <a:srgbClr val="1B3E6D"/>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Cost paid to EVN (for 900,000 kWh of renewables + 100,000 kWh additional):</a:t>
            </a:r>
            <a:endParaRPr sz="1200" b="1">
              <a:solidFill>
                <a:srgbClr val="1B3E6D"/>
              </a:solidFill>
              <a:latin typeface="Montserrat"/>
              <a:ea typeface="Montserrat"/>
              <a:cs typeface="Montserrat"/>
              <a:sym typeface="Montserrat"/>
            </a:endParaRPr>
          </a:p>
          <a:p>
            <a:pPr marL="457200" lvl="0" indent="-304800" algn="l" rtl="0">
              <a:lnSpc>
                <a:spcPct val="115000"/>
              </a:lnSpc>
              <a:spcBef>
                <a:spcPts val="120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Market electricity energy cost = 900,000 * 1,600 * 1.026 * 1.008 = </a:t>
            </a:r>
            <a:r>
              <a:rPr lang="en" sz="1200" b="1">
                <a:solidFill>
                  <a:srgbClr val="E77A10"/>
                </a:solidFill>
                <a:latin typeface="Montserrat"/>
                <a:ea typeface="Montserrat"/>
                <a:cs typeface="Montserrat"/>
                <a:sym typeface="Montserrat"/>
              </a:rPr>
              <a:t>1,489,259,520 VND</a:t>
            </a:r>
            <a:endParaRPr sz="1200" b="1">
              <a:solidFill>
                <a:srgbClr val="E77A10"/>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DPPA service fee: 900,000 * 360 = </a:t>
            </a:r>
            <a:r>
              <a:rPr lang="en" sz="1200" b="1">
                <a:solidFill>
                  <a:srgbClr val="E77A10"/>
                </a:solidFill>
                <a:latin typeface="Montserrat"/>
                <a:ea typeface="Montserrat"/>
                <a:cs typeface="Montserrat"/>
                <a:sym typeface="Montserrat"/>
              </a:rPr>
              <a:t>324,000,000 VND</a:t>
            </a:r>
            <a:endParaRPr sz="1200" b="1">
              <a:solidFill>
                <a:srgbClr val="E77A10"/>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Difference clearing fee: 900,000 * 163.30 = </a:t>
            </a:r>
            <a:r>
              <a:rPr lang="en" sz="1200" b="1">
                <a:solidFill>
                  <a:srgbClr val="E77A10"/>
                </a:solidFill>
                <a:latin typeface="Montserrat"/>
                <a:ea typeface="Montserrat"/>
                <a:cs typeface="Montserrat"/>
                <a:sym typeface="Montserrat"/>
              </a:rPr>
              <a:t>146,970,000 VND</a:t>
            </a:r>
            <a:endParaRPr sz="1200" b="1">
              <a:solidFill>
                <a:srgbClr val="E77A10"/>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Additional electricity purchase: (1,000,000 - 900,000) * 1,800 = </a:t>
            </a:r>
            <a:r>
              <a:rPr lang="en" sz="1200" b="1">
                <a:solidFill>
                  <a:srgbClr val="E77A10"/>
                </a:solidFill>
                <a:latin typeface="Montserrat"/>
                <a:ea typeface="Montserrat"/>
                <a:cs typeface="Montserrat"/>
                <a:sym typeface="Montserrat"/>
              </a:rPr>
              <a:t>180,000,000 VND</a:t>
            </a:r>
            <a:r>
              <a:rPr lang="en" sz="1200">
                <a:solidFill>
                  <a:srgbClr val="1B3E6D"/>
                </a:solidFill>
                <a:latin typeface="Montserrat"/>
                <a:ea typeface="Montserrat"/>
                <a:cs typeface="Montserrat"/>
                <a:sym typeface="Montserrat"/>
              </a:rPr>
              <a:t> </a:t>
            </a:r>
            <a:br>
              <a:rPr lang="en" sz="1200">
                <a:solidFill>
                  <a:srgbClr val="1B3E6D"/>
                </a:solidFill>
                <a:latin typeface="Montserrat"/>
                <a:ea typeface="Montserrat"/>
                <a:cs typeface="Montserrat"/>
                <a:sym typeface="Montserrat"/>
              </a:rPr>
            </a:br>
            <a:r>
              <a:rPr lang="en" sz="1200" i="1">
                <a:solidFill>
                  <a:srgbClr val="1B3E6D"/>
                </a:solidFill>
                <a:latin typeface="Montserrat"/>
                <a:ea typeface="Montserrat"/>
                <a:cs typeface="Montserrat"/>
                <a:sym typeface="Montserrat"/>
              </a:rPr>
              <a:t>(buy 100,000 kWh from EVN at ~1,800 VND/kWh)</a:t>
            </a:r>
            <a:endParaRPr sz="1200" i="1">
              <a:solidFill>
                <a:srgbClr val="1B3E6D"/>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sz="1200" b="1">
                <a:solidFill>
                  <a:srgbClr val="1B3E6D"/>
                </a:solidFill>
                <a:latin typeface="Montserrat"/>
                <a:ea typeface="Montserrat"/>
                <a:cs typeface="Montserrat"/>
                <a:sym typeface="Montserrat"/>
              </a:rPr>
              <a:t>→ Total cost collected by EVN: </a:t>
            </a:r>
            <a:br>
              <a:rPr lang="en" sz="1200" b="1">
                <a:solidFill>
                  <a:srgbClr val="1B3E6D"/>
                </a:solidFill>
                <a:latin typeface="Montserrat"/>
                <a:ea typeface="Montserrat"/>
                <a:cs typeface="Montserrat"/>
                <a:sym typeface="Montserrat"/>
              </a:rPr>
            </a:br>
            <a:r>
              <a:rPr lang="en" sz="1200" b="1">
                <a:solidFill>
                  <a:srgbClr val="1B3E6D"/>
                </a:solidFill>
                <a:latin typeface="Montserrat"/>
                <a:ea typeface="Montserrat"/>
                <a:cs typeface="Montserrat"/>
                <a:sym typeface="Montserrat"/>
              </a:rPr>
              <a:t>C_EVN = 1,489,259,520 + 324,000,000 + 146,970,000 + 180,000,000 = </a:t>
            </a:r>
            <a:r>
              <a:rPr lang="en" sz="1200" b="1">
                <a:solidFill>
                  <a:srgbClr val="E77A10"/>
                </a:solidFill>
                <a:latin typeface="Montserrat"/>
                <a:ea typeface="Montserrat"/>
                <a:cs typeface="Montserrat"/>
                <a:sym typeface="Montserrat"/>
              </a:rPr>
              <a:t>2,140,229,520 VND</a:t>
            </a:r>
            <a:endParaRPr sz="1200" b="1">
              <a:solidFill>
                <a:srgbClr val="E77A10"/>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sz="1200" b="1">
                <a:solidFill>
                  <a:srgbClr val="1B3E6D"/>
                </a:solidFill>
                <a:latin typeface="Montserrat"/>
                <a:ea typeface="Montserrat"/>
                <a:cs typeface="Montserrat"/>
                <a:sym typeface="Montserrat"/>
              </a:rPr>
              <a:t>CfD contract cost (calculated separately for each plant):</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b="1">
                <a:solidFill>
                  <a:srgbClr val="FF9900"/>
                </a:solidFill>
                <a:latin typeface="Montserrat"/>
                <a:ea typeface="Montserrat"/>
                <a:cs typeface="Montserrat"/>
                <a:sym typeface="Montserrat"/>
              </a:rPr>
              <a:t>For plant X:</a:t>
            </a:r>
            <a:r>
              <a:rPr lang="en" sz="1200">
                <a:solidFill>
                  <a:srgbClr val="1B3E6D"/>
                </a:solidFill>
                <a:latin typeface="Montserrat"/>
                <a:ea typeface="Montserrat"/>
                <a:cs typeface="Montserrat"/>
                <a:sym typeface="Montserrat"/>
              </a:rPr>
              <a:t> (P_cX - SMP) * Q_cX = (1,500 - 1,600) * 600,000 = </a:t>
            </a:r>
            <a:r>
              <a:rPr lang="en" sz="1200" b="1">
                <a:solidFill>
                  <a:srgbClr val="E77A10"/>
                </a:solidFill>
                <a:latin typeface="Montserrat"/>
                <a:ea typeface="Montserrat"/>
                <a:cs typeface="Montserrat"/>
                <a:sym typeface="Montserrat"/>
              </a:rPr>
              <a:t>-60,000,000</a:t>
            </a:r>
            <a:r>
              <a:rPr lang="en" sz="1200">
                <a:solidFill>
                  <a:srgbClr val="1B3E6D"/>
                </a:solidFill>
                <a:latin typeface="Montserrat"/>
                <a:ea typeface="Montserrat"/>
                <a:cs typeface="Montserrat"/>
                <a:sym typeface="Montserrat"/>
              </a:rPr>
              <a:t> </a:t>
            </a:r>
            <a:r>
              <a:rPr lang="en" sz="1200" b="1">
                <a:solidFill>
                  <a:srgbClr val="E77A10"/>
                </a:solidFill>
                <a:latin typeface="Montserrat"/>
                <a:ea typeface="Montserrat"/>
                <a:cs typeface="Montserrat"/>
                <a:sym typeface="Montserrat"/>
              </a:rPr>
              <a:t>VND</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b="1">
                <a:solidFill>
                  <a:srgbClr val="6DBA7F"/>
                </a:solidFill>
                <a:latin typeface="Montserrat"/>
                <a:ea typeface="Montserrat"/>
                <a:cs typeface="Montserrat"/>
                <a:sym typeface="Montserrat"/>
              </a:rPr>
              <a:t>For plant Y:</a:t>
            </a:r>
            <a:r>
              <a:rPr lang="en" sz="1200">
                <a:solidFill>
                  <a:srgbClr val="1B3E6D"/>
                </a:solidFill>
                <a:latin typeface="Montserrat"/>
                <a:ea typeface="Montserrat"/>
                <a:cs typeface="Montserrat"/>
                <a:sym typeface="Montserrat"/>
              </a:rPr>
              <a:t> (P_cY - SMP)* Q_cY = (1,700 - 1,600) * 300,000 = </a:t>
            </a:r>
            <a:r>
              <a:rPr lang="en" sz="1200" b="1">
                <a:solidFill>
                  <a:srgbClr val="E77A10"/>
                </a:solidFill>
                <a:latin typeface="Montserrat"/>
                <a:ea typeface="Montserrat"/>
                <a:cs typeface="Montserrat"/>
                <a:sym typeface="Montserrat"/>
              </a:rPr>
              <a:t>+30,000,000</a:t>
            </a:r>
            <a:r>
              <a:rPr lang="en" sz="1200">
                <a:solidFill>
                  <a:srgbClr val="1B3E6D"/>
                </a:solidFill>
                <a:latin typeface="Montserrat"/>
                <a:ea typeface="Montserrat"/>
                <a:cs typeface="Montserrat"/>
                <a:sym typeface="Montserrat"/>
              </a:rPr>
              <a:t> </a:t>
            </a:r>
            <a:r>
              <a:rPr lang="en" sz="1200" b="1">
                <a:solidFill>
                  <a:srgbClr val="E77A10"/>
                </a:solidFill>
                <a:latin typeface="Montserrat"/>
                <a:ea typeface="Montserrat"/>
                <a:cs typeface="Montserrat"/>
                <a:sym typeface="Montserrat"/>
              </a:rPr>
              <a:t>VND</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b="1">
                <a:solidFill>
                  <a:srgbClr val="1B3E6D"/>
                </a:solidFill>
                <a:latin typeface="Montserrat"/>
                <a:ea typeface="Montserrat"/>
                <a:cs typeface="Montserrat"/>
                <a:sym typeface="Montserrat"/>
              </a:rPr>
              <a:t>Total CfD cost (net):</a:t>
            </a:r>
            <a:r>
              <a:rPr lang="en" sz="1200">
                <a:solidFill>
                  <a:srgbClr val="1B3E6D"/>
                </a:solidFill>
                <a:latin typeface="Montserrat"/>
                <a:ea typeface="Montserrat"/>
                <a:cs typeface="Montserrat"/>
                <a:sym typeface="Montserrat"/>
              </a:rPr>
              <a:t> -60,000,000 + 30,000,000 = </a:t>
            </a:r>
            <a:r>
              <a:rPr lang="en" sz="1200" b="1">
                <a:solidFill>
                  <a:srgbClr val="E77A10"/>
                </a:solidFill>
                <a:latin typeface="Montserrat"/>
                <a:ea typeface="Montserrat"/>
                <a:cs typeface="Montserrat"/>
                <a:sym typeface="Montserrat"/>
              </a:rPr>
              <a:t>-30,000,000 VND</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b="1">
                <a:solidFill>
                  <a:srgbClr val="4A86E8"/>
                </a:solidFill>
                <a:latin typeface="Montserrat"/>
                <a:ea typeface="Montserrat"/>
                <a:cs typeface="Montserrat"/>
                <a:sym typeface="Montserrat"/>
              </a:rPr>
              <a:t>Total cost of customer C</a:t>
            </a:r>
            <a:r>
              <a:rPr lang="en" sz="1200">
                <a:solidFill>
                  <a:srgbClr val="4A86E8"/>
                </a:solidFill>
                <a:latin typeface="Montserrat"/>
                <a:ea typeface="Montserrat"/>
                <a:cs typeface="Montserrat"/>
                <a:sym typeface="Montserrat"/>
              </a:rPr>
              <a:t>:</a:t>
            </a:r>
            <a:r>
              <a:rPr lang="en" sz="1200">
                <a:solidFill>
                  <a:srgbClr val="1B3E6D"/>
                </a:solidFill>
                <a:latin typeface="Montserrat"/>
                <a:ea typeface="Montserrat"/>
                <a:cs typeface="Montserrat"/>
                <a:sym typeface="Montserrat"/>
              </a:rPr>
              <a:t> C_KH = C_EVN + C_CfD = 2,140,229,520 + (-30,000,000) = </a:t>
            </a:r>
            <a:r>
              <a:rPr lang="en" sz="1200" b="1">
                <a:solidFill>
                  <a:srgbClr val="4A86E8"/>
                </a:solidFill>
                <a:latin typeface="Montserrat"/>
                <a:ea typeface="Montserrat"/>
                <a:cs typeface="Montserrat"/>
                <a:sym typeface="Montserrat"/>
              </a:rPr>
              <a:t>2,110,229,520 VND</a:t>
            </a:r>
            <a:endParaRPr sz="1200" b="1">
              <a:solidFill>
                <a:srgbClr val="4A86E8"/>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26"/>
        <p:cNvGrpSpPr/>
        <p:nvPr/>
      </p:nvGrpSpPr>
      <p:grpSpPr>
        <a:xfrm>
          <a:off x="0" y="0"/>
          <a:ext cx="0" cy="0"/>
          <a:chOff x="0" y="0"/>
          <a:chExt cx="0" cy="0"/>
        </a:xfrm>
      </p:grpSpPr>
      <p:pic>
        <p:nvPicPr>
          <p:cNvPr id="2427" name="Google Shape;2427;p20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428" name="Google Shape;2428;p207"/>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429" name="Google Shape;2429;p207"/>
          <p:cNvGrpSpPr/>
          <p:nvPr/>
        </p:nvGrpSpPr>
        <p:grpSpPr>
          <a:xfrm>
            <a:off x="239992" y="63853"/>
            <a:ext cx="8728050" cy="745997"/>
            <a:chOff x="236700" y="63853"/>
            <a:chExt cx="8728050" cy="745997"/>
          </a:xfrm>
        </p:grpSpPr>
        <p:sp>
          <p:nvSpPr>
            <p:cNvPr id="2430" name="Google Shape;2430;p20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431" name="Google Shape;2431;p20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432" name="Google Shape;2432;p20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433" name="Google Shape;2433;p20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434" name="Google Shape;2434;p20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435" name="Google Shape;2435;p20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436" name="Google Shape;2436;p20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437" name="Google Shape;2437;p207"/>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500" b="1">
                  <a:solidFill>
                    <a:schemeClr val="lt1"/>
                  </a:solidFill>
                  <a:latin typeface="Montserrat"/>
                  <a:ea typeface="Montserrat"/>
                  <a:cs typeface="Montserrat"/>
                  <a:sym typeface="Montserrat"/>
                </a:rPr>
                <a:t>Scenario 4: One Large Customer buys Electricity from Multiple Power Plants (Different Contract Price for Each Plant) (3)</a:t>
              </a:r>
              <a:endParaRPr sz="15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1500">
                <a:solidFill>
                  <a:srgbClr val="FFFFFF"/>
                </a:solidFill>
                <a:latin typeface="Montserrat ExtraBold"/>
                <a:ea typeface="Montserrat ExtraBold"/>
                <a:cs typeface="Montserrat ExtraBold"/>
                <a:sym typeface="Montserrat ExtraBold"/>
              </a:endParaRPr>
            </a:p>
          </p:txBody>
        </p:sp>
        <p:cxnSp>
          <p:nvCxnSpPr>
            <p:cNvPr id="2438" name="Google Shape;2438;p20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439" name="Google Shape;2439;p20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440" name="Google Shape;2440;p207"/>
          <p:cNvSpPr txBox="1"/>
          <p:nvPr/>
        </p:nvSpPr>
        <p:spPr>
          <a:xfrm>
            <a:off x="337450" y="1125925"/>
            <a:ext cx="8577300" cy="392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REVENUE CALCULATIONS</a:t>
            </a:r>
            <a:endParaRPr sz="1200" b="1">
              <a:solidFill>
                <a:srgbClr val="1B3E6D"/>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sz="1200" b="1">
                <a:solidFill>
                  <a:srgbClr val="FF9900"/>
                </a:solidFill>
                <a:latin typeface="Montserrat"/>
                <a:ea typeface="Montserrat"/>
                <a:cs typeface="Montserrat"/>
                <a:sym typeface="Montserrat"/>
              </a:rPr>
              <a:t>Revenue of plant X</a:t>
            </a:r>
            <a:endParaRPr sz="1200" b="1">
              <a:solidFill>
                <a:srgbClr val="FF990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Market revenue:</a:t>
            </a:r>
            <a:endParaRPr sz="12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a:solidFill>
                  <a:srgbClr val="1B3E6D"/>
                </a:solidFill>
                <a:latin typeface="Montserrat"/>
                <a:ea typeface="Montserrat"/>
                <a:cs typeface="Montserrat"/>
                <a:sym typeface="Montserrat"/>
              </a:rPr>
              <a:t>Plant X generates 600,000 kWh to C (~604,800 kWh at the generator with Kpp), receives 604,800 * 1,600 = </a:t>
            </a:r>
            <a:r>
              <a:rPr lang="en" sz="1200" b="1">
                <a:solidFill>
                  <a:srgbClr val="E77A10"/>
                </a:solidFill>
                <a:latin typeface="Montserrat"/>
                <a:ea typeface="Montserrat"/>
                <a:cs typeface="Montserrat"/>
                <a:sym typeface="Montserrat"/>
              </a:rPr>
              <a:t>967,680,000 VND from EVN.  </a:t>
            </a:r>
            <a:endParaRPr sz="12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a:solidFill>
                  <a:srgbClr val="1B3E6D"/>
                </a:solidFill>
                <a:latin typeface="Montserrat"/>
                <a:ea typeface="Montserrat"/>
                <a:cs typeface="Montserrat"/>
                <a:sym typeface="Montserrat"/>
              </a:rPr>
              <a:t>CfD payment: (1,500 - 1,600) * 600,000 = </a:t>
            </a:r>
            <a:r>
              <a:rPr lang="en" sz="1200" b="1">
                <a:solidFill>
                  <a:srgbClr val="E77A10"/>
                </a:solidFill>
                <a:latin typeface="Montserrat"/>
                <a:ea typeface="Montserrat"/>
                <a:cs typeface="Montserrat"/>
                <a:sym typeface="Montserrat"/>
              </a:rPr>
              <a:t>-60,000,000 VND (X pays C 60 million).  </a:t>
            </a:r>
            <a:endParaRPr sz="12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Total revenue of X: 967,680,000 + (-60,000,000) = </a:t>
            </a:r>
            <a:r>
              <a:rPr lang="en" sz="1200" b="1">
                <a:solidFill>
                  <a:srgbClr val="E77A10"/>
                </a:solidFill>
                <a:latin typeface="Montserrat"/>
                <a:ea typeface="Montserrat"/>
                <a:cs typeface="Montserrat"/>
                <a:sym typeface="Montserrat"/>
              </a:rPr>
              <a:t>907,680,000 VND. </a:t>
            </a:r>
            <a:r>
              <a:rPr lang="en" sz="1200" b="1">
                <a:solidFill>
                  <a:srgbClr val="1B3E6D"/>
                </a:solidFill>
                <a:latin typeface="Montserrat"/>
                <a:ea typeface="Montserrat"/>
                <a:cs typeface="Montserrat"/>
                <a:sym typeface="Montserrat"/>
              </a:rPr>
              <a:t> </a:t>
            </a:r>
            <a:endParaRPr sz="12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2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b="1">
                <a:solidFill>
                  <a:srgbClr val="6DBA7F"/>
                </a:solidFill>
                <a:latin typeface="Montserrat"/>
                <a:ea typeface="Montserrat"/>
                <a:cs typeface="Montserrat"/>
                <a:sym typeface="Montserrat"/>
              </a:rPr>
              <a:t>Revenue of plant Y</a:t>
            </a:r>
            <a:endParaRPr sz="1200" b="1">
              <a:solidFill>
                <a:srgbClr val="6DBA7F"/>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Market revenue: </a:t>
            </a:r>
            <a:endParaRPr sz="12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a:solidFill>
                  <a:srgbClr val="1B3E6D"/>
                </a:solidFill>
                <a:latin typeface="Montserrat"/>
                <a:ea typeface="Montserrat"/>
                <a:cs typeface="Montserrat"/>
                <a:sym typeface="Montserrat"/>
              </a:rPr>
              <a:t>Plant Y generates 300,000 kWh to C (~302,400 kWh at the generator), receives 302,400 * 1,600 = </a:t>
            </a:r>
            <a:r>
              <a:rPr lang="en" sz="1200" b="1">
                <a:solidFill>
                  <a:srgbClr val="6DBA7F"/>
                </a:solidFill>
                <a:latin typeface="Montserrat"/>
                <a:ea typeface="Montserrat"/>
                <a:cs typeface="Montserrat"/>
                <a:sym typeface="Montserrat"/>
              </a:rPr>
              <a:t>483,840,000 VND from EVN.  </a:t>
            </a:r>
            <a:endParaRPr sz="1200" b="1">
              <a:solidFill>
                <a:srgbClr val="6DBA7F"/>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a:solidFill>
                  <a:srgbClr val="1B3E6D"/>
                </a:solidFill>
                <a:latin typeface="Montserrat"/>
                <a:ea typeface="Montserrat"/>
                <a:cs typeface="Montserrat"/>
                <a:sym typeface="Montserrat"/>
              </a:rPr>
              <a:t>CfD payment: (1,700 - 1,600) * 300,000 = </a:t>
            </a:r>
            <a:r>
              <a:rPr lang="en" sz="1200" b="1">
                <a:solidFill>
                  <a:srgbClr val="6DBA7F"/>
                </a:solidFill>
                <a:latin typeface="Montserrat"/>
                <a:ea typeface="Montserrat"/>
                <a:cs typeface="Montserrat"/>
                <a:sym typeface="Montserrat"/>
              </a:rPr>
              <a:t>+30,000,000 VND (Y receives an additional 30 million from C). </a:t>
            </a:r>
            <a:r>
              <a:rPr lang="en" sz="1200">
                <a:solidFill>
                  <a:srgbClr val="6DBA7F"/>
                </a:solidFill>
                <a:latin typeface="Montserrat"/>
                <a:ea typeface="Montserrat"/>
                <a:cs typeface="Montserrat"/>
                <a:sym typeface="Montserrat"/>
              </a:rPr>
              <a:t> </a:t>
            </a:r>
            <a:endParaRPr sz="1200">
              <a:solidFill>
                <a:srgbClr val="6DBA7F"/>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Total revenue of Y: 483,840,000 + 30,000,000 = </a:t>
            </a:r>
            <a:r>
              <a:rPr lang="en" sz="1200" b="1">
                <a:solidFill>
                  <a:srgbClr val="6DBA7F"/>
                </a:solidFill>
                <a:latin typeface="Montserrat"/>
                <a:ea typeface="Montserrat"/>
                <a:cs typeface="Montserrat"/>
                <a:sym typeface="Montserrat"/>
              </a:rPr>
              <a:t>513,840,000 VND. </a:t>
            </a:r>
            <a:endParaRPr sz="1200" b="1">
              <a:solidFill>
                <a:srgbClr val="6DBA7F"/>
              </a:solidFill>
              <a:latin typeface="Montserrat"/>
              <a:ea typeface="Montserrat"/>
              <a:cs typeface="Montserrat"/>
              <a:sym typeface="Montserrat"/>
            </a:endParaRPr>
          </a:p>
          <a:p>
            <a:pPr marL="0" lvl="0" indent="0" algn="l" rtl="0">
              <a:lnSpc>
                <a:spcPct val="115000"/>
              </a:lnSpc>
              <a:spcBef>
                <a:spcPts val="0"/>
              </a:spcBef>
              <a:spcAft>
                <a:spcPts val="0"/>
              </a:spcAft>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200" b="1">
              <a:solidFill>
                <a:srgbClr val="1D7E74"/>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444"/>
        <p:cNvGrpSpPr/>
        <p:nvPr/>
      </p:nvGrpSpPr>
      <p:grpSpPr>
        <a:xfrm>
          <a:off x="0" y="0"/>
          <a:ext cx="0" cy="0"/>
          <a:chOff x="0" y="0"/>
          <a:chExt cx="0" cy="0"/>
        </a:xfrm>
      </p:grpSpPr>
      <p:pic>
        <p:nvPicPr>
          <p:cNvPr id="2445" name="Google Shape;2445;p20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446" name="Google Shape;2446;p208"/>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447" name="Google Shape;2447;p208"/>
          <p:cNvGrpSpPr/>
          <p:nvPr/>
        </p:nvGrpSpPr>
        <p:grpSpPr>
          <a:xfrm>
            <a:off x="239992" y="63853"/>
            <a:ext cx="8728050" cy="745997"/>
            <a:chOff x="236700" y="63853"/>
            <a:chExt cx="8728050" cy="745997"/>
          </a:xfrm>
        </p:grpSpPr>
        <p:sp>
          <p:nvSpPr>
            <p:cNvPr id="2448" name="Google Shape;2448;p20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449" name="Google Shape;2449;p20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450" name="Google Shape;2450;p20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451" name="Google Shape;2451;p20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452" name="Google Shape;2452;p20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453" name="Google Shape;2453;p20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454" name="Google Shape;2454;p20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455" name="Google Shape;2455;p208"/>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500" b="1">
                  <a:solidFill>
                    <a:schemeClr val="lt1"/>
                  </a:solidFill>
                  <a:latin typeface="Montserrat"/>
                  <a:ea typeface="Montserrat"/>
                  <a:cs typeface="Montserrat"/>
                  <a:sym typeface="Montserrat"/>
                </a:rPr>
                <a:t>Scenario 4: One Large Customer buys Electricity from Multiple Power Plants (Different Contract Price for Each Plant) (4)</a:t>
              </a:r>
              <a:endParaRPr sz="15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1500">
                <a:solidFill>
                  <a:srgbClr val="FFFFFF"/>
                </a:solidFill>
                <a:latin typeface="Montserrat ExtraBold"/>
                <a:ea typeface="Montserrat ExtraBold"/>
                <a:cs typeface="Montserrat ExtraBold"/>
                <a:sym typeface="Montserrat ExtraBold"/>
              </a:endParaRPr>
            </a:p>
          </p:txBody>
        </p:sp>
        <p:cxnSp>
          <p:nvCxnSpPr>
            <p:cNvPr id="2456" name="Google Shape;2456;p20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457" name="Google Shape;2457;p20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458" name="Google Shape;2458;p208"/>
          <p:cNvSpPr txBox="1"/>
          <p:nvPr/>
        </p:nvSpPr>
        <p:spPr>
          <a:xfrm>
            <a:off x="836851" y="1662449"/>
            <a:ext cx="2454000" cy="657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FF9900"/>
                </a:solidFill>
                <a:latin typeface="Montserrat"/>
                <a:ea typeface="Montserrat"/>
                <a:cs typeface="Montserrat"/>
                <a:sym typeface="Montserrat"/>
              </a:rPr>
              <a:t>CfD contract: </a:t>
            </a:r>
            <a:endParaRPr sz="1300">
              <a:solidFill>
                <a:srgbClr val="FF9900"/>
              </a:solidFill>
              <a:latin typeface="Montserrat"/>
              <a:ea typeface="Montserrat"/>
              <a:cs typeface="Montserrat"/>
              <a:sym typeface="Montserrat"/>
            </a:endParaRPr>
          </a:p>
          <a:p>
            <a:pPr marL="0" lvl="0" indent="0" algn="r" rtl="0">
              <a:spcBef>
                <a:spcPts val="0"/>
              </a:spcBef>
              <a:spcAft>
                <a:spcPts val="0"/>
              </a:spcAft>
              <a:buNone/>
            </a:pPr>
            <a:r>
              <a:rPr lang="en" sz="1300">
                <a:solidFill>
                  <a:srgbClr val="FF9900"/>
                </a:solidFill>
                <a:latin typeface="Montserrat"/>
                <a:ea typeface="Montserrat"/>
                <a:cs typeface="Montserrat"/>
                <a:sym typeface="Montserrat"/>
              </a:rPr>
              <a:t>60 million VND</a:t>
            </a:r>
            <a:endParaRPr sz="1300">
              <a:solidFill>
                <a:srgbClr val="FF9900"/>
              </a:solidFill>
              <a:latin typeface="Montserrat"/>
              <a:ea typeface="Montserrat"/>
              <a:cs typeface="Montserrat"/>
              <a:sym typeface="Montserrat"/>
            </a:endParaRPr>
          </a:p>
        </p:txBody>
      </p:sp>
      <p:sp>
        <p:nvSpPr>
          <p:cNvPr id="2459" name="Google Shape;2459;p208"/>
          <p:cNvSpPr txBox="1"/>
          <p:nvPr/>
        </p:nvSpPr>
        <p:spPr>
          <a:xfrm>
            <a:off x="355575" y="3763500"/>
            <a:ext cx="2641500" cy="657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A86E8"/>
                </a:solidFill>
                <a:latin typeface="Montserrat"/>
                <a:ea typeface="Montserrat"/>
                <a:cs typeface="Montserrat"/>
                <a:sym typeface="Montserrat"/>
              </a:rPr>
              <a:t>CfD contract: </a:t>
            </a:r>
            <a:br>
              <a:rPr lang="en" sz="1300">
                <a:solidFill>
                  <a:srgbClr val="4A86E8"/>
                </a:solidFill>
                <a:latin typeface="Montserrat"/>
                <a:ea typeface="Montserrat"/>
                <a:cs typeface="Montserrat"/>
                <a:sym typeface="Montserrat"/>
              </a:rPr>
            </a:br>
            <a:r>
              <a:rPr lang="en" sz="1300">
                <a:solidFill>
                  <a:srgbClr val="4A86E8"/>
                </a:solidFill>
                <a:latin typeface="Montserrat"/>
                <a:ea typeface="Montserrat"/>
                <a:cs typeface="Montserrat"/>
                <a:sym typeface="Montserrat"/>
              </a:rPr>
              <a:t>30 million VND</a:t>
            </a:r>
            <a:endParaRPr sz="1300">
              <a:solidFill>
                <a:srgbClr val="4A86E8"/>
              </a:solidFill>
              <a:latin typeface="Montserrat"/>
              <a:ea typeface="Montserrat"/>
              <a:cs typeface="Montserrat"/>
              <a:sym typeface="Montserrat"/>
            </a:endParaRPr>
          </a:p>
        </p:txBody>
      </p:sp>
      <p:sp>
        <p:nvSpPr>
          <p:cNvPr id="2460" name="Google Shape;2460;p208"/>
          <p:cNvSpPr txBox="1"/>
          <p:nvPr/>
        </p:nvSpPr>
        <p:spPr>
          <a:xfrm>
            <a:off x="6288750" y="1662450"/>
            <a:ext cx="2454000" cy="6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967.68 million VND</a:t>
            </a:r>
            <a:endParaRPr sz="1300">
              <a:solidFill>
                <a:srgbClr val="FF0000"/>
              </a:solidFill>
              <a:latin typeface="Montserrat"/>
              <a:ea typeface="Montserrat"/>
              <a:cs typeface="Montserrat"/>
              <a:sym typeface="Montserrat"/>
            </a:endParaRPr>
          </a:p>
        </p:txBody>
      </p:sp>
      <p:sp>
        <p:nvSpPr>
          <p:cNvPr id="2461" name="Google Shape;2461;p208"/>
          <p:cNvSpPr txBox="1"/>
          <p:nvPr/>
        </p:nvSpPr>
        <p:spPr>
          <a:xfrm>
            <a:off x="6514050" y="3839230"/>
            <a:ext cx="2454000" cy="6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483.84 million VND</a:t>
            </a:r>
            <a:endParaRPr sz="1300">
              <a:solidFill>
                <a:srgbClr val="FF0000"/>
              </a:solidFill>
              <a:latin typeface="Montserrat"/>
              <a:ea typeface="Montserrat"/>
              <a:cs typeface="Montserrat"/>
              <a:sym typeface="Montserrat"/>
            </a:endParaRPr>
          </a:p>
        </p:txBody>
      </p:sp>
      <p:pic>
        <p:nvPicPr>
          <p:cNvPr id="2462" name="Google Shape;2462;p208" title="wind-turbine.png"/>
          <p:cNvPicPr preferRelativeResize="0"/>
          <p:nvPr/>
        </p:nvPicPr>
        <p:blipFill>
          <a:blip r:embed="rId5">
            <a:alphaModFix/>
          </a:blip>
          <a:stretch>
            <a:fillRect/>
          </a:stretch>
        </p:blipFill>
        <p:spPr>
          <a:xfrm>
            <a:off x="4043645" y="3835071"/>
            <a:ext cx="958175" cy="958175"/>
          </a:xfrm>
          <a:prstGeom prst="rect">
            <a:avLst/>
          </a:prstGeom>
          <a:noFill/>
          <a:ln>
            <a:noFill/>
          </a:ln>
        </p:spPr>
      </p:pic>
      <p:pic>
        <p:nvPicPr>
          <p:cNvPr id="2463" name="Google Shape;2463;p208" title="factory.png"/>
          <p:cNvPicPr preferRelativeResize="0"/>
          <p:nvPr/>
        </p:nvPicPr>
        <p:blipFill>
          <a:blip r:embed="rId6">
            <a:alphaModFix/>
          </a:blip>
          <a:stretch>
            <a:fillRect/>
          </a:stretch>
        </p:blipFill>
        <p:spPr>
          <a:xfrm>
            <a:off x="634466" y="2571743"/>
            <a:ext cx="1064475" cy="1064475"/>
          </a:xfrm>
          <a:prstGeom prst="rect">
            <a:avLst/>
          </a:prstGeom>
          <a:noFill/>
          <a:ln>
            <a:noFill/>
          </a:ln>
        </p:spPr>
      </p:pic>
      <p:pic>
        <p:nvPicPr>
          <p:cNvPr id="2464" name="Google Shape;2464;p208" title="solar-panel (1).png"/>
          <p:cNvPicPr preferRelativeResize="0"/>
          <p:nvPr/>
        </p:nvPicPr>
        <p:blipFill>
          <a:blip r:embed="rId7">
            <a:alphaModFix/>
          </a:blip>
          <a:stretch>
            <a:fillRect/>
          </a:stretch>
        </p:blipFill>
        <p:spPr>
          <a:xfrm>
            <a:off x="4124525" y="1297438"/>
            <a:ext cx="894925" cy="894925"/>
          </a:xfrm>
          <a:prstGeom prst="rect">
            <a:avLst/>
          </a:prstGeom>
          <a:noFill/>
          <a:ln>
            <a:noFill/>
          </a:ln>
        </p:spPr>
      </p:pic>
      <p:sp>
        <p:nvSpPr>
          <p:cNvPr id="2465" name="Google Shape;2465;p208"/>
          <p:cNvSpPr txBox="1"/>
          <p:nvPr/>
        </p:nvSpPr>
        <p:spPr>
          <a:xfrm>
            <a:off x="3831901" y="3427125"/>
            <a:ext cx="14802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6DBA7F"/>
                </a:solidFill>
                <a:latin typeface="Montserrat"/>
                <a:ea typeface="Montserrat"/>
                <a:cs typeface="Montserrat"/>
                <a:sym typeface="Montserrat"/>
              </a:rPr>
              <a:t>Wind Plant Y</a:t>
            </a:r>
            <a:endParaRPr b="1">
              <a:solidFill>
                <a:srgbClr val="6DBA7F"/>
              </a:solidFill>
              <a:latin typeface="Montserrat"/>
              <a:ea typeface="Montserrat"/>
              <a:cs typeface="Montserrat"/>
              <a:sym typeface="Montserrat"/>
            </a:endParaRPr>
          </a:p>
        </p:txBody>
      </p:sp>
      <p:sp>
        <p:nvSpPr>
          <p:cNvPr id="2466" name="Google Shape;2466;p208"/>
          <p:cNvSpPr txBox="1"/>
          <p:nvPr/>
        </p:nvSpPr>
        <p:spPr>
          <a:xfrm>
            <a:off x="3775489" y="862450"/>
            <a:ext cx="15930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9900"/>
                </a:solidFill>
                <a:latin typeface="Montserrat"/>
                <a:ea typeface="Montserrat"/>
                <a:cs typeface="Montserrat"/>
                <a:sym typeface="Montserrat"/>
              </a:rPr>
              <a:t>Solar Plant X</a:t>
            </a:r>
            <a:endParaRPr b="1">
              <a:solidFill>
                <a:srgbClr val="FF9900"/>
              </a:solidFill>
              <a:latin typeface="Montserrat"/>
              <a:ea typeface="Montserrat"/>
              <a:cs typeface="Montserrat"/>
              <a:sym typeface="Montserrat"/>
            </a:endParaRPr>
          </a:p>
        </p:txBody>
      </p:sp>
      <p:sp>
        <p:nvSpPr>
          <p:cNvPr id="2467" name="Google Shape;2467;p208"/>
          <p:cNvSpPr txBox="1"/>
          <p:nvPr/>
        </p:nvSpPr>
        <p:spPr>
          <a:xfrm>
            <a:off x="492991" y="2197775"/>
            <a:ext cx="13644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A86E8"/>
                </a:solidFill>
                <a:latin typeface="Montserrat"/>
                <a:ea typeface="Montserrat"/>
                <a:cs typeface="Montserrat"/>
                <a:sym typeface="Montserrat"/>
              </a:rPr>
              <a:t>Customer C</a:t>
            </a:r>
            <a:endParaRPr b="1">
              <a:solidFill>
                <a:srgbClr val="4A86E8"/>
              </a:solidFill>
              <a:latin typeface="Montserrat"/>
              <a:ea typeface="Montserrat"/>
              <a:cs typeface="Montserrat"/>
              <a:sym typeface="Montserrat"/>
            </a:endParaRPr>
          </a:p>
        </p:txBody>
      </p:sp>
      <p:pic>
        <p:nvPicPr>
          <p:cNvPr id="2468" name="Google Shape;2468;p208"/>
          <p:cNvPicPr preferRelativeResize="0"/>
          <p:nvPr/>
        </p:nvPicPr>
        <p:blipFill>
          <a:blip r:embed="rId8">
            <a:alphaModFix/>
          </a:blip>
          <a:stretch>
            <a:fillRect/>
          </a:stretch>
        </p:blipFill>
        <p:spPr>
          <a:xfrm>
            <a:off x="7333310" y="2532213"/>
            <a:ext cx="894924" cy="894924"/>
          </a:xfrm>
          <a:prstGeom prst="rect">
            <a:avLst/>
          </a:prstGeom>
          <a:noFill/>
          <a:ln>
            <a:noFill/>
          </a:ln>
        </p:spPr>
      </p:pic>
      <p:sp>
        <p:nvSpPr>
          <p:cNvPr id="2469" name="Google Shape;2469;p208"/>
          <p:cNvSpPr txBox="1"/>
          <p:nvPr/>
        </p:nvSpPr>
        <p:spPr>
          <a:xfrm>
            <a:off x="7505514" y="2114408"/>
            <a:ext cx="15930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0000"/>
                </a:solidFill>
                <a:latin typeface="Montserrat"/>
                <a:ea typeface="Montserrat"/>
                <a:cs typeface="Montserrat"/>
                <a:sym typeface="Montserrat"/>
              </a:rPr>
              <a:t>EVN</a:t>
            </a:r>
            <a:endParaRPr b="1">
              <a:solidFill>
                <a:srgbClr val="FF0000"/>
              </a:solidFill>
              <a:latin typeface="Montserrat"/>
              <a:ea typeface="Montserrat"/>
              <a:cs typeface="Montserrat"/>
              <a:sym typeface="Montserrat"/>
            </a:endParaRPr>
          </a:p>
        </p:txBody>
      </p:sp>
      <p:cxnSp>
        <p:nvCxnSpPr>
          <p:cNvPr id="2470" name="Google Shape;2470;p208"/>
          <p:cNvCxnSpPr>
            <a:stCxn id="2464" idx="1"/>
            <a:endCxn id="2463" idx="3"/>
          </p:cNvCxnSpPr>
          <p:nvPr/>
        </p:nvCxnSpPr>
        <p:spPr>
          <a:xfrm flipH="1">
            <a:off x="1699025" y="1744900"/>
            <a:ext cx="2425500" cy="1359000"/>
          </a:xfrm>
          <a:prstGeom prst="straightConnector1">
            <a:avLst/>
          </a:prstGeom>
          <a:noFill/>
          <a:ln w="28575" cap="flat" cmpd="sng">
            <a:solidFill>
              <a:schemeClr val="accent4"/>
            </a:solidFill>
            <a:prstDash val="solid"/>
            <a:round/>
            <a:headEnd type="none" w="med" len="med"/>
            <a:tailEnd type="triangle" w="med" len="med"/>
          </a:ln>
        </p:spPr>
      </p:cxnSp>
      <p:cxnSp>
        <p:nvCxnSpPr>
          <p:cNvPr id="2471" name="Google Shape;2471;p208"/>
          <p:cNvCxnSpPr>
            <a:stCxn id="2463" idx="3"/>
            <a:endCxn id="2462" idx="1"/>
          </p:cNvCxnSpPr>
          <p:nvPr/>
        </p:nvCxnSpPr>
        <p:spPr>
          <a:xfrm>
            <a:off x="1698941" y="3103980"/>
            <a:ext cx="2344800" cy="1210200"/>
          </a:xfrm>
          <a:prstGeom prst="straightConnector1">
            <a:avLst/>
          </a:prstGeom>
          <a:noFill/>
          <a:ln w="28575" cap="flat" cmpd="sng">
            <a:solidFill>
              <a:srgbClr val="4A86E8"/>
            </a:solidFill>
            <a:prstDash val="solid"/>
            <a:round/>
            <a:headEnd type="none" w="med" len="med"/>
            <a:tailEnd type="triangle" w="med" len="med"/>
          </a:ln>
        </p:spPr>
      </p:cxnSp>
      <p:cxnSp>
        <p:nvCxnSpPr>
          <p:cNvPr id="2472" name="Google Shape;2472;p208"/>
          <p:cNvCxnSpPr>
            <a:stCxn id="2468" idx="2"/>
            <a:endCxn id="2462" idx="3"/>
          </p:cNvCxnSpPr>
          <p:nvPr/>
        </p:nvCxnSpPr>
        <p:spPr>
          <a:xfrm flipH="1">
            <a:off x="5001872" y="3427137"/>
            <a:ext cx="2778900" cy="887100"/>
          </a:xfrm>
          <a:prstGeom prst="straightConnector1">
            <a:avLst/>
          </a:prstGeom>
          <a:noFill/>
          <a:ln w="28575" cap="flat" cmpd="sng">
            <a:solidFill>
              <a:srgbClr val="FF0000"/>
            </a:solidFill>
            <a:prstDash val="solid"/>
            <a:round/>
            <a:headEnd type="none" w="med" len="med"/>
            <a:tailEnd type="triangle" w="med" len="med"/>
          </a:ln>
        </p:spPr>
      </p:cxnSp>
      <p:cxnSp>
        <p:nvCxnSpPr>
          <p:cNvPr id="2473" name="Google Shape;2473;p208"/>
          <p:cNvCxnSpPr>
            <a:stCxn id="2468" idx="0"/>
            <a:endCxn id="2464" idx="3"/>
          </p:cNvCxnSpPr>
          <p:nvPr/>
        </p:nvCxnSpPr>
        <p:spPr>
          <a:xfrm rot="10800000">
            <a:off x="5019572" y="1745013"/>
            <a:ext cx="2761200" cy="787200"/>
          </a:xfrm>
          <a:prstGeom prst="straightConnector1">
            <a:avLst/>
          </a:prstGeom>
          <a:noFill/>
          <a:ln w="28575" cap="flat" cmpd="sng">
            <a:solidFill>
              <a:srgbClr val="FF0000"/>
            </a:solidFill>
            <a:prstDash val="solid"/>
            <a:round/>
            <a:headEnd type="none" w="med" len="med"/>
            <a:tailEnd type="triangle" w="med" len="med"/>
          </a:ln>
        </p:spPr>
      </p:cxnSp>
      <p:cxnSp>
        <p:nvCxnSpPr>
          <p:cNvPr id="2474" name="Google Shape;2474;p208"/>
          <p:cNvCxnSpPr>
            <a:endCxn id="2468" idx="1"/>
          </p:cNvCxnSpPr>
          <p:nvPr/>
        </p:nvCxnSpPr>
        <p:spPr>
          <a:xfrm rot="10800000" flipH="1">
            <a:off x="1699010" y="2979675"/>
            <a:ext cx="5634300" cy="124200"/>
          </a:xfrm>
          <a:prstGeom prst="straightConnector1">
            <a:avLst/>
          </a:prstGeom>
          <a:noFill/>
          <a:ln w="28575" cap="flat" cmpd="sng">
            <a:solidFill>
              <a:srgbClr val="4A86E8"/>
            </a:solidFill>
            <a:prstDash val="solid"/>
            <a:round/>
            <a:headEnd type="none" w="med" len="med"/>
            <a:tailEnd type="triangle" w="med" len="med"/>
          </a:ln>
        </p:spPr>
      </p:cxnSp>
      <p:sp>
        <p:nvSpPr>
          <p:cNvPr id="2475" name="Google Shape;2475;p208"/>
          <p:cNvSpPr txBox="1"/>
          <p:nvPr/>
        </p:nvSpPr>
        <p:spPr>
          <a:xfrm>
            <a:off x="2506300" y="2771623"/>
            <a:ext cx="3926100" cy="496500"/>
          </a:xfrm>
          <a:prstGeom prst="rect">
            <a:avLst/>
          </a:prstGeom>
          <a:solidFill>
            <a:schemeClr val="lt1"/>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E77A10"/>
                </a:solidFill>
                <a:latin typeface="Montserrat"/>
                <a:ea typeface="Montserrat"/>
                <a:cs typeface="Montserrat"/>
                <a:sym typeface="Montserrat"/>
              </a:rPr>
              <a:t>2.140 billion VND</a:t>
            </a:r>
            <a:r>
              <a:rPr lang="en" sz="1200">
                <a:solidFill>
                  <a:schemeClr val="dk2"/>
                </a:solidFill>
                <a:latin typeface="Montserrat"/>
                <a:ea typeface="Montserrat"/>
                <a:cs typeface="Montserrat"/>
                <a:sym typeface="Montserrat"/>
              </a:rPr>
              <a:t> (900 MWh renewable electricity via EVN + 100 MWh regular electricity)</a:t>
            </a:r>
            <a:endParaRPr sz="1200">
              <a:solidFill>
                <a:schemeClr val="dk2"/>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79"/>
        <p:cNvGrpSpPr/>
        <p:nvPr/>
      </p:nvGrpSpPr>
      <p:grpSpPr>
        <a:xfrm>
          <a:off x="0" y="0"/>
          <a:ext cx="0" cy="0"/>
          <a:chOff x="0" y="0"/>
          <a:chExt cx="0" cy="0"/>
        </a:xfrm>
      </p:grpSpPr>
      <p:pic>
        <p:nvPicPr>
          <p:cNvPr id="2480" name="Google Shape;2480;p20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481" name="Google Shape;2481;p209"/>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482" name="Google Shape;2482;p209"/>
          <p:cNvGrpSpPr/>
          <p:nvPr/>
        </p:nvGrpSpPr>
        <p:grpSpPr>
          <a:xfrm>
            <a:off x="239992" y="63853"/>
            <a:ext cx="8728050" cy="745997"/>
            <a:chOff x="236700" y="63853"/>
            <a:chExt cx="8728050" cy="745997"/>
          </a:xfrm>
        </p:grpSpPr>
        <p:sp>
          <p:nvSpPr>
            <p:cNvPr id="2483" name="Google Shape;2483;p20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484" name="Google Shape;2484;p20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485" name="Google Shape;2485;p20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486" name="Google Shape;2486;p20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487" name="Google Shape;2487;p20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488" name="Google Shape;2488;p209"/>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500" b="1">
                  <a:solidFill>
                    <a:schemeClr val="lt1"/>
                  </a:solidFill>
                  <a:latin typeface="Montserrat"/>
                  <a:ea typeface="Montserrat"/>
                  <a:cs typeface="Montserrat"/>
                  <a:sym typeface="Montserrat"/>
                </a:rPr>
                <a:t>Scenario 5: One Power Plant sells to Multiple Customers</a:t>
              </a:r>
              <a:endParaRPr sz="1500" b="1">
                <a:solidFill>
                  <a:schemeClr val="lt1"/>
                </a:solidFill>
                <a:latin typeface="Montserrat"/>
                <a:ea typeface="Montserrat"/>
                <a:cs typeface="Montserrat"/>
                <a:sym typeface="Montserrat"/>
              </a:endParaRPr>
            </a:p>
            <a:p>
              <a:pPr marL="0" lvl="0" indent="0" algn="l" rtl="0">
                <a:spcBef>
                  <a:spcPts val="0"/>
                </a:spcBef>
                <a:spcAft>
                  <a:spcPts val="0"/>
                </a:spcAft>
                <a:buNone/>
              </a:pPr>
              <a:r>
                <a:rPr lang="en" sz="1500" b="1">
                  <a:solidFill>
                    <a:schemeClr val="lt1"/>
                  </a:solidFill>
                  <a:latin typeface="Montserrat"/>
                  <a:ea typeface="Montserrat"/>
                  <a:cs typeface="Montserrat"/>
                  <a:sym typeface="Montserrat"/>
                </a:rPr>
                <a:t>Market Price Fluctuates (1)</a:t>
              </a:r>
              <a:endParaRPr sz="1500">
                <a:solidFill>
                  <a:srgbClr val="FFFFFF"/>
                </a:solidFill>
                <a:latin typeface="Montserrat ExtraBold"/>
                <a:ea typeface="Montserrat ExtraBold"/>
                <a:cs typeface="Montserrat ExtraBold"/>
                <a:sym typeface="Montserrat ExtraBold"/>
              </a:endParaRPr>
            </a:p>
          </p:txBody>
        </p:sp>
        <p:cxnSp>
          <p:nvCxnSpPr>
            <p:cNvPr id="2489" name="Google Shape;2489;p20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cxnSp>
          <p:nvCxnSpPr>
            <p:cNvPr id="2490" name="Google Shape;2490;p20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491" name="Google Shape;2491;p20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492" name="Google Shape;2492;p20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grpSp>
      <p:grpSp>
        <p:nvGrpSpPr>
          <p:cNvPr id="2493" name="Google Shape;2493;p209"/>
          <p:cNvGrpSpPr/>
          <p:nvPr/>
        </p:nvGrpSpPr>
        <p:grpSpPr>
          <a:xfrm>
            <a:off x="240000" y="862450"/>
            <a:ext cx="8426351" cy="1774975"/>
            <a:chOff x="240000" y="862450"/>
            <a:chExt cx="8426351" cy="1774975"/>
          </a:xfrm>
        </p:grpSpPr>
        <p:grpSp>
          <p:nvGrpSpPr>
            <p:cNvPr id="2494" name="Google Shape;2494;p209"/>
            <p:cNvGrpSpPr/>
            <p:nvPr/>
          </p:nvGrpSpPr>
          <p:grpSpPr>
            <a:xfrm>
              <a:off x="240000" y="862450"/>
              <a:ext cx="8426351" cy="1774975"/>
              <a:chOff x="240000" y="862450"/>
              <a:chExt cx="8426351" cy="1774975"/>
            </a:xfrm>
          </p:grpSpPr>
          <p:pic>
            <p:nvPicPr>
              <p:cNvPr id="2495" name="Google Shape;2495;p209" title="wind-turbine.png"/>
              <p:cNvPicPr preferRelativeResize="0"/>
              <p:nvPr/>
            </p:nvPicPr>
            <p:blipFill>
              <a:blip r:embed="rId5">
                <a:alphaModFix/>
              </a:blip>
              <a:stretch>
                <a:fillRect/>
              </a:stretch>
            </p:blipFill>
            <p:spPr>
              <a:xfrm>
                <a:off x="4217863" y="1191963"/>
                <a:ext cx="958175" cy="958175"/>
              </a:xfrm>
              <a:prstGeom prst="rect">
                <a:avLst/>
              </a:prstGeom>
              <a:noFill/>
              <a:ln>
                <a:noFill/>
              </a:ln>
            </p:spPr>
          </p:pic>
          <p:pic>
            <p:nvPicPr>
              <p:cNvPr id="2496" name="Google Shape;2496;p209" title="factory.png"/>
              <p:cNvPicPr preferRelativeResize="0"/>
              <p:nvPr/>
            </p:nvPicPr>
            <p:blipFill>
              <a:blip r:embed="rId6">
                <a:alphaModFix/>
              </a:blip>
              <a:stretch>
                <a:fillRect/>
              </a:stretch>
            </p:blipFill>
            <p:spPr>
              <a:xfrm>
                <a:off x="7387891" y="1138793"/>
                <a:ext cx="1064475" cy="1064475"/>
              </a:xfrm>
              <a:prstGeom prst="rect">
                <a:avLst/>
              </a:prstGeom>
              <a:noFill/>
              <a:ln>
                <a:noFill/>
              </a:ln>
            </p:spPr>
          </p:pic>
          <p:cxnSp>
            <p:nvCxnSpPr>
              <p:cNvPr id="2497" name="Google Shape;2497;p209"/>
              <p:cNvCxnSpPr>
                <a:stCxn id="2495" idx="3"/>
                <a:endCxn id="2496" idx="1"/>
              </p:cNvCxnSpPr>
              <p:nvPr/>
            </p:nvCxnSpPr>
            <p:spPr>
              <a:xfrm>
                <a:off x="5176037" y="1671051"/>
                <a:ext cx="2211900" cy="0"/>
              </a:xfrm>
              <a:prstGeom prst="straightConnector1">
                <a:avLst/>
              </a:prstGeom>
              <a:noFill/>
              <a:ln w="9525" cap="flat" cmpd="sng">
                <a:solidFill>
                  <a:schemeClr val="dk2"/>
                </a:solidFill>
                <a:prstDash val="solid"/>
                <a:round/>
                <a:headEnd type="triangle" w="med" len="med"/>
                <a:tailEnd type="triangle" w="med" len="med"/>
              </a:ln>
            </p:spPr>
          </p:cxnSp>
          <p:cxnSp>
            <p:nvCxnSpPr>
              <p:cNvPr id="2498" name="Google Shape;2498;p209"/>
              <p:cNvCxnSpPr/>
              <p:nvPr/>
            </p:nvCxnSpPr>
            <p:spPr>
              <a:xfrm rot="10800000" flipH="1">
                <a:off x="1910366" y="1663843"/>
                <a:ext cx="2153100" cy="14400"/>
              </a:xfrm>
              <a:prstGeom prst="straightConnector1">
                <a:avLst/>
              </a:prstGeom>
              <a:noFill/>
              <a:ln w="9525" cap="flat" cmpd="sng">
                <a:solidFill>
                  <a:schemeClr val="dk2"/>
                </a:solidFill>
                <a:prstDash val="solid"/>
                <a:round/>
                <a:headEnd type="triangle" w="med" len="med"/>
                <a:tailEnd type="triangle" w="med" len="med"/>
              </a:ln>
            </p:spPr>
          </p:cxnSp>
          <p:sp>
            <p:nvSpPr>
              <p:cNvPr id="2499" name="Google Shape;2499;p209"/>
              <p:cNvSpPr txBox="1"/>
              <p:nvPr/>
            </p:nvSpPr>
            <p:spPr>
              <a:xfrm>
                <a:off x="634476" y="862450"/>
                <a:ext cx="14802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4A86E8"/>
                    </a:solidFill>
                    <a:latin typeface="Montserrat"/>
                    <a:ea typeface="Montserrat"/>
                    <a:cs typeface="Montserrat"/>
                    <a:sym typeface="Montserrat"/>
                  </a:rPr>
                  <a:t>Customer A </a:t>
                </a:r>
                <a:endParaRPr b="1">
                  <a:solidFill>
                    <a:srgbClr val="4A86E8"/>
                  </a:solidFill>
                  <a:latin typeface="Montserrat"/>
                  <a:ea typeface="Montserrat"/>
                  <a:cs typeface="Montserrat"/>
                  <a:sym typeface="Montserrat"/>
                </a:endParaRPr>
              </a:p>
              <a:p>
                <a:pPr marL="0" lvl="0" indent="0" algn="l" rtl="0">
                  <a:spcBef>
                    <a:spcPts val="0"/>
                  </a:spcBef>
                  <a:spcAft>
                    <a:spcPts val="0"/>
                  </a:spcAft>
                  <a:buNone/>
                </a:pPr>
                <a:endParaRPr b="1">
                  <a:solidFill>
                    <a:srgbClr val="6DBA7F"/>
                  </a:solidFill>
                  <a:latin typeface="Montserrat"/>
                  <a:ea typeface="Montserrat"/>
                  <a:cs typeface="Montserrat"/>
                  <a:sym typeface="Montserrat"/>
                </a:endParaRPr>
              </a:p>
            </p:txBody>
          </p:sp>
          <p:sp>
            <p:nvSpPr>
              <p:cNvPr id="2500" name="Google Shape;2500;p209"/>
              <p:cNvSpPr txBox="1"/>
              <p:nvPr/>
            </p:nvSpPr>
            <p:spPr>
              <a:xfrm>
                <a:off x="7073351" y="862450"/>
                <a:ext cx="15930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FF9900"/>
                    </a:solidFill>
                    <a:latin typeface="Montserrat"/>
                    <a:ea typeface="Montserrat"/>
                    <a:cs typeface="Montserrat"/>
                    <a:sym typeface="Montserrat"/>
                  </a:rPr>
                  <a:t>Customer B</a:t>
                </a:r>
                <a:endParaRPr b="1">
                  <a:solidFill>
                    <a:srgbClr val="FF9900"/>
                  </a:solidFill>
                  <a:latin typeface="Montserrat"/>
                  <a:ea typeface="Montserrat"/>
                  <a:cs typeface="Montserrat"/>
                  <a:sym typeface="Montserrat"/>
                </a:endParaRPr>
              </a:p>
            </p:txBody>
          </p:sp>
          <p:sp>
            <p:nvSpPr>
              <p:cNvPr id="2501" name="Google Shape;2501;p209"/>
              <p:cNvSpPr txBox="1"/>
              <p:nvPr/>
            </p:nvSpPr>
            <p:spPr>
              <a:xfrm>
                <a:off x="3617249" y="862450"/>
                <a:ext cx="21531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300" b="1">
                    <a:solidFill>
                      <a:srgbClr val="6DBA7F"/>
                    </a:solidFill>
                    <a:latin typeface="Montserrat"/>
                    <a:ea typeface="Montserrat"/>
                    <a:cs typeface="Montserrat"/>
                    <a:sym typeface="Montserrat"/>
                  </a:rPr>
                  <a:t>Wind Plant (150MW) </a:t>
                </a:r>
                <a:endParaRPr sz="1300" b="1">
                  <a:solidFill>
                    <a:srgbClr val="6DBA7F"/>
                  </a:solidFill>
                  <a:latin typeface="Montserrat"/>
                  <a:ea typeface="Montserrat"/>
                  <a:cs typeface="Montserrat"/>
                  <a:sym typeface="Montserrat"/>
                </a:endParaRPr>
              </a:p>
              <a:p>
                <a:pPr marL="0" lvl="0" indent="0" algn="l" rtl="0">
                  <a:spcBef>
                    <a:spcPts val="0"/>
                  </a:spcBef>
                  <a:spcAft>
                    <a:spcPts val="0"/>
                  </a:spcAft>
                  <a:buNone/>
                </a:pPr>
                <a:endParaRPr sz="1300" b="1">
                  <a:solidFill>
                    <a:srgbClr val="4A86E8"/>
                  </a:solidFill>
                  <a:latin typeface="Montserrat"/>
                  <a:ea typeface="Montserrat"/>
                  <a:cs typeface="Montserrat"/>
                  <a:sym typeface="Montserrat"/>
                </a:endParaRPr>
              </a:p>
            </p:txBody>
          </p:sp>
          <p:sp>
            <p:nvSpPr>
              <p:cNvPr id="2502" name="Google Shape;2502;p209"/>
              <p:cNvSpPr txBox="1"/>
              <p:nvPr/>
            </p:nvSpPr>
            <p:spPr>
              <a:xfrm>
                <a:off x="240000" y="2202425"/>
                <a:ext cx="20550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rgbClr val="4A86E8"/>
                    </a:solidFill>
                    <a:latin typeface="Montserrat"/>
                    <a:ea typeface="Montserrat"/>
                    <a:cs typeface="Montserrat"/>
                    <a:sym typeface="Montserrat"/>
                  </a:rPr>
                  <a:t>Q_c,A = 18,000 MWh</a:t>
                </a:r>
                <a:endParaRPr sz="1100" b="1">
                  <a:solidFill>
                    <a:srgbClr val="4A86E8"/>
                  </a:solidFill>
                  <a:latin typeface="Montserrat"/>
                  <a:ea typeface="Montserrat"/>
                  <a:cs typeface="Montserrat"/>
                  <a:sym typeface="Montserrat"/>
                </a:endParaRPr>
              </a:p>
            </p:txBody>
          </p:sp>
          <p:sp>
            <p:nvSpPr>
              <p:cNvPr id="2503" name="Google Shape;2503;p209"/>
              <p:cNvSpPr txBox="1"/>
              <p:nvPr/>
            </p:nvSpPr>
            <p:spPr>
              <a:xfrm>
                <a:off x="3427600" y="2184725"/>
                <a:ext cx="24843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rgbClr val="6DBA7F"/>
                    </a:solidFill>
                    <a:latin typeface="Montserrat"/>
                    <a:ea typeface="Montserrat"/>
                    <a:cs typeface="Montserrat"/>
                    <a:sym typeface="Montserrat"/>
                  </a:rPr>
                  <a:t>Q_KHhc = 30,000 MWh</a:t>
                </a:r>
                <a:endParaRPr sz="1100" b="1">
                  <a:solidFill>
                    <a:srgbClr val="FF9900"/>
                  </a:solidFill>
                  <a:latin typeface="Montserrat"/>
                  <a:ea typeface="Montserrat"/>
                  <a:cs typeface="Montserrat"/>
                  <a:sym typeface="Montserrat"/>
                </a:endParaRPr>
              </a:p>
            </p:txBody>
          </p:sp>
          <p:sp>
            <p:nvSpPr>
              <p:cNvPr id="2504" name="Google Shape;2504;p209"/>
              <p:cNvSpPr txBox="1"/>
              <p:nvPr/>
            </p:nvSpPr>
            <p:spPr>
              <a:xfrm>
                <a:off x="6611350" y="2202414"/>
                <a:ext cx="20550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rgbClr val="FF9900"/>
                    </a:solidFill>
                    <a:latin typeface="Montserrat"/>
                    <a:ea typeface="Montserrat"/>
                    <a:cs typeface="Montserrat"/>
                    <a:sym typeface="Montserrat"/>
                  </a:rPr>
                  <a:t>Q_c,B = 12,000 MWh </a:t>
                </a:r>
                <a:endParaRPr sz="1100" b="1">
                  <a:solidFill>
                    <a:srgbClr val="FF9900"/>
                  </a:solidFill>
                  <a:latin typeface="Montserrat"/>
                  <a:ea typeface="Montserrat"/>
                  <a:cs typeface="Montserrat"/>
                  <a:sym typeface="Montserrat"/>
                </a:endParaRPr>
              </a:p>
            </p:txBody>
          </p:sp>
          <p:sp>
            <p:nvSpPr>
              <p:cNvPr id="2505" name="Google Shape;2505;p209"/>
              <p:cNvSpPr txBox="1"/>
              <p:nvPr/>
            </p:nvSpPr>
            <p:spPr>
              <a:xfrm>
                <a:off x="1704500" y="1210766"/>
                <a:ext cx="24843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CfD</a:t>
                </a:r>
                <a:endParaRPr sz="1100" b="1">
                  <a:solidFill>
                    <a:schemeClr val="dk2"/>
                  </a:solidFill>
                  <a:latin typeface="Montserrat"/>
                  <a:ea typeface="Montserrat"/>
                  <a:cs typeface="Montserrat"/>
                  <a:sym typeface="Montserrat"/>
                </a:endParaRPr>
              </a:p>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Pc,Y = 1,700 VND/kWh</a:t>
                </a:r>
                <a:endParaRPr sz="1100" b="1">
                  <a:solidFill>
                    <a:schemeClr val="dk2"/>
                  </a:solidFill>
                  <a:latin typeface="Montserrat"/>
                  <a:ea typeface="Montserrat"/>
                  <a:cs typeface="Montserrat"/>
                  <a:sym typeface="Montserrat"/>
                </a:endParaRPr>
              </a:p>
            </p:txBody>
          </p:sp>
          <p:sp>
            <p:nvSpPr>
              <p:cNvPr id="2506" name="Google Shape;2506;p209"/>
              <p:cNvSpPr txBox="1"/>
              <p:nvPr/>
            </p:nvSpPr>
            <p:spPr>
              <a:xfrm>
                <a:off x="4960650" y="1201041"/>
                <a:ext cx="24843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CfD</a:t>
                </a:r>
                <a:endParaRPr sz="1100" b="1">
                  <a:solidFill>
                    <a:schemeClr val="dk2"/>
                  </a:solidFill>
                  <a:latin typeface="Montserrat"/>
                  <a:ea typeface="Montserrat"/>
                  <a:cs typeface="Montserrat"/>
                  <a:sym typeface="Montserrat"/>
                </a:endParaRPr>
              </a:p>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Pc,X = 1,500 VND/kWh</a:t>
                </a:r>
                <a:endParaRPr sz="1100" b="1">
                  <a:solidFill>
                    <a:schemeClr val="dk2"/>
                  </a:solidFill>
                  <a:latin typeface="Montserrat"/>
                  <a:ea typeface="Montserrat"/>
                  <a:cs typeface="Montserrat"/>
                  <a:sym typeface="Montserrat"/>
                </a:endParaRPr>
              </a:p>
            </p:txBody>
          </p:sp>
        </p:grpSp>
        <p:pic>
          <p:nvPicPr>
            <p:cNvPr id="2507" name="Google Shape;2507;p209" title="handshake (1).png"/>
            <p:cNvPicPr preferRelativeResize="0"/>
            <p:nvPr/>
          </p:nvPicPr>
          <p:blipFill>
            <a:blip r:embed="rId7">
              <a:alphaModFix/>
            </a:blip>
            <a:stretch>
              <a:fillRect/>
            </a:stretch>
          </p:blipFill>
          <p:spPr>
            <a:xfrm>
              <a:off x="2614450" y="1666250"/>
              <a:ext cx="485775" cy="485775"/>
            </a:xfrm>
            <a:prstGeom prst="rect">
              <a:avLst/>
            </a:prstGeom>
            <a:noFill/>
            <a:ln>
              <a:noFill/>
            </a:ln>
          </p:spPr>
        </p:pic>
        <p:pic>
          <p:nvPicPr>
            <p:cNvPr id="2508" name="Google Shape;2508;p209" title="handshake (1).png"/>
            <p:cNvPicPr preferRelativeResize="0"/>
            <p:nvPr/>
          </p:nvPicPr>
          <p:blipFill>
            <a:blip r:embed="rId7">
              <a:alphaModFix/>
            </a:blip>
            <a:stretch>
              <a:fillRect/>
            </a:stretch>
          </p:blipFill>
          <p:spPr>
            <a:xfrm>
              <a:off x="5957725" y="1666250"/>
              <a:ext cx="485775" cy="485775"/>
            </a:xfrm>
            <a:prstGeom prst="rect">
              <a:avLst/>
            </a:prstGeom>
            <a:noFill/>
            <a:ln>
              <a:noFill/>
            </a:ln>
          </p:spPr>
        </p:pic>
      </p:grpSp>
      <p:pic>
        <p:nvPicPr>
          <p:cNvPr id="2509" name="Google Shape;2509;p209" title="factory.png"/>
          <p:cNvPicPr preferRelativeResize="0"/>
          <p:nvPr/>
        </p:nvPicPr>
        <p:blipFill>
          <a:blip r:embed="rId6">
            <a:alphaModFix/>
          </a:blip>
          <a:stretch>
            <a:fillRect/>
          </a:stretch>
        </p:blipFill>
        <p:spPr>
          <a:xfrm>
            <a:off x="728091" y="1217543"/>
            <a:ext cx="1064475" cy="1064475"/>
          </a:xfrm>
          <a:prstGeom prst="rect">
            <a:avLst/>
          </a:prstGeom>
          <a:noFill/>
          <a:ln>
            <a:noFill/>
          </a:ln>
        </p:spPr>
      </p:pic>
      <p:sp>
        <p:nvSpPr>
          <p:cNvPr id="2510" name="Google Shape;2510;p209"/>
          <p:cNvSpPr txBox="1"/>
          <p:nvPr/>
        </p:nvSpPr>
        <p:spPr>
          <a:xfrm>
            <a:off x="3356675" y="2673250"/>
            <a:ext cx="23400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1B3E6D"/>
                </a:solidFill>
                <a:latin typeface="Montserrat"/>
                <a:ea typeface="Montserrat"/>
                <a:cs typeface="Montserrat"/>
                <a:sym typeface="Montserrat"/>
              </a:rPr>
              <a:t>Difference Q</a:t>
            </a:r>
            <a:r>
              <a:rPr lang="en" sz="1100" baseline="-25000">
                <a:solidFill>
                  <a:srgbClr val="1B3E6D"/>
                </a:solidFill>
                <a:latin typeface="Montserrat"/>
                <a:ea typeface="Montserrat"/>
                <a:cs typeface="Montserrat"/>
                <a:sym typeface="Montserrat"/>
              </a:rPr>
              <a:t>KH</a:t>
            </a:r>
            <a:r>
              <a:rPr lang="en" sz="1100">
                <a:solidFill>
                  <a:srgbClr val="1B3E6D"/>
                </a:solidFill>
                <a:latin typeface="Montserrat"/>
                <a:ea typeface="Montserrat"/>
                <a:cs typeface="Montserrat"/>
                <a:sym typeface="Montserrat"/>
              </a:rPr>
              <a:t> - Q</a:t>
            </a:r>
            <a:r>
              <a:rPr lang="en" sz="1100" baseline="-25000">
                <a:solidFill>
                  <a:srgbClr val="1B3E6D"/>
                </a:solidFill>
                <a:latin typeface="Montserrat"/>
                <a:ea typeface="Montserrat"/>
                <a:cs typeface="Montserrat"/>
                <a:sym typeface="Montserrat"/>
              </a:rPr>
              <a:t>KHhc</a:t>
            </a:r>
            <a:r>
              <a:rPr lang="en" sz="1100">
                <a:solidFill>
                  <a:srgbClr val="1B3E6D"/>
                </a:solidFill>
                <a:latin typeface="Montserrat"/>
                <a:ea typeface="Montserrat"/>
                <a:cs typeface="Montserrat"/>
                <a:sym typeface="Montserrat"/>
              </a:rPr>
              <a:t> = 0 MWh</a:t>
            </a:r>
            <a:endParaRPr sz="1100">
              <a:solidFill>
                <a:srgbClr val="1B3E6D"/>
              </a:solidFill>
              <a:latin typeface="Montserrat"/>
              <a:ea typeface="Montserrat"/>
              <a:cs typeface="Montserrat"/>
              <a:sym typeface="Montserrat"/>
            </a:endParaRPr>
          </a:p>
        </p:txBody>
      </p:sp>
      <p:sp>
        <p:nvSpPr>
          <p:cNvPr id="2511" name="Google Shape;2511;p209"/>
          <p:cNvSpPr txBox="1"/>
          <p:nvPr/>
        </p:nvSpPr>
        <p:spPr>
          <a:xfrm>
            <a:off x="6187475" y="2673250"/>
            <a:ext cx="28098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1B3E6D"/>
                </a:solidFill>
                <a:latin typeface="Montserrat"/>
                <a:ea typeface="Montserrat"/>
                <a:cs typeface="Montserrat"/>
                <a:sym typeface="Montserrat"/>
              </a:rPr>
              <a:t>The customer doesn’t need additional electricity from EVN</a:t>
            </a:r>
            <a:endParaRPr sz="1100">
              <a:solidFill>
                <a:srgbClr val="1B3E6D"/>
              </a:solidFill>
              <a:latin typeface="Montserrat"/>
              <a:ea typeface="Montserrat"/>
              <a:cs typeface="Montserrat"/>
              <a:sym typeface="Montserrat"/>
            </a:endParaRPr>
          </a:p>
        </p:txBody>
      </p:sp>
      <p:cxnSp>
        <p:nvCxnSpPr>
          <p:cNvPr id="2512" name="Google Shape;2512;p209"/>
          <p:cNvCxnSpPr>
            <a:stCxn id="2510" idx="3"/>
            <a:endCxn id="2511" idx="1"/>
          </p:cNvCxnSpPr>
          <p:nvPr/>
        </p:nvCxnSpPr>
        <p:spPr>
          <a:xfrm>
            <a:off x="5696675" y="2916100"/>
            <a:ext cx="490800" cy="0"/>
          </a:xfrm>
          <a:prstGeom prst="straightConnector1">
            <a:avLst/>
          </a:prstGeom>
          <a:noFill/>
          <a:ln w="9525" cap="flat" cmpd="sng">
            <a:solidFill>
              <a:schemeClr val="dk2"/>
            </a:solidFill>
            <a:prstDash val="solid"/>
            <a:round/>
            <a:headEnd type="none" w="med" len="med"/>
            <a:tailEnd type="triangle" w="med" len="med"/>
          </a:ln>
        </p:spPr>
      </p:cxnSp>
      <p:sp>
        <p:nvSpPr>
          <p:cNvPr id="2513" name="Google Shape;2513;p209"/>
          <p:cNvSpPr txBox="1"/>
          <p:nvPr/>
        </p:nvSpPr>
        <p:spPr>
          <a:xfrm>
            <a:off x="510825" y="3194800"/>
            <a:ext cx="8186400" cy="35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E77A10"/>
                </a:solidFill>
                <a:latin typeface="Montserrat"/>
                <a:ea typeface="Montserrat"/>
                <a:cs typeface="Montserrat"/>
                <a:sym typeface="Montserrat"/>
              </a:rPr>
              <a:t>But what happens when market price fluctuates?</a:t>
            </a:r>
            <a:endParaRPr b="1">
              <a:solidFill>
                <a:srgbClr val="E77A10"/>
              </a:solidFill>
              <a:latin typeface="Montserrat"/>
              <a:ea typeface="Montserrat"/>
              <a:cs typeface="Montserrat"/>
              <a:sym typeface="Montserrat"/>
            </a:endParaRPr>
          </a:p>
        </p:txBody>
      </p:sp>
      <p:sp>
        <p:nvSpPr>
          <p:cNvPr id="2514" name="Google Shape;2514;p209"/>
          <p:cNvSpPr txBox="1"/>
          <p:nvPr/>
        </p:nvSpPr>
        <p:spPr>
          <a:xfrm>
            <a:off x="405725" y="3638400"/>
            <a:ext cx="3514200" cy="12429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2B9C85"/>
                </a:solidFill>
                <a:latin typeface="Montserrat"/>
                <a:ea typeface="Montserrat"/>
                <a:cs typeface="Montserrat"/>
                <a:sym typeface="Montserrat"/>
              </a:rPr>
              <a:t>Case 1: Market price is higher than contract price </a:t>
            </a:r>
            <a:endParaRPr b="1">
              <a:solidFill>
                <a:srgbClr val="2B9C85"/>
              </a:solidFill>
              <a:latin typeface="Montserrat"/>
              <a:ea typeface="Montserrat"/>
              <a:cs typeface="Montserrat"/>
              <a:sym typeface="Montserrat"/>
            </a:endParaRPr>
          </a:p>
        </p:txBody>
      </p:sp>
      <p:sp>
        <p:nvSpPr>
          <p:cNvPr id="2515" name="Google Shape;2515;p209"/>
          <p:cNvSpPr txBox="1"/>
          <p:nvPr/>
        </p:nvSpPr>
        <p:spPr>
          <a:xfrm>
            <a:off x="4100475" y="3638400"/>
            <a:ext cx="3514200" cy="1242900"/>
          </a:xfrm>
          <a:prstGeom prst="rect">
            <a:avLst/>
          </a:prstGeom>
          <a:noFill/>
          <a:ln w="9525" cap="flat" cmpd="sng">
            <a:solidFill>
              <a:srgbClr val="B33A3A"/>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B33A3A"/>
                </a:solidFill>
                <a:latin typeface="Montserrat"/>
                <a:ea typeface="Montserrat"/>
                <a:cs typeface="Montserrat"/>
                <a:sym typeface="Montserrat"/>
              </a:rPr>
              <a:t>Case 2: Market price is lower than contract price </a:t>
            </a:r>
            <a:endParaRPr b="1">
              <a:solidFill>
                <a:srgbClr val="B33A3A"/>
              </a:solidFill>
              <a:latin typeface="Montserrat"/>
              <a:ea typeface="Montserrat"/>
              <a:cs typeface="Montserrat"/>
              <a:sym typeface="Montserrat"/>
            </a:endParaRPr>
          </a:p>
        </p:txBody>
      </p:sp>
      <p:sp>
        <p:nvSpPr>
          <p:cNvPr id="2516" name="Google Shape;2516;p209"/>
          <p:cNvSpPr txBox="1"/>
          <p:nvPr/>
        </p:nvSpPr>
        <p:spPr>
          <a:xfrm>
            <a:off x="146675" y="2673275"/>
            <a:ext cx="27192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1B3E6D"/>
                </a:solidFill>
                <a:latin typeface="Montserrat"/>
                <a:ea typeface="Montserrat"/>
                <a:cs typeface="Montserrat"/>
                <a:sym typeface="Montserrat"/>
              </a:rPr>
              <a:t>Total contract output allocated to customers exactly equals the plant's output</a:t>
            </a:r>
            <a:endParaRPr sz="1100">
              <a:solidFill>
                <a:srgbClr val="1B3E6D"/>
              </a:solidFill>
              <a:latin typeface="Montserrat"/>
              <a:ea typeface="Montserrat"/>
              <a:cs typeface="Montserrat"/>
              <a:sym typeface="Montserrat"/>
            </a:endParaRPr>
          </a:p>
        </p:txBody>
      </p:sp>
      <p:cxnSp>
        <p:nvCxnSpPr>
          <p:cNvPr id="2517" name="Google Shape;2517;p209"/>
          <p:cNvCxnSpPr/>
          <p:nvPr/>
        </p:nvCxnSpPr>
        <p:spPr>
          <a:xfrm>
            <a:off x="2865875" y="2916100"/>
            <a:ext cx="4908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521"/>
        <p:cNvGrpSpPr/>
        <p:nvPr/>
      </p:nvGrpSpPr>
      <p:grpSpPr>
        <a:xfrm>
          <a:off x="0" y="0"/>
          <a:ext cx="0" cy="0"/>
          <a:chOff x="0" y="0"/>
          <a:chExt cx="0" cy="0"/>
        </a:xfrm>
      </p:grpSpPr>
      <p:pic>
        <p:nvPicPr>
          <p:cNvPr id="2522" name="Google Shape;2522;p210" title="people-taking-part-high-protocol-event.jpg"/>
          <p:cNvPicPr preferRelativeResize="0"/>
          <p:nvPr/>
        </p:nvPicPr>
        <p:blipFill rotWithShape="1">
          <a:blip r:embed="rId3">
            <a:alphaModFix/>
          </a:blip>
          <a:srcRect t="21875" b="21875"/>
          <a:stretch/>
        </p:blipFill>
        <p:spPr>
          <a:xfrm>
            <a:off x="0" y="0"/>
            <a:ext cx="9144000" cy="5143501"/>
          </a:xfrm>
          <a:prstGeom prst="rect">
            <a:avLst/>
          </a:prstGeom>
          <a:noFill/>
          <a:ln>
            <a:noFill/>
          </a:ln>
        </p:spPr>
      </p:pic>
      <p:sp>
        <p:nvSpPr>
          <p:cNvPr id="2523" name="Google Shape;2523;p210"/>
          <p:cNvSpPr/>
          <p:nvPr/>
        </p:nvSpPr>
        <p:spPr>
          <a:xfrm>
            <a:off x="0" y="0"/>
            <a:ext cx="9144000" cy="5143500"/>
          </a:xfrm>
          <a:prstGeom prst="rect">
            <a:avLst/>
          </a:prstGeom>
          <a:solidFill>
            <a:srgbClr val="1B786E">
              <a:alpha val="44299"/>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24" name="Google Shape;2524;p210" title="white layer.png"/>
          <p:cNvPicPr preferRelativeResize="0"/>
          <p:nvPr/>
        </p:nvPicPr>
        <p:blipFill>
          <a:blip r:embed="rId4">
            <a:alphaModFix/>
          </a:blip>
          <a:stretch>
            <a:fillRect/>
          </a:stretch>
        </p:blipFill>
        <p:spPr>
          <a:xfrm>
            <a:off x="912825" y="1950975"/>
            <a:ext cx="8231173" cy="3205750"/>
          </a:xfrm>
          <a:prstGeom prst="rect">
            <a:avLst/>
          </a:prstGeom>
          <a:noFill/>
          <a:ln>
            <a:noFill/>
          </a:ln>
        </p:spPr>
      </p:pic>
      <p:pic>
        <p:nvPicPr>
          <p:cNvPr id="2525" name="Google Shape;2525;p210" title="Gemini_Generated_Image_rtvpp5rtvpp5rtvp (1).png"/>
          <p:cNvPicPr preferRelativeResize="0"/>
          <p:nvPr/>
        </p:nvPicPr>
        <p:blipFill rotWithShape="1">
          <a:blip r:embed="rId5">
            <a:alphaModFix amt="85000"/>
          </a:blip>
          <a:srcRect l="862"/>
          <a:stretch/>
        </p:blipFill>
        <p:spPr>
          <a:xfrm>
            <a:off x="0" y="-463025"/>
            <a:ext cx="9144003" cy="5606525"/>
          </a:xfrm>
          <a:prstGeom prst="rect">
            <a:avLst/>
          </a:prstGeom>
          <a:noFill/>
          <a:ln>
            <a:noFill/>
          </a:ln>
        </p:spPr>
      </p:pic>
      <p:grpSp>
        <p:nvGrpSpPr>
          <p:cNvPr id="2526" name="Google Shape;2526;p210"/>
          <p:cNvGrpSpPr/>
          <p:nvPr/>
        </p:nvGrpSpPr>
        <p:grpSpPr>
          <a:xfrm>
            <a:off x="7419773" y="4830726"/>
            <a:ext cx="1610547" cy="312775"/>
            <a:chOff x="7472673" y="4830726"/>
            <a:chExt cx="1610547" cy="312775"/>
          </a:xfrm>
        </p:grpSpPr>
        <p:pic>
          <p:nvPicPr>
            <p:cNvPr id="2527" name="Google Shape;2527;p210"/>
            <p:cNvPicPr preferRelativeResize="0"/>
            <p:nvPr/>
          </p:nvPicPr>
          <p:blipFill>
            <a:blip r:embed="rId6">
              <a:alphaModFix/>
            </a:blip>
            <a:stretch>
              <a:fillRect/>
            </a:stretch>
          </p:blipFill>
          <p:spPr>
            <a:xfrm>
              <a:off x="7472673" y="4830726"/>
              <a:ext cx="894924" cy="312775"/>
            </a:xfrm>
            <a:prstGeom prst="rect">
              <a:avLst/>
            </a:prstGeom>
            <a:noFill/>
            <a:ln>
              <a:noFill/>
            </a:ln>
          </p:spPr>
        </p:pic>
        <p:pic>
          <p:nvPicPr>
            <p:cNvPr id="2528" name="Google Shape;2528;p210" title="CEBA new logo.png"/>
            <p:cNvPicPr preferRelativeResize="0"/>
            <p:nvPr/>
          </p:nvPicPr>
          <p:blipFill>
            <a:blip r:embed="rId7">
              <a:alphaModFix/>
            </a:blip>
            <a:stretch>
              <a:fillRect/>
            </a:stretch>
          </p:blipFill>
          <p:spPr>
            <a:xfrm>
              <a:off x="8374923" y="4890787"/>
              <a:ext cx="708296" cy="211825"/>
            </a:xfrm>
            <a:prstGeom prst="rect">
              <a:avLst/>
            </a:prstGeom>
            <a:noFill/>
            <a:ln>
              <a:noFill/>
            </a:ln>
          </p:spPr>
        </p:pic>
      </p:grpSp>
      <p:sp>
        <p:nvSpPr>
          <p:cNvPr id="2529" name="Google Shape;2529;p210"/>
          <p:cNvSpPr txBox="1"/>
          <p:nvPr/>
        </p:nvSpPr>
        <p:spPr>
          <a:xfrm>
            <a:off x="3361204" y="3533254"/>
            <a:ext cx="5630400" cy="101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2F645B"/>
                </a:solidFill>
                <a:latin typeface="Montserrat ExtraBold"/>
                <a:ea typeface="Montserrat ExtraBold"/>
                <a:cs typeface="Montserrat ExtraBold"/>
                <a:sym typeface="Montserrat ExtraBold"/>
              </a:rPr>
              <a:t>Workshop Recap and Wrap Up</a:t>
            </a:r>
            <a:endParaRPr sz="3000" b="1">
              <a:solidFill>
                <a:srgbClr val="035D4E"/>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33"/>
        <p:cNvGrpSpPr/>
        <p:nvPr/>
      </p:nvGrpSpPr>
      <p:grpSpPr>
        <a:xfrm>
          <a:off x="0" y="0"/>
          <a:ext cx="0" cy="0"/>
          <a:chOff x="0" y="0"/>
          <a:chExt cx="0" cy="0"/>
        </a:xfrm>
      </p:grpSpPr>
      <p:sp>
        <p:nvSpPr>
          <p:cNvPr id="2534" name="Google Shape;2534;p211"/>
          <p:cNvSpPr txBox="1"/>
          <p:nvPr/>
        </p:nvSpPr>
        <p:spPr>
          <a:xfrm>
            <a:off x="115050" y="0"/>
            <a:ext cx="513000" cy="65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b="1">
                <a:solidFill>
                  <a:schemeClr val="lt1"/>
                </a:solidFill>
              </a:rPr>
              <a:t> </a:t>
            </a:r>
            <a:endParaRPr sz="2500" b="1">
              <a:solidFill>
                <a:schemeClr val="lt1"/>
              </a:solidFill>
            </a:endParaRPr>
          </a:p>
        </p:txBody>
      </p:sp>
      <p:sp>
        <p:nvSpPr>
          <p:cNvPr id="2535" name="Google Shape;2535;p211"/>
          <p:cNvSpPr txBox="1"/>
          <p:nvPr/>
        </p:nvSpPr>
        <p:spPr>
          <a:xfrm>
            <a:off x="240000" y="926950"/>
            <a:ext cx="8697600" cy="3805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DPPA represents a critical step in scaling RE procurement in Vietnam. </a:t>
            </a:r>
            <a:r>
              <a:rPr lang="en" sz="1100">
                <a:solidFill>
                  <a:schemeClr val="dk1"/>
                </a:solidFill>
                <a:latin typeface="Montserrat"/>
                <a:ea typeface="Montserrat"/>
                <a:cs typeface="Montserrat"/>
                <a:sym typeface="Montserrat"/>
              </a:rPr>
              <a:t>Large energy customers, customers lacking facility’s aligned with on-site requirements, and industrial park tenants can benefit from expanded access to RE procurement</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First DPPA transactions are emerging in Vietnam. </a:t>
            </a:r>
            <a:r>
              <a:rPr lang="en" sz="1100">
                <a:solidFill>
                  <a:schemeClr val="dk1"/>
                </a:solidFill>
                <a:latin typeface="Montserrat"/>
                <a:ea typeface="Montserrat"/>
                <a:cs typeface="Montserrat"/>
                <a:sym typeface="Montserrat"/>
              </a:rPr>
              <a:t>Early transactions are demonstrating the process and economic feasibility of VPPAs in Vietnam</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Facility load profile is a key driver of cost performance. </a:t>
            </a:r>
            <a:r>
              <a:rPr lang="en" sz="1100">
                <a:solidFill>
                  <a:schemeClr val="dk1"/>
                </a:solidFill>
                <a:latin typeface="Montserrat"/>
                <a:ea typeface="Montserrat"/>
                <a:cs typeface="Montserrat"/>
                <a:sym typeface="Montserrat"/>
              </a:rPr>
              <a:t>Day time load demand aligned with RE peak production can help to reduce costs under DPPA. </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Cost ranges are critical for feasibility analysis: </a:t>
            </a:r>
            <a:r>
              <a:rPr lang="en" sz="1100">
                <a:solidFill>
                  <a:schemeClr val="dk1"/>
                </a:solidFill>
                <a:latin typeface="Montserrat"/>
                <a:ea typeface="Montserrat"/>
                <a:cs typeface="Montserrat"/>
                <a:sym typeface="Montserrat"/>
              </a:rPr>
              <a:t>Market volatility, grid-loss adjustments, and load matching all materially affect DPPA costs - assess costs based on a range of downside and upside cost scenarios.</a:t>
            </a:r>
            <a:endParaRPr sz="1100">
              <a:solidFill>
                <a:schemeClr val="dk1"/>
              </a:solidFill>
              <a:latin typeface="Montserrat"/>
              <a:ea typeface="Montserrat"/>
              <a:cs typeface="Montserrat"/>
              <a:sym typeface="Montserrat"/>
            </a:endParaRPr>
          </a:p>
          <a:p>
            <a:pPr marL="457200" lvl="0" indent="-298450" algn="l" rtl="0">
              <a:spcBef>
                <a:spcPts val="500"/>
              </a:spcBef>
              <a:spcAft>
                <a:spcPts val="500"/>
              </a:spcAft>
              <a:buClr>
                <a:schemeClr val="dk1"/>
              </a:buClr>
              <a:buSzPts val="1100"/>
              <a:buFont typeface="Montserrat"/>
              <a:buChar char="●"/>
            </a:pPr>
            <a:endParaRPr sz="1100">
              <a:solidFill>
                <a:schemeClr val="dk1"/>
              </a:solidFill>
              <a:latin typeface="Montserrat"/>
              <a:ea typeface="Montserrat"/>
              <a:cs typeface="Montserrat"/>
              <a:sym typeface="Montserrat"/>
            </a:endParaRPr>
          </a:p>
        </p:txBody>
      </p:sp>
      <p:pic>
        <p:nvPicPr>
          <p:cNvPr id="2536" name="Google Shape;2536;p211"/>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2537" name="Google Shape;2537;p211"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nvGrpSpPr>
          <p:cNvPr id="2538" name="Google Shape;2538;p211"/>
          <p:cNvGrpSpPr/>
          <p:nvPr/>
        </p:nvGrpSpPr>
        <p:grpSpPr>
          <a:xfrm>
            <a:off x="239992" y="63853"/>
            <a:ext cx="8972708" cy="745997"/>
            <a:chOff x="236700" y="63853"/>
            <a:chExt cx="8972708" cy="745997"/>
          </a:xfrm>
        </p:grpSpPr>
        <p:sp>
          <p:nvSpPr>
            <p:cNvPr id="2539" name="Google Shape;2539;p21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40" name="Google Shape;2540;p21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541" name="Google Shape;2541;p21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542" name="Google Shape;2542;p21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543" name="Google Shape;2543;p21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544" name="Google Shape;2544;p21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545" name="Google Shape;2545;p21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546" name="Google Shape;2546;p211"/>
            <p:cNvSpPr txBox="1"/>
            <p:nvPr/>
          </p:nvSpPr>
          <p:spPr>
            <a:xfrm>
              <a:off x="637208" y="281375"/>
              <a:ext cx="85722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chemeClr val="lt1"/>
                  </a:solidFill>
                  <a:latin typeface="Montserrat ExtraBold"/>
                  <a:ea typeface="Montserrat ExtraBold"/>
                  <a:cs typeface="Montserrat ExtraBold"/>
                  <a:sym typeface="Montserrat ExtraBold"/>
                </a:rPr>
                <a:t>Key Takeaways Day 2</a:t>
              </a:r>
              <a:endParaRPr sz="2100">
                <a:solidFill>
                  <a:schemeClr val="lt1"/>
                </a:solidFill>
                <a:latin typeface="Montserrat ExtraBold"/>
                <a:ea typeface="Montserrat ExtraBold"/>
                <a:cs typeface="Montserrat ExtraBold"/>
                <a:sym typeface="Montserrat ExtraBold"/>
              </a:endParaRPr>
            </a:p>
          </p:txBody>
        </p:sp>
        <p:cxnSp>
          <p:nvCxnSpPr>
            <p:cNvPr id="2547" name="Google Shape;2547;p211"/>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2548" name="Google Shape;2548;p211"/>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552"/>
        <p:cNvGrpSpPr/>
        <p:nvPr/>
      </p:nvGrpSpPr>
      <p:grpSpPr>
        <a:xfrm>
          <a:off x="0" y="0"/>
          <a:ext cx="0" cy="0"/>
          <a:chOff x="0" y="0"/>
          <a:chExt cx="0" cy="0"/>
        </a:xfrm>
      </p:grpSpPr>
      <p:sp>
        <p:nvSpPr>
          <p:cNvPr id="2553" name="Google Shape;2553;p212"/>
          <p:cNvSpPr txBox="1"/>
          <p:nvPr/>
        </p:nvSpPr>
        <p:spPr>
          <a:xfrm>
            <a:off x="447450" y="954675"/>
            <a:ext cx="7712100" cy="3793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Urgent need for action: </a:t>
            </a:r>
            <a:r>
              <a:rPr lang="en" sz="1100">
                <a:solidFill>
                  <a:schemeClr val="dk1"/>
                </a:solidFill>
                <a:latin typeface="Montserrat"/>
                <a:ea typeface="Montserrat"/>
                <a:cs typeface="Montserrat"/>
                <a:sym typeface="Montserrat"/>
              </a:rPr>
              <a:t>Companies need to act quickly to implement clean energy solutions within this decade, as climate change is already significantly impacting Vietnam and the world.</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Sustainability strengthens your business case: </a:t>
            </a:r>
            <a:r>
              <a:rPr lang="en" sz="1100">
                <a:solidFill>
                  <a:schemeClr val="dk1"/>
                </a:solidFill>
                <a:latin typeface="Montserrat"/>
                <a:ea typeface="Montserrat"/>
                <a:cs typeface="Montserrat"/>
                <a:sym typeface="Montserrat"/>
              </a:rPr>
              <a:t>Emphasizing sustainability builds brand reputation, enhances client relationships, and increases positive public exposure. It also helps manage risks associated with energy management, regulatory compliance, and climate change.</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Measuring emissions is critical: </a:t>
            </a:r>
            <a:r>
              <a:rPr lang="en" sz="1100">
                <a:solidFill>
                  <a:schemeClr val="dk1"/>
                </a:solidFill>
                <a:latin typeface="Montserrat"/>
                <a:ea typeface="Montserrat"/>
                <a:cs typeface="Montserrat"/>
                <a:sym typeface="Montserrat"/>
              </a:rPr>
              <a:t>Understanding and quantifying GHG emissions across Scopes 1, 2, and 3 is crucial for effective sustainability management.</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Regulatory requirements are emerging: </a:t>
            </a:r>
            <a:r>
              <a:rPr lang="en" sz="1100">
                <a:solidFill>
                  <a:schemeClr val="dk1"/>
                </a:solidFill>
                <a:latin typeface="Montserrat"/>
                <a:ea typeface="Montserrat"/>
                <a:cs typeface="Montserrat"/>
                <a:sym typeface="Montserrat"/>
              </a:rPr>
              <a:t>In Vietnam, facilities with annual GHG emissions of 3,000 tons CO2 equivalent or more will be required to implement GHG emission reduction measures.</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Data accuracy is key: </a:t>
            </a:r>
            <a:r>
              <a:rPr lang="en" sz="1100">
                <a:solidFill>
                  <a:schemeClr val="dk1"/>
                </a:solidFill>
                <a:latin typeface="Montserrat"/>
                <a:ea typeface="Montserrat"/>
                <a:cs typeface="Montserrat"/>
                <a:sym typeface="Montserrat"/>
              </a:rPr>
              <a:t>Accurate data collection and reporting are essential for effective emissions tracking and reduction strategies.</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Corporate demand for RE in Vietnam is growing</a:t>
            </a:r>
            <a:r>
              <a:rPr lang="en" sz="1100">
                <a:solidFill>
                  <a:schemeClr val="dk1"/>
                </a:solidFill>
                <a:latin typeface="Montserrat"/>
                <a:ea typeface="Montserrat"/>
                <a:cs typeface="Montserrat"/>
                <a:sym typeface="Montserrat"/>
              </a:rPr>
              <a:t>: The C&amp;I sector has the potential to send strong demand signals for accessible, expanded, cost-effective RE in Vietnam.</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Challenges persist: </a:t>
            </a:r>
            <a:r>
              <a:rPr lang="en" sz="1100">
                <a:solidFill>
                  <a:schemeClr val="dk1"/>
                </a:solidFill>
                <a:latin typeface="Montserrat"/>
                <a:ea typeface="Montserrat"/>
                <a:cs typeface="Montserrat"/>
                <a:sym typeface="Montserrat"/>
              </a:rPr>
              <a:t>While on-site clean energy procurement options are available today, off-site options are emerging, and scalability is limited by evolving policy, market, and technical challenges.</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New opportunities are emerging</a:t>
            </a:r>
            <a:r>
              <a:rPr lang="en" sz="1100">
                <a:solidFill>
                  <a:schemeClr val="dk1"/>
                </a:solidFill>
                <a:latin typeface="Montserrat"/>
                <a:ea typeface="Montserrat"/>
                <a:cs typeface="Montserrat"/>
                <a:sym typeface="Montserrat"/>
              </a:rPr>
              <a:t>: The introduction of the Direct Power Purchase Agreement mechanism may provide a significant opportunities for large energy buyers to advance off-site clean energy solutions, however, implementation is just beginning.</a:t>
            </a:r>
            <a:endParaRPr sz="12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chemeClr val="dk2"/>
              </a:solidFill>
              <a:latin typeface="Montserrat"/>
              <a:ea typeface="Montserrat"/>
              <a:cs typeface="Montserrat"/>
              <a:sym typeface="Montserrat"/>
            </a:endParaRPr>
          </a:p>
        </p:txBody>
      </p:sp>
      <p:pic>
        <p:nvPicPr>
          <p:cNvPr id="2554" name="Google Shape;2554;p21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555" name="Google Shape;2555;p212"/>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556" name="Google Shape;2556;p212"/>
          <p:cNvGrpSpPr/>
          <p:nvPr/>
        </p:nvGrpSpPr>
        <p:grpSpPr>
          <a:xfrm>
            <a:off x="239992" y="63853"/>
            <a:ext cx="8728050" cy="745997"/>
            <a:chOff x="236700" y="63853"/>
            <a:chExt cx="8728050" cy="745997"/>
          </a:xfrm>
        </p:grpSpPr>
        <p:sp>
          <p:nvSpPr>
            <p:cNvPr id="2557" name="Google Shape;2557;p21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58" name="Google Shape;2558;p21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559" name="Google Shape;2559;p21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560" name="Google Shape;2560;p21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561" name="Google Shape;2561;p21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562" name="Google Shape;2562;p21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563" name="Google Shape;2563;p21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564" name="Google Shape;2564;p212"/>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Recap and Wrap Up</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565" name="Google Shape;2565;p21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566" name="Google Shape;2566;p21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1"/>
        <p:cNvGrpSpPr/>
        <p:nvPr/>
      </p:nvGrpSpPr>
      <p:grpSpPr>
        <a:xfrm>
          <a:off x="0" y="0"/>
          <a:ext cx="0" cy="0"/>
          <a:chOff x="0" y="0"/>
          <a:chExt cx="0" cy="0"/>
        </a:xfrm>
      </p:grpSpPr>
      <p:sp>
        <p:nvSpPr>
          <p:cNvPr id="2572" name="Google Shape;2572;p213"/>
          <p:cNvSpPr/>
          <p:nvPr/>
        </p:nvSpPr>
        <p:spPr>
          <a:xfrm>
            <a:off x="8686800" y="0"/>
            <a:ext cx="457200" cy="7131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13"/>
          <p:cNvSpPr/>
          <p:nvPr/>
        </p:nvSpPr>
        <p:spPr>
          <a:xfrm>
            <a:off x="274338" y="933374"/>
            <a:ext cx="2788800" cy="19497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74" name="Google Shape;2574;p213"/>
          <p:cNvSpPr/>
          <p:nvPr/>
        </p:nvSpPr>
        <p:spPr>
          <a:xfrm>
            <a:off x="274338" y="933380"/>
            <a:ext cx="2788800" cy="549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13"/>
          <p:cNvSpPr/>
          <p:nvPr/>
        </p:nvSpPr>
        <p:spPr>
          <a:xfrm>
            <a:off x="365777" y="1024820"/>
            <a:ext cx="310800" cy="3108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76" name="Google Shape;2576;p213"/>
          <p:cNvSpPr/>
          <p:nvPr/>
        </p:nvSpPr>
        <p:spPr>
          <a:xfrm>
            <a:off x="365777" y="1024820"/>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01</a:t>
            </a:r>
            <a:endParaRPr sz="900" i="0" u="none" strike="noStrike" cap="none">
              <a:solidFill>
                <a:schemeClr val="dk1"/>
              </a:solidFill>
              <a:latin typeface="Montserrat"/>
              <a:ea typeface="Montserrat"/>
              <a:cs typeface="Montserrat"/>
              <a:sym typeface="Montserrat"/>
            </a:endParaRPr>
          </a:p>
        </p:txBody>
      </p:sp>
      <p:sp>
        <p:nvSpPr>
          <p:cNvPr id="2577" name="Google Shape;2577;p213"/>
          <p:cNvSpPr/>
          <p:nvPr/>
        </p:nvSpPr>
        <p:spPr>
          <a:xfrm>
            <a:off x="749826" y="1024820"/>
            <a:ext cx="2222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Vietnam's DPPA is a game-changer</a:t>
            </a:r>
            <a:endParaRPr sz="900" i="0" u="none" strike="noStrike" cap="none">
              <a:solidFill>
                <a:schemeClr val="dk1"/>
              </a:solidFill>
              <a:latin typeface="Montserrat"/>
              <a:ea typeface="Montserrat"/>
              <a:cs typeface="Montserrat"/>
              <a:sym typeface="Montserrat"/>
            </a:endParaRPr>
          </a:p>
        </p:txBody>
      </p:sp>
      <p:sp>
        <p:nvSpPr>
          <p:cNvPr id="2578" name="Google Shape;2578;p213"/>
          <p:cNvSpPr/>
          <p:nvPr/>
        </p:nvSpPr>
        <p:spPr>
          <a:xfrm>
            <a:off x="365778" y="1490445"/>
            <a:ext cx="2606100" cy="1281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The D</a:t>
            </a:r>
            <a:r>
              <a:rPr lang="en" sz="900">
                <a:solidFill>
                  <a:srgbClr val="1C3530"/>
                </a:solidFill>
                <a:latin typeface="Montserrat"/>
                <a:ea typeface="Montserrat"/>
                <a:cs typeface="Montserrat"/>
                <a:sym typeface="Montserrat"/>
              </a:rPr>
              <a:t>PPA is now available but early-stage; implementation complexity demands careful planning and local expertise</a:t>
            </a:r>
            <a:endParaRPr sz="900">
              <a:solidFill>
                <a:schemeClr val="dk1"/>
              </a:solidFill>
              <a:latin typeface="Montserrat"/>
              <a:ea typeface="Montserrat"/>
              <a:cs typeface="Montserrat"/>
              <a:sym typeface="Montserrat"/>
            </a:endParaRPr>
          </a:p>
          <a:p>
            <a:pPr marL="0" lvl="0" indent="0" algn="l" rtl="0">
              <a:lnSpc>
                <a:spcPct val="115000"/>
              </a:lnSpc>
              <a:spcBef>
                <a:spcPts val="400"/>
              </a:spcBef>
              <a:spcAft>
                <a:spcPts val="0"/>
              </a:spcAft>
              <a:buClr>
                <a:schemeClr val="dk1"/>
              </a:buClr>
              <a:buFont typeface="Arial"/>
              <a:buNone/>
            </a:pPr>
            <a:r>
              <a:rPr lang="en" sz="900">
                <a:solidFill>
                  <a:srgbClr val="1C3530"/>
                </a:solidFill>
                <a:latin typeface="Montserrat"/>
                <a:ea typeface="Montserrat"/>
                <a:cs typeface="Montserrat"/>
                <a:sym typeface="Montserrat"/>
              </a:rPr>
              <a:t>Key negotiation variables: electricity retailer, RE source type, required capacity, contract duration, and project development status</a:t>
            </a:r>
            <a:endParaRPr sz="900">
              <a:solidFill>
                <a:schemeClr val="dk1"/>
              </a:solidFill>
              <a:latin typeface="Montserrat"/>
              <a:ea typeface="Montserrat"/>
              <a:cs typeface="Montserrat"/>
              <a:sym typeface="Montserrat"/>
            </a:endParaRPr>
          </a:p>
          <a:p>
            <a:pPr marL="0" marR="0" lvl="0" indent="0" algn="l" rtl="0">
              <a:lnSpc>
                <a:spcPct val="120000"/>
              </a:lnSpc>
              <a:spcBef>
                <a:spcPts val="0"/>
              </a:spcBef>
              <a:spcAft>
                <a:spcPts val="0"/>
              </a:spcAft>
              <a:buClr>
                <a:srgbClr val="1C3530"/>
              </a:buClr>
              <a:buSzPts val="1100"/>
              <a:buFont typeface="Calibri"/>
              <a:buNone/>
            </a:pPr>
            <a:endParaRPr sz="900">
              <a:solidFill>
                <a:srgbClr val="1C3530"/>
              </a:solidFill>
              <a:latin typeface="Montserrat"/>
              <a:ea typeface="Montserrat"/>
              <a:cs typeface="Montserrat"/>
              <a:sym typeface="Montserrat"/>
            </a:endParaRPr>
          </a:p>
        </p:txBody>
      </p:sp>
      <p:sp>
        <p:nvSpPr>
          <p:cNvPr id="2579" name="Google Shape;2579;p213"/>
          <p:cNvSpPr/>
          <p:nvPr/>
        </p:nvSpPr>
        <p:spPr>
          <a:xfrm>
            <a:off x="3177561" y="933374"/>
            <a:ext cx="2788800" cy="19497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0" name="Google Shape;2580;p213"/>
          <p:cNvSpPr/>
          <p:nvPr/>
        </p:nvSpPr>
        <p:spPr>
          <a:xfrm>
            <a:off x="3177557" y="933380"/>
            <a:ext cx="2788800" cy="549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13"/>
          <p:cNvSpPr/>
          <p:nvPr/>
        </p:nvSpPr>
        <p:spPr>
          <a:xfrm>
            <a:off x="3268998" y="1024820"/>
            <a:ext cx="310800" cy="3108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2" name="Google Shape;2582;p213"/>
          <p:cNvSpPr/>
          <p:nvPr/>
        </p:nvSpPr>
        <p:spPr>
          <a:xfrm>
            <a:off x="3268998" y="1024820"/>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02</a:t>
            </a:r>
            <a:endParaRPr sz="900" i="0" u="none" strike="noStrike" cap="none">
              <a:solidFill>
                <a:schemeClr val="dk1"/>
              </a:solidFill>
              <a:latin typeface="Montserrat"/>
              <a:ea typeface="Montserrat"/>
              <a:cs typeface="Montserrat"/>
              <a:sym typeface="Montserrat"/>
            </a:endParaRPr>
          </a:p>
        </p:txBody>
      </p:sp>
      <p:sp>
        <p:nvSpPr>
          <p:cNvPr id="2583" name="Google Shape;2583;p213"/>
          <p:cNvSpPr/>
          <p:nvPr/>
        </p:nvSpPr>
        <p:spPr>
          <a:xfrm>
            <a:off x="3653046" y="1024820"/>
            <a:ext cx="2222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Pricing complexity is real</a:t>
            </a:r>
            <a:endParaRPr sz="900" i="0" u="none" strike="noStrike" cap="none">
              <a:solidFill>
                <a:schemeClr val="dk1"/>
              </a:solidFill>
              <a:latin typeface="Montserrat"/>
              <a:ea typeface="Montserrat"/>
              <a:cs typeface="Montserrat"/>
              <a:sym typeface="Montserrat"/>
            </a:endParaRPr>
          </a:p>
        </p:txBody>
      </p:sp>
      <p:sp>
        <p:nvSpPr>
          <p:cNvPr id="2584" name="Google Shape;2584;p213"/>
          <p:cNvSpPr/>
          <p:nvPr/>
        </p:nvSpPr>
        <p:spPr>
          <a:xfrm>
            <a:off x="3269001" y="1490445"/>
            <a:ext cx="2606100" cy="1281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Market volatility, grid-loss adjustments, and load matching all materially affect DPPA costs. Model the full formula — not just the strike price — before contracting.</a:t>
            </a:r>
            <a:endParaRPr sz="900" i="0" u="none" strike="noStrike" cap="none">
              <a:solidFill>
                <a:schemeClr val="dk1"/>
              </a:solidFill>
              <a:latin typeface="Montserrat"/>
              <a:ea typeface="Montserrat"/>
              <a:cs typeface="Montserrat"/>
              <a:sym typeface="Montserrat"/>
            </a:endParaRPr>
          </a:p>
        </p:txBody>
      </p:sp>
      <p:sp>
        <p:nvSpPr>
          <p:cNvPr id="2585" name="Google Shape;2585;p213"/>
          <p:cNvSpPr/>
          <p:nvPr/>
        </p:nvSpPr>
        <p:spPr>
          <a:xfrm>
            <a:off x="6080784" y="933374"/>
            <a:ext cx="2788800" cy="19497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6" name="Google Shape;2586;p213"/>
          <p:cNvSpPr/>
          <p:nvPr/>
        </p:nvSpPr>
        <p:spPr>
          <a:xfrm>
            <a:off x="6080777" y="933380"/>
            <a:ext cx="2788800" cy="549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213"/>
          <p:cNvSpPr/>
          <p:nvPr/>
        </p:nvSpPr>
        <p:spPr>
          <a:xfrm>
            <a:off x="6172218" y="1024820"/>
            <a:ext cx="310800" cy="3108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8" name="Google Shape;2588;p213"/>
          <p:cNvSpPr/>
          <p:nvPr/>
        </p:nvSpPr>
        <p:spPr>
          <a:xfrm>
            <a:off x="6172218" y="1024820"/>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03</a:t>
            </a:r>
            <a:endParaRPr sz="900" i="0" u="none" strike="noStrike" cap="none">
              <a:solidFill>
                <a:schemeClr val="dk1"/>
              </a:solidFill>
              <a:latin typeface="Montserrat"/>
              <a:ea typeface="Montserrat"/>
              <a:cs typeface="Montserrat"/>
              <a:sym typeface="Montserrat"/>
            </a:endParaRPr>
          </a:p>
        </p:txBody>
      </p:sp>
      <p:sp>
        <p:nvSpPr>
          <p:cNvPr id="2589" name="Google Shape;2589;p213"/>
          <p:cNvSpPr/>
          <p:nvPr/>
        </p:nvSpPr>
        <p:spPr>
          <a:xfrm>
            <a:off x="6556266" y="1024820"/>
            <a:ext cx="2222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Load profile determines economics</a:t>
            </a:r>
            <a:endParaRPr sz="900" i="0" u="none" strike="noStrike" cap="none">
              <a:solidFill>
                <a:schemeClr val="dk1"/>
              </a:solidFill>
              <a:latin typeface="Montserrat"/>
              <a:ea typeface="Montserrat"/>
              <a:cs typeface="Montserrat"/>
              <a:sym typeface="Montserrat"/>
            </a:endParaRPr>
          </a:p>
        </p:txBody>
      </p:sp>
      <p:sp>
        <p:nvSpPr>
          <p:cNvPr id="2590" name="Google Shape;2590;p213"/>
          <p:cNvSpPr/>
          <p:nvPr/>
        </p:nvSpPr>
        <p:spPr>
          <a:xfrm>
            <a:off x="6172224" y="1490445"/>
            <a:ext cx="2606100" cy="1281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400"/>
              </a:spcBef>
              <a:spcAft>
                <a:spcPts val="0"/>
              </a:spcAft>
              <a:buClr>
                <a:schemeClr val="dk1"/>
              </a:buClr>
              <a:buFont typeface="Arial"/>
              <a:buNone/>
            </a:pPr>
            <a:r>
              <a:rPr lang="en" sz="900">
                <a:solidFill>
                  <a:srgbClr val="1C3530"/>
                </a:solidFill>
                <a:latin typeface="Montserrat"/>
                <a:ea typeface="Montserrat"/>
                <a:cs typeface="Montserrat"/>
                <a:sym typeface="Montserrat"/>
              </a:rPr>
              <a:t>Load timing significantly affects economics: operations with steady daytime demand see stronger DPPA outcomes than those with evening/night-heavy profiles</a:t>
            </a:r>
            <a:endParaRPr sz="900" i="0" u="none" strike="noStrike" cap="none">
              <a:solidFill>
                <a:schemeClr val="dk1"/>
              </a:solidFill>
              <a:latin typeface="Montserrat"/>
              <a:ea typeface="Montserrat"/>
              <a:cs typeface="Montserrat"/>
              <a:sym typeface="Montserrat"/>
            </a:endParaRPr>
          </a:p>
        </p:txBody>
      </p:sp>
      <p:sp>
        <p:nvSpPr>
          <p:cNvPr id="2591" name="Google Shape;2591;p213"/>
          <p:cNvSpPr/>
          <p:nvPr/>
        </p:nvSpPr>
        <p:spPr>
          <a:xfrm>
            <a:off x="274413" y="2988864"/>
            <a:ext cx="2788800" cy="17688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2" name="Google Shape;2592;p213"/>
          <p:cNvSpPr/>
          <p:nvPr/>
        </p:nvSpPr>
        <p:spPr>
          <a:xfrm>
            <a:off x="274413" y="2988864"/>
            <a:ext cx="2788800" cy="606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3" name="Google Shape;2593;p213"/>
          <p:cNvSpPr/>
          <p:nvPr/>
        </p:nvSpPr>
        <p:spPr>
          <a:xfrm>
            <a:off x="365853" y="3089937"/>
            <a:ext cx="310800" cy="3435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4" name="Google Shape;2594;p213"/>
          <p:cNvSpPr/>
          <p:nvPr/>
        </p:nvSpPr>
        <p:spPr>
          <a:xfrm>
            <a:off x="365853" y="3089937"/>
            <a:ext cx="310800" cy="343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04</a:t>
            </a:r>
            <a:endParaRPr sz="900" i="0" u="none" strike="noStrike" cap="none">
              <a:solidFill>
                <a:schemeClr val="dk1"/>
              </a:solidFill>
              <a:latin typeface="Montserrat"/>
              <a:ea typeface="Montserrat"/>
              <a:cs typeface="Montserrat"/>
              <a:sym typeface="Montserrat"/>
            </a:endParaRPr>
          </a:p>
        </p:txBody>
      </p:sp>
      <p:sp>
        <p:nvSpPr>
          <p:cNvPr id="2595" name="Google Shape;2595;p213"/>
          <p:cNvSpPr/>
          <p:nvPr/>
        </p:nvSpPr>
        <p:spPr>
          <a:xfrm>
            <a:off x="749901" y="3089937"/>
            <a:ext cx="22221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Corporate demand shapes the market</a:t>
            </a:r>
            <a:endParaRPr sz="900" i="0" u="none" strike="noStrike" cap="none">
              <a:solidFill>
                <a:schemeClr val="dk1"/>
              </a:solidFill>
              <a:latin typeface="Montserrat"/>
              <a:ea typeface="Montserrat"/>
              <a:cs typeface="Montserrat"/>
              <a:sym typeface="Montserrat"/>
            </a:endParaRPr>
          </a:p>
        </p:txBody>
      </p:sp>
      <p:sp>
        <p:nvSpPr>
          <p:cNvPr id="2596" name="Google Shape;2596;p213"/>
          <p:cNvSpPr/>
          <p:nvPr/>
        </p:nvSpPr>
        <p:spPr>
          <a:xfrm>
            <a:off x="365853" y="3494232"/>
            <a:ext cx="2606100" cy="116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C&amp;I buyers collectively drive demand signals that influence RE accessibility, pricing trajectories, and supportive policy — early movers carry outsized influence.</a:t>
            </a:r>
            <a:endParaRPr sz="900" i="0" u="none" strike="noStrike" cap="none">
              <a:solidFill>
                <a:schemeClr val="dk1"/>
              </a:solidFill>
              <a:latin typeface="Montserrat"/>
              <a:ea typeface="Montserrat"/>
              <a:cs typeface="Montserrat"/>
              <a:sym typeface="Montserrat"/>
            </a:endParaRPr>
          </a:p>
        </p:txBody>
      </p:sp>
      <p:sp>
        <p:nvSpPr>
          <p:cNvPr id="2597" name="Google Shape;2597;p213"/>
          <p:cNvSpPr/>
          <p:nvPr/>
        </p:nvSpPr>
        <p:spPr>
          <a:xfrm>
            <a:off x="3177636" y="2988864"/>
            <a:ext cx="2788800" cy="17688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8" name="Google Shape;2598;p213"/>
          <p:cNvSpPr/>
          <p:nvPr/>
        </p:nvSpPr>
        <p:spPr>
          <a:xfrm>
            <a:off x="3177636" y="2988864"/>
            <a:ext cx="2788800" cy="606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9" name="Google Shape;2599;p213"/>
          <p:cNvSpPr/>
          <p:nvPr/>
        </p:nvSpPr>
        <p:spPr>
          <a:xfrm>
            <a:off x="3269076" y="3089937"/>
            <a:ext cx="310800" cy="3435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0" name="Google Shape;2600;p213"/>
          <p:cNvSpPr/>
          <p:nvPr/>
        </p:nvSpPr>
        <p:spPr>
          <a:xfrm>
            <a:off x="3269076" y="3089937"/>
            <a:ext cx="310800" cy="343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05</a:t>
            </a:r>
            <a:endParaRPr sz="900" i="0" u="none" strike="noStrike" cap="none">
              <a:solidFill>
                <a:schemeClr val="dk1"/>
              </a:solidFill>
              <a:latin typeface="Montserrat"/>
              <a:ea typeface="Montserrat"/>
              <a:cs typeface="Montserrat"/>
              <a:sym typeface="Montserrat"/>
            </a:endParaRPr>
          </a:p>
        </p:txBody>
      </p:sp>
      <p:sp>
        <p:nvSpPr>
          <p:cNvPr id="2601" name="Google Shape;2601;p213"/>
          <p:cNvSpPr/>
          <p:nvPr/>
        </p:nvSpPr>
        <p:spPr>
          <a:xfrm>
            <a:off x="3653124" y="3089937"/>
            <a:ext cx="22221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GHG measurement is the foundation</a:t>
            </a:r>
            <a:endParaRPr sz="900" i="0" u="none" strike="noStrike" cap="none">
              <a:solidFill>
                <a:schemeClr val="dk1"/>
              </a:solidFill>
              <a:latin typeface="Montserrat"/>
              <a:ea typeface="Montserrat"/>
              <a:cs typeface="Montserrat"/>
              <a:sym typeface="Montserrat"/>
            </a:endParaRPr>
          </a:p>
        </p:txBody>
      </p:sp>
      <p:sp>
        <p:nvSpPr>
          <p:cNvPr id="2602" name="Google Shape;2602;p213"/>
          <p:cNvSpPr/>
          <p:nvPr/>
        </p:nvSpPr>
        <p:spPr>
          <a:xfrm>
            <a:off x="3269076" y="3494232"/>
            <a:ext cx="2606100" cy="116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Credible Scope 1, 2, and 3 measurement is a prerequisite for effective decarbonization action and meeting Vietnam's emerging regulatory requirements.</a:t>
            </a:r>
            <a:endParaRPr sz="900" i="0" u="none" strike="noStrike" cap="none">
              <a:solidFill>
                <a:schemeClr val="dk1"/>
              </a:solidFill>
              <a:latin typeface="Montserrat"/>
              <a:ea typeface="Montserrat"/>
              <a:cs typeface="Montserrat"/>
              <a:sym typeface="Montserrat"/>
            </a:endParaRPr>
          </a:p>
        </p:txBody>
      </p:sp>
      <p:sp>
        <p:nvSpPr>
          <p:cNvPr id="2603" name="Google Shape;2603;p213"/>
          <p:cNvSpPr/>
          <p:nvPr/>
        </p:nvSpPr>
        <p:spPr>
          <a:xfrm>
            <a:off x="6080859" y="2988864"/>
            <a:ext cx="2788800" cy="17688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4" name="Google Shape;2604;p213"/>
          <p:cNvSpPr/>
          <p:nvPr/>
        </p:nvSpPr>
        <p:spPr>
          <a:xfrm>
            <a:off x="6080859" y="2988864"/>
            <a:ext cx="2788800" cy="606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5" name="Google Shape;2605;p213"/>
          <p:cNvSpPr/>
          <p:nvPr/>
        </p:nvSpPr>
        <p:spPr>
          <a:xfrm>
            <a:off x="6172299" y="3089937"/>
            <a:ext cx="310800" cy="3435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6" name="Google Shape;2606;p213"/>
          <p:cNvSpPr/>
          <p:nvPr/>
        </p:nvSpPr>
        <p:spPr>
          <a:xfrm>
            <a:off x="6172299" y="3089937"/>
            <a:ext cx="310800" cy="343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06</a:t>
            </a:r>
            <a:endParaRPr sz="900" i="0" u="none" strike="noStrike" cap="none">
              <a:solidFill>
                <a:schemeClr val="dk1"/>
              </a:solidFill>
              <a:latin typeface="Montserrat"/>
              <a:ea typeface="Montserrat"/>
              <a:cs typeface="Montserrat"/>
              <a:sym typeface="Montserrat"/>
            </a:endParaRPr>
          </a:p>
        </p:txBody>
      </p:sp>
      <p:sp>
        <p:nvSpPr>
          <p:cNvPr id="2607" name="Google Shape;2607;p213"/>
          <p:cNvSpPr/>
          <p:nvPr/>
        </p:nvSpPr>
        <p:spPr>
          <a:xfrm>
            <a:off x="6556348" y="3089937"/>
            <a:ext cx="22221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Act now — the window is open</a:t>
            </a:r>
            <a:endParaRPr sz="900" i="0" u="none" strike="noStrike" cap="none">
              <a:solidFill>
                <a:schemeClr val="dk1"/>
              </a:solidFill>
              <a:latin typeface="Montserrat"/>
              <a:ea typeface="Montserrat"/>
              <a:cs typeface="Montserrat"/>
              <a:sym typeface="Montserrat"/>
            </a:endParaRPr>
          </a:p>
        </p:txBody>
      </p:sp>
      <p:sp>
        <p:nvSpPr>
          <p:cNvPr id="2608" name="Google Shape;2608;p213"/>
          <p:cNvSpPr/>
          <p:nvPr/>
        </p:nvSpPr>
        <p:spPr>
          <a:xfrm>
            <a:off x="6172299" y="3494232"/>
            <a:ext cx="2606100" cy="116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Regulatory requirements are tightening and market structures are maturing. Companies that engage early will gain first-mover advantage as DPPA scales.</a:t>
            </a:r>
            <a:endParaRPr sz="900" i="0" u="none" strike="noStrike" cap="none">
              <a:solidFill>
                <a:schemeClr val="dk1"/>
              </a:solidFill>
              <a:latin typeface="Montserrat"/>
              <a:ea typeface="Montserrat"/>
              <a:cs typeface="Montserrat"/>
              <a:sym typeface="Montserrat"/>
            </a:endParaRPr>
          </a:p>
        </p:txBody>
      </p:sp>
      <p:pic>
        <p:nvPicPr>
          <p:cNvPr id="2609" name="Google Shape;2609;p21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610" name="Google Shape;2610;p213"/>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611" name="Google Shape;2611;p213"/>
          <p:cNvGrpSpPr/>
          <p:nvPr/>
        </p:nvGrpSpPr>
        <p:grpSpPr>
          <a:xfrm>
            <a:off x="239992" y="63853"/>
            <a:ext cx="8728050" cy="745997"/>
            <a:chOff x="236700" y="63853"/>
            <a:chExt cx="8728050" cy="745997"/>
          </a:xfrm>
        </p:grpSpPr>
        <p:sp>
          <p:nvSpPr>
            <p:cNvPr id="2612" name="Google Shape;2612;p21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13" name="Google Shape;2613;p21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614" name="Google Shape;2614;p21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615" name="Google Shape;2615;p21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616" name="Google Shape;2616;p21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617" name="Google Shape;2617;p21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618" name="Google Shape;2618;p21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619" name="Google Shape;2619;p213"/>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Recap and Wrap Up</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620" name="Google Shape;2620;p21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621" name="Google Shape;2621;p21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625"/>
        <p:cNvGrpSpPr/>
        <p:nvPr/>
      </p:nvGrpSpPr>
      <p:grpSpPr>
        <a:xfrm>
          <a:off x="0" y="0"/>
          <a:ext cx="0" cy="0"/>
          <a:chOff x="0" y="0"/>
          <a:chExt cx="0" cy="0"/>
        </a:xfrm>
      </p:grpSpPr>
      <p:sp>
        <p:nvSpPr>
          <p:cNvPr id="2626" name="Google Shape;2626;p214"/>
          <p:cNvSpPr txBox="1"/>
          <p:nvPr/>
        </p:nvSpPr>
        <p:spPr>
          <a:xfrm>
            <a:off x="115050" y="0"/>
            <a:ext cx="513000" cy="65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b="1">
                <a:solidFill>
                  <a:schemeClr val="lt1"/>
                </a:solidFill>
              </a:rPr>
              <a:t> </a:t>
            </a:r>
            <a:endParaRPr sz="2500" b="1">
              <a:solidFill>
                <a:schemeClr val="lt1"/>
              </a:solidFill>
            </a:endParaRPr>
          </a:p>
        </p:txBody>
      </p:sp>
      <p:sp>
        <p:nvSpPr>
          <p:cNvPr id="2627" name="Google Shape;2627;p214"/>
          <p:cNvSpPr txBox="1"/>
          <p:nvPr/>
        </p:nvSpPr>
        <p:spPr>
          <a:xfrm>
            <a:off x="240000" y="926950"/>
            <a:ext cx="8697600" cy="3805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Corporate demand for RE in Vietnam is growing</a:t>
            </a:r>
            <a:r>
              <a:rPr lang="en" sz="1100">
                <a:solidFill>
                  <a:schemeClr val="dk1"/>
                </a:solidFill>
                <a:latin typeface="Montserrat"/>
                <a:ea typeface="Montserrat"/>
                <a:cs typeface="Montserrat"/>
                <a:sym typeface="Montserrat"/>
              </a:rPr>
              <a:t>: The C&amp;I sector has the potential to send strong demand signals for accessible, expanded, cost-effective RE in Vietnam.</a:t>
            </a:r>
            <a:endParaRPr sz="1100" b="1">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Start with your load and emissions data. </a:t>
            </a:r>
            <a:r>
              <a:rPr lang="en" sz="1100">
                <a:solidFill>
                  <a:schemeClr val="dk1"/>
                </a:solidFill>
                <a:latin typeface="Montserrat"/>
                <a:ea typeface="Montserrat"/>
                <a:cs typeface="Montserrat"/>
                <a:sym typeface="Montserrat"/>
              </a:rPr>
              <a:t>Clean energy procurement decisions should begin with goal setting, facility-level electricity consumption, load profile, Scope 1–2 emissions, and any relevant Scope 3 or product carbon footprint requirements.</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Match the solution to the facility constraint. </a:t>
            </a:r>
            <a:r>
              <a:rPr lang="en" sz="1100">
                <a:solidFill>
                  <a:schemeClr val="dk1"/>
                </a:solidFill>
                <a:latin typeface="Montserrat"/>
                <a:ea typeface="Montserrat"/>
                <a:cs typeface="Montserrat"/>
                <a:sym typeface="Montserrat"/>
              </a:rPr>
              <a:t>On-site solar is the most available near-term option, but roof space, facility ownership, tenancy terms, and industrial park rules constraints will determine feasibility.</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Treat BESS as a procurement design tool, not only a technology add-on. </a:t>
            </a:r>
            <a:r>
              <a:rPr lang="en" sz="1100">
                <a:solidFill>
                  <a:schemeClr val="dk1"/>
                </a:solidFill>
                <a:latin typeface="Montserrat"/>
                <a:ea typeface="Montserrat"/>
                <a:cs typeface="Montserrat"/>
                <a:sym typeface="Montserrat"/>
              </a:rPr>
              <a:t>Battery storage can improve tariff resilience, increase daily renewable energy consumption, support peak shaving, and improve the commercial case for solar under evolving tariff structures.</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Use RECs/EACs carefully and transparently. </a:t>
            </a:r>
            <a:r>
              <a:rPr lang="en" sz="1100">
                <a:solidFill>
                  <a:schemeClr val="dk1"/>
                </a:solidFill>
                <a:latin typeface="Montserrat"/>
                <a:ea typeface="Montserrat"/>
                <a:cs typeface="Montserrat"/>
                <a:sym typeface="Montserrat"/>
              </a:rPr>
              <a:t>Unbundled RECs/EACs may support Scope 2 claims, but buyers should understand attribute ownership, additionality concerns, and the use cases between EACs and carbon offsets.</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Monitor DPPA developments, but plan for uncertainty. </a:t>
            </a:r>
            <a:r>
              <a:rPr lang="en" sz="1100">
                <a:solidFill>
                  <a:schemeClr val="dk1"/>
                </a:solidFill>
                <a:latin typeface="Montserrat"/>
                <a:ea typeface="Montserrat"/>
                <a:cs typeface="Montserrat"/>
                <a:sym typeface="Montserrat"/>
              </a:rPr>
              <a:t>DPPA may unlock larger off-site procurement, but buyers should account for evolving cost inputs, wheeling charges, settlement structures, and first-mover implementation challenges.</a:t>
            </a:r>
            <a:endParaRPr sz="1100">
              <a:solidFill>
                <a:schemeClr val="dk1"/>
              </a:solidFill>
              <a:latin typeface="Montserrat"/>
              <a:ea typeface="Montserrat"/>
              <a:cs typeface="Montserrat"/>
              <a:sym typeface="Montserrat"/>
            </a:endParaRPr>
          </a:p>
          <a:p>
            <a:pPr marL="457200" lvl="0" indent="-298450" algn="l" rtl="0">
              <a:spcBef>
                <a:spcPts val="500"/>
              </a:spcBef>
              <a:spcAft>
                <a:spcPts val="500"/>
              </a:spcAft>
              <a:buClr>
                <a:schemeClr val="dk1"/>
              </a:buClr>
              <a:buSzPts val="1100"/>
              <a:buFont typeface="Montserrat"/>
              <a:buChar char="●"/>
            </a:pPr>
            <a:r>
              <a:rPr lang="en" sz="1100" b="1">
                <a:solidFill>
                  <a:schemeClr val="dk1"/>
                </a:solidFill>
                <a:latin typeface="Montserrat"/>
                <a:ea typeface="Montserrat"/>
                <a:cs typeface="Montserrat"/>
                <a:sym typeface="Montserrat"/>
              </a:rPr>
              <a:t>Challenges persist: </a:t>
            </a:r>
            <a:r>
              <a:rPr lang="en" sz="1100">
                <a:solidFill>
                  <a:schemeClr val="dk1"/>
                </a:solidFill>
                <a:latin typeface="Montserrat"/>
                <a:ea typeface="Montserrat"/>
                <a:cs typeface="Montserrat"/>
                <a:sym typeface="Montserrat"/>
              </a:rPr>
              <a:t>While on-site clean energy procurement options are available today in Vietnam, scalability and further replication is limited by evolving policy, market, and technical challenges.</a:t>
            </a:r>
            <a:endParaRPr sz="1300">
              <a:solidFill>
                <a:schemeClr val="dk1"/>
              </a:solidFill>
              <a:latin typeface="Montserrat"/>
              <a:ea typeface="Montserrat"/>
              <a:cs typeface="Montserrat"/>
              <a:sym typeface="Montserrat"/>
            </a:endParaRPr>
          </a:p>
        </p:txBody>
      </p:sp>
      <p:pic>
        <p:nvPicPr>
          <p:cNvPr id="2628" name="Google Shape;2628;p214"/>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2629" name="Google Shape;2629;p214"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nvGrpSpPr>
          <p:cNvPr id="2630" name="Google Shape;2630;p214"/>
          <p:cNvGrpSpPr/>
          <p:nvPr/>
        </p:nvGrpSpPr>
        <p:grpSpPr>
          <a:xfrm>
            <a:off x="239992" y="63853"/>
            <a:ext cx="8972708" cy="745997"/>
            <a:chOff x="236700" y="63853"/>
            <a:chExt cx="8972708" cy="745997"/>
          </a:xfrm>
        </p:grpSpPr>
        <p:sp>
          <p:nvSpPr>
            <p:cNvPr id="2631" name="Google Shape;2631;p21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32" name="Google Shape;2632;p21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633" name="Google Shape;2633;p21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634" name="Google Shape;2634;p21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635" name="Google Shape;2635;p21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636" name="Google Shape;2636;p21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637" name="Google Shape;2637;p21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638" name="Google Shape;2638;p214"/>
            <p:cNvSpPr txBox="1"/>
            <p:nvPr/>
          </p:nvSpPr>
          <p:spPr>
            <a:xfrm>
              <a:off x="637208" y="281375"/>
              <a:ext cx="85722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chemeClr val="lt1"/>
                  </a:solidFill>
                  <a:latin typeface="Montserrat ExtraBold"/>
                  <a:ea typeface="Montserrat ExtraBold"/>
                  <a:cs typeface="Montserrat ExtraBold"/>
                  <a:sym typeface="Montserrat ExtraBold"/>
                </a:rPr>
                <a:t>Key Takeaways</a:t>
              </a:r>
              <a:endParaRPr sz="2100">
                <a:solidFill>
                  <a:schemeClr val="lt1"/>
                </a:solidFill>
                <a:latin typeface="Montserrat ExtraBold"/>
                <a:ea typeface="Montserrat ExtraBold"/>
                <a:cs typeface="Montserrat ExtraBold"/>
                <a:sym typeface="Montserrat ExtraBold"/>
              </a:endParaRPr>
            </a:p>
          </p:txBody>
        </p:sp>
        <p:cxnSp>
          <p:nvCxnSpPr>
            <p:cNvPr id="2639" name="Google Shape;2639;p214"/>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2640" name="Google Shape;2640;p214"/>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644"/>
        <p:cNvGrpSpPr/>
        <p:nvPr/>
      </p:nvGrpSpPr>
      <p:grpSpPr>
        <a:xfrm>
          <a:off x="0" y="0"/>
          <a:ext cx="0" cy="0"/>
          <a:chOff x="0" y="0"/>
          <a:chExt cx="0" cy="0"/>
        </a:xfrm>
      </p:grpSpPr>
      <p:sp>
        <p:nvSpPr>
          <p:cNvPr id="2645" name="Google Shape;2645;p215"/>
          <p:cNvSpPr txBox="1"/>
          <p:nvPr/>
        </p:nvSpPr>
        <p:spPr>
          <a:xfrm>
            <a:off x="115050" y="0"/>
            <a:ext cx="513000" cy="65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b="1">
                <a:solidFill>
                  <a:schemeClr val="lt1"/>
                </a:solidFill>
              </a:rPr>
              <a:t> </a:t>
            </a:r>
            <a:endParaRPr sz="2500" b="1">
              <a:solidFill>
                <a:schemeClr val="lt1"/>
              </a:solidFill>
            </a:endParaRPr>
          </a:p>
        </p:txBody>
      </p:sp>
      <p:sp>
        <p:nvSpPr>
          <p:cNvPr id="2646" name="Google Shape;2646;p215"/>
          <p:cNvSpPr txBox="1"/>
          <p:nvPr/>
        </p:nvSpPr>
        <p:spPr>
          <a:xfrm>
            <a:off x="458250" y="912200"/>
            <a:ext cx="8346600" cy="38199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Confirm your clean energy objective and set actionable targets</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Identify your facility’s key decarbonization goals: Scope 2 reduction, buyer compliance, RE100 alignment, product carbon footprint reduction, or long-term price stability, and set actionable intermediate and long term targets to achieve these objectives.</a:t>
            </a:r>
            <a:endParaRPr sz="1300" b="1">
              <a:solidFill>
                <a:schemeClr val="dk1"/>
              </a:solidFill>
              <a:latin typeface="Montserrat"/>
              <a:ea typeface="Montserrat"/>
              <a:cs typeface="Montserrat"/>
              <a:sym typeface="Montserrat"/>
            </a:endParaRPr>
          </a:p>
          <a:p>
            <a:pPr marL="457200" lvl="0" indent="-311150" algn="l" rtl="0">
              <a:spcBef>
                <a:spcPts val="100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Gather the right data</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Work with facility staff to collect 12 months of electricity bills, 30-minute or hourly load data if available, roof drawings, facility lease/ownership status, current EAC/REC contracts, and buyer sustainability requirements to assess site feasibility and constraints.</a:t>
            </a:r>
            <a:endParaRPr sz="1300">
              <a:solidFill>
                <a:schemeClr val="dk1"/>
              </a:solidFill>
              <a:latin typeface="Montserrat"/>
              <a:ea typeface="Montserrat"/>
              <a:cs typeface="Montserrat"/>
              <a:sym typeface="Montserrat"/>
            </a:endParaRPr>
          </a:p>
          <a:p>
            <a:pPr marL="457200" lvl="0" indent="-311150" algn="l" rtl="0">
              <a:spcBef>
                <a:spcPts val="100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Screen near-term procurement options</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Assess rooftop solar+BESS where load, load shape, evening usage, or future tariff exposure align. Evaluate RECs/EACs as a complementary tool, not a substitute for direct procurement where feasible. Assess your site’s suitability for offsite procurements, and remain up to date on policy evolution.</a:t>
            </a:r>
            <a:endParaRPr sz="1300" b="1">
              <a:solidFill>
                <a:schemeClr val="dk1"/>
              </a:solidFill>
              <a:latin typeface="Montserrat"/>
              <a:ea typeface="Montserrat"/>
              <a:cs typeface="Montserrat"/>
              <a:sym typeface="Montserrat"/>
            </a:endParaRPr>
          </a:p>
          <a:p>
            <a:pPr marL="457200" lvl="0" indent="-311150" algn="l" rtl="0">
              <a:spcBef>
                <a:spcPts val="100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Identify decision-makers and constraints</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Map who needs to approve the project: headquarters, procurement, finance, legal, factory management, landlord, industrial park operator, EVN/local utility, or sustainability/customer teams, and help decision makers understand the business case for RE procurement.</a:t>
            </a:r>
            <a:endParaRPr sz="1300">
              <a:solidFill>
                <a:schemeClr val="dk1"/>
              </a:solidFill>
              <a:latin typeface="Montserrat"/>
              <a:ea typeface="Montserrat"/>
              <a:cs typeface="Montserrat"/>
              <a:sym typeface="Montserrat"/>
            </a:endParaRPr>
          </a:p>
          <a:p>
            <a:pPr marL="0" lvl="0" indent="0" algn="l" rtl="0">
              <a:spcBef>
                <a:spcPts val="1000"/>
              </a:spcBef>
              <a:spcAft>
                <a:spcPts val="0"/>
              </a:spcAft>
              <a:buNone/>
            </a:pPr>
            <a:endParaRPr sz="1300" b="1">
              <a:solidFill>
                <a:schemeClr val="dk1"/>
              </a:solidFill>
              <a:latin typeface="Montserrat"/>
              <a:ea typeface="Montserrat"/>
              <a:cs typeface="Montserrat"/>
              <a:sym typeface="Montserrat"/>
            </a:endParaRPr>
          </a:p>
        </p:txBody>
      </p:sp>
      <p:pic>
        <p:nvPicPr>
          <p:cNvPr id="2647" name="Google Shape;2647;p215"/>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2648" name="Google Shape;2648;p215"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nvGrpSpPr>
          <p:cNvPr id="2649" name="Google Shape;2649;p215"/>
          <p:cNvGrpSpPr/>
          <p:nvPr/>
        </p:nvGrpSpPr>
        <p:grpSpPr>
          <a:xfrm>
            <a:off x="239992" y="63853"/>
            <a:ext cx="8972708" cy="745997"/>
            <a:chOff x="236700" y="63853"/>
            <a:chExt cx="8972708" cy="745997"/>
          </a:xfrm>
        </p:grpSpPr>
        <p:sp>
          <p:nvSpPr>
            <p:cNvPr id="2650" name="Google Shape;2650;p21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51" name="Google Shape;2651;p21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652" name="Google Shape;2652;p21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653" name="Google Shape;2653;p21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654" name="Google Shape;2654;p21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655" name="Google Shape;2655;p21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656" name="Google Shape;2656;p21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657" name="Google Shape;2657;p215"/>
            <p:cNvSpPr txBox="1"/>
            <p:nvPr/>
          </p:nvSpPr>
          <p:spPr>
            <a:xfrm>
              <a:off x="637208" y="281375"/>
              <a:ext cx="85722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chemeClr val="lt1"/>
                  </a:solidFill>
                  <a:latin typeface="Montserrat ExtraBold"/>
                  <a:ea typeface="Montserrat ExtraBold"/>
                  <a:cs typeface="Montserrat ExtraBold"/>
                  <a:sym typeface="Montserrat ExtraBold"/>
                </a:rPr>
                <a:t>Key Takeaways - Day 1 Action Checklist</a:t>
              </a:r>
              <a:endParaRPr sz="2100">
                <a:solidFill>
                  <a:schemeClr val="lt1"/>
                </a:solidFill>
                <a:latin typeface="Montserrat ExtraBold"/>
                <a:ea typeface="Montserrat ExtraBold"/>
                <a:cs typeface="Montserrat ExtraBold"/>
                <a:sym typeface="Montserrat ExtraBold"/>
              </a:endParaRPr>
            </a:p>
          </p:txBody>
        </p:sp>
        <p:cxnSp>
          <p:nvCxnSpPr>
            <p:cNvPr id="2658" name="Google Shape;2658;p215"/>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2659" name="Google Shape;2659;p215"/>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663"/>
        <p:cNvGrpSpPr/>
        <p:nvPr/>
      </p:nvGrpSpPr>
      <p:grpSpPr>
        <a:xfrm>
          <a:off x="0" y="0"/>
          <a:ext cx="0" cy="0"/>
          <a:chOff x="0" y="0"/>
          <a:chExt cx="0" cy="0"/>
        </a:xfrm>
      </p:grpSpPr>
      <p:pic>
        <p:nvPicPr>
          <p:cNvPr id="2664" name="Google Shape;2664;p216" title="solar vs wind.jpg"/>
          <p:cNvPicPr preferRelativeResize="0"/>
          <p:nvPr/>
        </p:nvPicPr>
        <p:blipFill rotWithShape="1">
          <a:blip r:embed="rId3">
            <a:alphaModFix/>
          </a:blip>
          <a:srcRect t="7813" b="7813"/>
          <a:stretch/>
        </p:blipFill>
        <p:spPr>
          <a:xfrm>
            <a:off x="0" y="0"/>
            <a:ext cx="9144003" cy="5143502"/>
          </a:xfrm>
          <a:prstGeom prst="rect">
            <a:avLst/>
          </a:prstGeom>
          <a:noFill/>
          <a:ln>
            <a:noFill/>
          </a:ln>
        </p:spPr>
      </p:pic>
      <p:sp>
        <p:nvSpPr>
          <p:cNvPr id="2665" name="Google Shape;2665;p216"/>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6" name="Google Shape;2666;p216"/>
          <p:cNvSpPr/>
          <p:nvPr/>
        </p:nvSpPr>
        <p:spPr>
          <a:xfrm>
            <a:off x="425400" y="816075"/>
            <a:ext cx="8293200" cy="2757600"/>
          </a:xfrm>
          <a:prstGeom prst="roundRect">
            <a:avLst>
              <a:gd name="adj" fmla="val 16667"/>
            </a:avLst>
          </a:prstGeom>
          <a:solidFill>
            <a:srgbClr val="DAEDE8">
              <a:alpha val="9118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667" name="Google Shape;2667;p216"/>
          <p:cNvSpPr txBox="1"/>
          <p:nvPr/>
        </p:nvSpPr>
        <p:spPr>
          <a:xfrm>
            <a:off x="710350" y="2187357"/>
            <a:ext cx="3845700" cy="1169700"/>
          </a:xfrm>
          <a:prstGeom prst="rect">
            <a:avLst/>
          </a:prstGeom>
          <a:noFill/>
          <a:ln>
            <a:noFill/>
          </a:ln>
        </p:spPr>
        <p:txBody>
          <a:bodyPr spcFirstLastPara="1" wrap="square" lIns="68575" tIns="34275" rIns="68575" bIns="34275" anchor="t" anchorCtr="0">
            <a:spAutoFit/>
          </a:bodyPr>
          <a:lstStyle/>
          <a:p>
            <a:pPr marL="0" lvl="0" indent="0" algn="ctr" rtl="0">
              <a:lnSpc>
                <a:spcPct val="115000"/>
              </a:lnSpc>
              <a:spcBef>
                <a:spcPts val="0"/>
              </a:spcBef>
              <a:spcAft>
                <a:spcPts val="0"/>
              </a:spcAft>
              <a:buSzPts val="1100"/>
              <a:buNone/>
            </a:pPr>
            <a:endParaRPr>
              <a:solidFill>
                <a:schemeClr val="lt1"/>
              </a:solidFill>
              <a:latin typeface="Montserrat"/>
              <a:ea typeface="Montserrat"/>
              <a:cs typeface="Montserrat"/>
              <a:sym typeface="Montserrat"/>
            </a:endParaRPr>
          </a:p>
          <a:p>
            <a:pPr marL="0" lvl="0" indent="0" algn="l" rtl="0">
              <a:lnSpc>
                <a:spcPct val="115000"/>
              </a:lnSpc>
              <a:spcBef>
                <a:spcPts val="0"/>
              </a:spcBef>
              <a:spcAft>
                <a:spcPts val="0"/>
              </a:spcAft>
              <a:buSzPts val="1100"/>
              <a:buNone/>
            </a:pPr>
            <a:r>
              <a:rPr lang="en">
                <a:solidFill>
                  <a:srgbClr val="34537D"/>
                </a:solidFill>
                <a:latin typeface="Montserrat"/>
                <a:ea typeface="Montserrat"/>
                <a:cs typeface="Montserrat"/>
                <a:sym typeface="Montserrat"/>
              </a:rPr>
              <a:t>Please </a:t>
            </a:r>
            <a:r>
              <a:rPr lang="en" b="1">
                <a:solidFill>
                  <a:srgbClr val="34537D"/>
                </a:solidFill>
                <a:latin typeface="Montserrat"/>
                <a:ea typeface="Montserrat"/>
                <a:cs typeface="Montserrat"/>
                <a:sym typeface="Montserrat"/>
              </a:rPr>
              <a:t>contact us</a:t>
            </a:r>
            <a:r>
              <a:rPr lang="en">
                <a:solidFill>
                  <a:srgbClr val="34537D"/>
                </a:solidFill>
                <a:latin typeface="Montserrat"/>
                <a:ea typeface="Montserrat"/>
                <a:cs typeface="Montserrat"/>
                <a:sym typeface="Montserrat"/>
              </a:rPr>
              <a:t> with any questions:</a:t>
            </a:r>
            <a:endParaRPr>
              <a:solidFill>
                <a:srgbClr val="34537D"/>
              </a:solidFill>
              <a:latin typeface="Montserrat"/>
              <a:ea typeface="Montserrat"/>
              <a:cs typeface="Montserrat"/>
              <a:sym typeface="Montserrat"/>
            </a:endParaRPr>
          </a:p>
          <a:p>
            <a:pPr marL="0" lvl="0" indent="0" algn="l" rtl="0">
              <a:lnSpc>
                <a:spcPct val="115000"/>
              </a:lnSpc>
              <a:spcBef>
                <a:spcPts val="0"/>
              </a:spcBef>
              <a:spcAft>
                <a:spcPts val="0"/>
              </a:spcAft>
              <a:buSzPts val="1100"/>
              <a:buNone/>
            </a:pPr>
            <a:endParaRPr sz="800">
              <a:solidFill>
                <a:srgbClr val="34537D"/>
              </a:solidFill>
              <a:latin typeface="Montserrat"/>
              <a:ea typeface="Montserrat"/>
              <a:cs typeface="Montserrat"/>
              <a:sym typeface="Montserrat"/>
            </a:endParaRPr>
          </a:p>
          <a:p>
            <a:pPr marL="0" lvl="0" indent="0" algn="l" rtl="0">
              <a:lnSpc>
                <a:spcPct val="115000"/>
              </a:lnSpc>
              <a:spcBef>
                <a:spcPts val="0"/>
              </a:spcBef>
              <a:spcAft>
                <a:spcPts val="0"/>
              </a:spcAft>
              <a:buSzPts val="1100"/>
              <a:buNone/>
            </a:pPr>
            <a:r>
              <a:rPr lang="en">
                <a:solidFill>
                  <a:srgbClr val="34537D"/>
                </a:solidFill>
                <a:latin typeface="Montserrat"/>
                <a:ea typeface="Montserrat"/>
                <a:cs typeface="Montserrat"/>
                <a:sym typeface="Montserrat"/>
              </a:rPr>
              <a:t>Tung Ho, </a:t>
            </a:r>
            <a:r>
              <a:rPr lang="en">
                <a:solidFill>
                  <a:schemeClr val="lt1"/>
                </a:solidFill>
                <a:latin typeface="Montserrat"/>
                <a:ea typeface="Montserrat"/>
                <a:cs typeface="Montserrat"/>
                <a:sym typeface="Montserrat"/>
              </a:rPr>
              <a:t>	</a:t>
            </a:r>
            <a:r>
              <a:rPr lang="en" u="sng">
                <a:solidFill>
                  <a:schemeClr val="accent5"/>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tah@allotropepartners.com</a:t>
            </a:r>
            <a:endParaRPr>
              <a:solidFill>
                <a:schemeClr val="lt1"/>
              </a:solidFill>
              <a:latin typeface="Montserrat"/>
              <a:ea typeface="Montserrat"/>
              <a:cs typeface="Montserrat"/>
              <a:sym typeface="Montserrat"/>
            </a:endParaRPr>
          </a:p>
          <a:p>
            <a:pPr marL="914400" lvl="0" indent="0" algn="l" rtl="0">
              <a:lnSpc>
                <a:spcPct val="115000"/>
              </a:lnSpc>
              <a:spcBef>
                <a:spcPts val="0"/>
              </a:spcBef>
              <a:spcAft>
                <a:spcPts val="0"/>
              </a:spcAft>
              <a:buSzPts val="1100"/>
              <a:buNone/>
            </a:pPr>
            <a:r>
              <a:rPr lang="en" u="sng">
                <a:solidFill>
                  <a:schemeClr val="accent5"/>
                </a:solidFill>
                <a:latin typeface="Montserrat"/>
                <a:ea typeface="Montserrat"/>
                <a:cs typeface="Montserrat"/>
                <a:sym typeface="Montserrat"/>
                <a:hlinkClick r:id="rId5">
                  <a:extLst>
                    <a:ext uri="{A12FA001-AC4F-418D-AE19-62706E023703}">
                      <ahyp:hlinkClr xmlns:ahyp="http://schemas.microsoft.com/office/drawing/2018/hyperlinkcolor" val="tx"/>
                    </a:ext>
                  </a:extLst>
                </a:hlinkClick>
              </a:rPr>
              <a:t>info@allotropepartners.com</a:t>
            </a:r>
            <a:r>
              <a:rPr lang="en">
                <a:solidFill>
                  <a:schemeClr val="lt1"/>
                </a:solidFill>
                <a:latin typeface="Montserrat"/>
                <a:ea typeface="Montserrat"/>
                <a:cs typeface="Montserrat"/>
                <a:sym typeface="Montserrat"/>
              </a:rPr>
              <a:t> </a:t>
            </a:r>
            <a:endParaRPr sz="2500" b="1">
              <a:solidFill>
                <a:srgbClr val="34537D"/>
              </a:solidFill>
              <a:latin typeface="Montserrat"/>
              <a:ea typeface="Montserrat"/>
              <a:cs typeface="Montserrat"/>
              <a:sym typeface="Montserrat"/>
            </a:endParaRPr>
          </a:p>
        </p:txBody>
      </p:sp>
      <p:sp>
        <p:nvSpPr>
          <p:cNvPr id="2668" name="Google Shape;2668;p216"/>
          <p:cNvSpPr/>
          <p:nvPr/>
        </p:nvSpPr>
        <p:spPr>
          <a:xfrm>
            <a:off x="0" y="3794450"/>
            <a:ext cx="9144000" cy="1349100"/>
          </a:xfrm>
          <a:prstGeom prst="rect">
            <a:avLst/>
          </a:prstGeom>
          <a:solidFill>
            <a:schemeClr val="lt1"/>
          </a:solidFill>
          <a:ln>
            <a:noFill/>
          </a:ln>
          <a:effectLst>
            <a:outerShdw blurRad="57150" dist="19050" dir="5400000" algn="bl" rotWithShape="0">
              <a:srgbClr val="000000">
                <a:alpha val="5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endParaRPr sz="1400" b="0" i="0" u="none" strike="noStrike" cap="none">
              <a:solidFill>
                <a:schemeClr val="lt1"/>
              </a:solidFill>
              <a:latin typeface="Calibri"/>
              <a:ea typeface="Calibri"/>
              <a:cs typeface="Calibri"/>
              <a:sym typeface="Calibri"/>
            </a:endParaRPr>
          </a:p>
        </p:txBody>
      </p:sp>
      <p:sp>
        <p:nvSpPr>
          <p:cNvPr id="2669" name="Google Shape;2669;p216"/>
          <p:cNvSpPr txBox="1"/>
          <p:nvPr/>
        </p:nvSpPr>
        <p:spPr>
          <a:xfrm>
            <a:off x="710350" y="1704300"/>
            <a:ext cx="3567600" cy="684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4000" b="1">
                <a:solidFill>
                  <a:srgbClr val="34537D"/>
                </a:solidFill>
                <a:latin typeface="Montserrat"/>
                <a:ea typeface="Montserrat"/>
                <a:cs typeface="Montserrat"/>
                <a:sym typeface="Montserrat"/>
              </a:rPr>
              <a:t>THANK YOU!</a:t>
            </a:r>
            <a:endParaRPr sz="4000" b="1">
              <a:solidFill>
                <a:srgbClr val="34537D"/>
              </a:solidFill>
              <a:latin typeface="Montserrat"/>
              <a:ea typeface="Montserrat"/>
              <a:cs typeface="Montserrat"/>
              <a:sym typeface="Montserrat"/>
            </a:endParaRPr>
          </a:p>
        </p:txBody>
      </p:sp>
      <p:pic>
        <p:nvPicPr>
          <p:cNvPr id="2670" name="Google Shape;2670;p216"/>
          <p:cNvPicPr preferRelativeResize="0"/>
          <p:nvPr/>
        </p:nvPicPr>
        <p:blipFill rotWithShape="1">
          <a:blip r:embed="rId6">
            <a:alphaModFix/>
          </a:blip>
          <a:srcRect/>
          <a:stretch/>
        </p:blipFill>
        <p:spPr>
          <a:xfrm>
            <a:off x="2275275" y="4053926"/>
            <a:ext cx="2159476" cy="754725"/>
          </a:xfrm>
          <a:prstGeom prst="rect">
            <a:avLst/>
          </a:prstGeom>
          <a:noFill/>
          <a:ln>
            <a:noFill/>
          </a:ln>
        </p:spPr>
      </p:pic>
      <p:pic>
        <p:nvPicPr>
          <p:cNvPr id="2671" name="Google Shape;2671;p216" title="CEBA new logo.png"/>
          <p:cNvPicPr preferRelativeResize="0"/>
          <p:nvPr/>
        </p:nvPicPr>
        <p:blipFill>
          <a:blip r:embed="rId7">
            <a:alphaModFix/>
          </a:blip>
          <a:stretch>
            <a:fillRect/>
          </a:stretch>
        </p:blipFill>
        <p:spPr>
          <a:xfrm>
            <a:off x="4489875" y="4238040"/>
            <a:ext cx="1690350" cy="505525"/>
          </a:xfrm>
          <a:prstGeom prst="rect">
            <a:avLst/>
          </a:prstGeom>
          <a:noFill/>
          <a:ln>
            <a:noFill/>
          </a:ln>
        </p:spPr>
      </p:pic>
      <p:sp>
        <p:nvSpPr>
          <p:cNvPr id="2672" name="Google Shape;2672;p216"/>
          <p:cNvSpPr/>
          <p:nvPr/>
        </p:nvSpPr>
        <p:spPr>
          <a:xfrm>
            <a:off x="710346" y="1529037"/>
            <a:ext cx="4337100" cy="51000"/>
          </a:xfrm>
          <a:prstGeom prst="rect">
            <a:avLst/>
          </a:prstGeom>
          <a:solidFill>
            <a:srgbClr val="3453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73" name="Google Shape;2673;p216"/>
          <p:cNvSpPr txBox="1"/>
          <p:nvPr/>
        </p:nvSpPr>
        <p:spPr>
          <a:xfrm>
            <a:off x="710351" y="1065975"/>
            <a:ext cx="47094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100" b="1">
                <a:solidFill>
                  <a:srgbClr val="34537D"/>
                </a:solidFill>
                <a:latin typeface="Montserrat"/>
                <a:ea typeface="Montserrat"/>
                <a:cs typeface="Montserrat"/>
                <a:sym typeface="Montserrat"/>
              </a:rPr>
              <a:t>Wrap Up &amp; Survey </a:t>
            </a:r>
            <a:r>
              <a:rPr lang="en" sz="2100">
                <a:solidFill>
                  <a:srgbClr val="34537D"/>
                </a:solidFill>
                <a:latin typeface="Montserrat"/>
                <a:ea typeface="Montserrat"/>
                <a:cs typeface="Montserrat"/>
                <a:sym typeface="Montserrat"/>
              </a:rPr>
              <a:t>(~5 minutes)</a:t>
            </a:r>
            <a:endParaRPr sz="1100" i="1">
              <a:solidFill>
                <a:srgbClr val="34537D"/>
              </a:solidFill>
            </a:endParaRPr>
          </a:p>
        </p:txBody>
      </p:sp>
      <p:sp>
        <p:nvSpPr>
          <p:cNvPr id="2674" name="Google Shape;2674;p216"/>
          <p:cNvSpPr txBox="1"/>
          <p:nvPr/>
        </p:nvSpPr>
        <p:spPr>
          <a:xfrm>
            <a:off x="5419650" y="955511"/>
            <a:ext cx="30000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34537D"/>
                </a:solidFill>
                <a:latin typeface="Montserrat"/>
                <a:ea typeface="Montserrat"/>
                <a:cs typeface="Montserrat"/>
                <a:sym typeface="Montserrat"/>
              </a:rPr>
              <a:t>Before departing, please help fill out the </a:t>
            </a:r>
            <a:r>
              <a:rPr lang="en" b="1">
                <a:solidFill>
                  <a:srgbClr val="FF7038"/>
                </a:solidFill>
                <a:latin typeface="Montserrat"/>
                <a:ea typeface="Montserrat"/>
                <a:cs typeface="Montserrat"/>
                <a:sym typeface="Montserrat"/>
              </a:rPr>
              <a:t>Post-Event Survey</a:t>
            </a:r>
            <a:r>
              <a:rPr lang="en" b="1">
                <a:solidFill>
                  <a:srgbClr val="34537D"/>
                </a:solidFill>
                <a:latin typeface="Montserrat"/>
                <a:ea typeface="Montserrat"/>
                <a:cs typeface="Montserrat"/>
                <a:sym typeface="Montserrat"/>
              </a:rPr>
              <a:t>.</a:t>
            </a:r>
            <a:endParaRPr b="1">
              <a:solidFill>
                <a:srgbClr val="34537D"/>
              </a:solidFill>
            </a:endParaRPr>
          </a:p>
        </p:txBody>
      </p:sp>
      <p:sp>
        <p:nvSpPr>
          <p:cNvPr id="2675" name="Google Shape;2675;p216"/>
          <p:cNvSpPr/>
          <p:nvPr/>
        </p:nvSpPr>
        <p:spPr>
          <a:xfrm>
            <a:off x="6374800" y="1603501"/>
            <a:ext cx="1890600" cy="1838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QR to be updated</a:t>
            </a:r>
            <a:endParaRPr/>
          </a:p>
        </p:txBody>
      </p:sp>
      <p:pic>
        <p:nvPicPr>
          <p:cNvPr id="2676" name="Google Shape;2676;p216" title="upward-arrow (2).png"/>
          <p:cNvPicPr preferRelativeResize="0"/>
          <p:nvPr/>
        </p:nvPicPr>
        <p:blipFill>
          <a:blip r:embed="rId8">
            <a:alphaModFix/>
          </a:blip>
          <a:stretch>
            <a:fillRect/>
          </a:stretch>
        </p:blipFill>
        <p:spPr>
          <a:xfrm rot="5914460" flipH="1">
            <a:off x="5399029" y="1646305"/>
            <a:ext cx="872891" cy="87286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6796</Words>
  <Application>Microsoft Office PowerPoint</Application>
  <PresentationFormat>On-screen Show (16:9)</PresentationFormat>
  <Paragraphs>853</Paragraphs>
  <Slides>57</Slides>
  <Notes>57</Notes>
  <HiddenSlides>2</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57</vt:i4>
      </vt:variant>
    </vt:vector>
  </HeadingPairs>
  <TitlesOfParts>
    <vt:vector size="74" baseType="lpstr">
      <vt:lpstr>Be Vietnam Pro SemiBold</vt:lpstr>
      <vt:lpstr>Montserrat ExtraBold</vt:lpstr>
      <vt:lpstr>Lato</vt:lpstr>
      <vt:lpstr>Geo</vt:lpstr>
      <vt:lpstr>Quattrocento Sans</vt:lpstr>
      <vt:lpstr>Montserrat</vt:lpstr>
      <vt:lpstr>Arial</vt:lpstr>
      <vt:lpstr>Raleway</vt:lpstr>
      <vt:lpstr>Be Vietnam Pro</vt:lpstr>
      <vt:lpstr>Consolas</vt:lpstr>
      <vt:lpstr>Calibri</vt:lpstr>
      <vt:lpstr>Roboto</vt:lpstr>
      <vt:lpstr>Simple Light</vt:lpstr>
      <vt:lpstr>Office Theme</vt:lpstr>
      <vt:lpstr>Office Theme</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Tung Ho</cp:lastModifiedBy>
  <cp:revision>1</cp:revision>
  <dcterms:modified xsi:type="dcterms:W3CDTF">2026-06-22T15:30:23Z</dcterms:modified>
</cp:coreProperties>
</file>