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1" r:id="rId1"/>
  </p:sldMasterIdLst>
  <p:notesMasterIdLst>
    <p:notesMasterId r:id="rId13"/>
  </p:notesMasterIdLst>
  <p:sldIdLst>
    <p:sldId id="329" r:id="rId2"/>
    <p:sldId id="330" r:id="rId3"/>
    <p:sldId id="331" r:id="rId4"/>
    <p:sldId id="332" r:id="rId5"/>
    <p:sldId id="333" r:id="rId6"/>
    <p:sldId id="334" r:id="rId7"/>
    <p:sldId id="335" r:id="rId8"/>
    <p:sldId id="336" r:id="rId9"/>
    <p:sldId id="337" r:id="rId10"/>
    <p:sldId id="338" r:id="rId11"/>
    <p:sldId id="339" r:id="rId12"/>
  </p:sldIdLst>
  <p:sldSz cx="9144000" cy="5143500" type="screen16x9"/>
  <p:notesSz cx="6858000" cy="9144000"/>
  <p:embeddedFontLst>
    <p:embeddedFont>
      <p:font typeface="Be Vietnam Pro" panose="020B0604020202020204" charset="0"/>
      <p:regular r:id="rId14"/>
      <p:bold r:id="rId15"/>
      <p:italic r:id="rId16"/>
      <p:boldItalic r:id="rId17"/>
    </p:embeddedFont>
    <p:embeddedFont>
      <p:font typeface="Be Vietnam Pro SemiBold" panose="020B0604020202020204" charset="0"/>
      <p:regular r:id="rId18"/>
      <p:bold r:id="rId19"/>
      <p:italic r:id="rId20"/>
      <p:boldItalic r:id="rId21"/>
    </p:embeddedFont>
    <p:embeddedFont>
      <p:font typeface="Geo" panose="020B0604020202020204"/>
      <p:regular r:id="rId22"/>
      <p:italic r:id="rId23"/>
    </p:embeddedFont>
    <p:embeddedFont>
      <p:font typeface="Montserrat" panose="00000500000000000000" pitchFamily="2" charset="0"/>
      <p:regular r:id="rId24"/>
      <p:bold r:id="rId25"/>
      <p:italic r:id="rId26"/>
      <p:boldItalic r:id="rId27"/>
    </p:embeddedFont>
    <p:embeddedFont>
      <p:font typeface="Montserrat ExtraBold" panose="00000900000000000000" pitchFamily="2"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6">
          <p15:clr>
            <a:srgbClr val="747775"/>
          </p15:clr>
        </p15:guide>
        <p15:guide id="2" orient="horz" pos="16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rang Tran" initials="" lastIdx="4" clrIdx="0"/>
  <p:cmAuthor id="1" name="Hong Anh Le" initials="" lastIdx="12" clrIdx="1"/>
  <p:cmAuthor id="2" name="Lauren McGinley" initials="" lastIdx="10" clrIdx="2"/>
  <p:cmAuthor id="3" name="Cong Nguyen" initials="" lastIdx="4" clrIdx="3"/>
  <p:cmAuthor id="4" name="Aiden Roake" initials=""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1033D3-121A-4ABF-A30B-B91F07BF1167}">
  <a:tblStyle styleId="{121033D3-121A-4ABF-A30B-B91F07BF116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8BD2AF-5D0D-4EDC-AE96-A30A7DA1AF2F}"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F1742F6B-ED47-481C-AEBF-CD6BD0922621}"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44"/>
      </p:cViewPr>
      <p:guideLst>
        <p:guide pos="286"/>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15T07:53:44.924" idx="9">
    <p:pos x="6000" y="0"/>
    <p:text>needs to be updated</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6-15T08:07:03.344" idx="10">
    <p:pos x="6000" y="0"/>
    <p:text>Probably need to print this too in Scenario Package @ttt@allotropevc.com</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6-01T09:07:01.287" idx="11">
    <p:pos x="6000" y="0"/>
    <p:text>Note to CEBA that all these scenarios are work-in-progress and we'll continue refining it further to make it more beneficial for attendees</p:text>
  </p:cm>
  <p:cm authorId="1" dt="2026-06-01T09:07:01.287" idx="12">
    <p:pos x="6000" y="0"/>
    <p:text>We currently have 2 scenarios to just help participants understand the concepts and 2 with numbers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7"/>
        <p:cNvGrpSpPr/>
        <p:nvPr/>
      </p:nvGrpSpPr>
      <p:grpSpPr>
        <a:xfrm>
          <a:off x="0" y="0"/>
          <a:ext cx="0" cy="0"/>
          <a:chOff x="0" y="0"/>
          <a:chExt cx="0" cy="0"/>
        </a:xfrm>
      </p:grpSpPr>
      <p:sp>
        <p:nvSpPr>
          <p:cNvPr id="2088" name="Google Shape;2088;g3e5dc4c0772_2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9" name="Google Shape;2089;g3e5dc4c0772_2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3e5dc4c0772_2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3e5dc4c0772_2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3ec8d3339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3ec8d3339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3"/>
        <p:cNvGrpSpPr/>
        <p:nvPr/>
      </p:nvGrpSpPr>
      <p:grpSpPr>
        <a:xfrm>
          <a:off x="0" y="0"/>
          <a:ext cx="0" cy="0"/>
          <a:chOff x="0" y="0"/>
          <a:chExt cx="0" cy="0"/>
        </a:xfrm>
      </p:grpSpPr>
      <p:sp>
        <p:nvSpPr>
          <p:cNvPr id="2144" name="Google Shape;2144;g3ec8d3339a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5" name="Google Shape;2145;g3ec8d3339a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g3ec056fa404_3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3" name="Google Shape;2163;g3ec056fa404_3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3ec056fa404_3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3ec056fa404_3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g3ec056fa404_3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8" name="Google Shape;2228;g3ec056fa404_3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3ec8d3339a8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3ec8d3339a8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g3ec8d3339a8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8" name="Google Shape;2278;g3ec8d3339a8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9"/>
        <p:cNvGrpSpPr/>
        <p:nvPr/>
      </p:nvGrpSpPr>
      <p:grpSpPr>
        <a:xfrm>
          <a:off x="0" y="0"/>
          <a:ext cx="0" cy="0"/>
          <a:chOff x="0" y="0"/>
          <a:chExt cx="0" cy="0"/>
        </a:xfrm>
      </p:grpSpPr>
      <p:sp>
        <p:nvSpPr>
          <p:cNvPr id="2310" name="Google Shape;2310;g3ec8d3339a8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1" name="Google Shape;2311;g3ec8d3339a8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3ec8d3339a8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3ec8d3339a8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51"/>
        <p:cNvGrpSpPr/>
        <p:nvPr/>
      </p:nvGrpSpPr>
      <p:grpSpPr>
        <a:xfrm>
          <a:off x="0" y="0"/>
          <a:ext cx="0" cy="0"/>
          <a:chOff x="0" y="0"/>
          <a:chExt cx="0" cy="0"/>
        </a:xfrm>
      </p:grpSpPr>
      <p:sp>
        <p:nvSpPr>
          <p:cNvPr id="52" name="Google Shape;52;p14"/>
          <p:cNvSpPr>
            <a:spLocks noGrp="1"/>
          </p:cNvSpPr>
          <p:nvPr>
            <p:ph type="pic" idx="2"/>
          </p:nvPr>
        </p:nvSpPr>
        <p:spPr>
          <a:xfrm>
            <a:off x="5900738" y="0"/>
            <a:ext cx="3243300" cy="5143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
        <p:cNvGrpSpPr/>
        <p:nvPr/>
      </p:nvGrpSpPr>
      <p:grpSpPr>
        <a:xfrm>
          <a:off x="0" y="0"/>
          <a:ext cx="0" cy="0"/>
          <a:chOff x="0" y="0"/>
          <a:chExt cx="0" cy="0"/>
        </a:xfrm>
      </p:grpSpPr>
      <p:sp>
        <p:nvSpPr>
          <p:cNvPr id="54" name="Google Shape;54;p15"/>
          <p:cNvSpPr>
            <a:spLocks noGrp="1"/>
          </p:cNvSpPr>
          <p:nvPr>
            <p:ph type="pic" idx="2"/>
          </p:nvPr>
        </p:nvSpPr>
        <p:spPr>
          <a:xfrm>
            <a:off x="3874182" y="-949180"/>
            <a:ext cx="5155200" cy="5155200"/>
          </a:xfrm>
          <a:prstGeom prst="rect">
            <a:avLst/>
          </a:prstGeom>
          <a:noFill/>
          <a:ln>
            <a:no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55"/>
        <p:cNvGrpSpPr/>
        <p:nvPr/>
      </p:nvGrpSpPr>
      <p:grpSpPr>
        <a:xfrm>
          <a:off x="0" y="0"/>
          <a:ext cx="0" cy="0"/>
          <a:chOff x="0" y="0"/>
          <a:chExt cx="0" cy="0"/>
        </a:xfrm>
      </p:grpSpPr>
      <p:sp>
        <p:nvSpPr>
          <p:cNvPr id="56" name="Google Shape;56;p16"/>
          <p:cNvSpPr>
            <a:spLocks noGrp="1"/>
          </p:cNvSpPr>
          <p:nvPr>
            <p:ph type="pic" idx="2"/>
          </p:nvPr>
        </p:nvSpPr>
        <p:spPr>
          <a:xfrm>
            <a:off x="4100165" y="570248"/>
            <a:ext cx="4237200" cy="2001600"/>
          </a:xfrm>
          <a:prstGeom prst="rect">
            <a:avLst/>
          </a:prstGeom>
          <a:noFill/>
          <a:ln>
            <a:noFill/>
          </a:ln>
        </p:spPr>
      </p:sp>
      <p:sp>
        <p:nvSpPr>
          <p:cNvPr id="57" name="Google Shape;57;p16"/>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768096" y="438912"/>
            <a:ext cx="7290000" cy="1124700"/>
          </a:xfrm>
          <a:prstGeom prst="rect">
            <a:avLst/>
          </a:prstGeom>
          <a:noFill/>
          <a:ln>
            <a:noFill/>
          </a:ln>
        </p:spPr>
        <p:txBody>
          <a:bodyPr spcFirstLastPara="1" wrap="square" lIns="68575" tIns="34275" rIns="68575" bIns="34275" anchor="ctr" anchorCtr="0">
            <a:normAutofit/>
          </a:bodyPr>
          <a:lstStyle>
            <a:lvl1pPr lvl="0" algn="l">
              <a:lnSpc>
                <a:spcPct val="80000"/>
              </a:lnSpc>
              <a:spcBef>
                <a:spcPts val="0"/>
              </a:spcBef>
              <a:spcAft>
                <a:spcPts val="0"/>
              </a:spcAft>
              <a:buClr>
                <a:srgbClr val="0C0C0C"/>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17"/>
          <p:cNvSpPr txBox="1">
            <a:spLocks noGrp="1"/>
          </p:cNvSpPr>
          <p:nvPr>
            <p:ph type="body" idx="1"/>
          </p:nvPr>
        </p:nvSpPr>
        <p:spPr>
          <a:xfrm>
            <a:off x="768096" y="1714500"/>
            <a:ext cx="7290000" cy="3017400"/>
          </a:xfrm>
          <a:prstGeom prst="rect">
            <a:avLst/>
          </a:prstGeom>
          <a:noFill/>
          <a:ln>
            <a:noFill/>
          </a:ln>
        </p:spPr>
        <p:txBody>
          <a:bodyPr spcFirstLastPara="1" wrap="square" lIns="34275" tIns="34275" rIns="34275" bIns="34275" anchor="t" anchorCtr="0">
            <a:normAutofit/>
          </a:bodyPr>
          <a:lstStyle>
            <a:lvl1pPr marL="457200" lvl="0" indent="-317500" algn="l">
              <a:lnSpc>
                <a:spcPct val="90000"/>
              </a:lnSpc>
              <a:spcBef>
                <a:spcPts val="900"/>
              </a:spcBef>
              <a:spcAft>
                <a:spcPts val="0"/>
              </a:spcAft>
              <a:buSzPts val="1400"/>
              <a:buChar char="●"/>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61" name="Google Shape;61;p17"/>
          <p:cNvSpPr txBox="1">
            <a:spLocks noGrp="1"/>
          </p:cNvSpPr>
          <p:nvPr>
            <p:ph type="dt" idx="10"/>
          </p:nvPr>
        </p:nvSpPr>
        <p:spPr>
          <a:xfrm>
            <a:off x="768097" y="4853028"/>
            <a:ext cx="1615500" cy="2058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2" name="Google Shape;62;p17"/>
          <p:cNvSpPr txBox="1">
            <a:spLocks noGrp="1"/>
          </p:cNvSpPr>
          <p:nvPr>
            <p:ph type="ftr" idx="11"/>
          </p:nvPr>
        </p:nvSpPr>
        <p:spPr>
          <a:xfrm>
            <a:off x="3632199" y="4853028"/>
            <a:ext cx="4426200" cy="2058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3" name="Google Shape;63;p17"/>
          <p:cNvSpPr txBox="1">
            <a:spLocks noGrp="1"/>
          </p:cNvSpPr>
          <p:nvPr>
            <p:ph type="sldNum" idx="12"/>
          </p:nvPr>
        </p:nvSpPr>
        <p:spPr>
          <a:xfrm>
            <a:off x="8128000" y="4853028"/>
            <a:ext cx="730500" cy="205800"/>
          </a:xfrm>
          <a:prstGeom prst="rect">
            <a:avLst/>
          </a:prstGeom>
          <a:noFill/>
          <a:ln>
            <a:noFill/>
          </a:ln>
        </p:spPr>
        <p:txBody>
          <a:bodyPr spcFirstLastPara="1" wrap="square" lIns="68575" tIns="34275" rIns="68575" bIns="34275" anchor="ctr" anchorCtr="0">
            <a:normAutofit lnSpcReduction="10000"/>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4"/>
        <p:cNvGrpSpPr/>
        <p:nvPr/>
      </p:nvGrpSpPr>
      <p:grpSpPr>
        <a:xfrm>
          <a:off x="0" y="0"/>
          <a:ext cx="0" cy="0"/>
          <a:chOff x="0" y="0"/>
          <a:chExt cx="0" cy="0"/>
        </a:xfrm>
      </p:grpSpPr>
      <p:pic>
        <p:nvPicPr>
          <p:cNvPr id="65" name="Google Shape;65;p18" descr="Background pattern&#10;&#10;Description automatically generated"/>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6" name="Google Shape;66;p18"/>
          <p:cNvSpPr txBox="1">
            <a:spLocks noGrp="1"/>
          </p:cNvSpPr>
          <p:nvPr>
            <p:ph type="ctrTitle"/>
          </p:nvPr>
        </p:nvSpPr>
        <p:spPr>
          <a:xfrm>
            <a:off x="395536" y="2139704"/>
            <a:ext cx="7772400" cy="15252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1"/>
              </a:buClr>
              <a:buSzPts val="5400"/>
              <a:buFont typeface="Geo"/>
              <a:buNone/>
              <a:defRPr sz="54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8"/>
          <p:cNvSpPr txBox="1">
            <a:spLocks noGrp="1"/>
          </p:cNvSpPr>
          <p:nvPr>
            <p:ph type="subTitle" idx="1"/>
          </p:nvPr>
        </p:nvSpPr>
        <p:spPr>
          <a:xfrm>
            <a:off x="395536" y="3676253"/>
            <a:ext cx="7776900" cy="767700"/>
          </a:xfrm>
          <a:prstGeom prst="rect">
            <a:avLst/>
          </a:prstGeom>
          <a:noFill/>
          <a:ln>
            <a:noFill/>
          </a:ln>
        </p:spPr>
        <p:txBody>
          <a:bodyPr spcFirstLastPara="1" wrap="square" lIns="68575" tIns="34275" rIns="68575" bIns="34275"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1200"/>
              </a:spcBef>
              <a:spcAft>
                <a:spcPts val="0"/>
              </a:spcAft>
              <a:buClr>
                <a:srgbClr val="888D9E"/>
              </a:buClr>
              <a:buSzPts val="2800"/>
              <a:buNone/>
              <a:defRPr>
                <a:solidFill>
                  <a:srgbClr val="888D9E"/>
                </a:solidFill>
              </a:defRPr>
            </a:lvl2pPr>
            <a:lvl3pPr lvl="2" algn="ctr">
              <a:spcBef>
                <a:spcPts val="1200"/>
              </a:spcBef>
              <a:spcAft>
                <a:spcPts val="0"/>
              </a:spcAft>
              <a:buClr>
                <a:srgbClr val="888D9E"/>
              </a:buClr>
              <a:buSzPts val="2400"/>
              <a:buNone/>
              <a:defRPr>
                <a:solidFill>
                  <a:srgbClr val="888D9E"/>
                </a:solidFill>
              </a:defRPr>
            </a:lvl3pPr>
            <a:lvl4pPr lvl="3" algn="ctr">
              <a:spcBef>
                <a:spcPts val="1200"/>
              </a:spcBef>
              <a:spcAft>
                <a:spcPts val="0"/>
              </a:spcAft>
              <a:buClr>
                <a:srgbClr val="888D9E"/>
              </a:buClr>
              <a:buSzPts val="2000"/>
              <a:buNone/>
              <a:defRPr>
                <a:solidFill>
                  <a:srgbClr val="888D9E"/>
                </a:solidFill>
              </a:defRPr>
            </a:lvl4pPr>
            <a:lvl5pPr lvl="4" algn="ctr">
              <a:spcBef>
                <a:spcPts val="1200"/>
              </a:spcBef>
              <a:spcAft>
                <a:spcPts val="0"/>
              </a:spcAft>
              <a:buClr>
                <a:srgbClr val="888D9E"/>
              </a:buClr>
              <a:buSzPts val="2000"/>
              <a:buNone/>
              <a:defRPr>
                <a:solidFill>
                  <a:srgbClr val="888D9E"/>
                </a:solidFill>
              </a:defRPr>
            </a:lvl5pPr>
            <a:lvl6pPr lvl="5" algn="ctr">
              <a:spcBef>
                <a:spcPts val="1200"/>
              </a:spcBef>
              <a:spcAft>
                <a:spcPts val="0"/>
              </a:spcAft>
              <a:buClr>
                <a:srgbClr val="888D9E"/>
              </a:buClr>
              <a:buSzPts val="2000"/>
              <a:buNone/>
              <a:defRPr>
                <a:solidFill>
                  <a:srgbClr val="888D9E"/>
                </a:solidFill>
              </a:defRPr>
            </a:lvl6pPr>
            <a:lvl7pPr lvl="6" algn="ctr">
              <a:spcBef>
                <a:spcPts val="1200"/>
              </a:spcBef>
              <a:spcAft>
                <a:spcPts val="0"/>
              </a:spcAft>
              <a:buClr>
                <a:srgbClr val="888D9E"/>
              </a:buClr>
              <a:buSzPts val="2000"/>
              <a:buNone/>
              <a:defRPr>
                <a:solidFill>
                  <a:srgbClr val="888D9E"/>
                </a:solidFill>
              </a:defRPr>
            </a:lvl7pPr>
            <a:lvl8pPr lvl="7" algn="ctr">
              <a:spcBef>
                <a:spcPts val="1200"/>
              </a:spcBef>
              <a:spcAft>
                <a:spcPts val="0"/>
              </a:spcAft>
              <a:buClr>
                <a:srgbClr val="888D9E"/>
              </a:buClr>
              <a:buSzPts val="2000"/>
              <a:buNone/>
              <a:defRPr>
                <a:solidFill>
                  <a:srgbClr val="888D9E"/>
                </a:solidFill>
              </a:defRPr>
            </a:lvl8pPr>
            <a:lvl9pPr lvl="8" algn="ctr">
              <a:spcBef>
                <a:spcPts val="1200"/>
              </a:spcBef>
              <a:spcAft>
                <a:spcPts val="1200"/>
              </a:spcAft>
              <a:buClr>
                <a:srgbClr val="888D9E"/>
              </a:buClr>
              <a:buSzPts val="2000"/>
              <a:buNone/>
              <a:defRPr>
                <a:solidFill>
                  <a:srgbClr val="888D9E"/>
                </a:solidFill>
              </a:defRPr>
            </a:lvl9pPr>
          </a:lstStyle>
          <a:p>
            <a:endParaRPr/>
          </a:p>
        </p:txBody>
      </p:sp>
      <p:sp>
        <p:nvSpPr>
          <p:cNvPr id="68" name="Google Shape;68;p18"/>
          <p:cNvSpPr txBox="1">
            <a:spLocks noGrp="1"/>
          </p:cNvSpPr>
          <p:nvPr>
            <p:ph type="body" idx="2"/>
          </p:nvPr>
        </p:nvSpPr>
        <p:spPr>
          <a:xfrm>
            <a:off x="395536" y="396652"/>
            <a:ext cx="2808300" cy="576300"/>
          </a:xfrm>
          <a:prstGeom prst="rect">
            <a:avLst/>
          </a:prstGeom>
          <a:noFill/>
          <a:ln>
            <a:noFill/>
          </a:ln>
        </p:spPr>
        <p:txBody>
          <a:bodyPr spcFirstLastPara="1" wrap="square" lIns="68575" tIns="34275" rIns="68575" bIns="34275" anchor="t" anchorCtr="0">
            <a:normAutofit/>
          </a:bodyPr>
          <a:lstStyle>
            <a:lvl1pPr marL="457200" lvl="0" indent="-228600" algn="l">
              <a:spcBef>
                <a:spcPts val="400"/>
              </a:spcBef>
              <a:spcAft>
                <a:spcPts val="0"/>
              </a:spcAft>
              <a:buClr>
                <a:schemeClr val="lt1"/>
              </a:buClr>
              <a:buSzPts val="1800"/>
              <a:buNone/>
              <a:defRPr sz="1800">
                <a:solidFill>
                  <a:schemeClr val="lt1"/>
                </a:solidFill>
              </a:defRPr>
            </a:lvl1pPr>
            <a:lvl2pPr marL="914400" lvl="1" indent="-406400" algn="l">
              <a:spcBef>
                <a:spcPts val="1200"/>
              </a:spcBef>
              <a:spcAft>
                <a:spcPts val="0"/>
              </a:spcAft>
              <a:buClr>
                <a:schemeClr val="lt1"/>
              </a:buClr>
              <a:buSzPts val="2800"/>
              <a:buChar char="○"/>
              <a:defRPr>
                <a:solidFill>
                  <a:schemeClr val="lt1"/>
                </a:solidFill>
              </a:defRPr>
            </a:lvl2pPr>
            <a:lvl3pPr marL="1371600" lvl="2" indent="-381000" algn="l">
              <a:spcBef>
                <a:spcPts val="1200"/>
              </a:spcBef>
              <a:spcAft>
                <a:spcPts val="0"/>
              </a:spcAft>
              <a:buClr>
                <a:schemeClr val="lt1"/>
              </a:buClr>
              <a:buSzPts val="2400"/>
              <a:buChar char="■"/>
              <a:defRPr>
                <a:solidFill>
                  <a:schemeClr val="lt1"/>
                </a:solidFill>
              </a:defRPr>
            </a:lvl3pPr>
            <a:lvl4pPr marL="1828800" lvl="3" indent="-355600" algn="l">
              <a:spcBef>
                <a:spcPts val="1200"/>
              </a:spcBef>
              <a:spcAft>
                <a:spcPts val="0"/>
              </a:spcAft>
              <a:buClr>
                <a:schemeClr val="lt1"/>
              </a:buClr>
              <a:buSzPts val="2000"/>
              <a:buChar char="●"/>
              <a:defRPr>
                <a:solidFill>
                  <a:schemeClr val="lt1"/>
                </a:solidFill>
              </a:defRPr>
            </a:lvl4pPr>
            <a:lvl5pPr marL="2286000" lvl="4" indent="-355600" algn="l">
              <a:spcBef>
                <a:spcPts val="1200"/>
              </a:spcBef>
              <a:spcAft>
                <a:spcPts val="0"/>
              </a:spcAft>
              <a:buClr>
                <a:schemeClr val="lt1"/>
              </a:buClr>
              <a:buSzPts val="2000"/>
              <a:buChar char="○"/>
              <a:defRPr>
                <a:solidFill>
                  <a:schemeClr val="lt1"/>
                </a:solidFill>
              </a:defRPr>
            </a:lvl5pPr>
            <a:lvl6pPr marL="2743200" lvl="5" indent="-317500" algn="l">
              <a:spcBef>
                <a:spcPts val="1200"/>
              </a:spcBef>
              <a:spcAft>
                <a:spcPts val="0"/>
              </a:spcAft>
              <a:buClr>
                <a:schemeClr val="dk1"/>
              </a:buClr>
              <a:buSzPts val="1400"/>
              <a:buChar char="■"/>
              <a:defRPr/>
            </a:lvl6pPr>
            <a:lvl7pPr marL="3200400" lvl="6" indent="-317500" algn="l">
              <a:spcBef>
                <a:spcPts val="1200"/>
              </a:spcBef>
              <a:spcAft>
                <a:spcPts val="0"/>
              </a:spcAft>
              <a:buClr>
                <a:schemeClr val="dk1"/>
              </a:buClr>
              <a:buSzPts val="1400"/>
              <a:buChar char="●"/>
              <a:defRPr/>
            </a:lvl7pPr>
            <a:lvl8pPr marL="3657600" lvl="7" indent="-317500" algn="l">
              <a:spcBef>
                <a:spcPts val="1200"/>
              </a:spcBef>
              <a:spcAft>
                <a:spcPts val="0"/>
              </a:spcAft>
              <a:buClr>
                <a:schemeClr val="dk1"/>
              </a:buClr>
              <a:buSzPts val="1400"/>
              <a:buChar char="○"/>
              <a:defRPr/>
            </a:lvl8pPr>
            <a:lvl9pPr marL="4114800" lvl="8" indent="-317500" algn="l">
              <a:spcBef>
                <a:spcPts val="1200"/>
              </a:spcBef>
              <a:spcAft>
                <a:spcPts val="1200"/>
              </a:spcAft>
              <a:buClr>
                <a:schemeClr val="dk1"/>
              </a:buClr>
              <a:buSzPts val="1400"/>
              <a:buChar char="■"/>
              <a:defRPr/>
            </a:lvl9pPr>
          </a:lstStyle>
          <a:p>
            <a:endParaRPr/>
          </a:p>
        </p:txBody>
      </p:sp>
      <p:pic>
        <p:nvPicPr>
          <p:cNvPr id="69" name="Google Shape;69;p18" descr="A picture containing graphical user interface&#10;&#10;Description automatically generated"/>
          <p:cNvPicPr preferRelativeResize="0"/>
          <p:nvPr/>
        </p:nvPicPr>
        <p:blipFill rotWithShape="1">
          <a:blip r:embed="rId3">
            <a:alphaModFix/>
          </a:blip>
          <a:srcRect/>
          <a:stretch/>
        </p:blipFill>
        <p:spPr>
          <a:xfrm>
            <a:off x="6086475" y="249829"/>
            <a:ext cx="2827622" cy="810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Blank Slide">
  <p:cSld name="1_Blank Slide">
    <p:spTree>
      <p:nvGrpSpPr>
        <p:cNvPr id="1" name="Shape 70"/>
        <p:cNvGrpSpPr/>
        <p:nvPr/>
      </p:nvGrpSpPr>
      <p:grpSpPr>
        <a:xfrm>
          <a:off x="0" y="0"/>
          <a:ext cx="0" cy="0"/>
          <a:chOff x="0" y="0"/>
          <a:chExt cx="0" cy="0"/>
        </a:xfrm>
      </p:grpSpPr>
      <p:pic>
        <p:nvPicPr>
          <p:cNvPr id="71" name="Google Shape;71;p19"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72" name="Google Shape;72;p19"/>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3" name="Google Shape;73;p19"/>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4" name="Google Shape;74;p19"/>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75" name="Google Shape;75;p19"/>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76"/>
        <p:cNvGrpSpPr/>
        <p:nvPr/>
      </p:nvGrpSpPr>
      <p:grpSpPr>
        <a:xfrm>
          <a:off x="0" y="0"/>
          <a:ext cx="0" cy="0"/>
          <a:chOff x="0" y="0"/>
          <a:chExt cx="0" cy="0"/>
        </a:xfrm>
      </p:grpSpPr>
      <p:pic>
        <p:nvPicPr>
          <p:cNvPr id="77" name="Google Shape;77;p20"/>
          <p:cNvPicPr preferRelativeResize="0"/>
          <p:nvPr/>
        </p:nvPicPr>
        <p:blipFill rotWithShape="1">
          <a:blip r:embed="rId2">
            <a:alphaModFix/>
          </a:blip>
          <a:srcRect/>
          <a:stretch/>
        </p:blipFill>
        <p:spPr>
          <a:xfrm>
            <a:off x="0" y="1"/>
            <a:ext cx="9144001" cy="5148250"/>
          </a:xfrm>
          <a:prstGeom prst="rect">
            <a:avLst/>
          </a:prstGeom>
          <a:noFill/>
          <a:ln>
            <a:noFill/>
          </a:ln>
        </p:spPr>
      </p:pic>
      <p:pic>
        <p:nvPicPr>
          <p:cNvPr id="78" name="Google Shape;78;p20" descr="Logo&#10;&#10;Description automatically generated"/>
          <p:cNvPicPr preferRelativeResize="0"/>
          <p:nvPr/>
        </p:nvPicPr>
        <p:blipFill rotWithShape="1">
          <a:blip r:embed="rId3">
            <a:alphaModFix/>
          </a:blip>
          <a:srcRect/>
          <a:stretch/>
        </p:blipFill>
        <p:spPr>
          <a:xfrm>
            <a:off x="7433543" y="110775"/>
            <a:ext cx="1587022" cy="4497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01">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Slide 1">
  <p:cSld name="1_Blank Slide_1">
    <p:spTree>
      <p:nvGrpSpPr>
        <p:cNvPr id="1" name="Shape 79"/>
        <p:cNvGrpSpPr/>
        <p:nvPr/>
      </p:nvGrpSpPr>
      <p:grpSpPr>
        <a:xfrm>
          <a:off x="0" y="0"/>
          <a:ext cx="0" cy="0"/>
          <a:chOff x="0" y="0"/>
          <a:chExt cx="0" cy="0"/>
        </a:xfrm>
      </p:grpSpPr>
      <p:pic>
        <p:nvPicPr>
          <p:cNvPr id="80" name="Google Shape;80;p21"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81" name="Google Shape;81;p21"/>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2" name="Google Shape;82;p21"/>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3" name="Google Shape;83;p21"/>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b="0" i="0" u="none" strike="noStrike" cap="none">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84" name="Google Shape;84;p21"/>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rand">
  <p:cSld name="Brand">
    <p:bg>
      <p:bgPr>
        <a:gradFill>
          <a:gsLst>
            <a:gs pos="0">
              <a:srgbClr val="144B79"/>
            </a:gs>
            <a:gs pos="3000">
              <a:srgbClr val="144B79"/>
            </a:gs>
            <a:gs pos="96000">
              <a:srgbClr val="64CDCE"/>
            </a:gs>
            <a:gs pos="100000">
              <a:srgbClr val="64CDCE"/>
            </a:gs>
          </a:gsLst>
          <a:lin ang="7799903" scaled="0"/>
        </a:gradFill>
        <a:effectLst/>
      </p:bgPr>
    </p:bg>
    <p:spTree>
      <p:nvGrpSpPr>
        <p:cNvPr id="1" name="Shape 85"/>
        <p:cNvGrpSpPr/>
        <p:nvPr/>
      </p:nvGrpSpPr>
      <p:grpSpPr>
        <a:xfrm>
          <a:off x="0" y="0"/>
          <a:ext cx="0" cy="0"/>
          <a:chOff x="0" y="0"/>
          <a:chExt cx="0" cy="0"/>
        </a:xfrm>
      </p:grpSpPr>
      <p:pic>
        <p:nvPicPr>
          <p:cNvPr id="86" name="Google Shape;86;p22" descr="A logo with white text&#10;&#10;Description automatically generated"/>
          <p:cNvPicPr preferRelativeResize="0"/>
          <p:nvPr/>
        </p:nvPicPr>
        <p:blipFill rotWithShape="1">
          <a:blip r:embed="rId2">
            <a:alphaModFix/>
          </a:blip>
          <a:srcRect/>
          <a:stretch/>
        </p:blipFill>
        <p:spPr>
          <a:xfrm>
            <a:off x="2205059" y="1640495"/>
            <a:ext cx="4733883" cy="186251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89" name="Google Shape;89;p23"/>
          <p:cNvGrpSpPr/>
          <p:nvPr/>
        </p:nvGrpSpPr>
        <p:grpSpPr>
          <a:xfrm>
            <a:off x="0" y="4755328"/>
            <a:ext cx="9144000" cy="388111"/>
            <a:chOff x="417931" y="28734"/>
            <a:chExt cx="24384000" cy="938827"/>
          </a:xfrm>
        </p:grpSpPr>
        <p:sp>
          <p:nvSpPr>
            <p:cNvPr id="90" name="Google Shape;90;p23"/>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91" name="Google Shape;91;p23"/>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92" name="Google Shape;92;p23"/>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93" name="Google Shape;93;p23"/>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94" name="Google Shape;94;p23"/>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95" name="Google Shape;95;p23"/>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96" name="Google Shape;96;p23"/>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99" name="Google Shape;99;p24"/>
          <p:cNvGrpSpPr/>
          <p:nvPr/>
        </p:nvGrpSpPr>
        <p:grpSpPr>
          <a:xfrm>
            <a:off x="0" y="4755328"/>
            <a:ext cx="9144000" cy="388111"/>
            <a:chOff x="417931" y="28734"/>
            <a:chExt cx="24384000" cy="938827"/>
          </a:xfrm>
        </p:grpSpPr>
        <p:sp>
          <p:nvSpPr>
            <p:cNvPr id="100" name="Google Shape;100;p24"/>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01" name="Google Shape;101;p24"/>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02" name="Google Shape;102;p24"/>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03" name="Google Shape;103;p24"/>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04" name="Google Shape;104;p24"/>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105" name="Google Shape;105;p24"/>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106" name="Google Shape;106;p24"/>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109" name="Google Shape;109;p25"/>
          <p:cNvGrpSpPr/>
          <p:nvPr/>
        </p:nvGrpSpPr>
        <p:grpSpPr>
          <a:xfrm>
            <a:off x="0" y="4755328"/>
            <a:ext cx="9144000" cy="388111"/>
            <a:chOff x="417931" y="28734"/>
            <a:chExt cx="24384000" cy="938827"/>
          </a:xfrm>
        </p:grpSpPr>
        <p:sp>
          <p:nvSpPr>
            <p:cNvPr id="110" name="Google Shape;110;p2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11" name="Google Shape;111;p2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12" name="Google Shape;112;p25"/>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13" name="Google Shape;113;p2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14" name="Google Shape;114;p25"/>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115" name="Google Shape;115;p2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omments" Target="../comments/comment1.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comments" Target="../comments/comment3.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2090"/>
        <p:cNvGrpSpPr/>
        <p:nvPr/>
      </p:nvGrpSpPr>
      <p:grpSpPr>
        <a:xfrm>
          <a:off x="0" y="0"/>
          <a:ext cx="0" cy="0"/>
          <a:chOff x="0" y="0"/>
          <a:chExt cx="0" cy="0"/>
        </a:xfrm>
      </p:grpSpPr>
      <p:pic>
        <p:nvPicPr>
          <p:cNvPr id="2091" name="Google Shape;2091;p194"/>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092" name="Google Shape;2092;p194"/>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93" name="Google Shape;2093;p194"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094" name="Google Shape;2094;p194"/>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095" name="Google Shape;2095;p194"/>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096" name="Google Shape;2096;p194"/>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7" name="Google Shape;2097;p194"/>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8" name="Google Shape;2098;p194"/>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9" name="Google Shape;2099;p194"/>
          <p:cNvSpPr txBox="1"/>
          <p:nvPr/>
        </p:nvSpPr>
        <p:spPr>
          <a:xfrm>
            <a:off x="323917" y="195875"/>
            <a:ext cx="8649000" cy="76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a:solidFill>
                  <a:schemeClr val="lt1"/>
                </a:solidFill>
                <a:latin typeface="Montserrat"/>
                <a:ea typeface="Montserrat"/>
                <a:cs typeface="Montserrat"/>
                <a:sym typeface="Montserrat"/>
              </a:rPr>
              <a:t>Interactive </a:t>
            </a:r>
            <a:br>
              <a:rPr lang="en" sz="2600" b="1">
                <a:solidFill>
                  <a:schemeClr val="lt1"/>
                </a:solidFill>
                <a:latin typeface="Montserrat"/>
                <a:ea typeface="Montserrat"/>
                <a:cs typeface="Montserrat"/>
                <a:sym typeface="Montserrat"/>
              </a:rPr>
            </a:br>
            <a:r>
              <a:rPr lang="en" sz="2600" b="1">
                <a:solidFill>
                  <a:schemeClr val="lt1"/>
                </a:solidFill>
                <a:latin typeface="Montserrat"/>
                <a:ea typeface="Montserrat"/>
                <a:cs typeface="Montserrat"/>
                <a:sym typeface="Montserrat"/>
              </a:rPr>
              <a:t>Group Exercise</a:t>
            </a:r>
            <a:endParaRPr sz="2600" b="1">
              <a:solidFill>
                <a:schemeClr val="lt1"/>
              </a:solidFill>
              <a:latin typeface="Montserrat"/>
              <a:ea typeface="Montserrat"/>
              <a:cs typeface="Montserrat"/>
              <a:sym typeface="Montserrat"/>
            </a:endParaRPr>
          </a:p>
        </p:txBody>
      </p:sp>
      <p:sp>
        <p:nvSpPr>
          <p:cNvPr id="2100" name="Google Shape;2100;p194"/>
          <p:cNvSpPr txBox="1"/>
          <p:nvPr/>
        </p:nvSpPr>
        <p:spPr>
          <a:xfrm>
            <a:off x="492675" y="1499462"/>
            <a:ext cx="8019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Roundtable Discussions on Procurement Lessons Sharing</a:t>
            </a:r>
            <a:endParaRPr sz="2100" i="1">
              <a:solidFill>
                <a:srgbClr val="34537D"/>
              </a:solidFill>
              <a:latin typeface="Montserrat"/>
              <a:ea typeface="Montserrat"/>
              <a:cs typeface="Montserrat"/>
              <a:sym typeface="Montserrat"/>
            </a:endParaRPr>
          </a:p>
          <a:p>
            <a:pPr marL="0" lvl="0" indent="0" algn="l" rtl="0">
              <a:spcBef>
                <a:spcPts val="0"/>
              </a:spcBef>
              <a:spcAft>
                <a:spcPts val="0"/>
              </a:spcAft>
              <a:buNone/>
            </a:pPr>
            <a:r>
              <a:rPr lang="en" sz="2100" i="1">
                <a:solidFill>
                  <a:srgbClr val="34537D"/>
                </a:solidFill>
                <a:latin typeface="Montserrat"/>
                <a:ea typeface="Montserrat"/>
                <a:cs typeface="Montserrat"/>
                <a:sym typeface="Montserrat"/>
              </a:rPr>
              <a:t>(~45 minutes)</a:t>
            </a:r>
            <a:endParaRPr>
              <a:solidFill>
                <a:srgbClr val="34537D"/>
              </a:solidFill>
            </a:endParaRPr>
          </a:p>
        </p:txBody>
      </p:sp>
      <p:sp>
        <p:nvSpPr>
          <p:cNvPr id="2101" name="Google Shape;2101;p194"/>
          <p:cNvSpPr txBox="1"/>
          <p:nvPr/>
        </p:nvSpPr>
        <p:spPr>
          <a:xfrm>
            <a:off x="-20675" y="2308900"/>
            <a:ext cx="8532300" cy="16392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questions to discuss in an open dialogue format among the participants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b="1">
                <a:solidFill>
                  <a:srgbClr val="34537D"/>
                </a:solidFill>
                <a:latin typeface="Montserrat"/>
                <a:ea typeface="Montserrat"/>
                <a:cs typeface="Montserrat"/>
                <a:sym typeface="Montserrat"/>
              </a:rPr>
              <a:t>Please share lessons from clean energy procurement processes that your company has conducted or challenges that have prevented clean energy action to date.</a:t>
            </a:r>
            <a:endParaRPr b="1">
              <a:solidFill>
                <a:srgbClr val="34537D"/>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pic>
        <p:nvPicPr>
          <p:cNvPr id="2106" name="Google Shape;2106;p195"/>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107" name="Google Shape;2107;p195"/>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08" name="Google Shape;2108;p19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109" name="Google Shape;2109;p195"/>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110" name="Google Shape;2110;p195"/>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111" name="Google Shape;2111;p195"/>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2" name="Google Shape;2112;p195"/>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3" name="Google Shape;2113;p195"/>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4" name="Google Shape;2114;p195"/>
          <p:cNvSpPr txBox="1"/>
          <p:nvPr/>
        </p:nvSpPr>
        <p:spPr>
          <a:xfrm>
            <a:off x="323925" y="263700"/>
            <a:ext cx="8649000" cy="69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900" b="1">
                <a:solidFill>
                  <a:schemeClr val="lt1"/>
                </a:solidFill>
                <a:latin typeface="Montserrat"/>
                <a:ea typeface="Montserrat"/>
                <a:cs typeface="Montserrat"/>
                <a:sym typeface="Montserrat"/>
              </a:rPr>
              <a:t>Interactive Exercise</a:t>
            </a:r>
            <a:endParaRPr sz="2900" b="1">
              <a:solidFill>
                <a:schemeClr val="lt1"/>
              </a:solidFill>
              <a:latin typeface="Montserrat"/>
              <a:ea typeface="Montserrat"/>
              <a:cs typeface="Montserrat"/>
              <a:sym typeface="Montserrat"/>
            </a:endParaRPr>
          </a:p>
        </p:txBody>
      </p:sp>
      <p:sp>
        <p:nvSpPr>
          <p:cNvPr id="2115" name="Google Shape;2115;p195"/>
          <p:cNvSpPr txBox="1"/>
          <p:nvPr/>
        </p:nvSpPr>
        <p:spPr>
          <a:xfrm>
            <a:off x="-20675" y="2046141"/>
            <a:ext cx="8532300" cy="18870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you with a resource packet containing case studies, description of roles, and key questions to facilitate the activity.</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Collaborate with other participants to formulate a strategy, identify key terms and questions, and engage in a simulated DPPA negotiation.</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Once the negotiation is complete, raise any remaining questions, or share challenges you experienced during the negotiation.</a:t>
            </a:r>
            <a:endParaRPr>
              <a:solidFill>
                <a:srgbClr val="34537D"/>
              </a:solidFill>
              <a:latin typeface="Montserrat"/>
              <a:ea typeface="Montserrat"/>
              <a:cs typeface="Montserrat"/>
              <a:sym typeface="Montserrat"/>
            </a:endParaRPr>
          </a:p>
        </p:txBody>
      </p:sp>
      <p:sp>
        <p:nvSpPr>
          <p:cNvPr id="2116" name="Google Shape;2116;p195"/>
          <p:cNvSpPr txBox="1"/>
          <p:nvPr/>
        </p:nvSpPr>
        <p:spPr>
          <a:xfrm>
            <a:off x="492675" y="1499462"/>
            <a:ext cx="80190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DPPA Scenario Analysis (~60 minutes)</a:t>
            </a:r>
            <a:endParaRPr>
              <a:solidFill>
                <a:srgbClr val="34537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sp>
        <p:nvSpPr>
          <p:cNvPr id="2121" name="Google Shape;2121;p1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latin typeface="Montserrat"/>
                <a:ea typeface="Montserrat"/>
                <a:cs typeface="Montserrat"/>
                <a:sym typeface="Montserrat"/>
              </a:rPr>
              <a:t>Based on Decree</a:t>
            </a:r>
            <a:r>
              <a:rPr lang="en" sz="1200">
                <a:solidFill>
                  <a:srgbClr val="1B3E6D"/>
                </a:solidFill>
                <a:latin typeface="Montserrat"/>
                <a:ea typeface="Montserrat"/>
                <a:cs typeface="Montserrat"/>
                <a:sym typeface="Montserrat"/>
              </a:rPr>
              <a:t> </a:t>
            </a:r>
            <a:r>
              <a:rPr lang="en" sz="1200" b="1">
                <a:solidFill>
                  <a:srgbClr val="E77A10"/>
                </a:solidFill>
                <a:latin typeface="Montserrat"/>
                <a:ea typeface="Montserrat"/>
                <a:cs typeface="Montserrat"/>
                <a:sym typeface="Montserrat"/>
              </a:rPr>
              <a:t>57/2025/ND-CP</a:t>
            </a:r>
            <a:r>
              <a:rPr lang="en" sz="1200">
                <a:solidFill>
                  <a:schemeClr val="dk1"/>
                </a:solidFill>
                <a:latin typeface="Montserrat"/>
                <a:ea typeface="Montserrat"/>
                <a:cs typeface="Montserrat"/>
                <a:sym typeface="Montserrat"/>
              </a:rPr>
              <a:t>, the cost calculation parameters are assumed as follows:</a:t>
            </a:r>
            <a:endParaRPr sz="1200">
              <a:solidFill>
                <a:schemeClr val="dk1"/>
              </a:solidFill>
              <a:latin typeface="Montserrat"/>
              <a:ea typeface="Montserrat"/>
              <a:cs typeface="Montserrat"/>
              <a:sym typeface="Montserrat"/>
            </a:endParaRPr>
          </a:p>
          <a:p>
            <a:pPr marL="0" lvl="0" indent="0" algn="l" rtl="0">
              <a:spcBef>
                <a:spcPts val="1200"/>
              </a:spcBef>
              <a:spcAft>
                <a:spcPts val="1200"/>
              </a:spcAft>
              <a:buNone/>
            </a:pPr>
            <a:endParaRPr sz="1200">
              <a:solidFill>
                <a:srgbClr val="1B3E6D"/>
              </a:solidFill>
              <a:latin typeface="Montserrat"/>
              <a:ea typeface="Montserrat"/>
              <a:cs typeface="Montserrat"/>
              <a:sym typeface="Montserrat"/>
            </a:endParaRPr>
          </a:p>
        </p:txBody>
      </p:sp>
      <p:grpSp>
        <p:nvGrpSpPr>
          <p:cNvPr id="2122" name="Google Shape;2122;p196"/>
          <p:cNvGrpSpPr/>
          <p:nvPr/>
        </p:nvGrpSpPr>
        <p:grpSpPr>
          <a:xfrm>
            <a:off x="239992" y="63853"/>
            <a:ext cx="8728050" cy="745997"/>
            <a:chOff x="236700" y="63853"/>
            <a:chExt cx="8728050" cy="745997"/>
          </a:xfrm>
        </p:grpSpPr>
        <p:sp>
          <p:nvSpPr>
            <p:cNvPr id="2123" name="Google Shape;2123;p19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24" name="Google Shape;2124;p19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25" name="Google Shape;2125;p19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26" name="Google Shape;2126;p19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27" name="Google Shape;2127;p19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28" name="Google Shape;2128;p19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29" name="Google Shape;2129;p19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30" name="Google Shape;2130;p196"/>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General Assumptions &amp; Formula</a:t>
              </a:r>
              <a:endParaRPr sz="2100">
                <a:solidFill>
                  <a:srgbClr val="FFFFFF"/>
                </a:solidFill>
                <a:latin typeface="Montserrat ExtraBold"/>
                <a:ea typeface="Montserrat ExtraBold"/>
                <a:cs typeface="Montserrat ExtraBold"/>
                <a:sym typeface="Montserrat ExtraBold"/>
              </a:endParaRPr>
            </a:p>
          </p:txBody>
        </p:sp>
        <p:cxnSp>
          <p:nvCxnSpPr>
            <p:cNvPr id="2131" name="Google Shape;2131;p19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32" name="Google Shape;2132;p19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2133" name="Google Shape;2133;p196"/>
          <p:cNvGraphicFramePr/>
          <p:nvPr/>
        </p:nvGraphicFramePr>
        <p:xfrm>
          <a:off x="377550" y="1592300"/>
          <a:ext cx="4677825" cy="2819850"/>
        </p:xfrm>
        <a:graphic>
          <a:graphicData uri="http://schemas.openxmlformats.org/drawingml/2006/table">
            <a:tbl>
              <a:tblPr>
                <a:noFill/>
                <a:tableStyleId>{F1742F6B-ED47-481C-AEBF-CD6BD0922621}</a:tableStyleId>
              </a:tblPr>
              <a:tblGrid>
                <a:gridCol w="884100">
                  <a:extLst>
                    <a:ext uri="{9D8B030D-6E8A-4147-A177-3AD203B41FA5}">
                      <a16:colId xmlns:a16="http://schemas.microsoft.com/office/drawing/2014/main" val="20000"/>
                    </a:ext>
                  </a:extLst>
                </a:gridCol>
                <a:gridCol w="965625">
                  <a:extLst>
                    <a:ext uri="{9D8B030D-6E8A-4147-A177-3AD203B41FA5}">
                      <a16:colId xmlns:a16="http://schemas.microsoft.com/office/drawing/2014/main" val="20001"/>
                    </a:ext>
                  </a:extLst>
                </a:gridCol>
                <a:gridCol w="991150">
                  <a:extLst>
                    <a:ext uri="{9D8B030D-6E8A-4147-A177-3AD203B41FA5}">
                      <a16:colId xmlns:a16="http://schemas.microsoft.com/office/drawing/2014/main" val="20002"/>
                    </a:ext>
                  </a:extLst>
                </a:gridCol>
                <a:gridCol w="1836950">
                  <a:extLst>
                    <a:ext uri="{9D8B030D-6E8A-4147-A177-3AD203B41FA5}">
                      <a16:colId xmlns:a16="http://schemas.microsoft.com/office/drawing/2014/main" val="20003"/>
                    </a:ext>
                  </a:extLst>
                </a:gridCol>
              </a:tblGrid>
              <a:tr h="381600">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Symbol</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Unit</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Assumed Value</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Description</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extLst>
                  <a:ext uri="{0D108BD9-81ED-4DB2-BD59-A6C34878D82A}">
                    <a16:rowId xmlns:a16="http://schemas.microsoft.com/office/drawing/2014/main" val="10000"/>
                  </a:ext>
                </a:extLst>
              </a:tr>
              <a:tr h="331350">
                <a:tc>
                  <a:txBody>
                    <a:bodyPr/>
                    <a:lstStyle/>
                    <a:p>
                      <a:pPr marL="0" lvl="0" indent="0" algn="l" rtl="0">
                        <a:spcBef>
                          <a:spcPts val="0"/>
                        </a:spcBef>
                        <a:spcAft>
                          <a:spcPts val="0"/>
                        </a:spcAft>
                        <a:buNone/>
                      </a:pPr>
                      <a:r>
                        <a:rPr lang="en" sz="1000">
                          <a:latin typeface="Montserrat"/>
                          <a:ea typeface="Montserrat"/>
                          <a:cs typeface="Montserrat"/>
                          <a:sym typeface="Montserrat"/>
                        </a:rPr>
                        <a:t>k</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1,026</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Adjustment coefficient</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extLst>
                  <a:ext uri="{0D108BD9-81ED-4DB2-BD59-A6C34878D82A}">
                    <a16:rowId xmlns:a16="http://schemas.microsoft.com/office/drawing/2014/main" val="10001"/>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CDPPA_dv</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360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Power system service cost</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Pcl</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163,3</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Differential clearing fee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505075">
                <a:tc>
                  <a:txBody>
                    <a:bodyPr/>
                    <a:lstStyle/>
                    <a:p>
                      <a:pPr marL="0" lvl="0" indent="0" algn="l" rtl="0">
                        <a:spcBef>
                          <a:spcPts val="0"/>
                        </a:spcBef>
                        <a:spcAft>
                          <a:spcPts val="0"/>
                        </a:spcAft>
                        <a:buNone/>
                      </a:pPr>
                      <a:r>
                        <a:rPr lang="en" sz="1000">
                          <a:latin typeface="Montserrat"/>
                          <a:ea typeface="Montserrat"/>
                          <a:cs typeface="Montserrat"/>
                          <a:sym typeface="Montserrat"/>
                        </a:rPr>
                        <a:t>Kpp</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1,008</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Loss conversion coefficient at 110 kV voltage level</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P1</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2,204</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Average retail electricity price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bl>
          </a:graphicData>
        </a:graphic>
      </p:graphicFrame>
      <p:sp>
        <p:nvSpPr>
          <p:cNvPr id="2134" name="Google Shape;2134;p196"/>
          <p:cNvSpPr txBox="1"/>
          <p:nvPr/>
        </p:nvSpPr>
        <p:spPr>
          <a:xfrm>
            <a:off x="5173475" y="1588600"/>
            <a:ext cx="3970500" cy="28197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r>
              <a:rPr lang="en" sz="1150">
                <a:solidFill>
                  <a:srgbClr val="1C5648"/>
                </a:solidFill>
                <a:latin typeface="Montserrat"/>
                <a:ea typeface="Montserrat"/>
                <a:cs typeface="Montserrat"/>
                <a:sym typeface="Montserrat"/>
              </a:rPr>
              <a:t>Cost Formulas</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150">
              <a:solidFill>
                <a:srgbClr val="1C5648"/>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600" b="1">
                <a:solidFill>
                  <a:srgbClr val="C8902B"/>
                </a:solidFill>
                <a:latin typeface="Montserrat"/>
                <a:ea typeface="Montserrat"/>
                <a:cs typeface="Montserrat"/>
                <a:sym typeface="Montserrat"/>
              </a:rPr>
              <a:t>C_KH</a:t>
            </a:r>
            <a:r>
              <a:rPr lang="en" sz="1600" b="1">
                <a:solidFill>
                  <a:srgbClr val="1B2D2A"/>
                </a:solidFill>
                <a:latin typeface="Montserrat"/>
                <a:ea typeface="Montserrat"/>
                <a:cs typeface="Montserrat"/>
                <a:sym typeface="Montserrat"/>
              </a:rPr>
              <a:t>  =  	C_EVN  +  	C_CfD</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800">
              <a:solidFill>
                <a:schemeClr val="dk2"/>
              </a:solidFill>
              <a:latin typeface="Montserrat"/>
              <a:ea typeface="Montserrat"/>
              <a:cs typeface="Montserrat"/>
              <a:sym typeface="Montserrat"/>
            </a:endParaRPr>
          </a:p>
        </p:txBody>
      </p:sp>
      <p:sp>
        <p:nvSpPr>
          <p:cNvPr id="2135" name="Google Shape;2135;p196"/>
          <p:cNvSpPr txBox="1"/>
          <p:nvPr/>
        </p:nvSpPr>
        <p:spPr>
          <a:xfrm>
            <a:off x="344700" y="4556025"/>
            <a:ext cx="85206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127A7A"/>
                </a:solidFill>
                <a:latin typeface="Montserrat"/>
                <a:ea typeface="Montserrat"/>
                <a:cs typeface="Montserrat"/>
                <a:sym typeface="Montserrat"/>
              </a:rPr>
              <a:t>Note:  The plant sells all output to the spot market (receives FMP); the CfD only adjusts the price to Pc for the contracted volume Qc.</a:t>
            </a:r>
            <a:endParaRPr sz="900" i="1">
              <a:solidFill>
                <a:srgbClr val="127A7A"/>
              </a:solidFill>
              <a:latin typeface="Montserrat"/>
              <a:ea typeface="Montserrat"/>
              <a:cs typeface="Montserrat"/>
              <a:sym typeface="Montserrat"/>
            </a:endParaRPr>
          </a:p>
        </p:txBody>
      </p:sp>
      <p:sp>
        <p:nvSpPr>
          <p:cNvPr id="2136" name="Google Shape;2136;p196"/>
          <p:cNvSpPr txBox="1"/>
          <p:nvPr/>
        </p:nvSpPr>
        <p:spPr>
          <a:xfrm>
            <a:off x="7786200" y="2521750"/>
            <a:ext cx="1357800" cy="13308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endParaRPr sz="1150">
              <a:solidFill>
                <a:srgbClr val="1B2D2A"/>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r>
              <a:rPr lang="en" sz="1150">
                <a:solidFill>
                  <a:srgbClr val="1B2D2A"/>
                </a:solidFill>
                <a:latin typeface="Montserrat"/>
                <a:ea typeface="Montserrat"/>
                <a:cs typeface="Montserrat"/>
                <a:sym typeface="Montserrat"/>
              </a:rPr>
              <a:t>(Pc − FMP) * Qc</a:t>
            </a:r>
            <a:endParaRPr sz="1800">
              <a:solidFill>
                <a:schemeClr val="dk2"/>
              </a:solidFill>
            </a:endParaRPr>
          </a:p>
        </p:txBody>
      </p:sp>
      <p:sp>
        <p:nvSpPr>
          <p:cNvPr id="2137" name="Google Shape;2137;p196"/>
          <p:cNvSpPr txBox="1"/>
          <p:nvPr/>
        </p:nvSpPr>
        <p:spPr>
          <a:xfrm rot="5400000">
            <a:off x="6891650"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
        <p:nvSpPr>
          <p:cNvPr id="2138" name="Google Shape;2138;p196"/>
          <p:cNvSpPr txBox="1"/>
          <p:nvPr/>
        </p:nvSpPr>
        <p:spPr>
          <a:xfrm>
            <a:off x="5119525" y="2766575"/>
            <a:ext cx="2212200" cy="1645500"/>
          </a:xfrm>
          <a:prstGeom prst="rect">
            <a:avLst/>
          </a:prstGeom>
          <a:noFill/>
          <a:ln>
            <a:noFill/>
          </a:ln>
        </p:spPr>
        <p:txBody>
          <a:bodyPr spcFirstLastPara="1" wrap="square" lIns="91425" tIns="91425" rIns="91425" bIns="91425" anchor="t" anchorCtr="0">
            <a:noAutofit/>
          </a:bodyPr>
          <a:lstStyle/>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FMP * k * Kpp = </a:t>
            </a:r>
            <a:r>
              <a:rPr lang="en" sz="1050" b="1">
                <a:solidFill>
                  <a:srgbClr val="1B2D2A"/>
                </a:solidFill>
                <a:latin typeface="Montserrat"/>
                <a:ea typeface="Montserrat"/>
                <a:cs typeface="Montserrat"/>
                <a:sym typeface="Montserrat"/>
              </a:rPr>
              <a:t>C_DN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C_dppa_dv = </a:t>
            </a:r>
            <a:r>
              <a:rPr lang="en" sz="1050" b="1">
                <a:solidFill>
                  <a:srgbClr val="1B2D2A"/>
                </a:solidFill>
                <a:latin typeface="Montserrat"/>
                <a:ea typeface="Montserrat"/>
                <a:cs typeface="Montserrat"/>
                <a:sym typeface="Montserrat"/>
              </a:rPr>
              <a:t>C_dppa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Pcl = </a:t>
            </a:r>
            <a:r>
              <a:rPr lang="en" sz="1050" b="1">
                <a:solidFill>
                  <a:srgbClr val="1B2D2A"/>
                </a:solidFill>
                <a:latin typeface="Montserrat"/>
                <a:ea typeface="Montserrat"/>
                <a:cs typeface="Montserrat"/>
                <a:sym typeface="Montserrat"/>
              </a:rPr>
              <a:t>C_cl</a:t>
            </a:r>
            <a:r>
              <a:rPr lang="en" sz="1050">
                <a:solidFill>
                  <a:srgbClr val="1B2D2A"/>
                </a:solidFill>
                <a:latin typeface="Montserrat"/>
                <a:ea typeface="Montserrat"/>
                <a:cs typeface="Montserrat"/>
                <a:sym typeface="Montserrat"/>
              </a:rPr>
              <a:t> </a:t>
            </a: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 − Qkhhc) * P1 = </a:t>
            </a:r>
            <a:r>
              <a:rPr lang="en" sz="1050" b="1">
                <a:solidFill>
                  <a:srgbClr val="1B2D2A"/>
                </a:solidFill>
                <a:latin typeface="Montserrat"/>
                <a:ea typeface="Montserrat"/>
                <a:cs typeface="Montserrat"/>
                <a:sym typeface="Montserrat"/>
              </a:rPr>
              <a:t>C_bl</a:t>
            </a:r>
            <a:endParaRPr sz="1050" b="1">
              <a:solidFill>
                <a:srgbClr val="1B2D2A"/>
              </a:solidFill>
              <a:latin typeface="Montserrat"/>
              <a:ea typeface="Montserrat"/>
              <a:cs typeface="Montserrat"/>
              <a:sym typeface="Montserrat"/>
            </a:endParaRPr>
          </a:p>
          <a:p>
            <a:pPr marL="0" lvl="0" indent="0" algn="r" rtl="0">
              <a:spcBef>
                <a:spcPts val="0"/>
              </a:spcBef>
              <a:spcAft>
                <a:spcPts val="0"/>
              </a:spcAft>
              <a:buNone/>
            </a:pPr>
            <a:endParaRPr sz="1700">
              <a:solidFill>
                <a:schemeClr val="dk2"/>
              </a:solidFill>
            </a:endParaRPr>
          </a:p>
        </p:txBody>
      </p:sp>
      <p:sp>
        <p:nvSpPr>
          <p:cNvPr id="2139" name="Google Shape;2139;p196"/>
          <p:cNvSpPr txBox="1"/>
          <p:nvPr/>
        </p:nvSpPr>
        <p:spPr>
          <a:xfrm>
            <a:off x="6648175" y="3005450"/>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0" name="Google Shape;2140;p196"/>
          <p:cNvSpPr txBox="1"/>
          <p:nvPr/>
        </p:nvSpPr>
        <p:spPr>
          <a:xfrm>
            <a:off x="6643550" y="338562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1" name="Google Shape;2141;p196"/>
          <p:cNvSpPr txBox="1"/>
          <p:nvPr/>
        </p:nvSpPr>
        <p:spPr>
          <a:xfrm>
            <a:off x="6643550" y="376587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2" name="Google Shape;2142;p196"/>
          <p:cNvSpPr txBox="1"/>
          <p:nvPr/>
        </p:nvSpPr>
        <p:spPr>
          <a:xfrm rot="5400000">
            <a:off x="8195075"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46"/>
        <p:cNvGrpSpPr/>
        <p:nvPr/>
      </p:nvGrpSpPr>
      <p:grpSpPr>
        <a:xfrm>
          <a:off x="0" y="0"/>
          <a:ext cx="0" cy="0"/>
          <a:chOff x="0" y="0"/>
          <a:chExt cx="0" cy="0"/>
        </a:xfrm>
      </p:grpSpPr>
      <p:pic>
        <p:nvPicPr>
          <p:cNvPr id="2147" name="Google Shape;2147;p19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48" name="Google Shape;2148;p197"/>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149" name="Google Shape;2149;p197"/>
          <p:cNvGrpSpPr/>
          <p:nvPr/>
        </p:nvGrpSpPr>
        <p:grpSpPr>
          <a:xfrm>
            <a:off x="239992" y="63853"/>
            <a:ext cx="8728050" cy="745997"/>
            <a:chOff x="236700" y="63853"/>
            <a:chExt cx="8728050" cy="745997"/>
          </a:xfrm>
        </p:grpSpPr>
        <p:sp>
          <p:nvSpPr>
            <p:cNvPr id="2150" name="Google Shape;2150;p19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51" name="Google Shape;2151;p19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52" name="Google Shape;2152;p19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53" name="Google Shape;2153;p19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54" name="Google Shape;2154;p19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55" name="Google Shape;2155;p19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56" name="Google Shape;2156;p19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57" name="Google Shape;2157;p197"/>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1: The Base Case</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158" name="Google Shape;2158;p19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59" name="Google Shape;2159;p19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60" name="Google Shape;2160;p197"/>
          <p:cNvSpPr txBox="1"/>
          <p:nvPr/>
        </p:nvSpPr>
        <p:spPr>
          <a:xfrm>
            <a:off x="240000" y="948875"/>
            <a:ext cx="8685900" cy="375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1B3E6D"/>
                </a:solidFill>
                <a:latin typeface="Montserrat"/>
                <a:ea typeface="Montserrat"/>
                <a:cs typeface="Montserrat"/>
                <a:sym typeface="Montserrat"/>
              </a:rPr>
              <a:t>Your manufacturing plant has a strict corporate target to reach 100% renewable energy consumption by 2030. To achieve this, your team wants to sign a DPPA via National Grid (Virtual DPPA) with a large solar developer.</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Operational issue:</a:t>
            </a:r>
            <a:r>
              <a:rPr lang="en" sz="1200">
                <a:solidFill>
                  <a:srgbClr val="1B3E6D"/>
                </a:solidFill>
                <a:latin typeface="Montserrat"/>
                <a:ea typeface="Montserrat"/>
                <a:cs typeface="Montserrat"/>
                <a:sym typeface="Montserrat"/>
              </a:rPr>
              <a:t> Your factory doesn’t buy electricity directly from EVN. Instead, you pay your monthly electricity bill to the private Industrial Park Management Board, who buys bulk power from EVN and resells it to you through their internal grid.</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Under Decree 57, an Electricity Buyer must consume ≥200,000 kWh/month. If the IP lumps your factory into their master EVN meter, how do you accurately track and prove your specific energy use to qualify?</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A standard Virtual PPA is a bilateral agreement (Between Buyer and Seller). However, since electricity delivery is controlled by the IP (Retailer), who actually needs to be at the negotiation table to make this work?</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What happens if the IP demands a new, non-negotiable "infrastructure fee" to facilitate this DPPA setup? How does that impact your budget forecasting and management buy-in over a typical 15-to-20-year PPA Contract Term?</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b="1">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4"/>
        <p:cNvGrpSpPr/>
        <p:nvPr/>
      </p:nvGrpSpPr>
      <p:grpSpPr>
        <a:xfrm>
          <a:off x="0" y="0"/>
          <a:ext cx="0" cy="0"/>
          <a:chOff x="0" y="0"/>
          <a:chExt cx="0" cy="0"/>
        </a:xfrm>
      </p:grpSpPr>
      <p:grpSp>
        <p:nvGrpSpPr>
          <p:cNvPr id="2165" name="Google Shape;2165;p198"/>
          <p:cNvGrpSpPr/>
          <p:nvPr/>
        </p:nvGrpSpPr>
        <p:grpSpPr>
          <a:xfrm>
            <a:off x="239992" y="63853"/>
            <a:ext cx="8728050" cy="745997"/>
            <a:chOff x="236700" y="63853"/>
            <a:chExt cx="8728050" cy="745997"/>
          </a:xfrm>
        </p:grpSpPr>
        <p:sp>
          <p:nvSpPr>
            <p:cNvPr id="2166" name="Google Shape;2166;p19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67" name="Google Shape;2167;p19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68" name="Google Shape;2168;p19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69" name="Google Shape;2169;p19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70" name="Google Shape;2170;p19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71" name="Google Shape;2171;p19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72" name="Google Shape;2172;p19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73" name="Google Shape;2173;p198"/>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1000" b="1">
                <a:solidFill>
                  <a:schemeClr val="lt1"/>
                </a:solidFill>
                <a:latin typeface="Montserrat"/>
                <a:ea typeface="Montserrat"/>
                <a:cs typeface="Montserrat"/>
                <a:sym typeface="Montserrat"/>
              </a:endParaRPr>
            </a:p>
          </p:txBody>
        </p:sp>
        <p:cxnSp>
          <p:nvCxnSpPr>
            <p:cNvPr id="2174" name="Google Shape;2174;p19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75" name="Google Shape;2175;p19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76" name="Google Shape;2176;p198"/>
          <p:cNvSpPr txBox="1"/>
          <p:nvPr/>
        </p:nvSpPr>
        <p:spPr>
          <a:xfrm>
            <a:off x="2619700" y="1563575"/>
            <a:ext cx="6470400" cy="258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5-Line Bill</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5,000,000 kWh * 1,150 VND/kWh * 1.026 * 1.008 = </a:t>
            </a:r>
            <a:r>
              <a:rPr lang="en" sz="1100" b="1">
                <a:solidFill>
                  <a:srgbClr val="E77A10"/>
                </a:solidFill>
                <a:latin typeface="Montserrat"/>
                <a:ea typeface="Montserrat"/>
                <a:cs typeface="Montserrat"/>
                <a:sym typeface="Montserrat"/>
              </a:rPr>
              <a:t>5,946,696,000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5,000,000 kWh * 360 VND/kWh = </a:t>
            </a:r>
            <a:r>
              <a:rPr lang="en" sz="1100" b="1">
                <a:solidFill>
                  <a:srgbClr val="E77A10"/>
                </a:solidFill>
                <a:latin typeface="Montserrat"/>
                <a:ea typeface="Montserrat"/>
                <a:cs typeface="Montserrat"/>
                <a:sym typeface="Montserrat"/>
              </a:rPr>
              <a:t>1,800,000,000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5,000,000 kWh * 163.30 VND/kWh = </a:t>
            </a:r>
            <a:r>
              <a:rPr lang="en" sz="1100" b="1">
                <a:solidFill>
                  <a:srgbClr val="E77A10"/>
                </a:solidFill>
                <a:latin typeface="Montserrat"/>
                <a:ea typeface="Montserrat"/>
                <a:cs typeface="Montserrat"/>
                <a:sym typeface="Montserrat"/>
              </a:rPr>
              <a:t>816,500,000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0 kWh * 2,204 VND/kWh = </a:t>
            </a:r>
            <a:r>
              <a:rPr lang="en" sz="1100" b="1">
                <a:solidFill>
                  <a:srgbClr val="E77A10"/>
                </a:solidFill>
                <a:latin typeface="Montserrat"/>
                <a:ea typeface="Montserrat"/>
                <a:cs typeface="Montserrat"/>
                <a:sym typeface="Montserrat"/>
              </a:rPr>
              <a:t>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177" name="Google Shape;2177;p19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78" name="Google Shape;2178;p19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179" name="Google Shape;2179;p198"/>
          <p:cNvSpPr txBox="1"/>
          <p:nvPr/>
        </p:nvSpPr>
        <p:spPr>
          <a:xfrm>
            <a:off x="2619700" y="901912"/>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0 MWh</a:t>
            </a:r>
            <a:endParaRPr sz="1200">
              <a:solidFill>
                <a:srgbClr val="1B3E6D"/>
              </a:solidFill>
              <a:latin typeface="Montserrat"/>
              <a:ea typeface="Montserrat"/>
              <a:cs typeface="Montserrat"/>
              <a:sym typeface="Montserrat"/>
            </a:endParaRPr>
          </a:p>
        </p:txBody>
      </p:sp>
      <p:sp>
        <p:nvSpPr>
          <p:cNvPr id="2180" name="Google Shape;2180;p198"/>
          <p:cNvSpPr txBox="1"/>
          <p:nvPr/>
        </p:nvSpPr>
        <p:spPr>
          <a:xfrm>
            <a:off x="5920650" y="901912"/>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doesn’t need additional electricity from EVN</a:t>
            </a:r>
            <a:endParaRPr sz="1200">
              <a:solidFill>
                <a:srgbClr val="1B3E6D"/>
              </a:solidFill>
              <a:latin typeface="Montserrat"/>
              <a:ea typeface="Montserrat"/>
              <a:cs typeface="Montserrat"/>
              <a:sym typeface="Montserrat"/>
            </a:endParaRPr>
          </a:p>
        </p:txBody>
      </p:sp>
      <p:cxnSp>
        <p:nvCxnSpPr>
          <p:cNvPr id="2181" name="Google Shape;2181;p198"/>
          <p:cNvCxnSpPr>
            <a:stCxn id="2179" idx="3"/>
            <a:endCxn id="2180" idx="1"/>
          </p:cNvCxnSpPr>
          <p:nvPr/>
        </p:nvCxnSpPr>
        <p:spPr>
          <a:xfrm>
            <a:off x="5667100" y="1144762"/>
            <a:ext cx="253500" cy="0"/>
          </a:xfrm>
          <a:prstGeom prst="straightConnector1">
            <a:avLst/>
          </a:prstGeom>
          <a:noFill/>
          <a:ln w="9525" cap="flat" cmpd="sng">
            <a:solidFill>
              <a:schemeClr val="dk2"/>
            </a:solidFill>
            <a:prstDash val="solid"/>
            <a:round/>
            <a:headEnd type="none" w="med" len="med"/>
            <a:tailEnd type="triangle" w="med" len="med"/>
          </a:ln>
        </p:spPr>
      </p:cxnSp>
      <p:sp>
        <p:nvSpPr>
          <p:cNvPr id="2182" name="Google Shape;2182;p198"/>
          <p:cNvSpPr/>
          <p:nvPr/>
        </p:nvSpPr>
        <p:spPr>
          <a:xfrm>
            <a:off x="2373900" y="435442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5,946,696,000 + 1,800,000,000 + 816,500,000 + 0 = </a:t>
            </a:r>
            <a:r>
              <a:rPr lang="en" sz="1100" b="1">
                <a:solidFill>
                  <a:srgbClr val="E77A10"/>
                </a:solidFill>
                <a:latin typeface="Montserrat"/>
                <a:ea typeface="Montserrat"/>
                <a:cs typeface="Montserrat"/>
                <a:sym typeface="Montserrat"/>
              </a:rPr>
              <a:t>8,263,196,000 VND</a:t>
            </a:r>
            <a:endParaRPr sz="1300"/>
          </a:p>
        </p:txBody>
      </p:sp>
      <p:grpSp>
        <p:nvGrpSpPr>
          <p:cNvPr id="2183" name="Google Shape;2183;p198"/>
          <p:cNvGrpSpPr/>
          <p:nvPr/>
        </p:nvGrpSpPr>
        <p:grpSpPr>
          <a:xfrm>
            <a:off x="76778" y="939562"/>
            <a:ext cx="2543025" cy="3723037"/>
            <a:chOff x="76784" y="895150"/>
            <a:chExt cx="2573391" cy="3767493"/>
          </a:xfrm>
        </p:grpSpPr>
        <p:grpSp>
          <p:nvGrpSpPr>
            <p:cNvPr id="2184" name="Google Shape;2184;p198"/>
            <p:cNvGrpSpPr/>
            <p:nvPr/>
          </p:nvGrpSpPr>
          <p:grpSpPr>
            <a:xfrm>
              <a:off x="76784" y="895150"/>
              <a:ext cx="2573391" cy="3767493"/>
              <a:chOff x="133650" y="895150"/>
              <a:chExt cx="2573391" cy="3767493"/>
            </a:xfrm>
          </p:grpSpPr>
          <p:pic>
            <p:nvPicPr>
              <p:cNvPr id="2185" name="Google Shape;2185;p198"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186" name="Google Shape;2186;p198"/>
              <p:cNvCxnSpPr>
                <a:stCxn id="2187" idx="2"/>
                <a:endCxn id="2185"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188" name="Google Shape;2188;p198"/>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189" name="Google Shape;2189;p198"/>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190" name="Google Shape;2190;p198"/>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191" name="Google Shape;2191;p198"/>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192" name="Google Shape;2192;p198"/>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193" name="Google Shape;2193;p198"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194" name="Google Shape;2194;p198"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grpSp>
        <p:nvGrpSpPr>
          <p:cNvPr id="2199" name="Google Shape;2199;p199"/>
          <p:cNvGrpSpPr/>
          <p:nvPr/>
        </p:nvGrpSpPr>
        <p:grpSpPr>
          <a:xfrm>
            <a:off x="239992" y="63853"/>
            <a:ext cx="8728050" cy="745997"/>
            <a:chOff x="236700" y="63853"/>
            <a:chExt cx="8728050" cy="745997"/>
          </a:xfrm>
        </p:grpSpPr>
        <p:sp>
          <p:nvSpPr>
            <p:cNvPr id="2200" name="Google Shape;2200;p19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01" name="Google Shape;2201;p19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02" name="Google Shape;2202;p19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03" name="Google Shape;2203;p19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04" name="Google Shape;2204;p19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05" name="Google Shape;2205;p19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06" name="Google Shape;2206;p19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07" name="Google Shape;2207;p199"/>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(2)</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08" name="Google Shape;2208;p19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09" name="Google Shape;2209;p19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10" name="Google Shape;2210;p199"/>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(1,250 - 1,150) VND/kWh * 5,000,000 kWh = </a:t>
            </a:r>
            <a:r>
              <a:rPr lang="en" sz="1100" b="1">
                <a:solidFill>
                  <a:srgbClr val="E77A10"/>
                </a:solidFill>
                <a:latin typeface="Montserrat"/>
                <a:ea typeface="Montserrat"/>
                <a:cs typeface="Montserrat"/>
                <a:sym typeface="Montserrat"/>
              </a:rPr>
              <a:t>500,000,000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211" name="Google Shape;2211;p19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12" name="Google Shape;2212;p199"/>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13" name="Google Shape;2213;p199"/>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8,263,196,000 + 500,000,000 = </a:t>
            </a:r>
            <a:r>
              <a:rPr lang="en" sz="1100" b="1">
                <a:solidFill>
                  <a:srgbClr val="176B62"/>
                </a:solidFill>
                <a:latin typeface="Montserrat"/>
                <a:ea typeface="Montserrat"/>
                <a:cs typeface="Montserrat"/>
                <a:sym typeface="Montserrat"/>
              </a:rPr>
              <a:t>8,763,196,000 VND</a:t>
            </a:r>
            <a:endParaRPr b="1">
              <a:solidFill>
                <a:srgbClr val="176B62"/>
              </a:solidFill>
            </a:endParaRPr>
          </a:p>
        </p:txBody>
      </p:sp>
      <p:sp>
        <p:nvSpPr>
          <p:cNvPr id="2214" name="Google Shape;2214;p199"/>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5,000 MWh</a:t>
            </a:r>
            <a:r>
              <a:rPr lang="en" sz="1100">
                <a:solidFill>
                  <a:srgbClr val="1B3E6D"/>
                </a:solidFill>
                <a:latin typeface="Montserrat"/>
                <a:ea typeface="Montserrat"/>
                <a:cs typeface="Montserrat"/>
                <a:sym typeface="Montserrat"/>
              </a:rPr>
              <a:t> (after loss ~5,040,000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(Qm * FMP) = 5,040,000 kWh * 1,150 VND/kWh = </a:t>
            </a:r>
            <a:r>
              <a:rPr lang="en" sz="1100" b="1">
                <a:solidFill>
                  <a:srgbClr val="E77A10"/>
                </a:solidFill>
                <a:latin typeface="Montserrat"/>
                <a:ea typeface="Montserrat"/>
                <a:cs typeface="Montserrat"/>
                <a:sym typeface="Montserrat"/>
              </a:rPr>
              <a:t>5,796,000,000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5,000,000 kWh * (1,250 - 1,150) = </a:t>
            </a:r>
            <a:r>
              <a:rPr lang="en" sz="1100" b="1">
                <a:solidFill>
                  <a:srgbClr val="E77A10"/>
                </a:solidFill>
                <a:latin typeface="Montserrat"/>
                <a:ea typeface="Montserrat"/>
                <a:cs typeface="Montserrat"/>
                <a:sym typeface="Montserrat"/>
              </a:rPr>
              <a:t>500,000,000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5,796,000,000 + 500,000,000 = </a:t>
            </a:r>
            <a:r>
              <a:rPr lang="en" sz="1100" b="1">
                <a:solidFill>
                  <a:srgbClr val="E77A10"/>
                </a:solidFill>
                <a:latin typeface="Montserrat"/>
                <a:ea typeface="Montserrat"/>
                <a:cs typeface="Montserrat"/>
                <a:sym typeface="Montserrat"/>
              </a:rPr>
              <a:t>6,296,000,000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215" name="Google Shape;2215;p199"/>
          <p:cNvGrpSpPr/>
          <p:nvPr/>
        </p:nvGrpSpPr>
        <p:grpSpPr>
          <a:xfrm>
            <a:off x="76778" y="939562"/>
            <a:ext cx="2543025" cy="3723037"/>
            <a:chOff x="76784" y="895150"/>
            <a:chExt cx="2573391" cy="3767493"/>
          </a:xfrm>
        </p:grpSpPr>
        <p:grpSp>
          <p:nvGrpSpPr>
            <p:cNvPr id="2216" name="Google Shape;2216;p199"/>
            <p:cNvGrpSpPr/>
            <p:nvPr/>
          </p:nvGrpSpPr>
          <p:grpSpPr>
            <a:xfrm>
              <a:off x="76784" y="895150"/>
              <a:ext cx="2573391" cy="3767493"/>
              <a:chOff x="133650" y="895150"/>
              <a:chExt cx="2573391" cy="3767493"/>
            </a:xfrm>
          </p:grpSpPr>
          <p:pic>
            <p:nvPicPr>
              <p:cNvPr id="2217" name="Google Shape;2217;p199"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218" name="Google Shape;2218;p199"/>
              <p:cNvCxnSpPr>
                <a:endCxn id="2217"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219" name="Google Shape;2219;p199"/>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220" name="Google Shape;2220;p199"/>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221" name="Google Shape;2221;p199"/>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222" name="Google Shape;2222;p199"/>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223" name="Google Shape;2223;p199"/>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224" name="Google Shape;2224;p199"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225" name="Google Shape;2225;p199"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9"/>
        <p:cNvGrpSpPr/>
        <p:nvPr/>
      </p:nvGrpSpPr>
      <p:grpSpPr>
        <a:xfrm>
          <a:off x="0" y="0"/>
          <a:ext cx="0" cy="0"/>
          <a:chOff x="0" y="0"/>
          <a:chExt cx="0" cy="0"/>
        </a:xfrm>
      </p:grpSpPr>
      <p:grpSp>
        <p:nvGrpSpPr>
          <p:cNvPr id="2230" name="Google Shape;2230;p200"/>
          <p:cNvGrpSpPr/>
          <p:nvPr/>
        </p:nvGrpSpPr>
        <p:grpSpPr>
          <a:xfrm>
            <a:off x="239992" y="63853"/>
            <a:ext cx="8728050" cy="745997"/>
            <a:chOff x="236700" y="63853"/>
            <a:chExt cx="8728050" cy="745997"/>
          </a:xfrm>
        </p:grpSpPr>
        <p:sp>
          <p:nvSpPr>
            <p:cNvPr id="2231" name="Google Shape;2231;p20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32" name="Google Shape;2232;p20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33" name="Google Shape;2233;p20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34" name="Google Shape;2234;p20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35" name="Google Shape;2235;p20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36" name="Google Shape;2236;p20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37" name="Google Shape;2237;p20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38" name="Google Shape;2238;p200"/>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(3)</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39" name="Google Shape;2239;p20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40" name="Google Shape;2240;p20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241" name="Google Shape;2241;p20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42" name="Google Shape;2242;p200"/>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243" name="Google Shape;2243;p200"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244" name="Google Shape;2244;p200"/>
          <p:cNvPicPr preferRelativeResize="0"/>
          <p:nvPr/>
        </p:nvPicPr>
        <p:blipFill>
          <a:blip r:embed="rId6">
            <a:alphaModFix/>
          </a:blip>
          <a:stretch>
            <a:fillRect/>
          </a:stretch>
        </p:blipFill>
        <p:spPr>
          <a:xfrm>
            <a:off x="6744360" y="1741588"/>
            <a:ext cx="894924" cy="894924"/>
          </a:xfrm>
          <a:prstGeom prst="rect">
            <a:avLst/>
          </a:prstGeom>
          <a:noFill/>
          <a:ln>
            <a:noFill/>
          </a:ln>
        </p:spPr>
      </p:pic>
      <p:cxnSp>
        <p:nvCxnSpPr>
          <p:cNvPr id="2245" name="Google Shape;2245;p200"/>
          <p:cNvCxnSpPr>
            <a:stCxn id="2243" idx="3"/>
            <a:endCxn id="2244"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246" name="Google Shape;2246;p200"/>
          <p:cNvCxnSpPr>
            <a:stCxn id="2243" idx="2"/>
            <a:endCxn id="2247"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248" name="Google Shape;2248;p200"/>
          <p:cNvCxnSpPr>
            <a:stCxn id="2247" idx="3"/>
            <a:endCxn id="2244" idx="2"/>
          </p:cNvCxnSpPr>
          <p:nvPr/>
        </p:nvCxnSpPr>
        <p:spPr>
          <a:xfrm rot="10800000" flipH="1">
            <a:off x="4974822" y="263651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249" name="Google Shape;2249;p200"/>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250" name="Google Shape;2250;p200"/>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251" name="Google Shape;2251;p200"/>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252" name="Google Shape;2252;p200"/>
          <p:cNvSpPr txBox="1"/>
          <p:nvPr/>
        </p:nvSpPr>
        <p:spPr>
          <a:xfrm>
            <a:off x="2449625" y="947723"/>
            <a:ext cx="45387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4A86E8"/>
                </a:solidFill>
                <a:latin typeface="Montserrat"/>
                <a:ea typeface="Montserrat"/>
                <a:cs typeface="Montserrat"/>
                <a:sym typeface="Montserrat"/>
              </a:rPr>
              <a:t>8,2 billion VND = 5,9 billion VND for market electricity energy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+ 1,8 billion VND service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+ 0.8 billion VND difference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 VND additional electricity purchase fee</a:t>
            </a:r>
            <a:endParaRPr sz="1200">
              <a:solidFill>
                <a:srgbClr val="4A86E8"/>
              </a:solidFill>
              <a:latin typeface="Montserrat"/>
              <a:ea typeface="Montserrat"/>
              <a:cs typeface="Montserrat"/>
              <a:sym typeface="Montserrat"/>
            </a:endParaRPr>
          </a:p>
        </p:txBody>
      </p:sp>
      <p:sp>
        <p:nvSpPr>
          <p:cNvPr id="2253" name="Google Shape;2253;p200"/>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0.5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254" name="Google Shape;2254;p200"/>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6.2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pic>
        <p:nvPicPr>
          <p:cNvPr id="2255" name="Google Shape;2255;p200" title="solar-panel (1).png"/>
          <p:cNvPicPr preferRelativeResize="0"/>
          <p:nvPr/>
        </p:nvPicPr>
        <p:blipFill>
          <a:blip r:embed="rId7">
            <a:alphaModFix/>
          </a:blip>
          <a:stretch>
            <a:fillRect/>
          </a:stretch>
        </p:blipFill>
        <p:spPr>
          <a:xfrm>
            <a:off x="3995576" y="3683396"/>
            <a:ext cx="894925" cy="8949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grpSp>
        <p:nvGrpSpPr>
          <p:cNvPr id="2260" name="Google Shape;2260;p201"/>
          <p:cNvGrpSpPr/>
          <p:nvPr/>
        </p:nvGrpSpPr>
        <p:grpSpPr>
          <a:xfrm>
            <a:off x="239992" y="63853"/>
            <a:ext cx="8728050" cy="745997"/>
            <a:chOff x="236700" y="63853"/>
            <a:chExt cx="8728050" cy="745997"/>
          </a:xfrm>
        </p:grpSpPr>
        <p:sp>
          <p:nvSpPr>
            <p:cNvPr id="2261" name="Google Shape;2261;p20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2" name="Google Shape;2262;p20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63" name="Google Shape;2263;p20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64" name="Google Shape;2264;p20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65" name="Google Shape;2265;p20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66" name="Google Shape;2266;p20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67" name="Google Shape;2267;p20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68" name="Google Shape;2268;p201"/>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2: The "Duck Curve" &amp; Price Crashes</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269" name="Google Shape;2269;p20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70" name="Google Shape;2270;p20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71" name="Google Shape;2271;p201"/>
          <p:cNvSpPr txBox="1"/>
          <p:nvPr/>
        </p:nvSpPr>
        <p:spPr>
          <a:xfrm>
            <a:off x="240000" y="873763"/>
            <a:ext cx="8904000" cy="39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B3E6D"/>
                </a:solidFill>
                <a:latin typeface="Montserrat"/>
                <a:ea typeface="Montserrat"/>
                <a:cs typeface="Montserrat"/>
                <a:sym typeface="Montserrat"/>
              </a:rPr>
              <a:t>Your factory agrees to a </a:t>
            </a:r>
            <a:r>
              <a:rPr lang="en" sz="1200" b="1">
                <a:solidFill>
                  <a:srgbClr val="1B3E6D"/>
                </a:solidFill>
                <a:latin typeface="Montserrat"/>
                <a:ea typeface="Montserrat"/>
                <a:cs typeface="Montserrat"/>
                <a:sym typeface="Montserrat"/>
              </a:rPr>
              <a:t>Virtual DPPA</a:t>
            </a:r>
            <a:r>
              <a:rPr lang="en" sz="1200">
                <a:solidFill>
                  <a:srgbClr val="1B3E6D"/>
                </a:solidFill>
                <a:latin typeface="Montserrat"/>
                <a:ea typeface="Montserrat"/>
                <a:cs typeface="Montserrat"/>
                <a:sym typeface="Montserrat"/>
              </a:rPr>
              <a:t> (grid-connected) with a solar developer</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Fixed </a:t>
            </a:r>
            <a:r>
              <a:rPr lang="en" sz="1200" b="1">
                <a:solidFill>
                  <a:srgbClr val="1B3E6D"/>
                </a:solidFill>
                <a:latin typeface="Montserrat"/>
                <a:ea typeface="Montserrat"/>
                <a:cs typeface="Montserrat"/>
                <a:sym typeface="Montserrat"/>
              </a:rPr>
              <a:t>"Strike Price" of 1,800 VND/kWh.</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continues to pay local utility for the physical electricity you consume to keep the machines running.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&amp; developer settle the difference between the Strike Price &amp; the wholesale spot market floating price (FMP)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Sunny month: solar energy floods </a:t>
            </a:r>
            <a:r>
              <a:rPr lang="en" sz="1200" b="1">
                <a:solidFill>
                  <a:srgbClr val="1B3E6D"/>
                </a:solidFill>
                <a:latin typeface="Montserrat"/>
                <a:ea typeface="Montserrat"/>
                <a:cs typeface="Montserrat"/>
                <a:sym typeface="Montserrat"/>
              </a:rPr>
              <a:t>the national grid &amp; the midday FMP drops to 800 VND/kWh.</a:t>
            </a:r>
            <a:endParaRPr sz="1200" b="1">
              <a:solidFill>
                <a:srgbClr val="1B3E6D"/>
              </a:solidFill>
              <a:latin typeface="Montserrat"/>
              <a:ea typeface="Montserrat"/>
              <a:cs typeface="Montserrat"/>
              <a:sym typeface="Montserrat"/>
            </a:endParaRPr>
          </a:p>
        </p:txBody>
      </p:sp>
      <p:pic>
        <p:nvPicPr>
          <p:cNvPr id="2272" name="Google Shape;2272;p201"/>
          <p:cNvPicPr preferRelativeResize="0"/>
          <p:nvPr/>
        </p:nvPicPr>
        <p:blipFill>
          <a:blip r:embed="rId3">
            <a:alphaModFix/>
          </a:blip>
          <a:stretch>
            <a:fillRect/>
          </a:stretch>
        </p:blipFill>
        <p:spPr>
          <a:xfrm>
            <a:off x="4326350" y="2127675"/>
            <a:ext cx="4760074" cy="2798400"/>
          </a:xfrm>
          <a:prstGeom prst="rect">
            <a:avLst/>
          </a:prstGeom>
          <a:noFill/>
          <a:ln>
            <a:noFill/>
          </a:ln>
        </p:spPr>
      </p:pic>
      <p:sp>
        <p:nvSpPr>
          <p:cNvPr id="2273" name="Google Shape;2273;p201"/>
          <p:cNvSpPr txBox="1"/>
          <p:nvPr/>
        </p:nvSpPr>
        <p:spPr>
          <a:xfrm>
            <a:off x="236692" y="2078829"/>
            <a:ext cx="4138500" cy="293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Who owes money to whom? Since you are essentially paying two bills, how does this complicate your factory's monthly operational costs?</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Imagine a severe heat wave causes a power shortage, and the FMP spikes to 2,500 VND/kWh. How does the VPPA financially protect your factory's budget in this situation?</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If EVN raises the DPPA fees next year, your overall energy costs go up. How do you communicate this ongoing regulatory risk to your CFO for DPPA approval?</a:t>
            </a:r>
            <a:endParaRPr sz="1200">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pic>
        <p:nvPicPr>
          <p:cNvPr id="2274" name="Google Shape;2274;p20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275" name="Google Shape;2275;p20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grpSp>
        <p:nvGrpSpPr>
          <p:cNvPr id="2280" name="Google Shape;2280;p202"/>
          <p:cNvGrpSpPr/>
          <p:nvPr/>
        </p:nvGrpSpPr>
        <p:grpSpPr>
          <a:xfrm>
            <a:off x="239992" y="63853"/>
            <a:ext cx="8728050" cy="745997"/>
            <a:chOff x="236700" y="63853"/>
            <a:chExt cx="8728050" cy="745997"/>
          </a:xfrm>
        </p:grpSpPr>
        <p:sp>
          <p:nvSpPr>
            <p:cNvPr id="2281" name="Google Shape;2281;p20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82" name="Google Shape;2282;p20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83" name="Google Shape;2283;p20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84" name="Google Shape;2284;p20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85" name="Google Shape;2285;p20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86" name="Google Shape;2286;p20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87" name="Google Shape;2287;p20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88" name="Google Shape;2288;p202"/>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Actual Consumption Exceeds Contract Output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000" b="1">
                <a:solidFill>
                  <a:schemeClr val="lt1"/>
                </a:solidFill>
                <a:latin typeface="Montserrat"/>
                <a:ea typeface="Montserrat"/>
                <a:cs typeface="Montserrat"/>
                <a:sym typeface="Montserrat"/>
              </a:endParaRPr>
            </a:p>
          </p:txBody>
        </p:sp>
        <p:cxnSp>
          <p:nvCxnSpPr>
            <p:cNvPr id="2289" name="Google Shape;2289;p20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90" name="Google Shape;2290;p20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91" name="Google Shape;2291;p202"/>
          <p:cNvSpPr txBox="1"/>
          <p:nvPr/>
        </p:nvSpPr>
        <p:spPr>
          <a:xfrm>
            <a:off x="2619700" y="1558200"/>
            <a:ext cx="6470400" cy="266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8,000,000 kWh * 1,600 VND/kWh * 1.026 * 1.008 = </a:t>
            </a:r>
            <a:r>
              <a:rPr lang="en" sz="1100" b="1">
                <a:solidFill>
                  <a:srgbClr val="E77A10"/>
                </a:solidFill>
                <a:latin typeface="Montserrat"/>
                <a:ea typeface="Montserrat"/>
                <a:cs typeface="Montserrat"/>
                <a:sym typeface="Montserrat"/>
              </a:rPr>
              <a:t>13,237,862,400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8,000,000 kWh * 360 VND/kWh = </a:t>
            </a:r>
            <a:r>
              <a:rPr lang="en" sz="1100" b="1">
                <a:solidFill>
                  <a:srgbClr val="E77A10"/>
                </a:solidFill>
                <a:latin typeface="Montserrat"/>
                <a:ea typeface="Montserrat"/>
                <a:cs typeface="Montserrat"/>
                <a:sym typeface="Montserrat"/>
              </a:rPr>
              <a:t>2,880,000,000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8,000,000 kWh * 163.30 VND/kWh = </a:t>
            </a:r>
            <a:r>
              <a:rPr lang="en" sz="1100" b="1">
                <a:solidFill>
                  <a:srgbClr val="E77A10"/>
                </a:solidFill>
                <a:latin typeface="Montserrat"/>
                <a:ea typeface="Montserrat"/>
                <a:cs typeface="Montserrat"/>
                <a:sym typeface="Montserrat"/>
              </a:rPr>
              <a:t>1,306,400,000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1,000,000 kWh * 2,204 VND/kWh = </a:t>
            </a:r>
            <a:r>
              <a:rPr lang="en" sz="1100" b="1">
                <a:solidFill>
                  <a:srgbClr val="E77A10"/>
                </a:solidFill>
                <a:latin typeface="Montserrat"/>
                <a:ea typeface="Montserrat"/>
                <a:cs typeface="Montserrat"/>
                <a:sym typeface="Montserrat"/>
              </a:rPr>
              <a:t>2,204,000,000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292" name="Google Shape;2292;p20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93" name="Google Shape;2293;p20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94" name="Google Shape;2294;p202"/>
          <p:cNvSpPr txBox="1"/>
          <p:nvPr/>
        </p:nvSpPr>
        <p:spPr>
          <a:xfrm>
            <a:off x="2619700" y="941175"/>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1000 MWh</a:t>
            </a:r>
            <a:endParaRPr sz="1200">
              <a:solidFill>
                <a:srgbClr val="1B3E6D"/>
              </a:solidFill>
              <a:latin typeface="Montserrat"/>
              <a:ea typeface="Montserrat"/>
              <a:cs typeface="Montserrat"/>
              <a:sym typeface="Montserrat"/>
            </a:endParaRPr>
          </a:p>
        </p:txBody>
      </p:sp>
      <p:sp>
        <p:nvSpPr>
          <p:cNvPr id="2295" name="Google Shape;2295;p202"/>
          <p:cNvSpPr txBox="1"/>
          <p:nvPr/>
        </p:nvSpPr>
        <p:spPr>
          <a:xfrm>
            <a:off x="5920650" y="941175"/>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must purchase additional electricity from EVN</a:t>
            </a:r>
            <a:endParaRPr sz="1200">
              <a:solidFill>
                <a:srgbClr val="1B3E6D"/>
              </a:solidFill>
              <a:latin typeface="Montserrat"/>
              <a:ea typeface="Montserrat"/>
              <a:cs typeface="Montserrat"/>
              <a:sym typeface="Montserrat"/>
            </a:endParaRPr>
          </a:p>
        </p:txBody>
      </p:sp>
      <p:cxnSp>
        <p:nvCxnSpPr>
          <p:cNvPr id="2296" name="Google Shape;2296;p202"/>
          <p:cNvCxnSpPr>
            <a:stCxn id="2294" idx="3"/>
            <a:endCxn id="2295" idx="1"/>
          </p:cNvCxnSpPr>
          <p:nvPr/>
        </p:nvCxnSpPr>
        <p:spPr>
          <a:xfrm>
            <a:off x="5667100" y="1184025"/>
            <a:ext cx="253500" cy="0"/>
          </a:xfrm>
          <a:prstGeom prst="straightConnector1">
            <a:avLst/>
          </a:prstGeom>
          <a:noFill/>
          <a:ln w="9525" cap="flat" cmpd="sng">
            <a:solidFill>
              <a:schemeClr val="dk2"/>
            </a:solidFill>
            <a:prstDash val="solid"/>
            <a:round/>
            <a:headEnd type="none" w="med" len="med"/>
            <a:tailEnd type="triangle" w="med" len="med"/>
          </a:ln>
        </p:spPr>
      </p:cxnSp>
      <p:sp>
        <p:nvSpPr>
          <p:cNvPr id="2297" name="Google Shape;2297;p202"/>
          <p:cNvSpPr/>
          <p:nvPr/>
        </p:nvSpPr>
        <p:spPr>
          <a:xfrm>
            <a:off x="2388525" y="409857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13,237,862,400 + 2,880,000,000 + 1,306,400,000 + 2,204,000,000 = </a:t>
            </a:r>
            <a:r>
              <a:rPr lang="en" sz="1100" b="1">
                <a:solidFill>
                  <a:srgbClr val="E77A10"/>
                </a:solidFill>
                <a:latin typeface="Montserrat"/>
                <a:ea typeface="Montserrat"/>
                <a:cs typeface="Montserrat"/>
                <a:sym typeface="Montserrat"/>
              </a:rPr>
              <a:t>19,628,262,400 VND</a:t>
            </a:r>
            <a:endParaRPr sz="1300"/>
          </a:p>
        </p:txBody>
      </p:sp>
      <p:grpSp>
        <p:nvGrpSpPr>
          <p:cNvPr id="2298" name="Google Shape;2298;p202"/>
          <p:cNvGrpSpPr/>
          <p:nvPr/>
        </p:nvGrpSpPr>
        <p:grpSpPr>
          <a:xfrm>
            <a:off x="76784" y="895150"/>
            <a:ext cx="2573391" cy="3767493"/>
            <a:chOff x="76784" y="895150"/>
            <a:chExt cx="2573391" cy="3767493"/>
          </a:xfrm>
        </p:grpSpPr>
        <p:grpSp>
          <p:nvGrpSpPr>
            <p:cNvPr id="2299" name="Google Shape;2299;p202"/>
            <p:cNvGrpSpPr/>
            <p:nvPr/>
          </p:nvGrpSpPr>
          <p:grpSpPr>
            <a:xfrm>
              <a:off x="76784" y="895150"/>
              <a:ext cx="2573391" cy="3767493"/>
              <a:chOff x="133650" y="895150"/>
              <a:chExt cx="2573391" cy="3767493"/>
            </a:xfrm>
          </p:grpSpPr>
          <p:pic>
            <p:nvPicPr>
              <p:cNvPr id="2300" name="Google Shape;2300;p202"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01" name="Google Shape;2301;p202"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02" name="Google Shape;2302;p202"/>
              <p:cNvCxnSpPr>
                <a:stCxn id="2300" idx="2"/>
                <a:endCxn id="2301"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03" name="Google Shape;2303;p202"/>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04" name="Google Shape;2304;p202"/>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05" name="Google Shape;2305;p202"/>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06" name="Google Shape;2306;p202"/>
              <p:cNvSpPr txBox="1"/>
              <p:nvPr/>
            </p:nvSpPr>
            <p:spPr>
              <a:xfrm>
                <a:off x="1401653" y="37049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07" name="Google Shape;2307;p202"/>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08" name="Google Shape;2308;p202"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12"/>
        <p:cNvGrpSpPr/>
        <p:nvPr/>
      </p:nvGrpSpPr>
      <p:grpSpPr>
        <a:xfrm>
          <a:off x="0" y="0"/>
          <a:ext cx="0" cy="0"/>
          <a:chOff x="0" y="0"/>
          <a:chExt cx="0" cy="0"/>
        </a:xfrm>
      </p:grpSpPr>
      <p:grpSp>
        <p:nvGrpSpPr>
          <p:cNvPr id="2313" name="Google Shape;2313;p203"/>
          <p:cNvGrpSpPr/>
          <p:nvPr/>
        </p:nvGrpSpPr>
        <p:grpSpPr>
          <a:xfrm>
            <a:off x="239992" y="63853"/>
            <a:ext cx="8728050" cy="745997"/>
            <a:chOff x="236700" y="63853"/>
            <a:chExt cx="8728050" cy="745997"/>
          </a:xfrm>
        </p:grpSpPr>
        <p:sp>
          <p:nvSpPr>
            <p:cNvPr id="2314" name="Google Shape;2314;p20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15" name="Google Shape;2315;p20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16" name="Google Shape;2316;p20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17" name="Google Shape;2317;p20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18" name="Google Shape;2318;p20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19" name="Google Shape;2319;p20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20" name="Google Shape;2320;p20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21" name="Google Shape;2321;p203"/>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(2)</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22" name="Google Shape;2322;p20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23" name="Google Shape;2323;p20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324" name="Google Shape;2324;p203"/>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(1,500 - 1,600) VND/kWh * 8,000,000 kWh = -</a:t>
            </a:r>
            <a:r>
              <a:rPr lang="en" sz="1100" b="1">
                <a:solidFill>
                  <a:srgbClr val="E77A10"/>
                </a:solidFill>
                <a:latin typeface="Montserrat"/>
                <a:ea typeface="Montserrat"/>
                <a:cs typeface="Montserrat"/>
                <a:sym typeface="Montserrat"/>
              </a:rPr>
              <a:t>800,000,000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325" name="Google Shape;2325;p20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26" name="Google Shape;2326;p203"/>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327" name="Google Shape;2327;p203"/>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19,628,262,400 + (-800,000,000) = </a:t>
            </a:r>
            <a:r>
              <a:rPr lang="en" sz="1100" b="1">
                <a:solidFill>
                  <a:srgbClr val="176B62"/>
                </a:solidFill>
                <a:latin typeface="Montserrat"/>
                <a:ea typeface="Montserrat"/>
                <a:cs typeface="Montserrat"/>
                <a:sym typeface="Montserrat"/>
              </a:rPr>
              <a:t>18,828,262,400 VND</a:t>
            </a:r>
            <a:endParaRPr b="1">
              <a:solidFill>
                <a:srgbClr val="176B62"/>
              </a:solidFill>
            </a:endParaRPr>
          </a:p>
        </p:txBody>
      </p:sp>
      <p:sp>
        <p:nvSpPr>
          <p:cNvPr id="2328" name="Google Shape;2328;p203"/>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8,000 MWh</a:t>
            </a:r>
            <a:r>
              <a:rPr lang="en" sz="1100">
                <a:solidFill>
                  <a:srgbClr val="1B3E6D"/>
                </a:solidFill>
                <a:latin typeface="Montserrat"/>
                <a:ea typeface="Montserrat"/>
                <a:cs typeface="Montserrat"/>
                <a:sym typeface="Montserrat"/>
              </a:rPr>
              <a:t> (after loss ~8,064,000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8,064,000 kWh * 1,600 VND/kWh = </a:t>
            </a:r>
            <a:r>
              <a:rPr lang="en" sz="1100" b="1">
                <a:solidFill>
                  <a:srgbClr val="E77A10"/>
                </a:solidFill>
                <a:latin typeface="Montserrat"/>
                <a:ea typeface="Montserrat"/>
                <a:cs typeface="Montserrat"/>
                <a:sym typeface="Montserrat"/>
              </a:rPr>
              <a:t>12,902,400,000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8,000,000 kWh * (1,500 - 1,600) = </a:t>
            </a:r>
            <a:r>
              <a:rPr lang="en" sz="1100" b="1">
                <a:solidFill>
                  <a:srgbClr val="E77A10"/>
                </a:solidFill>
                <a:latin typeface="Montserrat"/>
                <a:ea typeface="Montserrat"/>
                <a:cs typeface="Montserrat"/>
                <a:sym typeface="Montserrat"/>
              </a:rPr>
              <a:t>-800,000,000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12,902,400,000 + (-800,000,000) = </a:t>
            </a:r>
            <a:r>
              <a:rPr lang="en" sz="1100" b="1">
                <a:solidFill>
                  <a:srgbClr val="E77A10"/>
                </a:solidFill>
                <a:latin typeface="Montserrat"/>
                <a:ea typeface="Montserrat"/>
                <a:cs typeface="Montserrat"/>
                <a:sym typeface="Montserrat"/>
              </a:rPr>
              <a:t>12,102,400,000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329" name="Google Shape;2329;p203"/>
          <p:cNvGrpSpPr/>
          <p:nvPr/>
        </p:nvGrpSpPr>
        <p:grpSpPr>
          <a:xfrm>
            <a:off x="76784" y="895150"/>
            <a:ext cx="2573391" cy="3767493"/>
            <a:chOff x="76784" y="895150"/>
            <a:chExt cx="2573391" cy="3767493"/>
          </a:xfrm>
        </p:grpSpPr>
        <p:grpSp>
          <p:nvGrpSpPr>
            <p:cNvPr id="2330" name="Google Shape;2330;p203"/>
            <p:cNvGrpSpPr/>
            <p:nvPr/>
          </p:nvGrpSpPr>
          <p:grpSpPr>
            <a:xfrm>
              <a:off x="76784" y="895150"/>
              <a:ext cx="2573391" cy="3767493"/>
              <a:chOff x="133650" y="895150"/>
              <a:chExt cx="2573391" cy="3767493"/>
            </a:xfrm>
          </p:grpSpPr>
          <p:pic>
            <p:nvPicPr>
              <p:cNvPr id="2331" name="Google Shape;2331;p203"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32" name="Google Shape;2332;p203"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33" name="Google Shape;2333;p203"/>
              <p:cNvCxnSpPr>
                <a:stCxn id="2331" idx="2"/>
                <a:endCxn id="2332"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34" name="Google Shape;2334;p203"/>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35" name="Google Shape;2335;p203"/>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36" name="Google Shape;2336;p203"/>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37" name="Google Shape;2337;p203"/>
              <p:cNvSpPr txBox="1"/>
              <p:nvPr/>
            </p:nvSpPr>
            <p:spPr>
              <a:xfrm>
                <a:off x="1359716" y="37857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38" name="Google Shape;2338;p203"/>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39" name="Google Shape;2339;p203"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grpSp>
        <p:nvGrpSpPr>
          <p:cNvPr id="2344" name="Google Shape;2344;p204"/>
          <p:cNvGrpSpPr/>
          <p:nvPr/>
        </p:nvGrpSpPr>
        <p:grpSpPr>
          <a:xfrm>
            <a:off x="239992" y="63853"/>
            <a:ext cx="8728050" cy="745997"/>
            <a:chOff x="236700" y="63853"/>
            <a:chExt cx="8728050" cy="745997"/>
          </a:xfrm>
        </p:grpSpPr>
        <p:sp>
          <p:nvSpPr>
            <p:cNvPr id="2345" name="Google Shape;2345;p20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46" name="Google Shape;2346;p20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47" name="Google Shape;2347;p20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48" name="Google Shape;2348;p20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49" name="Google Shape;2349;p20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50" name="Google Shape;2350;p20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51" name="Google Shape;2351;p20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52" name="Google Shape;2352;p204"/>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(3)</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53" name="Google Shape;2353;p20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54" name="Google Shape;2354;p20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355" name="Google Shape;2355;p20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56" name="Google Shape;2356;p204"/>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357" name="Google Shape;2357;p204"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358" name="Google Shape;2358;p204"/>
          <p:cNvPicPr preferRelativeResize="0"/>
          <p:nvPr/>
        </p:nvPicPr>
        <p:blipFill>
          <a:blip r:embed="rId6">
            <a:alphaModFix/>
          </a:blip>
          <a:stretch>
            <a:fillRect/>
          </a:stretch>
        </p:blipFill>
        <p:spPr>
          <a:xfrm>
            <a:off x="6744360" y="1741588"/>
            <a:ext cx="894924" cy="894924"/>
          </a:xfrm>
          <a:prstGeom prst="rect">
            <a:avLst/>
          </a:prstGeom>
          <a:noFill/>
          <a:ln>
            <a:noFill/>
          </a:ln>
        </p:spPr>
      </p:pic>
      <p:pic>
        <p:nvPicPr>
          <p:cNvPr id="2359" name="Google Shape;2359;p204" title="renewable-energy.png"/>
          <p:cNvPicPr preferRelativeResize="0"/>
          <p:nvPr/>
        </p:nvPicPr>
        <p:blipFill>
          <a:blip r:embed="rId7">
            <a:alphaModFix/>
          </a:blip>
          <a:stretch>
            <a:fillRect/>
          </a:stretch>
        </p:blipFill>
        <p:spPr>
          <a:xfrm>
            <a:off x="3910239" y="3436770"/>
            <a:ext cx="1064475" cy="1064504"/>
          </a:xfrm>
          <a:prstGeom prst="rect">
            <a:avLst/>
          </a:prstGeom>
          <a:noFill/>
          <a:ln>
            <a:noFill/>
          </a:ln>
        </p:spPr>
      </p:pic>
      <p:cxnSp>
        <p:nvCxnSpPr>
          <p:cNvPr id="2360" name="Google Shape;2360;p204"/>
          <p:cNvCxnSpPr>
            <a:stCxn id="2357" idx="3"/>
            <a:endCxn id="2358"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361" name="Google Shape;2361;p204"/>
          <p:cNvCxnSpPr>
            <a:stCxn id="2357" idx="2"/>
            <a:endCxn id="2359"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362" name="Google Shape;2362;p204"/>
          <p:cNvCxnSpPr>
            <a:stCxn id="2359" idx="3"/>
            <a:endCxn id="2358" idx="2"/>
          </p:cNvCxnSpPr>
          <p:nvPr/>
        </p:nvCxnSpPr>
        <p:spPr>
          <a:xfrm rot="10800000" flipH="1">
            <a:off x="4974714" y="263642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363" name="Google Shape;2363;p204"/>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364" name="Google Shape;2364;p204"/>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365" name="Google Shape;2365;p204"/>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366" name="Google Shape;2366;p204"/>
          <p:cNvSpPr txBox="1"/>
          <p:nvPr/>
        </p:nvSpPr>
        <p:spPr>
          <a:xfrm>
            <a:off x="2449625" y="947728"/>
            <a:ext cx="4538700" cy="6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4A86E8"/>
                </a:solidFill>
                <a:latin typeface="Montserrat"/>
                <a:ea typeface="Montserrat"/>
                <a:cs typeface="Montserrat"/>
                <a:sym typeface="Montserrat"/>
              </a:rPr>
              <a:t>19.628 billion VND = 13.238 billion for market electricity energy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+ 2.880 billion service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+ 1.306 billion difference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+ 2.204 billion additional electricity purchase fee</a:t>
            </a:r>
            <a:endParaRPr sz="1300">
              <a:solidFill>
                <a:srgbClr val="4A86E8"/>
              </a:solidFill>
              <a:latin typeface="Montserrat"/>
              <a:ea typeface="Montserrat"/>
              <a:cs typeface="Montserrat"/>
              <a:sym typeface="Montserrat"/>
            </a:endParaRPr>
          </a:p>
        </p:txBody>
      </p:sp>
      <p:sp>
        <p:nvSpPr>
          <p:cNvPr id="2367" name="Google Shape;2367;p204"/>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0.800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368" name="Google Shape;2368;p204"/>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12.902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1507</Words>
  <Application>Microsoft Office PowerPoint</Application>
  <PresentationFormat>On-screen Show (16:9)</PresentationFormat>
  <Paragraphs>196</Paragraphs>
  <Slides>11</Slides>
  <Notes>11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Montserrat</vt:lpstr>
      <vt:lpstr>Geo</vt:lpstr>
      <vt:lpstr>Montserrat ExtraBold</vt:lpstr>
      <vt:lpstr>Be Vietnam Pro</vt:lpstr>
      <vt:lpstr>Arial</vt:lpstr>
      <vt:lpstr>Be Vietnam Pro SemiBold</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Tung Ho</cp:lastModifiedBy>
  <cp:revision>3</cp:revision>
  <dcterms:modified xsi:type="dcterms:W3CDTF">2026-06-25T14:38:04Z</dcterms:modified>
</cp:coreProperties>
</file>