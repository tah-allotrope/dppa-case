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3.xml" ContentType="application/vnd.openxmlformats-officedocument.presentationml.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comment4.xml" ContentType="application/vnd.openxmlformats-officedocument.presentationml.comments+xml"/>
  <Override PartName="/ppt/notesSlides/notesSlide13.xml" ContentType="application/vnd.openxmlformats-officedocument.presentationml.notesSlide+xml"/>
  <Override PartName="/ppt/comments/comment5.xml" ContentType="application/vnd.openxmlformats-officedocument.presentationml.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omments/comment6.xml" ContentType="application/vnd.openxmlformats-officedocument.presentationml.comments+xml"/>
  <Override PartName="/ppt/notesSlides/notesSlide23.xml" ContentType="application/vnd.openxmlformats-officedocument.presentationml.notesSlide+xml"/>
  <Override PartName="/ppt/comments/comment7.xml" ContentType="application/vnd.openxmlformats-officedocument.presentationml.comment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omments/comment8.xml" ContentType="application/vnd.openxmlformats-officedocument.presentationml.comments+xml"/>
  <Override PartName="/ppt/notesSlides/notesSlide28.xml" ContentType="application/vnd.openxmlformats-officedocument.presentationml.notesSlide+xml"/>
  <Override PartName="/ppt/comments/comment9.xml" ContentType="application/vnd.openxmlformats-officedocument.presentationml.comment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61" r:id="rId1"/>
  </p:sldMasterIdLst>
  <p:notesMasterIdLst>
    <p:notesMasterId r:id="rId37"/>
  </p:notesMasterIdLst>
  <p:sldIdLst>
    <p:sldId id="297" r:id="rId2"/>
    <p:sldId id="298" r:id="rId3"/>
    <p:sldId id="299" r:id="rId4"/>
    <p:sldId id="300" r:id="rId5"/>
    <p:sldId id="301" r:id="rId6"/>
    <p:sldId id="303" r:id="rId7"/>
    <p:sldId id="304" r:id="rId8"/>
    <p:sldId id="305" r:id="rId9"/>
    <p:sldId id="306" r:id="rId10"/>
    <p:sldId id="307" r:id="rId11"/>
    <p:sldId id="308" r:id="rId12"/>
    <p:sldId id="309" r:id="rId13"/>
    <p:sldId id="310" r:id="rId14"/>
    <p:sldId id="311" r:id="rId15"/>
    <p:sldId id="312" r:id="rId16"/>
    <p:sldId id="313" r:id="rId17"/>
    <p:sldId id="314" r:id="rId18"/>
    <p:sldId id="315" r:id="rId19"/>
    <p:sldId id="316" r:id="rId20"/>
    <p:sldId id="317" r:id="rId21"/>
    <p:sldId id="318" r:id="rId22"/>
    <p:sldId id="319" r:id="rId23"/>
    <p:sldId id="320" r:id="rId24"/>
    <p:sldId id="321" r:id="rId25"/>
    <p:sldId id="322" r:id="rId26"/>
    <p:sldId id="323" r:id="rId27"/>
    <p:sldId id="331" r:id="rId28"/>
    <p:sldId id="332" r:id="rId29"/>
    <p:sldId id="333" r:id="rId30"/>
    <p:sldId id="334" r:id="rId31"/>
    <p:sldId id="335" r:id="rId32"/>
    <p:sldId id="336" r:id="rId33"/>
    <p:sldId id="337" r:id="rId34"/>
    <p:sldId id="338" r:id="rId35"/>
    <p:sldId id="339" r:id="rId36"/>
  </p:sldIdLst>
  <p:sldSz cx="9144000" cy="5143500" type="screen16x9"/>
  <p:notesSz cx="6858000" cy="9144000"/>
  <p:embeddedFontLst>
    <p:embeddedFont>
      <p:font typeface="Be Vietnam Pro" panose="020B0604020202020204" charset="0"/>
      <p:regular r:id="rId38"/>
      <p:bold r:id="rId39"/>
      <p:italic r:id="rId40"/>
      <p:boldItalic r:id="rId41"/>
    </p:embeddedFont>
    <p:embeddedFont>
      <p:font typeface="Be Vietnam Pro SemiBold" panose="020B0604020202020204" charset="0"/>
      <p:regular r:id="rId42"/>
      <p:bold r:id="rId43"/>
      <p:italic r:id="rId44"/>
      <p:boldItalic r:id="rId45"/>
    </p:embeddedFont>
    <p:embeddedFont>
      <p:font typeface="Consolas" panose="020B0609020204030204" pitchFamily="49" charset="0"/>
      <p:regular r:id="rId46"/>
      <p:bold r:id="rId47"/>
      <p:italic r:id="rId48"/>
      <p:boldItalic r:id="rId49"/>
    </p:embeddedFont>
    <p:embeddedFont>
      <p:font typeface="Geo" panose="020B0604020202020204"/>
      <p:regular r:id="rId50"/>
      <p:italic r:id="rId51"/>
    </p:embeddedFont>
    <p:embeddedFont>
      <p:font typeface="Montserrat" panose="00000500000000000000" pitchFamily="2" charset="0"/>
      <p:regular r:id="rId52"/>
      <p:bold r:id="rId53"/>
      <p:italic r:id="rId54"/>
      <p:boldItalic r:id="rId55"/>
    </p:embeddedFont>
    <p:embeddedFont>
      <p:font typeface="Montserrat ExtraBold" panose="00000900000000000000" pitchFamily="2" charset="0"/>
      <p:bold r:id="rId56"/>
      <p:boldItalic r:id="rId57"/>
    </p:embeddedFont>
    <p:embeddedFont>
      <p:font typeface="Quattrocento Sans" panose="020B0502050000020003" pitchFamily="34" charset="0"/>
      <p:regular r:id="rId58"/>
    </p:embeddedFont>
    <p:embeddedFont>
      <p:font typeface="Roboto" panose="02000000000000000000" pitchFamily="2" charset="0"/>
      <p:regular r:id="rId5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286">
          <p15:clr>
            <a:srgbClr val="747775"/>
          </p15:clr>
        </p15:guide>
        <p15:guide id="2" orient="horz" pos="162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rang Tran" initials="" lastIdx="4" clrIdx="0"/>
  <p:cmAuthor id="1" name="Hong Anh Le" initials="" lastIdx="17" clrIdx="1"/>
  <p:cmAuthor id="2" name="Lauren McGinley" initials="" lastIdx="20" clrIdx="2"/>
  <p:cmAuthor id="3" name="Cong Nguyen" initials="" lastIdx="8" clrIdx="3"/>
  <p:cmAuthor id="4" name="Aiden Roake" initials="" lastIdx="2"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21033D3-121A-4ABF-A30B-B91F07BF1167}">
  <a:tblStyle styleId="{121033D3-121A-4ABF-A30B-B91F07BF1167}"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E8BD2AF-5D0D-4EDC-AE96-A30A7DA1AF2F}" styleName="Table_1">
    <a:wholeTbl>
      <a:tcTxStyle b="off" i="off">
        <a:font>
          <a:latin typeface="Calibri"/>
          <a:ea typeface="Calibri"/>
          <a:cs typeface="Calibri"/>
        </a:font>
        <a:srgbClr val="000000"/>
      </a:tcTxStyle>
      <a:tcStyle>
        <a:tcBdr>
          <a:left>
            <a:ln w="12700" cap="flat" cmpd="sng">
              <a:solidFill>
                <a:srgbClr val="FFFFFF"/>
              </a:solidFill>
              <a:prstDash val="solid"/>
              <a:round/>
              <a:headEnd type="none" w="sm" len="sm"/>
              <a:tailEnd type="none" w="sm" len="sm"/>
            </a:ln>
          </a:left>
          <a:right>
            <a:ln w="12700" cap="flat" cmpd="sng">
              <a:solidFill>
                <a:srgbClr val="FFFFFF"/>
              </a:solidFill>
              <a:prstDash val="solid"/>
              <a:round/>
              <a:headEnd type="none" w="sm" len="sm"/>
              <a:tailEnd type="none" w="sm" len="sm"/>
            </a:ln>
          </a:right>
          <a:top>
            <a:ln w="12700" cap="flat" cmpd="sng">
              <a:solidFill>
                <a:srgbClr val="FFFFFF"/>
              </a:solidFill>
              <a:prstDash val="solid"/>
              <a:round/>
              <a:headEnd type="none" w="sm" len="sm"/>
              <a:tailEnd type="none" w="sm" len="sm"/>
            </a:ln>
          </a:top>
          <a:bottom>
            <a:ln w="12700" cap="flat" cmpd="sng">
              <a:solidFill>
                <a:srgbClr val="FFFFFF"/>
              </a:solidFill>
              <a:prstDash val="solid"/>
              <a:round/>
              <a:headEnd type="none" w="sm" len="sm"/>
              <a:tailEnd type="none" w="sm" len="sm"/>
            </a:ln>
          </a:bottom>
          <a:insideH>
            <a:ln w="12700" cap="flat" cmpd="sng">
              <a:solidFill>
                <a:srgbClr val="FFFFFF"/>
              </a:solidFill>
              <a:prstDash val="solid"/>
              <a:round/>
              <a:headEnd type="none" w="sm" len="sm"/>
              <a:tailEnd type="none" w="sm" len="sm"/>
            </a:ln>
          </a:insideH>
          <a:insideV>
            <a:ln w="12700" cap="flat" cmpd="sng">
              <a:solidFill>
                <a:srgbClr val="FFFFFF"/>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rgbClr val="FFFFFF"/>
      </a:tcTxStyle>
      <a:tcStyle>
        <a:tcBdr/>
        <a:fill>
          <a:solidFill>
            <a:srgbClr val="4F81BD"/>
          </a:solidFill>
        </a:fill>
      </a:tcStyle>
    </a:lastCol>
    <a:firstCol>
      <a:tcTxStyle b="on" i="off">
        <a:font>
          <a:latin typeface="Calibri"/>
          <a:ea typeface="Calibri"/>
          <a:cs typeface="Calibri"/>
        </a:font>
        <a:srgbClr val="FFFFFF"/>
      </a:tcTxStyle>
      <a:tcStyle>
        <a:tcBdr/>
        <a:fill>
          <a:solidFill>
            <a:srgbClr val="4F81BD"/>
          </a:solidFill>
        </a:fill>
      </a:tcStyle>
    </a:firstCol>
    <a:lastRow>
      <a:tcTxStyle b="on" i="off">
        <a:font>
          <a:latin typeface="Calibri"/>
          <a:ea typeface="Calibri"/>
          <a:cs typeface="Calibri"/>
        </a:font>
        <a:srgbClr val="FFFFFF"/>
      </a:tcTxStyle>
      <a:tcStyle>
        <a:tcBdr>
          <a:top>
            <a:ln w="38100" cap="flat" cmpd="sng">
              <a:solidFill>
                <a:srgbClr val="FFFFFF"/>
              </a:solidFill>
              <a:prstDash val="solid"/>
              <a:round/>
              <a:headEnd type="none" w="sm" len="sm"/>
              <a:tailEnd type="none" w="sm" len="sm"/>
            </a:ln>
          </a:top>
        </a:tcBdr>
        <a:fill>
          <a:solidFill>
            <a:srgbClr val="4F81BD"/>
          </a:solidFill>
        </a:fill>
      </a:tcStyle>
    </a:lastRow>
    <a:seCell>
      <a:tcTxStyle/>
      <a:tcStyle>
        <a:tcBdr/>
      </a:tcStyle>
    </a:seCell>
    <a:swCell>
      <a:tcTxStyle/>
      <a:tcStyle>
        <a:tcBdr/>
      </a:tcStyle>
    </a:swCell>
    <a:firstRow>
      <a:tcTxStyle b="on" i="off">
        <a:font>
          <a:latin typeface="Calibri"/>
          <a:ea typeface="Calibri"/>
          <a:cs typeface="Calibri"/>
        </a:font>
        <a:srgbClr val="FFFFFF"/>
      </a:tcTxStyle>
      <a:tcStyle>
        <a:tcBdr>
          <a:bottom>
            <a:ln w="38100" cap="flat" cmpd="sng">
              <a:solidFill>
                <a:srgbClr val="FFFFFF"/>
              </a:solidFill>
              <a:prstDash val="solid"/>
              <a:round/>
              <a:headEnd type="none" w="sm" len="sm"/>
              <a:tailEnd type="none" w="sm" len="sm"/>
            </a:ln>
          </a:bottom>
        </a:tcBdr>
        <a:fill>
          <a:solidFill>
            <a:srgbClr val="4F81BD"/>
          </a:solidFill>
        </a:fill>
      </a:tcStyle>
    </a:firstRow>
    <a:neCell>
      <a:tcTxStyle/>
      <a:tcStyle>
        <a:tcBdr/>
      </a:tcStyle>
    </a:neCell>
    <a:nwCell>
      <a:tcTxStyle/>
      <a:tcStyle>
        <a:tcBdr/>
      </a:tcStyle>
    </a:nwCell>
  </a:tblStyle>
  <a:tblStyle styleId="{F1742F6B-ED47-481C-AEBF-CD6BD0922621}"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44"/>
      </p:cViewPr>
      <p:guideLst>
        <p:guide pos="286"/>
        <p:guide orient="horz" pos="162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font" Target="fonts/font13.fntdata"/><Relationship Id="rId55" Type="http://schemas.openxmlformats.org/officeDocument/2006/relationships/font" Target="fonts/font18.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font" Target="fonts/font4.fntdata"/><Relationship Id="rId54" Type="http://schemas.openxmlformats.org/officeDocument/2006/relationships/font" Target="fonts/font17.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font" Target="fonts/font16.fntdata"/><Relationship Id="rId58" Type="http://schemas.openxmlformats.org/officeDocument/2006/relationships/font" Target="fonts/font2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 Id="rId57" Type="http://schemas.openxmlformats.org/officeDocument/2006/relationships/font" Target="fonts/font20.fntdata"/><Relationship Id="rId61"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font" Target="fonts/font15.fntdata"/><Relationship Id="rId6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56" Type="http://schemas.openxmlformats.org/officeDocument/2006/relationships/font" Target="fonts/font19.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4.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59" Type="http://schemas.openxmlformats.org/officeDocument/2006/relationships/font" Target="fonts/font22.fntdata"/></Relationships>
</file>

<file path=ppt/comments/comment1.xml><?xml version="1.0" encoding="utf-8"?>
<p:cmLst xmlns:a="http://schemas.openxmlformats.org/drawingml/2006/main" xmlns:r="http://schemas.openxmlformats.org/officeDocument/2006/relationships" xmlns:p="http://schemas.openxmlformats.org/presentationml/2006/main">
  <p:cm authorId="2" dt="2026-06-12T22:38:28.639" idx="11">
    <p:pos x="6000" y="0"/>
    <p:text>@chn@allotropepartners.com @hal@allotropevc.com @ttt@allotropevc.com there is still a lot of terminology that will be advanced for a supplier that's new to this, so please let's confirm how we're discussing these terms within the session (even if its a note that "Please note session glossary on your table" and "Glossary available in the session appendix" or something</p:text>
  </p:cm>
  <p:cm authorId="1" dt="2026-06-15T01:22:13.332" idx="13">
    <p:pos x="6000" y="100"/>
    <p:text>@ttt@allotropevc.com Hi Trang, can you help adding some of these terminologies to glossary list
_Assigned to Trang Tran_</p:text>
  </p:cm>
</p:cmLst>
</file>

<file path=ppt/comments/comment2.xml><?xml version="1.0" encoding="utf-8"?>
<p:cmLst xmlns:a="http://schemas.openxmlformats.org/drawingml/2006/main" xmlns:r="http://schemas.openxmlformats.org/officeDocument/2006/relationships" xmlns:p="http://schemas.openxmlformats.org/presentationml/2006/main">
  <p:cm authorId="1" dt="2026-06-15T19:34:05.781" idx="14">
    <p:pos x="6000" y="0"/>
    <p:text>@ttt@allotropevc.com Hi Trang probably need to fix these transition slides (same pics + old logo)
_Reassigned to Trang Tran_</p:text>
  </p:cm>
  <p:cm authorId="2" dt="2026-06-15T19:34:05.781" idx="12">
    <p:pos x="6000" y="0"/>
    <p:text>updated the logos BTW</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6-06-15T01:14:22.382" idx="15">
    <p:pos x="426" y="129"/>
    <p:text>Should be addressed in speech, "you" here refers to Your factory, the RE generator have a different payment model</p:text>
  </p:cm>
  <p:cm authorId="3" dt="2026-06-15T09:01:06.058" idx="5">
    <p:pos x="426" y="129"/>
    <p:text>Edited "your factory"</p:text>
  </p:cm>
  <p:cm authorId="2" dt="2026-06-15T19:38:44.998" idx="13">
    <p:pos x="426" y="129"/>
    <p:text>@chn@allotropepartners.com @hal@allotropevc.com @ttt@allotropevc.com 
can you better define the three relationships please. Is you the generator, EVN/the grid, and your factory. Maybe number, maybe show boxes?</p:text>
  </p:cm>
  <p:cm authorId="2" dt="2026-06-15T19:38:44.998" idx="14">
    <p:pos x="426" y="129"/>
    <p:text>What are the three relationships though: your factory, EVN, and the RE generator? Visually you have 4 boxes (VWEM, RE generator, EVN, Your facotry) and the title says 3 relationships, so want to make it more clear. Is relationships the right word?</p:text>
  </p:cm>
</p:cmLst>
</file>

<file path=ppt/comments/comment4.xml><?xml version="1.0" encoding="utf-8"?>
<p:cmLst xmlns:a="http://schemas.openxmlformats.org/drawingml/2006/main" xmlns:r="http://schemas.openxmlformats.org/officeDocument/2006/relationships" xmlns:p="http://schemas.openxmlformats.org/presentationml/2006/main">
  <p:cm authorId="2" dt="2026-06-13T02:20:57.254" idx="16">
    <p:pos x="3323" y="876"/>
    <p:text>How are we explaining what FMP is?</p:text>
  </p:cm>
</p:cmLst>
</file>

<file path=ppt/comments/comment5.xml><?xml version="1.0" encoding="utf-8"?>
<p:cmLst xmlns:a="http://schemas.openxmlformats.org/drawingml/2006/main" xmlns:r="http://schemas.openxmlformats.org/officeDocument/2006/relationships" xmlns:p="http://schemas.openxmlformats.org/presentationml/2006/main">
  <p:cm authorId="3" dt="2026-06-15T19:49:13.746" idx="7">
    <p:pos x="3019" y="980"/>
    <p:text>This assessment is based on my calculations; I tried to formulate an expectation, but it seems a bit subjective.</p:text>
  </p:cm>
  <p:cm authorId="2" dt="2026-06-15T19:49:13.746" idx="17">
    <p:pos x="3019" y="980"/>
    <p:text>Added in "advice but adjust as you see fit.</p:text>
  </p:cm>
</p:cmLst>
</file>

<file path=ppt/comments/comment6.xml><?xml version="1.0" encoding="utf-8"?>
<p:cmLst xmlns:a="http://schemas.openxmlformats.org/drawingml/2006/main" xmlns:r="http://schemas.openxmlformats.org/officeDocument/2006/relationships" xmlns:p="http://schemas.openxmlformats.org/presentationml/2006/main">
  <p:cm authorId="2" dt="2026-06-15T13:59:49.331" idx="18">
    <p:pos x="3364" y="890"/>
    <p:text>This is the type of phrasing I want to make sure is less jargon and clear to everyone please @hal@allotropevc.com @ttt@allotropevc.com
1 total reaction
Cong Nguyen reacted with 👍 at 2026-06-15 13:59 PM</p:text>
  </p:cm>
</p:cmLst>
</file>

<file path=ppt/comments/comment7.xml><?xml version="1.0" encoding="utf-8"?>
<p:cmLst xmlns:a="http://schemas.openxmlformats.org/drawingml/2006/main" xmlns:r="http://schemas.openxmlformats.org/officeDocument/2006/relationships" xmlns:p="http://schemas.openxmlformats.org/presentationml/2006/main">
  <p:cm authorId="3" dt="2026-06-15T14:04:23.179" idx="8">
    <p:pos x="235" y="600"/>
    <p:text>Yes, scenario sweep with 12 strike prices and 4 contract volumes</p:text>
  </p:cm>
  <p:cm authorId="2" dt="2026-06-15T20:00:38.955" idx="19">
    <p:pos x="235" y="600"/>
    <p:text>56 Scenarios Analyzed: ?</p:text>
  </p:cm>
  <p:cm authorId="2" dt="2026-06-15T20:00:38.955" idx="20">
    <p:pos x="235" y="600"/>
    <p:text>reworded.</p:text>
  </p:cm>
</p:cmLst>
</file>

<file path=ppt/comments/comment8.xml><?xml version="1.0" encoding="utf-8"?>
<p:cmLst xmlns:a="http://schemas.openxmlformats.org/drawingml/2006/main" xmlns:r="http://schemas.openxmlformats.org/officeDocument/2006/relationships" xmlns:p="http://schemas.openxmlformats.org/presentationml/2006/main">
  <p:cm authorId="1" dt="2026-06-15T08:07:03.344" idx="10">
    <p:pos x="6000" y="0"/>
    <p:text>Probably need to print this too in Scenario Package @ttt@allotropevc.com</p:text>
  </p:cm>
</p:cmLst>
</file>

<file path=ppt/comments/comment9.xml><?xml version="1.0" encoding="utf-8"?>
<p:cmLst xmlns:a="http://schemas.openxmlformats.org/drawingml/2006/main" xmlns:r="http://schemas.openxmlformats.org/officeDocument/2006/relationships" xmlns:p="http://schemas.openxmlformats.org/presentationml/2006/main">
  <p:cm authorId="1" dt="2026-06-01T09:07:01.287" idx="11">
    <p:pos x="6000" y="0"/>
    <p:text>Note to CEBA that all these scenarios are work-in-progress and we'll continue refining it further to make it more beneficial for attendees</p:text>
  </p:cm>
  <p:cm authorId="1" dt="2026-06-01T09:07:01.287" idx="12">
    <p:pos x="6000" y="0"/>
    <p:text>We currently have 2 scenarios to just help participants understand the concepts and 2 with numbers</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0"/>
        <p:cNvGrpSpPr/>
        <p:nvPr/>
      </p:nvGrpSpPr>
      <p:grpSpPr>
        <a:xfrm>
          <a:off x="0" y="0"/>
          <a:ext cx="0" cy="0"/>
          <a:chOff x="0" y="0"/>
          <a:chExt cx="0" cy="0"/>
        </a:xfrm>
      </p:grpSpPr>
      <p:sp>
        <p:nvSpPr>
          <p:cNvPr id="1481" name="Google Shape;1481;g3eb66eb2d3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2" name="Google Shape;1482;g3eb66eb2d3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3"/>
        <p:cNvGrpSpPr/>
        <p:nvPr/>
      </p:nvGrpSpPr>
      <p:grpSpPr>
        <a:xfrm>
          <a:off x="0" y="0"/>
          <a:ext cx="0" cy="0"/>
          <a:chOff x="0" y="0"/>
          <a:chExt cx="0" cy="0"/>
        </a:xfrm>
      </p:grpSpPr>
      <p:sp>
        <p:nvSpPr>
          <p:cNvPr id="1504" name="Google Shape;1504;g3ebc19243cb_0_13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5" name="Google Shape;1505;g3ebc19243cb_0_13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3"/>
        <p:cNvGrpSpPr/>
        <p:nvPr/>
      </p:nvGrpSpPr>
      <p:grpSpPr>
        <a:xfrm>
          <a:off x="0" y="0"/>
          <a:ext cx="0" cy="0"/>
          <a:chOff x="0" y="0"/>
          <a:chExt cx="0" cy="0"/>
        </a:xfrm>
      </p:grpSpPr>
      <p:sp>
        <p:nvSpPr>
          <p:cNvPr id="1514" name="Google Shape;1514;g3ec0c65eb5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5" name="Google Shape;1515;g3ec0c65eb5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0"/>
        <p:cNvGrpSpPr/>
        <p:nvPr/>
      </p:nvGrpSpPr>
      <p:grpSpPr>
        <a:xfrm>
          <a:off x="0" y="0"/>
          <a:ext cx="0" cy="0"/>
          <a:chOff x="0" y="0"/>
          <a:chExt cx="0" cy="0"/>
        </a:xfrm>
      </p:grpSpPr>
      <p:sp>
        <p:nvSpPr>
          <p:cNvPr id="1541" name="Google Shape;1541;g3ebc19243cb_0_1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42" name="Google Shape;1542;g3ebc19243cb_0_1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0"/>
        <p:cNvGrpSpPr/>
        <p:nvPr/>
      </p:nvGrpSpPr>
      <p:grpSpPr>
        <a:xfrm>
          <a:off x="0" y="0"/>
          <a:ext cx="0" cy="0"/>
          <a:chOff x="0" y="0"/>
          <a:chExt cx="0" cy="0"/>
        </a:xfrm>
      </p:grpSpPr>
      <p:sp>
        <p:nvSpPr>
          <p:cNvPr id="1551" name="Google Shape;1551;g3ebc19243cb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2" name="Google Shape;1552;g3ebc19243cb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7"/>
        <p:cNvGrpSpPr/>
        <p:nvPr/>
      </p:nvGrpSpPr>
      <p:grpSpPr>
        <a:xfrm>
          <a:off x="0" y="0"/>
          <a:ext cx="0" cy="0"/>
          <a:chOff x="0" y="0"/>
          <a:chExt cx="0" cy="0"/>
        </a:xfrm>
      </p:grpSpPr>
      <p:sp>
        <p:nvSpPr>
          <p:cNvPr id="1618" name="Google Shape;1618;g3ebc19243cb_0_6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9" name="Google Shape;1619;g3ebc19243cb_0_6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203200" lvl="0" indent="0" algn="l" rtl="0">
              <a:lnSpc>
                <a:spcPct val="142857"/>
              </a:lnSpc>
              <a:spcBef>
                <a:spcPts val="0"/>
              </a:spcBef>
              <a:spcAft>
                <a:spcPts val="0"/>
              </a:spcAft>
              <a:buNone/>
            </a:pPr>
            <a:endParaRPr sz="1050">
              <a:solidFill>
                <a:srgbClr val="444746"/>
              </a:solidFill>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6"/>
        <p:cNvGrpSpPr/>
        <p:nvPr/>
      </p:nvGrpSpPr>
      <p:grpSpPr>
        <a:xfrm>
          <a:off x="0" y="0"/>
          <a:ext cx="0" cy="0"/>
          <a:chOff x="0" y="0"/>
          <a:chExt cx="0" cy="0"/>
        </a:xfrm>
      </p:grpSpPr>
      <p:sp>
        <p:nvSpPr>
          <p:cNvPr id="1637" name="Google Shape;1637;g3ec8d3339a8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8" name="Google Shape;1638;g3ec8d3339a8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6"/>
        <p:cNvGrpSpPr/>
        <p:nvPr/>
      </p:nvGrpSpPr>
      <p:grpSpPr>
        <a:xfrm>
          <a:off x="0" y="0"/>
          <a:ext cx="0" cy="0"/>
          <a:chOff x="0" y="0"/>
          <a:chExt cx="0" cy="0"/>
        </a:xfrm>
      </p:grpSpPr>
      <p:sp>
        <p:nvSpPr>
          <p:cNvPr id="1657" name="Google Shape;1657;g3ebc19243cb_0_7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8" name="Google Shape;1658;g3ebc19243cb_0_7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7"/>
        <p:cNvGrpSpPr/>
        <p:nvPr/>
      </p:nvGrpSpPr>
      <p:grpSpPr>
        <a:xfrm>
          <a:off x="0" y="0"/>
          <a:ext cx="0" cy="0"/>
          <a:chOff x="0" y="0"/>
          <a:chExt cx="0" cy="0"/>
        </a:xfrm>
      </p:grpSpPr>
      <p:sp>
        <p:nvSpPr>
          <p:cNvPr id="1678" name="Google Shape;1678;g3ebc19243cb_0_6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9" name="Google Shape;1679;g3ebc19243cb_0_6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6"/>
        <p:cNvGrpSpPr/>
        <p:nvPr/>
      </p:nvGrpSpPr>
      <p:grpSpPr>
        <a:xfrm>
          <a:off x="0" y="0"/>
          <a:ext cx="0" cy="0"/>
          <a:chOff x="0" y="0"/>
          <a:chExt cx="0" cy="0"/>
        </a:xfrm>
      </p:grpSpPr>
      <p:sp>
        <p:nvSpPr>
          <p:cNvPr id="1697" name="Google Shape;1697;g3ebc19243cb_0_7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8" name="Google Shape;1698;g3ebc19243cb_0_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g3ebc19243cb_0_10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18" name="Google Shape;1718;g3ebc19243cb_0_10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6"/>
        <p:cNvGrpSpPr/>
        <p:nvPr/>
      </p:nvGrpSpPr>
      <p:grpSpPr>
        <a:xfrm>
          <a:off x="0" y="0"/>
          <a:ext cx="0" cy="0"/>
          <a:chOff x="0" y="0"/>
          <a:chExt cx="0" cy="0"/>
        </a:xfrm>
      </p:grpSpPr>
      <p:sp>
        <p:nvSpPr>
          <p:cNvPr id="1727" name="Google Shape;1727;g3ebc19243cb_0_6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8" name="Google Shape;1728;g3ebc19243cb_0_6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6"/>
        <p:cNvGrpSpPr/>
        <p:nvPr/>
      </p:nvGrpSpPr>
      <p:grpSpPr>
        <a:xfrm>
          <a:off x="0" y="0"/>
          <a:ext cx="0" cy="0"/>
          <a:chOff x="0" y="0"/>
          <a:chExt cx="0" cy="0"/>
        </a:xfrm>
      </p:grpSpPr>
      <p:sp>
        <p:nvSpPr>
          <p:cNvPr id="1747" name="Google Shape;1747;g3ebc19243cb_0_7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48" name="Google Shape;1748;g3ebc19243cb_0_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8"/>
        <p:cNvGrpSpPr/>
        <p:nvPr/>
      </p:nvGrpSpPr>
      <p:grpSpPr>
        <a:xfrm>
          <a:off x="0" y="0"/>
          <a:ext cx="0" cy="0"/>
          <a:chOff x="0" y="0"/>
          <a:chExt cx="0" cy="0"/>
        </a:xfrm>
      </p:grpSpPr>
      <p:sp>
        <p:nvSpPr>
          <p:cNvPr id="1769" name="Google Shape;1769;g3ebc19243cb_0_7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0" name="Google Shape;1770;g3ebc19243cb_0_7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8"/>
        <p:cNvGrpSpPr/>
        <p:nvPr/>
      </p:nvGrpSpPr>
      <p:grpSpPr>
        <a:xfrm>
          <a:off x="0" y="0"/>
          <a:ext cx="0" cy="0"/>
          <a:chOff x="0" y="0"/>
          <a:chExt cx="0" cy="0"/>
        </a:xfrm>
      </p:grpSpPr>
      <p:sp>
        <p:nvSpPr>
          <p:cNvPr id="1789" name="Google Shape;1789;g3ebc19243cb_0_15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0" name="Google Shape;1790;g3ebc19243cb_0_15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8"/>
        <p:cNvGrpSpPr/>
        <p:nvPr/>
      </p:nvGrpSpPr>
      <p:grpSpPr>
        <a:xfrm>
          <a:off x="0" y="0"/>
          <a:ext cx="0" cy="0"/>
          <a:chOff x="0" y="0"/>
          <a:chExt cx="0" cy="0"/>
        </a:xfrm>
      </p:grpSpPr>
      <p:sp>
        <p:nvSpPr>
          <p:cNvPr id="1799" name="Google Shape;1799;g3ebc19243cb_0_7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0" name="Google Shape;1800;g3ebc19243cb_0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8"/>
        <p:cNvGrpSpPr/>
        <p:nvPr/>
      </p:nvGrpSpPr>
      <p:grpSpPr>
        <a:xfrm>
          <a:off x="0" y="0"/>
          <a:ext cx="0" cy="0"/>
          <a:chOff x="0" y="0"/>
          <a:chExt cx="0" cy="0"/>
        </a:xfrm>
      </p:grpSpPr>
      <p:sp>
        <p:nvSpPr>
          <p:cNvPr id="1819" name="Google Shape;1819;g3ebc19243cb_0_7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0" name="Google Shape;1820;g3ebc19243cb_0_7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2"/>
        <p:cNvGrpSpPr/>
        <p:nvPr/>
      </p:nvGrpSpPr>
      <p:grpSpPr>
        <a:xfrm>
          <a:off x="0" y="0"/>
          <a:ext cx="0" cy="0"/>
          <a:chOff x="0" y="0"/>
          <a:chExt cx="0" cy="0"/>
        </a:xfrm>
      </p:grpSpPr>
      <p:sp>
        <p:nvSpPr>
          <p:cNvPr id="1843" name="Google Shape;1843;g3ebc19243cb_0_8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4" name="Google Shape;1844;g3ebc19243cb_0_8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1"/>
        <p:cNvGrpSpPr/>
        <p:nvPr/>
      </p:nvGrpSpPr>
      <p:grpSpPr>
        <a:xfrm>
          <a:off x="0" y="0"/>
          <a:ext cx="0" cy="0"/>
          <a:chOff x="0" y="0"/>
          <a:chExt cx="0" cy="0"/>
        </a:xfrm>
      </p:grpSpPr>
      <p:sp>
        <p:nvSpPr>
          <p:cNvPr id="1862" name="Google Shape;1862;g3ebc19243cb_0_19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3" name="Google Shape;1863;g3ebc19243cb_0_19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1"/>
        <p:cNvGrpSpPr/>
        <p:nvPr/>
      </p:nvGrpSpPr>
      <p:grpSpPr>
        <a:xfrm>
          <a:off x="0" y="0"/>
          <a:ext cx="0" cy="0"/>
          <a:chOff x="0" y="0"/>
          <a:chExt cx="0" cy="0"/>
        </a:xfrm>
      </p:grpSpPr>
      <p:sp>
        <p:nvSpPr>
          <p:cNvPr id="1872" name="Google Shape;1872;g3ebc19243cb_0_8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3" name="Google Shape;1873;g3ebc19243cb_0_8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0"/>
        <p:cNvGrpSpPr/>
        <p:nvPr/>
      </p:nvGrpSpPr>
      <p:grpSpPr>
        <a:xfrm>
          <a:off x="0" y="0"/>
          <a:ext cx="0" cy="0"/>
          <a:chOff x="0" y="0"/>
          <a:chExt cx="0" cy="0"/>
        </a:xfrm>
      </p:grpSpPr>
      <p:sp>
        <p:nvSpPr>
          <p:cNvPr id="1891" name="Google Shape;1891;g3ebc19243cb_0_17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2" name="Google Shape;1892;g3ebc19243cb_0_17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1"/>
        <p:cNvGrpSpPr/>
        <p:nvPr/>
      </p:nvGrpSpPr>
      <p:grpSpPr>
        <a:xfrm>
          <a:off x="0" y="0"/>
          <a:ext cx="0" cy="0"/>
          <a:chOff x="0" y="0"/>
          <a:chExt cx="0" cy="0"/>
        </a:xfrm>
      </p:grpSpPr>
      <p:sp>
        <p:nvSpPr>
          <p:cNvPr id="1912" name="Google Shape;1912;g3ebc19243cb_0_17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3" name="Google Shape;1913;g3ebc19243cb_0_17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2"/>
        <p:cNvGrpSpPr/>
        <p:nvPr/>
      </p:nvGrpSpPr>
      <p:grpSpPr>
        <a:xfrm>
          <a:off x="0" y="0"/>
          <a:ext cx="0" cy="0"/>
          <a:chOff x="0" y="0"/>
          <a:chExt cx="0" cy="0"/>
        </a:xfrm>
      </p:grpSpPr>
      <p:sp>
        <p:nvSpPr>
          <p:cNvPr id="1933" name="Google Shape;1933;g3ebc19243cb_0_17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4" name="Google Shape;1934;g3ebc19243cb_0_1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3"/>
        <p:cNvGrpSpPr/>
        <p:nvPr/>
      </p:nvGrpSpPr>
      <p:grpSpPr>
        <a:xfrm>
          <a:off x="0" y="0"/>
          <a:ext cx="0" cy="0"/>
          <a:chOff x="0" y="0"/>
          <a:chExt cx="0" cy="0"/>
        </a:xfrm>
      </p:grpSpPr>
      <p:sp>
        <p:nvSpPr>
          <p:cNvPr id="1954" name="Google Shape;1954;g3ebc19243cb_0_1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5" name="Google Shape;1955;g3ebc19243cb_0_1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1"/>
        <p:cNvGrpSpPr/>
        <p:nvPr/>
      </p:nvGrpSpPr>
      <p:grpSpPr>
        <a:xfrm>
          <a:off x="0" y="0"/>
          <a:ext cx="0" cy="0"/>
          <a:chOff x="0" y="0"/>
          <a:chExt cx="0" cy="0"/>
        </a:xfrm>
      </p:grpSpPr>
      <p:sp>
        <p:nvSpPr>
          <p:cNvPr id="1972" name="Google Shape;1972;g3ebc19243cb_0_2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73" name="Google Shape;1973;g3ebc19243cb_0_2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1"/>
        <p:cNvGrpSpPr/>
        <p:nvPr/>
      </p:nvGrpSpPr>
      <p:grpSpPr>
        <a:xfrm>
          <a:off x="0" y="0"/>
          <a:ext cx="0" cy="0"/>
          <a:chOff x="0" y="0"/>
          <a:chExt cx="0" cy="0"/>
        </a:xfrm>
      </p:grpSpPr>
      <p:sp>
        <p:nvSpPr>
          <p:cNvPr id="1982" name="Google Shape;1982;g3ebc19243cb_0_18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3" name="Google Shape;1983;g3ebc19243cb_0_18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7"/>
        <p:cNvGrpSpPr/>
        <p:nvPr/>
      </p:nvGrpSpPr>
      <p:grpSpPr>
        <a:xfrm>
          <a:off x="0" y="0"/>
          <a:ext cx="0" cy="0"/>
          <a:chOff x="0" y="0"/>
          <a:chExt cx="0" cy="0"/>
        </a:xfrm>
      </p:grpSpPr>
      <p:sp>
        <p:nvSpPr>
          <p:cNvPr id="2118" name="Google Shape;2118;g3ec8d3339a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9" name="Google Shape;2119;g3ec8d3339a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3"/>
        <p:cNvGrpSpPr/>
        <p:nvPr/>
      </p:nvGrpSpPr>
      <p:grpSpPr>
        <a:xfrm>
          <a:off x="0" y="0"/>
          <a:ext cx="0" cy="0"/>
          <a:chOff x="0" y="0"/>
          <a:chExt cx="0" cy="0"/>
        </a:xfrm>
      </p:grpSpPr>
      <p:sp>
        <p:nvSpPr>
          <p:cNvPr id="2144" name="Google Shape;2144;g3ec8d3339a8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5" name="Google Shape;2145;g3ec8d3339a8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1"/>
        <p:cNvGrpSpPr/>
        <p:nvPr/>
      </p:nvGrpSpPr>
      <p:grpSpPr>
        <a:xfrm>
          <a:off x="0" y="0"/>
          <a:ext cx="0" cy="0"/>
          <a:chOff x="0" y="0"/>
          <a:chExt cx="0" cy="0"/>
        </a:xfrm>
      </p:grpSpPr>
      <p:sp>
        <p:nvSpPr>
          <p:cNvPr id="2162" name="Google Shape;2162;g3ec056fa404_3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3" name="Google Shape;2163;g3ec056fa404_3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5"/>
        <p:cNvGrpSpPr/>
        <p:nvPr/>
      </p:nvGrpSpPr>
      <p:grpSpPr>
        <a:xfrm>
          <a:off x="0" y="0"/>
          <a:ext cx="0" cy="0"/>
          <a:chOff x="0" y="0"/>
          <a:chExt cx="0" cy="0"/>
        </a:xfrm>
      </p:grpSpPr>
      <p:sp>
        <p:nvSpPr>
          <p:cNvPr id="2196" name="Google Shape;2196;g3ec056fa404_3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7" name="Google Shape;2197;g3ec056fa404_3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6"/>
        <p:cNvGrpSpPr/>
        <p:nvPr/>
      </p:nvGrpSpPr>
      <p:grpSpPr>
        <a:xfrm>
          <a:off x="0" y="0"/>
          <a:ext cx="0" cy="0"/>
          <a:chOff x="0" y="0"/>
          <a:chExt cx="0" cy="0"/>
        </a:xfrm>
      </p:grpSpPr>
      <p:sp>
        <p:nvSpPr>
          <p:cNvPr id="2227" name="Google Shape;2227;g3ec056fa404_3_2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8" name="Google Shape;2228;g3ec056fa404_3_2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6"/>
        <p:cNvGrpSpPr/>
        <p:nvPr/>
      </p:nvGrpSpPr>
      <p:grpSpPr>
        <a:xfrm>
          <a:off x="0" y="0"/>
          <a:ext cx="0" cy="0"/>
          <a:chOff x="0" y="0"/>
          <a:chExt cx="0" cy="0"/>
        </a:xfrm>
      </p:grpSpPr>
      <p:sp>
        <p:nvSpPr>
          <p:cNvPr id="2257" name="Google Shape;2257;g3ec8d3339a8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8" name="Google Shape;2258;g3ec8d3339a8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6"/>
        <p:cNvGrpSpPr/>
        <p:nvPr/>
      </p:nvGrpSpPr>
      <p:grpSpPr>
        <a:xfrm>
          <a:off x="0" y="0"/>
          <a:ext cx="0" cy="0"/>
          <a:chOff x="0" y="0"/>
          <a:chExt cx="0" cy="0"/>
        </a:xfrm>
      </p:grpSpPr>
      <p:sp>
        <p:nvSpPr>
          <p:cNvPr id="2277" name="Google Shape;2277;g3ec8d3339a8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8" name="Google Shape;2278;g3ec8d3339a8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9"/>
        <p:cNvGrpSpPr/>
        <p:nvPr/>
      </p:nvGrpSpPr>
      <p:grpSpPr>
        <a:xfrm>
          <a:off x="0" y="0"/>
          <a:ext cx="0" cy="0"/>
          <a:chOff x="0" y="0"/>
          <a:chExt cx="0" cy="0"/>
        </a:xfrm>
      </p:grpSpPr>
      <p:sp>
        <p:nvSpPr>
          <p:cNvPr id="2310" name="Google Shape;2310;g3ec8d3339a8_0_2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1" name="Google Shape;2311;g3ec8d3339a8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0"/>
        <p:cNvGrpSpPr/>
        <p:nvPr/>
      </p:nvGrpSpPr>
      <p:grpSpPr>
        <a:xfrm>
          <a:off x="0" y="0"/>
          <a:ext cx="0" cy="0"/>
          <a:chOff x="0" y="0"/>
          <a:chExt cx="0" cy="0"/>
        </a:xfrm>
      </p:grpSpPr>
      <p:sp>
        <p:nvSpPr>
          <p:cNvPr id="2341" name="Google Shape;2341;g3ec8d3339a8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2" name="Google Shape;2342;g3ec8d3339a8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4_Custom Layout">
  <p:cSld name="14_Custom Layout">
    <p:spTree>
      <p:nvGrpSpPr>
        <p:cNvPr id="1" name="Shape 51"/>
        <p:cNvGrpSpPr/>
        <p:nvPr/>
      </p:nvGrpSpPr>
      <p:grpSpPr>
        <a:xfrm>
          <a:off x="0" y="0"/>
          <a:ext cx="0" cy="0"/>
          <a:chOff x="0" y="0"/>
          <a:chExt cx="0" cy="0"/>
        </a:xfrm>
      </p:grpSpPr>
      <p:sp>
        <p:nvSpPr>
          <p:cNvPr id="52" name="Google Shape;52;p14"/>
          <p:cNvSpPr>
            <a:spLocks noGrp="1"/>
          </p:cNvSpPr>
          <p:nvPr>
            <p:ph type="pic" idx="2"/>
          </p:nvPr>
        </p:nvSpPr>
        <p:spPr>
          <a:xfrm>
            <a:off x="5900738" y="0"/>
            <a:ext cx="3243300" cy="5143500"/>
          </a:xfrm>
          <a:prstGeom prst="rect">
            <a:avLst/>
          </a:prstGeom>
          <a:no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53"/>
        <p:cNvGrpSpPr/>
        <p:nvPr/>
      </p:nvGrpSpPr>
      <p:grpSpPr>
        <a:xfrm>
          <a:off x="0" y="0"/>
          <a:ext cx="0" cy="0"/>
          <a:chOff x="0" y="0"/>
          <a:chExt cx="0" cy="0"/>
        </a:xfrm>
      </p:grpSpPr>
      <p:sp>
        <p:nvSpPr>
          <p:cNvPr id="54" name="Google Shape;54;p15"/>
          <p:cNvSpPr>
            <a:spLocks noGrp="1"/>
          </p:cNvSpPr>
          <p:nvPr>
            <p:ph type="pic" idx="2"/>
          </p:nvPr>
        </p:nvSpPr>
        <p:spPr>
          <a:xfrm>
            <a:off x="3874182" y="-949180"/>
            <a:ext cx="5155200" cy="5155200"/>
          </a:xfrm>
          <a:prstGeom prst="rect">
            <a:avLst/>
          </a:prstGeom>
          <a:noFill/>
          <a:ln>
            <a:noFill/>
          </a:ln>
        </p:spPr>
        <p:txBody>
          <a:bodyPr/>
          <a:lstStyle/>
          <a:p>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0_Custom Layout">
  <p:cSld name="10_Custom Layout">
    <p:spTree>
      <p:nvGrpSpPr>
        <p:cNvPr id="1" name="Shape 55"/>
        <p:cNvGrpSpPr/>
        <p:nvPr/>
      </p:nvGrpSpPr>
      <p:grpSpPr>
        <a:xfrm>
          <a:off x="0" y="0"/>
          <a:ext cx="0" cy="0"/>
          <a:chOff x="0" y="0"/>
          <a:chExt cx="0" cy="0"/>
        </a:xfrm>
      </p:grpSpPr>
      <p:sp>
        <p:nvSpPr>
          <p:cNvPr id="56" name="Google Shape;56;p16"/>
          <p:cNvSpPr>
            <a:spLocks noGrp="1"/>
          </p:cNvSpPr>
          <p:nvPr>
            <p:ph type="pic" idx="2"/>
          </p:nvPr>
        </p:nvSpPr>
        <p:spPr>
          <a:xfrm>
            <a:off x="4100165" y="570248"/>
            <a:ext cx="4237200" cy="2001600"/>
          </a:xfrm>
          <a:prstGeom prst="rect">
            <a:avLst/>
          </a:prstGeom>
          <a:noFill/>
          <a:ln>
            <a:noFill/>
          </a:ln>
        </p:spPr>
      </p:sp>
      <p:sp>
        <p:nvSpPr>
          <p:cNvPr id="57" name="Google Shape;57;p16"/>
          <p:cNvSpPr txBox="1">
            <a:spLocks noGrp="1"/>
          </p:cNvSpPr>
          <p:nvPr>
            <p:ph type="sldNum" idx="12"/>
          </p:nvPr>
        </p:nvSpPr>
        <p:spPr>
          <a:xfrm>
            <a:off x="8467986" y="172594"/>
            <a:ext cx="561300" cy="492600"/>
          </a:xfrm>
          <a:prstGeom prst="rect">
            <a:avLst/>
          </a:prstGeom>
          <a:noFill/>
          <a:ln>
            <a:noFill/>
          </a:ln>
        </p:spPr>
        <p:txBody>
          <a:bodyPr spcFirstLastPara="1" wrap="square" lIns="38100" tIns="38100" rIns="38100" bIns="38100" anchor="ctr" anchorCtr="0">
            <a:noAutofit/>
          </a:bodyPr>
          <a:lstStyle>
            <a:lvl1pPr marL="0" marR="0" lvl="0"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1pPr>
            <a:lvl2pPr marL="0" marR="0" lvl="1"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2pPr>
            <a:lvl3pPr marL="0" marR="0" lvl="2"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3pPr>
            <a:lvl4pPr marL="0" marR="0" lvl="3"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4pPr>
            <a:lvl5pPr marL="0" marR="0" lvl="4"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5pPr>
            <a:lvl6pPr marL="0" marR="0" lvl="5"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6pPr>
            <a:lvl7pPr marL="0" marR="0" lvl="6"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7pPr>
            <a:lvl8pPr marL="0" marR="0" lvl="7"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8pPr>
            <a:lvl9pPr marL="0" marR="0" lvl="8" indent="0" algn="ctr">
              <a:lnSpc>
                <a:spcPct val="100000"/>
              </a:lnSpc>
              <a:spcBef>
                <a:spcPts val="0"/>
              </a:spcBef>
              <a:spcAft>
                <a:spcPts val="0"/>
              </a:spcAft>
              <a:buClr>
                <a:schemeClr val="accent6"/>
              </a:buClr>
              <a:buSzPts val="2700"/>
              <a:buFont typeface="Montserrat"/>
              <a:buNone/>
              <a:defRPr sz="800" b="1" i="0" u="none" strike="noStrike" cap="none">
                <a:solidFill>
                  <a:srgbClr val="E77A10"/>
                </a:solidFill>
                <a:latin typeface="Montserrat"/>
                <a:ea typeface="Montserrat"/>
                <a:cs typeface="Montserrat"/>
                <a:sym typeface="Montserrat"/>
              </a:defRPr>
            </a:lvl9pPr>
          </a:lstStyle>
          <a:p>
            <a:pPr marL="0" lvl="0" indent="0" algn="ctr" rtl="0">
              <a:spcBef>
                <a:spcPts val="0"/>
              </a:spcBef>
              <a:spcAft>
                <a:spcPts val="0"/>
              </a:spcAft>
              <a:buNone/>
            </a:pP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768096" y="438912"/>
            <a:ext cx="7290000" cy="1124700"/>
          </a:xfrm>
          <a:prstGeom prst="rect">
            <a:avLst/>
          </a:prstGeom>
          <a:noFill/>
          <a:ln>
            <a:noFill/>
          </a:ln>
        </p:spPr>
        <p:txBody>
          <a:bodyPr spcFirstLastPara="1" wrap="square" lIns="68575" tIns="34275" rIns="68575" bIns="34275" anchor="ctr" anchorCtr="0">
            <a:normAutofit/>
          </a:bodyPr>
          <a:lstStyle>
            <a:lvl1pPr lvl="0" algn="l">
              <a:lnSpc>
                <a:spcPct val="80000"/>
              </a:lnSpc>
              <a:spcBef>
                <a:spcPts val="0"/>
              </a:spcBef>
              <a:spcAft>
                <a:spcPts val="0"/>
              </a:spcAft>
              <a:buClr>
                <a:srgbClr val="0C0C0C"/>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0" name="Google Shape;60;p17"/>
          <p:cNvSpPr txBox="1">
            <a:spLocks noGrp="1"/>
          </p:cNvSpPr>
          <p:nvPr>
            <p:ph type="body" idx="1"/>
          </p:nvPr>
        </p:nvSpPr>
        <p:spPr>
          <a:xfrm>
            <a:off x="768096" y="1714500"/>
            <a:ext cx="7290000" cy="3017400"/>
          </a:xfrm>
          <a:prstGeom prst="rect">
            <a:avLst/>
          </a:prstGeom>
          <a:noFill/>
          <a:ln>
            <a:noFill/>
          </a:ln>
        </p:spPr>
        <p:txBody>
          <a:bodyPr spcFirstLastPara="1" wrap="square" lIns="34275" tIns="34275" rIns="34275" bIns="34275" anchor="t" anchorCtr="0">
            <a:normAutofit/>
          </a:bodyPr>
          <a:lstStyle>
            <a:lvl1pPr marL="457200" lvl="0" indent="-317500" algn="l">
              <a:lnSpc>
                <a:spcPct val="90000"/>
              </a:lnSpc>
              <a:spcBef>
                <a:spcPts val="900"/>
              </a:spcBef>
              <a:spcAft>
                <a:spcPts val="0"/>
              </a:spcAft>
              <a:buSzPts val="1400"/>
              <a:buChar char="●"/>
              <a:defRPr/>
            </a:lvl1pPr>
            <a:lvl2pPr marL="914400" lvl="1" indent="-317500" algn="l">
              <a:lnSpc>
                <a:spcPct val="90000"/>
              </a:lnSpc>
              <a:spcBef>
                <a:spcPts val="200"/>
              </a:spcBef>
              <a:spcAft>
                <a:spcPts val="0"/>
              </a:spcAft>
              <a:buSzPts val="1400"/>
              <a:buChar char="○"/>
              <a:defRPr/>
            </a:lvl2pPr>
            <a:lvl3pPr marL="1371600" lvl="2" indent="-317500" algn="l">
              <a:lnSpc>
                <a:spcPct val="90000"/>
              </a:lnSpc>
              <a:spcBef>
                <a:spcPts val="300"/>
              </a:spcBef>
              <a:spcAft>
                <a:spcPts val="0"/>
              </a:spcAft>
              <a:buSzPts val="1400"/>
              <a:buChar char="■"/>
              <a:defRPr/>
            </a:lvl3pPr>
            <a:lvl4pPr marL="1828800" lvl="3" indent="-317500" algn="l">
              <a:lnSpc>
                <a:spcPct val="90000"/>
              </a:lnSpc>
              <a:spcBef>
                <a:spcPts val="300"/>
              </a:spcBef>
              <a:spcAft>
                <a:spcPts val="0"/>
              </a:spcAft>
              <a:buSzPts val="1400"/>
              <a:buChar char="●"/>
              <a:defRPr/>
            </a:lvl4pPr>
            <a:lvl5pPr marL="2286000" lvl="4" indent="-317500" algn="l">
              <a:lnSpc>
                <a:spcPct val="90000"/>
              </a:lnSpc>
              <a:spcBef>
                <a:spcPts val="300"/>
              </a:spcBef>
              <a:spcAft>
                <a:spcPts val="0"/>
              </a:spcAft>
              <a:buSzPts val="1400"/>
              <a:buChar char="○"/>
              <a:defRPr/>
            </a:lvl5pPr>
            <a:lvl6pPr marL="2743200" lvl="5" indent="-317500" algn="l">
              <a:lnSpc>
                <a:spcPct val="90000"/>
              </a:lnSpc>
              <a:spcBef>
                <a:spcPts val="300"/>
              </a:spcBef>
              <a:spcAft>
                <a:spcPts val="0"/>
              </a:spcAft>
              <a:buSzPts val="1400"/>
              <a:buChar char="■"/>
              <a:defRPr/>
            </a:lvl6pPr>
            <a:lvl7pPr marL="3200400" lvl="6" indent="-317500" algn="l">
              <a:lnSpc>
                <a:spcPct val="90000"/>
              </a:lnSpc>
              <a:spcBef>
                <a:spcPts val="300"/>
              </a:spcBef>
              <a:spcAft>
                <a:spcPts val="0"/>
              </a:spcAft>
              <a:buSzPts val="1400"/>
              <a:buChar char="●"/>
              <a:defRPr/>
            </a:lvl7pPr>
            <a:lvl8pPr marL="3657600" lvl="7" indent="-317500" algn="l">
              <a:lnSpc>
                <a:spcPct val="90000"/>
              </a:lnSpc>
              <a:spcBef>
                <a:spcPts val="300"/>
              </a:spcBef>
              <a:spcAft>
                <a:spcPts val="0"/>
              </a:spcAft>
              <a:buSzPts val="1400"/>
              <a:buChar char="○"/>
              <a:defRPr/>
            </a:lvl8pPr>
            <a:lvl9pPr marL="4114800" lvl="8" indent="-317500" algn="l">
              <a:lnSpc>
                <a:spcPct val="90000"/>
              </a:lnSpc>
              <a:spcBef>
                <a:spcPts val="300"/>
              </a:spcBef>
              <a:spcAft>
                <a:spcPts val="300"/>
              </a:spcAft>
              <a:buSzPts val="1400"/>
              <a:buChar char="■"/>
              <a:defRPr/>
            </a:lvl9pPr>
          </a:lstStyle>
          <a:p>
            <a:endParaRPr/>
          </a:p>
        </p:txBody>
      </p:sp>
      <p:sp>
        <p:nvSpPr>
          <p:cNvPr id="61" name="Google Shape;61;p17"/>
          <p:cNvSpPr txBox="1">
            <a:spLocks noGrp="1"/>
          </p:cNvSpPr>
          <p:nvPr>
            <p:ph type="dt" idx="10"/>
          </p:nvPr>
        </p:nvSpPr>
        <p:spPr>
          <a:xfrm>
            <a:off x="768097" y="4853028"/>
            <a:ext cx="1615500" cy="2058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2" name="Google Shape;62;p17"/>
          <p:cNvSpPr txBox="1">
            <a:spLocks noGrp="1"/>
          </p:cNvSpPr>
          <p:nvPr>
            <p:ph type="ftr" idx="11"/>
          </p:nvPr>
        </p:nvSpPr>
        <p:spPr>
          <a:xfrm>
            <a:off x="3632199" y="4853028"/>
            <a:ext cx="4426200" cy="205800"/>
          </a:xfrm>
          <a:prstGeom prst="rect">
            <a:avLst/>
          </a:prstGeom>
          <a:noFill/>
          <a:ln>
            <a:noFill/>
          </a:ln>
        </p:spPr>
        <p:txBody>
          <a:bodyPr spcFirstLastPara="1" wrap="square" lIns="68575" tIns="34275" rIns="68575" bIns="34275" anchor="ctr" anchorCtr="0">
            <a:noAutofit/>
          </a:bodyPr>
          <a:lstStyle>
            <a:lvl1pPr lvl="0" algn="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a:endParaRPr/>
          </a:p>
        </p:txBody>
      </p:sp>
      <p:sp>
        <p:nvSpPr>
          <p:cNvPr id="63" name="Google Shape;63;p17"/>
          <p:cNvSpPr txBox="1">
            <a:spLocks noGrp="1"/>
          </p:cNvSpPr>
          <p:nvPr>
            <p:ph type="sldNum" idx="12"/>
          </p:nvPr>
        </p:nvSpPr>
        <p:spPr>
          <a:xfrm>
            <a:off x="8128000" y="4853028"/>
            <a:ext cx="730500" cy="205800"/>
          </a:xfrm>
          <a:prstGeom prst="rect">
            <a:avLst/>
          </a:prstGeom>
          <a:noFill/>
          <a:ln>
            <a:noFill/>
          </a:ln>
        </p:spPr>
        <p:txBody>
          <a:bodyPr spcFirstLastPara="1" wrap="square" lIns="68575" tIns="34275" rIns="68575" bIns="34275" anchor="ctr" anchorCtr="0">
            <a:normAutofit lnSpcReduction="10000"/>
          </a:bodyPr>
          <a:lstStyle>
            <a:lvl1pPr marL="0" lvl="0" indent="0" algn="l">
              <a:spcBef>
                <a:spcPts val="0"/>
              </a:spcBef>
              <a:buNone/>
              <a:defRPr/>
            </a:lvl1pPr>
            <a:lvl2pPr marL="0" lvl="1" indent="0" algn="l">
              <a:spcBef>
                <a:spcPts val="0"/>
              </a:spcBef>
              <a:buNone/>
              <a:defRPr/>
            </a:lvl2pPr>
            <a:lvl3pPr marL="0" lvl="2" indent="0" algn="l">
              <a:spcBef>
                <a:spcPts val="0"/>
              </a:spcBef>
              <a:buNone/>
              <a:defRPr/>
            </a:lvl3pPr>
            <a:lvl4pPr marL="0" lvl="3" indent="0" algn="l">
              <a:spcBef>
                <a:spcPts val="0"/>
              </a:spcBef>
              <a:buNone/>
              <a:defRPr/>
            </a:lvl4pPr>
            <a:lvl5pPr marL="0" lvl="4" indent="0" algn="l">
              <a:spcBef>
                <a:spcPts val="0"/>
              </a:spcBef>
              <a:buNone/>
              <a:defRPr/>
            </a:lvl5pPr>
            <a:lvl6pPr marL="0" lvl="5" indent="0" algn="l">
              <a:spcBef>
                <a:spcPts val="0"/>
              </a:spcBef>
              <a:buNone/>
              <a:defRPr/>
            </a:lvl6pPr>
            <a:lvl7pPr marL="0" lvl="6" indent="0" algn="l">
              <a:spcBef>
                <a:spcPts val="0"/>
              </a:spcBef>
              <a:buNone/>
              <a:defRPr/>
            </a:lvl7pPr>
            <a:lvl8pPr marL="0" lvl="7" indent="0" algn="l">
              <a:spcBef>
                <a:spcPts val="0"/>
              </a:spcBef>
              <a:buNone/>
              <a:defRPr/>
            </a:lvl8pPr>
            <a:lvl9pPr marL="0" lvl="8" indent="0" algn="l">
              <a:spcBef>
                <a:spcPts val="0"/>
              </a:spcBef>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ver Slide">
  <p:cSld name="Cover Slide">
    <p:spTree>
      <p:nvGrpSpPr>
        <p:cNvPr id="1" name="Shape 64"/>
        <p:cNvGrpSpPr/>
        <p:nvPr/>
      </p:nvGrpSpPr>
      <p:grpSpPr>
        <a:xfrm>
          <a:off x="0" y="0"/>
          <a:ext cx="0" cy="0"/>
          <a:chOff x="0" y="0"/>
          <a:chExt cx="0" cy="0"/>
        </a:xfrm>
      </p:grpSpPr>
      <p:pic>
        <p:nvPicPr>
          <p:cNvPr id="65" name="Google Shape;65;p18" descr="Background pattern&#10;&#10;Description automatically generated"/>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66" name="Google Shape;66;p18"/>
          <p:cNvSpPr txBox="1">
            <a:spLocks noGrp="1"/>
          </p:cNvSpPr>
          <p:nvPr>
            <p:ph type="ctrTitle"/>
          </p:nvPr>
        </p:nvSpPr>
        <p:spPr>
          <a:xfrm>
            <a:off x="395536" y="2139704"/>
            <a:ext cx="7772400" cy="1525200"/>
          </a:xfrm>
          <a:prstGeom prst="rect">
            <a:avLst/>
          </a:prstGeom>
          <a:noFill/>
          <a:ln>
            <a:noFill/>
          </a:ln>
        </p:spPr>
        <p:txBody>
          <a:bodyPr spcFirstLastPara="1" wrap="square" lIns="68575" tIns="34275" rIns="68575" bIns="34275" anchor="b" anchorCtr="0">
            <a:noAutofit/>
          </a:bodyPr>
          <a:lstStyle>
            <a:lvl1pPr lvl="0" algn="l">
              <a:spcBef>
                <a:spcPts val="0"/>
              </a:spcBef>
              <a:spcAft>
                <a:spcPts val="0"/>
              </a:spcAft>
              <a:buClr>
                <a:schemeClr val="lt1"/>
              </a:buClr>
              <a:buSzPts val="5400"/>
              <a:buFont typeface="Geo"/>
              <a:buNone/>
              <a:defRPr sz="5400">
                <a:solidFill>
                  <a:schemeClr val="l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7" name="Google Shape;67;p18"/>
          <p:cNvSpPr txBox="1">
            <a:spLocks noGrp="1"/>
          </p:cNvSpPr>
          <p:nvPr>
            <p:ph type="subTitle" idx="1"/>
          </p:nvPr>
        </p:nvSpPr>
        <p:spPr>
          <a:xfrm>
            <a:off x="395536" y="3676253"/>
            <a:ext cx="7776900" cy="767700"/>
          </a:xfrm>
          <a:prstGeom prst="rect">
            <a:avLst/>
          </a:prstGeom>
          <a:noFill/>
          <a:ln>
            <a:noFill/>
          </a:ln>
        </p:spPr>
        <p:txBody>
          <a:bodyPr spcFirstLastPara="1" wrap="square" lIns="68575" tIns="34275" rIns="68575" bIns="34275" anchor="t" anchorCtr="0">
            <a:normAutofit/>
          </a:bodyPr>
          <a:lstStyle>
            <a:lvl1pPr lvl="0" algn="l">
              <a:spcBef>
                <a:spcPts val="400"/>
              </a:spcBef>
              <a:spcAft>
                <a:spcPts val="0"/>
              </a:spcAft>
              <a:buClr>
                <a:schemeClr val="lt1"/>
              </a:buClr>
              <a:buSzPts val="2000"/>
              <a:buNone/>
              <a:defRPr sz="2000">
                <a:solidFill>
                  <a:schemeClr val="lt1"/>
                </a:solidFill>
              </a:defRPr>
            </a:lvl1pPr>
            <a:lvl2pPr lvl="1" algn="ctr">
              <a:spcBef>
                <a:spcPts val="1200"/>
              </a:spcBef>
              <a:spcAft>
                <a:spcPts val="0"/>
              </a:spcAft>
              <a:buClr>
                <a:srgbClr val="888D9E"/>
              </a:buClr>
              <a:buSzPts val="2800"/>
              <a:buNone/>
              <a:defRPr>
                <a:solidFill>
                  <a:srgbClr val="888D9E"/>
                </a:solidFill>
              </a:defRPr>
            </a:lvl2pPr>
            <a:lvl3pPr lvl="2" algn="ctr">
              <a:spcBef>
                <a:spcPts val="1200"/>
              </a:spcBef>
              <a:spcAft>
                <a:spcPts val="0"/>
              </a:spcAft>
              <a:buClr>
                <a:srgbClr val="888D9E"/>
              </a:buClr>
              <a:buSzPts val="2400"/>
              <a:buNone/>
              <a:defRPr>
                <a:solidFill>
                  <a:srgbClr val="888D9E"/>
                </a:solidFill>
              </a:defRPr>
            </a:lvl3pPr>
            <a:lvl4pPr lvl="3" algn="ctr">
              <a:spcBef>
                <a:spcPts val="1200"/>
              </a:spcBef>
              <a:spcAft>
                <a:spcPts val="0"/>
              </a:spcAft>
              <a:buClr>
                <a:srgbClr val="888D9E"/>
              </a:buClr>
              <a:buSzPts val="2000"/>
              <a:buNone/>
              <a:defRPr>
                <a:solidFill>
                  <a:srgbClr val="888D9E"/>
                </a:solidFill>
              </a:defRPr>
            </a:lvl4pPr>
            <a:lvl5pPr lvl="4" algn="ctr">
              <a:spcBef>
                <a:spcPts val="1200"/>
              </a:spcBef>
              <a:spcAft>
                <a:spcPts val="0"/>
              </a:spcAft>
              <a:buClr>
                <a:srgbClr val="888D9E"/>
              </a:buClr>
              <a:buSzPts val="2000"/>
              <a:buNone/>
              <a:defRPr>
                <a:solidFill>
                  <a:srgbClr val="888D9E"/>
                </a:solidFill>
              </a:defRPr>
            </a:lvl5pPr>
            <a:lvl6pPr lvl="5" algn="ctr">
              <a:spcBef>
                <a:spcPts val="1200"/>
              </a:spcBef>
              <a:spcAft>
                <a:spcPts val="0"/>
              </a:spcAft>
              <a:buClr>
                <a:srgbClr val="888D9E"/>
              </a:buClr>
              <a:buSzPts val="2000"/>
              <a:buNone/>
              <a:defRPr>
                <a:solidFill>
                  <a:srgbClr val="888D9E"/>
                </a:solidFill>
              </a:defRPr>
            </a:lvl6pPr>
            <a:lvl7pPr lvl="6" algn="ctr">
              <a:spcBef>
                <a:spcPts val="1200"/>
              </a:spcBef>
              <a:spcAft>
                <a:spcPts val="0"/>
              </a:spcAft>
              <a:buClr>
                <a:srgbClr val="888D9E"/>
              </a:buClr>
              <a:buSzPts val="2000"/>
              <a:buNone/>
              <a:defRPr>
                <a:solidFill>
                  <a:srgbClr val="888D9E"/>
                </a:solidFill>
              </a:defRPr>
            </a:lvl7pPr>
            <a:lvl8pPr lvl="7" algn="ctr">
              <a:spcBef>
                <a:spcPts val="1200"/>
              </a:spcBef>
              <a:spcAft>
                <a:spcPts val="0"/>
              </a:spcAft>
              <a:buClr>
                <a:srgbClr val="888D9E"/>
              </a:buClr>
              <a:buSzPts val="2000"/>
              <a:buNone/>
              <a:defRPr>
                <a:solidFill>
                  <a:srgbClr val="888D9E"/>
                </a:solidFill>
              </a:defRPr>
            </a:lvl8pPr>
            <a:lvl9pPr lvl="8" algn="ctr">
              <a:spcBef>
                <a:spcPts val="1200"/>
              </a:spcBef>
              <a:spcAft>
                <a:spcPts val="1200"/>
              </a:spcAft>
              <a:buClr>
                <a:srgbClr val="888D9E"/>
              </a:buClr>
              <a:buSzPts val="2000"/>
              <a:buNone/>
              <a:defRPr>
                <a:solidFill>
                  <a:srgbClr val="888D9E"/>
                </a:solidFill>
              </a:defRPr>
            </a:lvl9pPr>
          </a:lstStyle>
          <a:p>
            <a:endParaRPr/>
          </a:p>
        </p:txBody>
      </p:sp>
      <p:sp>
        <p:nvSpPr>
          <p:cNvPr id="68" name="Google Shape;68;p18"/>
          <p:cNvSpPr txBox="1">
            <a:spLocks noGrp="1"/>
          </p:cNvSpPr>
          <p:nvPr>
            <p:ph type="body" idx="2"/>
          </p:nvPr>
        </p:nvSpPr>
        <p:spPr>
          <a:xfrm>
            <a:off x="395536" y="396652"/>
            <a:ext cx="2808300" cy="576300"/>
          </a:xfrm>
          <a:prstGeom prst="rect">
            <a:avLst/>
          </a:prstGeom>
          <a:noFill/>
          <a:ln>
            <a:noFill/>
          </a:ln>
        </p:spPr>
        <p:txBody>
          <a:bodyPr spcFirstLastPara="1" wrap="square" lIns="68575" tIns="34275" rIns="68575" bIns="34275" anchor="t" anchorCtr="0">
            <a:normAutofit/>
          </a:bodyPr>
          <a:lstStyle>
            <a:lvl1pPr marL="457200" lvl="0" indent="-228600" algn="l">
              <a:spcBef>
                <a:spcPts val="400"/>
              </a:spcBef>
              <a:spcAft>
                <a:spcPts val="0"/>
              </a:spcAft>
              <a:buClr>
                <a:schemeClr val="lt1"/>
              </a:buClr>
              <a:buSzPts val="1800"/>
              <a:buNone/>
              <a:defRPr sz="1800">
                <a:solidFill>
                  <a:schemeClr val="lt1"/>
                </a:solidFill>
              </a:defRPr>
            </a:lvl1pPr>
            <a:lvl2pPr marL="914400" lvl="1" indent="-406400" algn="l">
              <a:spcBef>
                <a:spcPts val="1200"/>
              </a:spcBef>
              <a:spcAft>
                <a:spcPts val="0"/>
              </a:spcAft>
              <a:buClr>
                <a:schemeClr val="lt1"/>
              </a:buClr>
              <a:buSzPts val="2800"/>
              <a:buChar char="○"/>
              <a:defRPr>
                <a:solidFill>
                  <a:schemeClr val="lt1"/>
                </a:solidFill>
              </a:defRPr>
            </a:lvl2pPr>
            <a:lvl3pPr marL="1371600" lvl="2" indent="-381000" algn="l">
              <a:spcBef>
                <a:spcPts val="1200"/>
              </a:spcBef>
              <a:spcAft>
                <a:spcPts val="0"/>
              </a:spcAft>
              <a:buClr>
                <a:schemeClr val="lt1"/>
              </a:buClr>
              <a:buSzPts val="2400"/>
              <a:buChar char="■"/>
              <a:defRPr>
                <a:solidFill>
                  <a:schemeClr val="lt1"/>
                </a:solidFill>
              </a:defRPr>
            </a:lvl3pPr>
            <a:lvl4pPr marL="1828800" lvl="3" indent="-355600" algn="l">
              <a:spcBef>
                <a:spcPts val="1200"/>
              </a:spcBef>
              <a:spcAft>
                <a:spcPts val="0"/>
              </a:spcAft>
              <a:buClr>
                <a:schemeClr val="lt1"/>
              </a:buClr>
              <a:buSzPts val="2000"/>
              <a:buChar char="●"/>
              <a:defRPr>
                <a:solidFill>
                  <a:schemeClr val="lt1"/>
                </a:solidFill>
              </a:defRPr>
            </a:lvl4pPr>
            <a:lvl5pPr marL="2286000" lvl="4" indent="-355600" algn="l">
              <a:spcBef>
                <a:spcPts val="1200"/>
              </a:spcBef>
              <a:spcAft>
                <a:spcPts val="0"/>
              </a:spcAft>
              <a:buClr>
                <a:schemeClr val="lt1"/>
              </a:buClr>
              <a:buSzPts val="2000"/>
              <a:buChar char="○"/>
              <a:defRPr>
                <a:solidFill>
                  <a:schemeClr val="lt1"/>
                </a:solidFill>
              </a:defRPr>
            </a:lvl5pPr>
            <a:lvl6pPr marL="2743200" lvl="5" indent="-317500" algn="l">
              <a:spcBef>
                <a:spcPts val="1200"/>
              </a:spcBef>
              <a:spcAft>
                <a:spcPts val="0"/>
              </a:spcAft>
              <a:buClr>
                <a:schemeClr val="dk1"/>
              </a:buClr>
              <a:buSzPts val="1400"/>
              <a:buChar char="■"/>
              <a:defRPr/>
            </a:lvl6pPr>
            <a:lvl7pPr marL="3200400" lvl="6" indent="-317500" algn="l">
              <a:spcBef>
                <a:spcPts val="1200"/>
              </a:spcBef>
              <a:spcAft>
                <a:spcPts val="0"/>
              </a:spcAft>
              <a:buClr>
                <a:schemeClr val="dk1"/>
              </a:buClr>
              <a:buSzPts val="1400"/>
              <a:buChar char="●"/>
              <a:defRPr/>
            </a:lvl7pPr>
            <a:lvl8pPr marL="3657600" lvl="7" indent="-317500" algn="l">
              <a:spcBef>
                <a:spcPts val="1200"/>
              </a:spcBef>
              <a:spcAft>
                <a:spcPts val="0"/>
              </a:spcAft>
              <a:buClr>
                <a:schemeClr val="dk1"/>
              </a:buClr>
              <a:buSzPts val="1400"/>
              <a:buChar char="○"/>
              <a:defRPr/>
            </a:lvl8pPr>
            <a:lvl9pPr marL="4114800" lvl="8" indent="-317500" algn="l">
              <a:spcBef>
                <a:spcPts val="1200"/>
              </a:spcBef>
              <a:spcAft>
                <a:spcPts val="1200"/>
              </a:spcAft>
              <a:buClr>
                <a:schemeClr val="dk1"/>
              </a:buClr>
              <a:buSzPts val="1400"/>
              <a:buChar char="■"/>
              <a:defRPr/>
            </a:lvl9pPr>
          </a:lstStyle>
          <a:p>
            <a:endParaRPr/>
          </a:p>
        </p:txBody>
      </p:sp>
      <p:pic>
        <p:nvPicPr>
          <p:cNvPr id="69" name="Google Shape;69;p18" descr="A picture containing graphical user interface&#10;&#10;Description automatically generated"/>
          <p:cNvPicPr preferRelativeResize="0"/>
          <p:nvPr/>
        </p:nvPicPr>
        <p:blipFill rotWithShape="1">
          <a:blip r:embed="rId3">
            <a:alphaModFix/>
          </a:blip>
          <a:srcRect/>
          <a:stretch/>
        </p:blipFill>
        <p:spPr>
          <a:xfrm>
            <a:off x="6086475" y="249829"/>
            <a:ext cx="2827622" cy="8100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_Blank Slide">
  <p:cSld name="1_Blank Slide">
    <p:spTree>
      <p:nvGrpSpPr>
        <p:cNvPr id="1" name="Shape 70"/>
        <p:cNvGrpSpPr/>
        <p:nvPr/>
      </p:nvGrpSpPr>
      <p:grpSpPr>
        <a:xfrm>
          <a:off x="0" y="0"/>
          <a:ext cx="0" cy="0"/>
          <a:chOff x="0" y="0"/>
          <a:chExt cx="0" cy="0"/>
        </a:xfrm>
      </p:grpSpPr>
      <p:pic>
        <p:nvPicPr>
          <p:cNvPr id="71" name="Google Shape;71;p19" descr="E:\SP\SP Group_Templates\ImageSlide_PPT.png"/>
          <p:cNvPicPr preferRelativeResize="0"/>
          <p:nvPr/>
        </p:nvPicPr>
        <p:blipFill rotWithShape="1">
          <a:blip r:embed="rId2">
            <a:alphaModFix/>
          </a:blip>
          <a:srcRect/>
          <a:stretch/>
        </p:blipFill>
        <p:spPr>
          <a:xfrm>
            <a:off x="0" y="2715766"/>
            <a:ext cx="9144000" cy="2427734"/>
          </a:xfrm>
          <a:prstGeom prst="rect">
            <a:avLst/>
          </a:prstGeom>
          <a:noFill/>
          <a:ln>
            <a:noFill/>
          </a:ln>
        </p:spPr>
      </p:pic>
      <p:sp>
        <p:nvSpPr>
          <p:cNvPr id="72" name="Google Shape;72;p19"/>
          <p:cNvSpPr txBox="1">
            <a:spLocks noGrp="1"/>
          </p:cNvSpPr>
          <p:nvPr>
            <p:ph type="body" idx="1"/>
          </p:nvPr>
        </p:nvSpPr>
        <p:spPr>
          <a:xfrm>
            <a:off x="396305" y="1059583"/>
            <a:ext cx="8352300" cy="3327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73" name="Google Shape;73;p19"/>
          <p:cNvSpPr txBox="1">
            <a:spLocks noGrp="1"/>
          </p:cNvSpPr>
          <p:nvPr>
            <p:ph type="body" idx="2"/>
          </p:nvPr>
        </p:nvSpPr>
        <p:spPr>
          <a:xfrm>
            <a:off x="137220" y="128811"/>
            <a:ext cx="4146900" cy="714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3600"/>
              <a:buNone/>
              <a:defRPr sz="3600">
                <a:solidFill>
                  <a:schemeClr val="dk1"/>
                </a:solidFill>
                <a:latin typeface="Geo"/>
                <a:ea typeface="Geo"/>
                <a:cs typeface="Geo"/>
                <a:sym typeface="Geo"/>
              </a:defRPr>
            </a:lvl1pPr>
            <a:lvl2pPr marL="914400" lvl="1" indent="-342900" algn="l">
              <a:lnSpc>
                <a:spcPct val="90000"/>
              </a:lnSpc>
              <a:spcBef>
                <a:spcPts val="1200"/>
              </a:spcBef>
              <a:spcAft>
                <a:spcPts val="0"/>
              </a:spcAft>
              <a:buClr>
                <a:schemeClr val="dk1"/>
              </a:buClr>
              <a:buSzPts val="1800"/>
              <a:buChar char="○"/>
              <a:defRPr>
                <a:latin typeface="Geo"/>
                <a:ea typeface="Geo"/>
                <a:cs typeface="Geo"/>
                <a:sym typeface="Geo"/>
              </a:defRPr>
            </a:lvl2pPr>
            <a:lvl3pPr marL="1371600" lvl="2" indent="-323850" algn="l">
              <a:lnSpc>
                <a:spcPct val="90000"/>
              </a:lnSpc>
              <a:spcBef>
                <a:spcPts val="1200"/>
              </a:spcBef>
              <a:spcAft>
                <a:spcPts val="0"/>
              </a:spcAft>
              <a:buClr>
                <a:schemeClr val="dk1"/>
              </a:buClr>
              <a:buSzPts val="1500"/>
              <a:buChar char="■"/>
              <a:defRPr>
                <a:latin typeface="Geo"/>
                <a:ea typeface="Geo"/>
                <a:cs typeface="Geo"/>
                <a:sym typeface="Geo"/>
              </a:defRPr>
            </a:lvl3pPr>
            <a:lvl4pPr marL="1828800" lvl="3" indent="-317500" algn="l">
              <a:lnSpc>
                <a:spcPct val="90000"/>
              </a:lnSpc>
              <a:spcBef>
                <a:spcPts val="1200"/>
              </a:spcBef>
              <a:spcAft>
                <a:spcPts val="0"/>
              </a:spcAft>
              <a:buClr>
                <a:schemeClr val="dk1"/>
              </a:buClr>
              <a:buSzPts val="1400"/>
              <a:buChar char="●"/>
              <a:defRPr>
                <a:latin typeface="Geo"/>
                <a:ea typeface="Geo"/>
                <a:cs typeface="Geo"/>
                <a:sym typeface="Geo"/>
              </a:defRPr>
            </a:lvl4pPr>
            <a:lvl5pPr marL="2286000" lvl="4" indent="-317500" algn="l">
              <a:lnSpc>
                <a:spcPct val="90000"/>
              </a:lnSpc>
              <a:spcBef>
                <a:spcPts val="1200"/>
              </a:spcBef>
              <a:spcAft>
                <a:spcPts val="0"/>
              </a:spcAft>
              <a:buClr>
                <a:schemeClr val="dk1"/>
              </a:buClr>
              <a:buSzPts val="1400"/>
              <a:buChar char="○"/>
              <a:defRPr>
                <a:latin typeface="Geo"/>
                <a:ea typeface="Geo"/>
                <a:cs typeface="Geo"/>
                <a:sym typeface="Geo"/>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74" name="Google Shape;74;p19"/>
          <p:cNvSpPr txBox="1"/>
          <p:nvPr/>
        </p:nvSpPr>
        <p:spPr>
          <a:xfrm>
            <a:off x="8676456" y="4712245"/>
            <a:ext cx="351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fld id="{00000000-1234-1234-1234-123412341234}" type="slidenum">
              <a:rPr lang="en" sz="1400">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pic>
        <p:nvPicPr>
          <p:cNvPr id="75" name="Google Shape;75;p19"/>
          <p:cNvPicPr preferRelativeResize="0"/>
          <p:nvPr/>
        </p:nvPicPr>
        <p:blipFill rotWithShape="1">
          <a:blip r:embed="rId3">
            <a:alphaModFix/>
          </a:blip>
          <a:srcRect/>
          <a:stretch/>
        </p:blipFill>
        <p:spPr>
          <a:xfrm>
            <a:off x="7352592" y="170685"/>
            <a:ext cx="1506986" cy="49118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Slide">
  <p:cSld name="Divider Slide">
    <p:spTree>
      <p:nvGrpSpPr>
        <p:cNvPr id="1" name="Shape 76"/>
        <p:cNvGrpSpPr/>
        <p:nvPr/>
      </p:nvGrpSpPr>
      <p:grpSpPr>
        <a:xfrm>
          <a:off x="0" y="0"/>
          <a:ext cx="0" cy="0"/>
          <a:chOff x="0" y="0"/>
          <a:chExt cx="0" cy="0"/>
        </a:xfrm>
      </p:grpSpPr>
      <p:pic>
        <p:nvPicPr>
          <p:cNvPr id="77" name="Google Shape;77;p20"/>
          <p:cNvPicPr preferRelativeResize="0"/>
          <p:nvPr/>
        </p:nvPicPr>
        <p:blipFill rotWithShape="1">
          <a:blip r:embed="rId2">
            <a:alphaModFix/>
          </a:blip>
          <a:srcRect/>
          <a:stretch/>
        </p:blipFill>
        <p:spPr>
          <a:xfrm>
            <a:off x="0" y="1"/>
            <a:ext cx="9144001" cy="5148250"/>
          </a:xfrm>
          <a:prstGeom prst="rect">
            <a:avLst/>
          </a:prstGeom>
          <a:noFill/>
          <a:ln>
            <a:noFill/>
          </a:ln>
        </p:spPr>
      </p:pic>
      <p:pic>
        <p:nvPicPr>
          <p:cNvPr id="78" name="Google Shape;78;p20" descr="Logo&#10;&#10;Description automatically generated"/>
          <p:cNvPicPr preferRelativeResize="0"/>
          <p:nvPr/>
        </p:nvPicPr>
        <p:blipFill rotWithShape="1">
          <a:blip r:embed="rId3">
            <a:alphaModFix/>
          </a:blip>
          <a:srcRect/>
          <a:stretch/>
        </p:blipFill>
        <p:spPr>
          <a:xfrm>
            <a:off x="7433543" y="110775"/>
            <a:ext cx="1587022" cy="449788"/>
          </a:xfrm>
          <a:prstGeom prst="rect">
            <a:avLst/>
          </a:prstGeom>
          <a:noFill/>
          <a:ln>
            <a:noFill/>
          </a:ln>
        </p:spPr>
      </p:pic>
    </p:spTree>
  </p:cSld>
  <p:clrMapOvr>
    <a:masterClrMapping/>
  </p:clrMapOvr>
  <p:extLst>
    <p:ext uri="{DCECCB84-F9BA-43D5-87BE-67443E8EF086}">
      <p15:sldGuideLst xmlns:p15="http://schemas.microsoft.com/office/powerpoint/2012/main">
        <p15:guide id="1" orient="horz" pos="701">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Blank Slide 1">
  <p:cSld name="1_Blank Slide_1">
    <p:spTree>
      <p:nvGrpSpPr>
        <p:cNvPr id="1" name="Shape 79"/>
        <p:cNvGrpSpPr/>
        <p:nvPr/>
      </p:nvGrpSpPr>
      <p:grpSpPr>
        <a:xfrm>
          <a:off x="0" y="0"/>
          <a:ext cx="0" cy="0"/>
          <a:chOff x="0" y="0"/>
          <a:chExt cx="0" cy="0"/>
        </a:xfrm>
      </p:grpSpPr>
      <p:pic>
        <p:nvPicPr>
          <p:cNvPr id="80" name="Google Shape;80;p21" descr="E:\SP\SP Group_Templates\ImageSlide_PPT.png"/>
          <p:cNvPicPr preferRelativeResize="0"/>
          <p:nvPr/>
        </p:nvPicPr>
        <p:blipFill rotWithShape="1">
          <a:blip r:embed="rId2">
            <a:alphaModFix/>
          </a:blip>
          <a:srcRect/>
          <a:stretch/>
        </p:blipFill>
        <p:spPr>
          <a:xfrm>
            <a:off x="0" y="2715766"/>
            <a:ext cx="9144000" cy="2427734"/>
          </a:xfrm>
          <a:prstGeom prst="rect">
            <a:avLst/>
          </a:prstGeom>
          <a:noFill/>
          <a:ln>
            <a:noFill/>
          </a:ln>
        </p:spPr>
      </p:pic>
      <p:sp>
        <p:nvSpPr>
          <p:cNvPr id="81" name="Google Shape;81;p21"/>
          <p:cNvSpPr txBox="1">
            <a:spLocks noGrp="1"/>
          </p:cNvSpPr>
          <p:nvPr>
            <p:ph type="body" idx="1"/>
          </p:nvPr>
        </p:nvSpPr>
        <p:spPr>
          <a:xfrm>
            <a:off x="396305" y="1059583"/>
            <a:ext cx="8352300" cy="3327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2" name="Google Shape;82;p21"/>
          <p:cNvSpPr txBox="1">
            <a:spLocks noGrp="1"/>
          </p:cNvSpPr>
          <p:nvPr>
            <p:ph type="body" idx="2"/>
          </p:nvPr>
        </p:nvSpPr>
        <p:spPr>
          <a:xfrm>
            <a:off x="137220" y="128811"/>
            <a:ext cx="4146900" cy="7149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3600"/>
              <a:buNone/>
              <a:defRPr sz="3600">
                <a:solidFill>
                  <a:schemeClr val="dk1"/>
                </a:solidFill>
                <a:latin typeface="Geo"/>
                <a:ea typeface="Geo"/>
                <a:cs typeface="Geo"/>
                <a:sym typeface="Geo"/>
              </a:defRPr>
            </a:lvl1pPr>
            <a:lvl2pPr marL="914400" lvl="1" indent="-342900" algn="l">
              <a:lnSpc>
                <a:spcPct val="90000"/>
              </a:lnSpc>
              <a:spcBef>
                <a:spcPts val="1200"/>
              </a:spcBef>
              <a:spcAft>
                <a:spcPts val="0"/>
              </a:spcAft>
              <a:buClr>
                <a:schemeClr val="dk1"/>
              </a:buClr>
              <a:buSzPts val="1800"/>
              <a:buChar char="○"/>
              <a:defRPr>
                <a:latin typeface="Geo"/>
                <a:ea typeface="Geo"/>
                <a:cs typeface="Geo"/>
                <a:sym typeface="Geo"/>
              </a:defRPr>
            </a:lvl2pPr>
            <a:lvl3pPr marL="1371600" lvl="2" indent="-323850" algn="l">
              <a:lnSpc>
                <a:spcPct val="90000"/>
              </a:lnSpc>
              <a:spcBef>
                <a:spcPts val="1200"/>
              </a:spcBef>
              <a:spcAft>
                <a:spcPts val="0"/>
              </a:spcAft>
              <a:buClr>
                <a:schemeClr val="dk1"/>
              </a:buClr>
              <a:buSzPts val="1500"/>
              <a:buChar char="■"/>
              <a:defRPr>
                <a:latin typeface="Geo"/>
                <a:ea typeface="Geo"/>
                <a:cs typeface="Geo"/>
                <a:sym typeface="Geo"/>
              </a:defRPr>
            </a:lvl3pPr>
            <a:lvl4pPr marL="1828800" lvl="3" indent="-317500" algn="l">
              <a:lnSpc>
                <a:spcPct val="90000"/>
              </a:lnSpc>
              <a:spcBef>
                <a:spcPts val="1200"/>
              </a:spcBef>
              <a:spcAft>
                <a:spcPts val="0"/>
              </a:spcAft>
              <a:buClr>
                <a:schemeClr val="dk1"/>
              </a:buClr>
              <a:buSzPts val="1400"/>
              <a:buChar char="●"/>
              <a:defRPr>
                <a:latin typeface="Geo"/>
                <a:ea typeface="Geo"/>
                <a:cs typeface="Geo"/>
                <a:sym typeface="Geo"/>
              </a:defRPr>
            </a:lvl4pPr>
            <a:lvl5pPr marL="2286000" lvl="4" indent="-317500" algn="l">
              <a:lnSpc>
                <a:spcPct val="90000"/>
              </a:lnSpc>
              <a:spcBef>
                <a:spcPts val="1200"/>
              </a:spcBef>
              <a:spcAft>
                <a:spcPts val="0"/>
              </a:spcAft>
              <a:buClr>
                <a:schemeClr val="dk1"/>
              </a:buClr>
              <a:buSzPts val="1400"/>
              <a:buChar char="○"/>
              <a:defRPr>
                <a:latin typeface="Geo"/>
                <a:ea typeface="Geo"/>
                <a:cs typeface="Geo"/>
                <a:sym typeface="Geo"/>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83" name="Google Shape;83;p21"/>
          <p:cNvSpPr txBox="1"/>
          <p:nvPr/>
        </p:nvSpPr>
        <p:spPr>
          <a:xfrm>
            <a:off x="8676456" y="4712245"/>
            <a:ext cx="3513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fld id="{00000000-1234-1234-1234-123412341234}" type="slidenum">
              <a:rPr lang="en" sz="1400" b="0" i="0" u="none" strike="noStrike" cap="none">
                <a:solidFill>
                  <a:schemeClr val="lt1"/>
                </a:solidFill>
                <a:latin typeface="Calibri"/>
                <a:ea typeface="Calibri"/>
                <a:cs typeface="Calibri"/>
                <a:sym typeface="Calibri"/>
              </a:rPr>
              <a:t>‹#›</a:t>
            </a:fld>
            <a:endParaRPr sz="1800">
              <a:solidFill>
                <a:schemeClr val="lt1"/>
              </a:solidFill>
              <a:latin typeface="Calibri"/>
              <a:ea typeface="Calibri"/>
              <a:cs typeface="Calibri"/>
              <a:sym typeface="Calibri"/>
            </a:endParaRPr>
          </a:p>
        </p:txBody>
      </p:sp>
      <p:pic>
        <p:nvPicPr>
          <p:cNvPr id="84" name="Google Shape;84;p21"/>
          <p:cNvPicPr preferRelativeResize="0"/>
          <p:nvPr/>
        </p:nvPicPr>
        <p:blipFill rotWithShape="1">
          <a:blip r:embed="rId3">
            <a:alphaModFix/>
          </a:blip>
          <a:srcRect/>
          <a:stretch/>
        </p:blipFill>
        <p:spPr>
          <a:xfrm>
            <a:off x="7352592" y="170685"/>
            <a:ext cx="1506986" cy="491188"/>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rand">
  <p:cSld name="Brand">
    <p:bg>
      <p:bgPr>
        <a:gradFill>
          <a:gsLst>
            <a:gs pos="0">
              <a:srgbClr val="144B79"/>
            </a:gs>
            <a:gs pos="3000">
              <a:srgbClr val="144B79"/>
            </a:gs>
            <a:gs pos="96000">
              <a:srgbClr val="64CDCE"/>
            </a:gs>
            <a:gs pos="100000">
              <a:srgbClr val="64CDCE"/>
            </a:gs>
          </a:gsLst>
          <a:lin ang="7799903" scaled="0"/>
        </a:gradFill>
        <a:effectLst/>
      </p:bgPr>
    </p:bg>
    <p:spTree>
      <p:nvGrpSpPr>
        <p:cNvPr id="1" name="Shape 85"/>
        <p:cNvGrpSpPr/>
        <p:nvPr/>
      </p:nvGrpSpPr>
      <p:grpSpPr>
        <a:xfrm>
          <a:off x="0" y="0"/>
          <a:ext cx="0" cy="0"/>
          <a:chOff x="0" y="0"/>
          <a:chExt cx="0" cy="0"/>
        </a:xfrm>
      </p:grpSpPr>
      <p:pic>
        <p:nvPicPr>
          <p:cNvPr id="86" name="Google Shape;86;p22" descr="A logo with white text&#10;&#10;Description automatically generated"/>
          <p:cNvPicPr preferRelativeResize="0"/>
          <p:nvPr/>
        </p:nvPicPr>
        <p:blipFill rotWithShape="1">
          <a:blip r:embed="rId2">
            <a:alphaModFix/>
          </a:blip>
          <a:srcRect/>
          <a:stretch/>
        </p:blipFill>
        <p:spPr>
          <a:xfrm>
            <a:off x="2205059" y="1640495"/>
            <a:ext cx="4733883" cy="1862511"/>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3_Blank">
  <p:cSld name="3_Blank">
    <p:bg>
      <p:bgPr>
        <a:blipFill>
          <a:blip r:embed="rId2">
            <a:alphaModFix/>
          </a:blip>
          <a:stretch>
            <a:fillRect/>
          </a:stretch>
        </a:blipFill>
        <a:effectLst/>
      </p:bgPr>
    </p:bg>
    <p:spTree>
      <p:nvGrpSpPr>
        <p:cNvPr id="1" name="Shape 87"/>
        <p:cNvGrpSpPr/>
        <p:nvPr/>
      </p:nvGrpSpPr>
      <p:grpSpPr>
        <a:xfrm>
          <a:off x="0" y="0"/>
          <a:ext cx="0" cy="0"/>
          <a:chOff x="0" y="0"/>
          <a:chExt cx="0" cy="0"/>
        </a:xfrm>
      </p:grpSpPr>
      <p:sp>
        <p:nvSpPr>
          <p:cNvPr id="88" name="Google Shape;88;p23"/>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200"/>
              </a:spcBef>
              <a:spcAft>
                <a:spcPts val="0"/>
              </a:spcAft>
              <a:buClr>
                <a:schemeClr val="dk1"/>
              </a:buClr>
              <a:buSzPts val="900"/>
              <a:buFont typeface="Arial"/>
              <a:buNone/>
              <a:defRPr sz="9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89" name="Google Shape;89;p23"/>
          <p:cNvGrpSpPr/>
          <p:nvPr/>
        </p:nvGrpSpPr>
        <p:grpSpPr>
          <a:xfrm>
            <a:off x="0" y="4755328"/>
            <a:ext cx="9144000" cy="388111"/>
            <a:chOff x="417931" y="28734"/>
            <a:chExt cx="24384000" cy="938827"/>
          </a:xfrm>
        </p:grpSpPr>
        <p:sp>
          <p:nvSpPr>
            <p:cNvPr id="90" name="Google Shape;90;p23"/>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sp>
          <p:nvSpPr>
            <p:cNvPr id="91" name="Google Shape;91;p23"/>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Be Vietnam Pro"/>
                <a:ea typeface="Be Vietnam Pro"/>
                <a:cs typeface="Be Vietnam Pro"/>
                <a:sym typeface="Be Vietnam Pro"/>
              </a:endParaRPr>
            </a:p>
          </p:txBody>
        </p:sp>
      </p:grpSp>
      <p:pic>
        <p:nvPicPr>
          <p:cNvPr id="92" name="Google Shape;92;p23"/>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93" name="Google Shape;93;p23"/>
          <p:cNvSpPr txBox="1">
            <a:spLocks noGrp="1"/>
          </p:cNvSpPr>
          <p:nvPr>
            <p:ph type="title"/>
          </p:nvPr>
        </p:nvSpPr>
        <p:spPr>
          <a:xfrm>
            <a:off x="3810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94" name="Google Shape;94;p23"/>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95" name="Google Shape;95;p23"/>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sp>
        <p:nvSpPr>
          <p:cNvPr id="96" name="Google Shape;96;p23"/>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Blank">
  <p:cSld name="1_Blank">
    <p:bg>
      <p:bgPr>
        <a:blipFill>
          <a:blip r:embed="rId2">
            <a:alphaModFix/>
          </a:blip>
          <a:stretch>
            <a:fillRect/>
          </a:stretch>
        </a:blipFill>
        <a:effectLst/>
      </p:bgPr>
    </p:bg>
    <p:spTree>
      <p:nvGrpSpPr>
        <p:cNvPr id="1" name="Shape 97"/>
        <p:cNvGrpSpPr/>
        <p:nvPr/>
      </p:nvGrpSpPr>
      <p:grpSpPr>
        <a:xfrm>
          <a:off x="0" y="0"/>
          <a:ext cx="0" cy="0"/>
          <a:chOff x="0" y="0"/>
          <a:chExt cx="0" cy="0"/>
        </a:xfrm>
      </p:grpSpPr>
      <p:sp>
        <p:nvSpPr>
          <p:cNvPr id="98" name="Google Shape;98;p24"/>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28600" algn="l">
              <a:lnSpc>
                <a:spcPct val="120000"/>
              </a:lnSpc>
              <a:spcBef>
                <a:spcPts val="300"/>
              </a:spcBef>
              <a:spcAft>
                <a:spcPts val="0"/>
              </a:spcAft>
              <a:buClr>
                <a:schemeClr val="dk1"/>
              </a:buClr>
              <a:buSzPts val="1000"/>
              <a:buFont typeface="Arial"/>
              <a:buNone/>
              <a:defRPr sz="1000" b="0" i="0" u="none" strike="noStrike" cap="none">
                <a:solidFill>
                  <a:schemeClr val="dk1"/>
                </a:solidFill>
                <a:latin typeface="Be Vietnam Pro"/>
                <a:ea typeface="Be Vietnam Pro"/>
                <a:cs typeface="Be Vietnam Pro"/>
                <a:sym typeface="Be Vietnam Pro"/>
              </a:defRPr>
            </a:lvl1pPr>
            <a:lvl2pPr marL="914400" marR="0" lvl="1" indent="-285750" algn="l">
              <a:lnSpc>
                <a:spcPct val="100000"/>
              </a:lnSpc>
              <a:spcBef>
                <a:spcPts val="3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2pPr>
            <a:lvl3pPr marL="1371600" marR="0" lvl="2"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3pPr>
            <a:lvl4pPr marL="1828800" marR="0" lvl="3"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4pPr>
            <a:lvl5pPr marL="2286000" marR="0" lvl="4" indent="-285750" algn="l">
              <a:lnSpc>
                <a:spcPct val="100000"/>
              </a:lnSpc>
              <a:spcBef>
                <a:spcPts val="200"/>
              </a:spcBef>
              <a:spcAft>
                <a:spcPts val="0"/>
              </a:spcAft>
              <a:buClr>
                <a:schemeClr val="dk1"/>
              </a:buClr>
              <a:buSzPts val="900"/>
              <a:buFont typeface="Arial"/>
              <a:buChar char="»"/>
              <a:defRPr sz="900" b="0" i="0" u="none" strike="noStrike" cap="none">
                <a:solidFill>
                  <a:schemeClr val="dk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99" name="Google Shape;99;p24"/>
          <p:cNvGrpSpPr/>
          <p:nvPr/>
        </p:nvGrpSpPr>
        <p:grpSpPr>
          <a:xfrm>
            <a:off x="0" y="4755328"/>
            <a:ext cx="9144000" cy="388111"/>
            <a:chOff x="417931" y="28734"/>
            <a:chExt cx="24384000" cy="938827"/>
          </a:xfrm>
        </p:grpSpPr>
        <p:sp>
          <p:nvSpPr>
            <p:cNvPr id="100" name="Google Shape;100;p24"/>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01" name="Google Shape;101;p24"/>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102" name="Google Shape;102;p24"/>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rgbClr val="1B3E6D"/>
              </a:buClr>
              <a:buSzPts val="2200"/>
              <a:buFont typeface="Be Vietnam Pro SemiBold"/>
              <a:buNone/>
              <a:defRPr sz="2200" b="1" i="0">
                <a:solidFill>
                  <a:srgbClr val="1B3E6D"/>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103" name="Google Shape;103;p24"/>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104" name="Google Shape;104;p24"/>
          <p:cNvPicPr preferRelativeResize="0"/>
          <p:nvPr/>
        </p:nvPicPr>
        <p:blipFill rotWithShape="1">
          <a:blip r:embed="rId3">
            <a:alphaModFix/>
          </a:blip>
          <a:srcRect/>
          <a:stretch/>
        </p:blipFill>
        <p:spPr>
          <a:xfrm>
            <a:off x="8549704" y="4895850"/>
            <a:ext cx="539817" cy="182563"/>
          </a:xfrm>
          <a:prstGeom prst="rect">
            <a:avLst/>
          </a:prstGeom>
          <a:noFill/>
          <a:ln>
            <a:noFill/>
          </a:ln>
        </p:spPr>
      </p:pic>
      <p:sp>
        <p:nvSpPr>
          <p:cNvPr id="105" name="Google Shape;105;p24"/>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
        <p:nvSpPr>
          <p:cNvPr id="106" name="Google Shape;106;p24"/>
          <p:cNvSpPr txBox="1">
            <a:spLocks noGrp="1"/>
          </p:cNvSpPr>
          <p:nvPr>
            <p:ph type="body" idx="2"/>
          </p:nvPr>
        </p:nvSpPr>
        <p:spPr>
          <a:xfrm>
            <a:off x="175592" y="4853233"/>
            <a:ext cx="2781300" cy="290400"/>
          </a:xfrm>
          <a:prstGeom prst="rect">
            <a:avLst/>
          </a:prstGeom>
          <a:noFill/>
          <a:ln>
            <a:noFill/>
          </a:ln>
        </p:spPr>
        <p:txBody>
          <a:bodyPr spcFirstLastPara="1" wrap="square" lIns="45725" tIns="22850" rIns="45725" bIns="22850" anchor="ctr" anchorCtr="0">
            <a:noAutofit/>
          </a:bodyPr>
          <a:lstStyle>
            <a:lvl1pPr marL="457200" marR="0" lvl="0" indent="-228600" algn="l">
              <a:lnSpc>
                <a:spcPct val="120000"/>
              </a:lnSpc>
              <a:spcBef>
                <a:spcPts val="200"/>
              </a:spcBef>
              <a:spcAft>
                <a:spcPts val="0"/>
              </a:spcAft>
              <a:buClr>
                <a:schemeClr val="lt1"/>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914400" marR="0" lvl="1"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2pPr>
            <a:lvl3pPr marL="1371600" marR="0" lvl="2"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3pPr>
            <a:lvl4pPr marL="1828800" marR="0" lvl="3"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4pPr>
            <a:lvl5pPr marL="2286000" marR="0" lvl="4" indent="-273050" algn="l">
              <a:lnSpc>
                <a:spcPct val="120000"/>
              </a:lnSpc>
              <a:spcBef>
                <a:spcPts val="200"/>
              </a:spcBef>
              <a:spcAft>
                <a:spcPts val="0"/>
              </a:spcAft>
              <a:buClr>
                <a:schemeClr val="lt1"/>
              </a:buClr>
              <a:buSzPts val="700"/>
              <a:buFont typeface="Arial"/>
              <a:buChar char="»"/>
              <a:defRPr sz="7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_Blank">
  <p:cSld name="2_Blank">
    <p:bg>
      <p:bgPr>
        <a:solidFill>
          <a:srgbClr val="1B3E6D"/>
        </a:solidFill>
        <a:effectLst/>
      </p:bgPr>
    </p:bg>
    <p:spTree>
      <p:nvGrpSpPr>
        <p:cNvPr id="1" name="Shape 107"/>
        <p:cNvGrpSpPr/>
        <p:nvPr/>
      </p:nvGrpSpPr>
      <p:grpSpPr>
        <a:xfrm>
          <a:off x="0" y="0"/>
          <a:ext cx="0" cy="0"/>
          <a:chOff x="0" y="0"/>
          <a:chExt cx="0" cy="0"/>
        </a:xfrm>
      </p:grpSpPr>
      <p:sp>
        <p:nvSpPr>
          <p:cNvPr id="108" name="Google Shape;108;p25"/>
          <p:cNvSpPr txBox="1">
            <a:spLocks noGrp="1"/>
          </p:cNvSpPr>
          <p:nvPr>
            <p:ph type="body" idx="1"/>
          </p:nvPr>
        </p:nvSpPr>
        <p:spPr>
          <a:xfrm>
            <a:off x="457200" y="1009650"/>
            <a:ext cx="8191500" cy="3352800"/>
          </a:xfrm>
          <a:prstGeom prst="rect">
            <a:avLst/>
          </a:prstGeom>
          <a:noFill/>
          <a:ln>
            <a:noFill/>
          </a:ln>
        </p:spPr>
        <p:txBody>
          <a:bodyPr spcFirstLastPara="1" wrap="square" lIns="45725" tIns="22850" rIns="45725" bIns="22850" anchor="t" anchorCtr="0">
            <a:noAutofit/>
          </a:bodyPr>
          <a:lstStyle>
            <a:lvl1pPr marL="457200" marR="0" lvl="0"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1pPr>
            <a:lvl2pPr marL="914400" marR="0" lvl="1"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2pPr>
            <a:lvl3pPr marL="1371600" marR="0" lvl="2"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3pPr>
            <a:lvl4pPr marL="1828800" marR="0" lvl="3"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4pPr>
            <a:lvl5pPr marL="2286000" marR="0" lvl="4" indent="-292100" algn="l">
              <a:lnSpc>
                <a:spcPct val="120000"/>
              </a:lnSpc>
              <a:spcBef>
                <a:spcPts val="300"/>
              </a:spcBef>
              <a:spcAft>
                <a:spcPts val="0"/>
              </a:spcAft>
              <a:buClr>
                <a:schemeClr val="lt1"/>
              </a:buClr>
              <a:buSzPts val="1000"/>
              <a:buFont typeface="Arial"/>
              <a:buChar char="»"/>
              <a:defRPr sz="1000" b="0" i="0" u="none" strike="noStrike" cap="none">
                <a:solidFill>
                  <a:schemeClr val="lt1"/>
                </a:solidFill>
                <a:latin typeface="Be Vietnam Pro"/>
                <a:ea typeface="Be Vietnam Pro"/>
                <a:cs typeface="Be Vietnam Pro"/>
                <a:sym typeface="Be Vietnam Pro"/>
              </a:defRPr>
            </a:lvl5pPr>
            <a:lvl6pPr marL="2743200" marR="0" lvl="5" indent="-292100" algn="l">
              <a:lnSpc>
                <a:spcPct val="100000"/>
              </a:lnSpc>
              <a:spcBef>
                <a:spcPts val="3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a:lnSpc>
                <a:spcPct val="100000"/>
              </a:lnSpc>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grpSp>
        <p:nvGrpSpPr>
          <p:cNvPr id="109" name="Google Shape;109;p25"/>
          <p:cNvGrpSpPr/>
          <p:nvPr/>
        </p:nvGrpSpPr>
        <p:grpSpPr>
          <a:xfrm>
            <a:off x="0" y="4755328"/>
            <a:ext cx="9144000" cy="388111"/>
            <a:chOff x="417931" y="28734"/>
            <a:chExt cx="24384000" cy="938827"/>
          </a:xfrm>
        </p:grpSpPr>
        <p:sp>
          <p:nvSpPr>
            <p:cNvPr id="110" name="Google Shape;110;p25"/>
            <p:cNvSpPr/>
            <p:nvPr/>
          </p:nvSpPr>
          <p:spPr>
            <a:xfrm>
              <a:off x="417931" y="265561"/>
              <a:ext cx="24384000" cy="702000"/>
            </a:xfrm>
            <a:prstGeom prst="rect">
              <a:avLst/>
            </a:prstGeom>
            <a:solidFill>
              <a:srgbClr val="30A2DB"/>
            </a:solidFill>
            <a:ln>
              <a:noFill/>
            </a:ln>
          </p:spPr>
          <p:txBody>
            <a:bodyPr spcFirstLastPara="1" wrap="square" lIns="45725" tIns="22850" rIns="45725" bIns="22850" anchor="t" anchorCtr="0">
              <a:noAutofit/>
            </a:bodyPr>
            <a:lstStyle/>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111" name="Google Shape;111;p25"/>
            <p:cNvSpPr txBox="1"/>
            <p:nvPr/>
          </p:nvSpPr>
          <p:spPr>
            <a:xfrm>
              <a:off x="23016401" y="28734"/>
              <a:ext cx="1621500" cy="702000"/>
            </a:xfrm>
            <a:prstGeom prst="rect">
              <a:avLst/>
            </a:prstGeom>
            <a:noFill/>
            <a:ln>
              <a:noFill/>
            </a:ln>
          </p:spPr>
          <p:txBody>
            <a:bodyPr spcFirstLastPara="1" wrap="square" lIns="25400" tIns="25400" rIns="25400" bIns="25400" anchor="ctr" anchorCtr="0">
              <a:noAutofit/>
            </a:bodyPr>
            <a:lstStyle/>
            <a:p>
              <a:pPr marL="0" marR="0" lvl="0" indent="0" algn="ctr" rtl="0">
                <a:lnSpc>
                  <a:spcPct val="199944"/>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grpSp>
      <p:sp>
        <p:nvSpPr>
          <p:cNvPr id="112" name="Google Shape;112;p25"/>
          <p:cNvSpPr txBox="1">
            <a:spLocks noGrp="1"/>
          </p:cNvSpPr>
          <p:nvPr>
            <p:ph type="title"/>
          </p:nvPr>
        </p:nvSpPr>
        <p:spPr>
          <a:xfrm>
            <a:off x="457200" y="209550"/>
            <a:ext cx="8153400" cy="571500"/>
          </a:xfrm>
          <a:prstGeom prst="rect">
            <a:avLst/>
          </a:prstGeom>
          <a:noFill/>
          <a:ln>
            <a:noFill/>
          </a:ln>
        </p:spPr>
        <p:txBody>
          <a:bodyPr spcFirstLastPara="1" wrap="square" lIns="45725" tIns="22850" rIns="45725" bIns="22850" anchor="ctr" anchorCtr="0">
            <a:noAutofit/>
          </a:bodyPr>
          <a:lstStyle>
            <a:lvl1pPr lvl="0" algn="l">
              <a:lnSpc>
                <a:spcPct val="100000"/>
              </a:lnSpc>
              <a:spcBef>
                <a:spcPts val="0"/>
              </a:spcBef>
              <a:spcAft>
                <a:spcPts val="0"/>
              </a:spcAft>
              <a:buClr>
                <a:schemeClr val="lt1"/>
              </a:buClr>
              <a:buSzPts val="2200"/>
              <a:buFont typeface="Be Vietnam Pro SemiBold"/>
              <a:buNone/>
              <a:defRPr sz="2200" b="1" i="0">
                <a:solidFill>
                  <a:schemeClr val="lt1"/>
                </a:solidFill>
                <a:latin typeface="Be Vietnam Pro SemiBold"/>
                <a:ea typeface="Be Vietnam Pro SemiBold"/>
                <a:cs typeface="Be Vietnam Pro SemiBold"/>
                <a:sym typeface="Be Vietnam Pro SemiBold"/>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a:endParaRPr/>
          </a:p>
        </p:txBody>
      </p:sp>
      <p:sp>
        <p:nvSpPr>
          <p:cNvPr id="113" name="Google Shape;113;p25"/>
          <p:cNvSpPr/>
          <p:nvPr/>
        </p:nvSpPr>
        <p:spPr>
          <a:xfrm rot="10800000" flipH="1">
            <a:off x="-63500" y="277050"/>
            <a:ext cx="254100" cy="465900"/>
          </a:xfrm>
          <a:prstGeom prst="rect">
            <a:avLst/>
          </a:prstGeom>
          <a:solidFill>
            <a:srgbClr val="30A2DB"/>
          </a:solidFill>
          <a:ln>
            <a:noFill/>
          </a:ln>
        </p:spPr>
        <p:txBody>
          <a:bodyPr spcFirstLastPara="1" wrap="square" lIns="45725" tIns="45725" rIns="45725" bIns="45725" anchor="ctr" anchorCtr="0">
            <a:noAutofit/>
          </a:bodyPr>
          <a:lstStyle/>
          <a:p>
            <a:pPr marL="0" marR="0" lvl="0" indent="0" algn="l" rtl="0">
              <a:lnSpc>
                <a:spcPct val="100000"/>
              </a:lnSpc>
              <a:spcBef>
                <a:spcPts val="0"/>
              </a:spcBef>
              <a:spcAft>
                <a:spcPts val="0"/>
              </a:spcAft>
              <a:buClr>
                <a:srgbClr val="000000"/>
              </a:buClr>
              <a:buSzPts val="700"/>
              <a:buFont typeface="Arial"/>
              <a:buNone/>
            </a:pPr>
            <a:endParaRPr sz="700" b="0" i="0" u="none" strike="noStrike" cap="none">
              <a:solidFill>
                <a:srgbClr val="000000"/>
              </a:solidFill>
              <a:latin typeface="Arial"/>
              <a:ea typeface="Arial"/>
              <a:cs typeface="Arial"/>
              <a:sym typeface="Arial"/>
            </a:endParaRPr>
          </a:p>
        </p:txBody>
      </p:sp>
      <p:pic>
        <p:nvPicPr>
          <p:cNvPr id="114" name="Google Shape;114;p25"/>
          <p:cNvPicPr preferRelativeResize="0"/>
          <p:nvPr/>
        </p:nvPicPr>
        <p:blipFill rotWithShape="1">
          <a:blip r:embed="rId2">
            <a:alphaModFix/>
          </a:blip>
          <a:srcRect/>
          <a:stretch/>
        </p:blipFill>
        <p:spPr>
          <a:xfrm>
            <a:off x="8549704" y="4895850"/>
            <a:ext cx="539817" cy="182563"/>
          </a:xfrm>
          <a:prstGeom prst="rect">
            <a:avLst/>
          </a:prstGeom>
          <a:noFill/>
          <a:ln>
            <a:noFill/>
          </a:ln>
        </p:spPr>
      </p:pic>
      <p:sp>
        <p:nvSpPr>
          <p:cNvPr id="115" name="Google Shape;115;p25"/>
          <p:cNvSpPr txBox="1">
            <a:spLocks noGrp="1"/>
          </p:cNvSpPr>
          <p:nvPr>
            <p:ph type="sldNum" idx="12"/>
          </p:nvPr>
        </p:nvSpPr>
        <p:spPr>
          <a:xfrm>
            <a:off x="7924800" y="4857750"/>
            <a:ext cx="573900" cy="273900"/>
          </a:xfrm>
          <a:prstGeom prst="rect">
            <a:avLst/>
          </a:prstGeom>
          <a:noFill/>
          <a:ln>
            <a:noFill/>
          </a:ln>
        </p:spPr>
        <p:txBody>
          <a:bodyPr spcFirstLastPara="1" wrap="square" lIns="45725" tIns="22850" rIns="45725" bIns="22850" anchor="ctr" anchorCtr="0">
            <a:noAutofit/>
          </a:bodyPr>
          <a:lstStyle>
            <a:lvl1pPr marL="0" marR="0" lvl="0"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1pPr>
            <a:lvl2pPr marL="0" marR="0" lvl="1"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2pPr>
            <a:lvl3pPr marL="0" marR="0" lvl="2"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3pPr>
            <a:lvl4pPr marL="0" marR="0" lvl="3"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4pPr>
            <a:lvl5pPr marL="0" marR="0" lvl="4"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5pPr>
            <a:lvl6pPr marL="0" marR="0" lvl="5"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6pPr>
            <a:lvl7pPr marL="0" marR="0" lvl="6"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7pPr>
            <a:lvl8pPr marL="0" marR="0" lvl="7"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8pPr>
            <a:lvl9pPr marL="0" marR="0" lvl="8" indent="0" algn="r">
              <a:lnSpc>
                <a:spcPct val="100000"/>
              </a:lnSpc>
              <a:spcBef>
                <a:spcPts val="0"/>
              </a:spcBef>
              <a:spcAft>
                <a:spcPts val="0"/>
              </a:spcAft>
              <a:buClr>
                <a:srgbClr val="000000"/>
              </a:buClr>
              <a:buSzPts val="700"/>
              <a:buFont typeface="Arial"/>
              <a:buNone/>
              <a:defRPr sz="700" b="0" i="0" u="none" strike="noStrike" cap="none">
                <a:solidFill>
                  <a:schemeClr val="lt1"/>
                </a:solidFill>
                <a:latin typeface="Be Vietnam Pro"/>
                <a:ea typeface="Be Vietnam Pro"/>
                <a:cs typeface="Be Vietnam Pro"/>
                <a:sym typeface="Be Vietnam Pro"/>
              </a:defRPr>
            </a:lvl9pPr>
          </a:lstStyle>
          <a:p>
            <a:pPr marL="0" lvl="0" indent="0" algn="r" rtl="0">
              <a:spcBef>
                <a:spcPts val="0"/>
              </a:spcBef>
              <a:spcAft>
                <a:spcPts val="0"/>
              </a:spcAft>
              <a:buNone/>
            </a:pPr>
            <a:r>
              <a:rPr lang="en"/>
              <a:t>Page | </a:t>
            </a: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113154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76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comments" Target="../comments/comment1.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1.xml"/><Relationship Id="rId6" Type="http://schemas.openxmlformats.org/officeDocument/2006/relationships/comments" Target="../comments/comment2.xml"/><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1.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comments" Target="../comments/comment3.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1.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comments" Target="../comments/comment4.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comments" Target="../comments/comment5.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1.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1.xml"/><Relationship Id="rId5" Type="http://schemas.openxmlformats.org/officeDocument/2006/relationships/image" Target="../media/image11.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comments" Target="../comments/comment6.xml"/><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comments" Target="../comments/comment7.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21.xml"/><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10.xml"/><Relationship Id="rId5" Type="http://schemas.openxmlformats.org/officeDocument/2006/relationships/comments" Target="../comments/comment9.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0.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8.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10.xml"/><Relationship Id="rId6" Type="http://schemas.openxmlformats.org/officeDocument/2006/relationships/image" Target="../media/image13.png"/><Relationship Id="rId5" Type="http://schemas.openxmlformats.org/officeDocument/2006/relationships/image" Target="../media/image18.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83"/>
        <p:cNvGrpSpPr/>
        <p:nvPr/>
      </p:nvGrpSpPr>
      <p:grpSpPr>
        <a:xfrm>
          <a:off x="0" y="0"/>
          <a:ext cx="0" cy="0"/>
          <a:chOff x="0" y="0"/>
          <a:chExt cx="0" cy="0"/>
        </a:xfrm>
      </p:grpSpPr>
      <p:grpSp>
        <p:nvGrpSpPr>
          <p:cNvPr id="1484" name="Google Shape;1484;p162"/>
          <p:cNvGrpSpPr/>
          <p:nvPr/>
        </p:nvGrpSpPr>
        <p:grpSpPr>
          <a:xfrm>
            <a:off x="239992" y="63853"/>
            <a:ext cx="8728050" cy="745997"/>
            <a:chOff x="236700" y="63853"/>
            <a:chExt cx="8728050" cy="745997"/>
          </a:xfrm>
        </p:grpSpPr>
        <p:sp>
          <p:nvSpPr>
            <p:cNvPr id="1485" name="Google Shape;1485;p16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486" name="Google Shape;1486;p16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487" name="Google Shape;1487;p16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488" name="Google Shape;1488;p16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489" name="Google Shape;1489;p16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490" name="Google Shape;1490;p16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491" name="Google Shape;1491;p16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cxnSp>
          <p:nvCxnSpPr>
            <p:cNvPr id="1492" name="Google Shape;1492;p16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493" name="Google Shape;1493;p16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494" name="Google Shape;1494;p16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495" name="Google Shape;1495;p162"/>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496" name="Google Shape;1496;p162"/>
          <p:cNvSpPr/>
          <p:nvPr/>
        </p:nvSpPr>
        <p:spPr>
          <a:xfrm>
            <a:off x="4680138" y="1526813"/>
            <a:ext cx="4305900" cy="2688600"/>
          </a:xfrm>
          <a:prstGeom prst="roundRect">
            <a:avLst>
              <a:gd name="adj" fmla="val 9955"/>
            </a:avLst>
          </a:prstGeom>
          <a:solidFill>
            <a:srgbClr val="EEEEE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Montserrat"/>
              <a:ea typeface="Montserrat"/>
              <a:cs typeface="Montserrat"/>
              <a:sym typeface="Montserrat"/>
            </a:endParaRPr>
          </a:p>
        </p:txBody>
      </p:sp>
      <p:sp>
        <p:nvSpPr>
          <p:cNvPr id="1497" name="Google Shape;1497;p162"/>
          <p:cNvSpPr txBox="1"/>
          <p:nvPr/>
        </p:nvSpPr>
        <p:spPr>
          <a:xfrm>
            <a:off x="483525" y="968225"/>
            <a:ext cx="8484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Montserrat"/>
                <a:ea typeface="Montserrat"/>
                <a:cs typeface="Montserrat"/>
                <a:sym typeface="Montserrat"/>
              </a:rPr>
              <a:t>Follow the Money: From your EVN Bill to a Bankable DPPA</a:t>
            </a:r>
            <a:endParaRPr b="1">
              <a:latin typeface="Montserrat"/>
              <a:ea typeface="Montserrat"/>
              <a:cs typeface="Montserrat"/>
              <a:sym typeface="Montserrat"/>
            </a:endParaRPr>
          </a:p>
        </p:txBody>
      </p:sp>
      <p:graphicFrame>
        <p:nvGraphicFramePr>
          <p:cNvPr id="1498" name="Google Shape;1498;p162"/>
          <p:cNvGraphicFramePr/>
          <p:nvPr/>
        </p:nvGraphicFramePr>
        <p:xfrm>
          <a:off x="483533" y="1526817"/>
          <a:ext cx="3952550" cy="2721220"/>
        </p:xfrm>
        <a:graphic>
          <a:graphicData uri="http://schemas.openxmlformats.org/drawingml/2006/table">
            <a:tbl>
              <a:tblPr firstRow="1" bandRow="1">
                <a:noFill/>
                <a:tableStyleId>{CE8BD2AF-5D0D-4EDC-AE96-A30A7DA1AF2F}</a:tableStyleId>
              </a:tblPr>
              <a:tblGrid>
                <a:gridCol w="515450">
                  <a:extLst>
                    <a:ext uri="{9D8B030D-6E8A-4147-A177-3AD203B41FA5}">
                      <a16:colId xmlns:a16="http://schemas.microsoft.com/office/drawing/2014/main" val="20000"/>
                    </a:ext>
                  </a:extLst>
                </a:gridCol>
                <a:gridCol w="3437100">
                  <a:extLst>
                    <a:ext uri="{9D8B030D-6E8A-4147-A177-3AD203B41FA5}">
                      <a16:colId xmlns:a16="http://schemas.microsoft.com/office/drawing/2014/main" val="20001"/>
                    </a:ext>
                  </a:extLst>
                </a:gridCol>
              </a:tblGrid>
              <a:tr h="345025">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Module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1</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The </a:t>
                      </a:r>
                      <a:r>
                        <a:rPr lang="en" sz="1300">
                          <a:solidFill>
                            <a:schemeClr val="dk1"/>
                          </a:solidFill>
                          <a:latin typeface="Montserrat"/>
                          <a:ea typeface="Montserrat"/>
                          <a:cs typeface="Montserrat"/>
                          <a:sym typeface="Montserrat"/>
                        </a:rPr>
                        <a:t>B</a:t>
                      </a:r>
                      <a:r>
                        <a:rPr lang="en" sz="1300" u="none" strike="noStrike" cap="none">
                          <a:solidFill>
                            <a:schemeClr val="dk1"/>
                          </a:solidFill>
                          <a:latin typeface="Montserrat"/>
                          <a:ea typeface="Montserrat"/>
                          <a:cs typeface="Montserrat"/>
                          <a:sym typeface="Montserrat"/>
                        </a:rPr>
                        <a:t>aseline: </a:t>
                      </a:r>
                      <a:r>
                        <a:rPr lang="en" sz="1300">
                          <a:solidFill>
                            <a:schemeClr val="dk1"/>
                          </a:solidFill>
                          <a:latin typeface="Montserrat"/>
                          <a:ea typeface="Montserrat"/>
                          <a:cs typeface="Montserrat"/>
                          <a:sym typeface="Montserrat"/>
                        </a:rPr>
                        <a:t>W</a:t>
                      </a:r>
                      <a:r>
                        <a:rPr lang="en" sz="1300" u="none" strike="noStrike" cap="none">
                          <a:solidFill>
                            <a:schemeClr val="dk1"/>
                          </a:solidFill>
                          <a:latin typeface="Montserrat"/>
                          <a:ea typeface="Montserrat"/>
                          <a:cs typeface="Montserrat"/>
                          <a:sym typeface="Montserrat"/>
                        </a:rPr>
                        <a:t>hat </a:t>
                      </a:r>
                      <a:r>
                        <a:rPr lang="en" sz="1300">
                          <a:solidFill>
                            <a:schemeClr val="dk1"/>
                          </a:solidFill>
                          <a:latin typeface="Montserrat"/>
                          <a:ea typeface="Montserrat"/>
                          <a:cs typeface="Montserrat"/>
                          <a:sym typeface="Montserrat"/>
                        </a:rPr>
                        <a:t>Y</a:t>
                      </a:r>
                      <a:r>
                        <a:rPr lang="en" sz="1300" u="none" strike="noStrike" cap="none">
                          <a:solidFill>
                            <a:schemeClr val="dk1"/>
                          </a:solidFill>
                          <a:latin typeface="Montserrat"/>
                          <a:ea typeface="Montserrat"/>
                          <a:cs typeface="Montserrat"/>
                          <a:sym typeface="Montserrat"/>
                        </a:rPr>
                        <a:t>ou </a:t>
                      </a:r>
                      <a:r>
                        <a:rPr lang="en" sz="1300">
                          <a:solidFill>
                            <a:schemeClr val="dk1"/>
                          </a:solidFill>
                          <a:latin typeface="Montserrat"/>
                          <a:ea typeface="Montserrat"/>
                          <a:cs typeface="Montserrat"/>
                          <a:sym typeface="Montserrat"/>
                        </a:rPr>
                        <a:t>P</a:t>
                      </a:r>
                      <a:r>
                        <a:rPr lang="en" sz="1300" u="none" strike="noStrike" cap="none">
                          <a:solidFill>
                            <a:schemeClr val="dk1"/>
                          </a:solidFill>
                          <a:latin typeface="Montserrat"/>
                          <a:ea typeface="Montserrat"/>
                          <a:cs typeface="Montserrat"/>
                          <a:sym typeface="Montserrat"/>
                        </a:rPr>
                        <a:t>ay EVN </a:t>
                      </a:r>
                      <a:r>
                        <a:rPr lang="en" sz="1300">
                          <a:solidFill>
                            <a:schemeClr val="dk1"/>
                          </a:solidFill>
                          <a:latin typeface="Montserrat"/>
                          <a:ea typeface="Montserrat"/>
                          <a:cs typeface="Montserrat"/>
                          <a:sym typeface="Montserrat"/>
                        </a:rPr>
                        <a:t>T</a:t>
                      </a:r>
                      <a:r>
                        <a:rPr lang="en" sz="1300" u="none" strike="noStrike" cap="none">
                          <a:solidFill>
                            <a:schemeClr val="dk1"/>
                          </a:solidFill>
                          <a:latin typeface="Montserrat"/>
                          <a:ea typeface="Montserrat"/>
                          <a:cs typeface="Montserrat"/>
                          <a:sym typeface="Montserrat"/>
                        </a:rPr>
                        <a:t>oday</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extLst>
                  <a:ext uri="{0D108BD9-81ED-4DB2-BD59-A6C34878D82A}">
                    <a16:rowId xmlns:a16="http://schemas.microsoft.com/office/drawing/2014/main" val="10001"/>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2</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Virtual DPPA </a:t>
                      </a:r>
                      <a:r>
                        <a:rPr lang="en" sz="1300">
                          <a:solidFill>
                            <a:schemeClr val="dk1"/>
                          </a:solidFill>
                          <a:latin typeface="Montserrat"/>
                          <a:ea typeface="Montserrat"/>
                          <a:cs typeface="Montserrat"/>
                          <a:sym typeface="Montserrat"/>
                        </a:rPr>
                        <a:t>M</a:t>
                      </a:r>
                      <a:r>
                        <a:rPr lang="en" sz="1300" u="none" strike="noStrike" cap="none">
                          <a:solidFill>
                            <a:schemeClr val="dk1"/>
                          </a:solidFill>
                          <a:latin typeface="Montserrat"/>
                          <a:ea typeface="Montserrat"/>
                          <a:cs typeface="Montserrat"/>
                          <a:sym typeface="Montserrat"/>
                        </a:rPr>
                        <a:t>oney </a:t>
                      </a:r>
                      <a:r>
                        <a:rPr lang="en" sz="1300">
                          <a:solidFill>
                            <a:schemeClr val="dk1"/>
                          </a:solidFill>
                          <a:latin typeface="Montserrat"/>
                          <a:ea typeface="Montserrat"/>
                          <a:cs typeface="Montserrat"/>
                          <a:sym typeface="Montserrat"/>
                        </a:rPr>
                        <a:t>F</a:t>
                      </a:r>
                      <a:r>
                        <a:rPr lang="en" sz="1300" u="none" strike="noStrike" cap="none">
                          <a:solidFill>
                            <a:schemeClr val="dk1"/>
                          </a:solidFill>
                          <a:latin typeface="Montserrat"/>
                          <a:ea typeface="Montserrat"/>
                          <a:cs typeface="Montserrat"/>
                          <a:sym typeface="Montserrat"/>
                        </a:rPr>
                        <a:t>low: </a:t>
                      </a:r>
                      <a:r>
                        <a:rPr lang="en" sz="1300">
                          <a:solidFill>
                            <a:schemeClr val="dk1"/>
                          </a:solidFill>
                          <a:latin typeface="Montserrat"/>
                          <a:ea typeface="Montserrat"/>
                          <a:cs typeface="Montserrat"/>
                          <a:sym typeface="Montserrat"/>
                        </a:rPr>
                        <a:t>The Five-Line Bill</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2"/>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3</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CfD </a:t>
                      </a:r>
                      <a:r>
                        <a:rPr lang="en" sz="1300">
                          <a:solidFill>
                            <a:schemeClr val="dk1"/>
                          </a:solidFill>
                          <a:latin typeface="Montserrat"/>
                          <a:ea typeface="Montserrat"/>
                          <a:cs typeface="Montserrat"/>
                          <a:sym typeface="Montserrat"/>
                        </a:rPr>
                        <a:t>M</a:t>
                      </a:r>
                      <a:r>
                        <a:rPr lang="en" sz="1300" u="none" strike="noStrike" cap="none">
                          <a:solidFill>
                            <a:schemeClr val="dk1"/>
                          </a:solidFill>
                          <a:latin typeface="Montserrat"/>
                          <a:ea typeface="Montserrat"/>
                          <a:cs typeface="Montserrat"/>
                          <a:sym typeface="Montserrat"/>
                        </a:rPr>
                        <a:t>echanics: </a:t>
                      </a:r>
                      <a:r>
                        <a:rPr lang="en" sz="1300">
                          <a:solidFill>
                            <a:schemeClr val="dk1"/>
                          </a:solidFill>
                          <a:latin typeface="Montserrat"/>
                          <a:ea typeface="Montserrat"/>
                          <a:cs typeface="Montserrat"/>
                          <a:sym typeface="Montserrat"/>
                        </a:rPr>
                        <a:t>W</a:t>
                      </a:r>
                      <a:r>
                        <a:rPr lang="en" sz="1300" u="none" strike="noStrike" cap="none">
                          <a:solidFill>
                            <a:schemeClr val="dk1"/>
                          </a:solidFill>
                          <a:latin typeface="Montserrat"/>
                          <a:ea typeface="Montserrat"/>
                          <a:cs typeface="Montserrat"/>
                          <a:sym typeface="Montserrat"/>
                        </a:rPr>
                        <a:t>hat </a:t>
                      </a:r>
                      <a:r>
                        <a:rPr lang="en" sz="1300">
                          <a:solidFill>
                            <a:schemeClr val="dk1"/>
                          </a:solidFill>
                          <a:latin typeface="Montserrat"/>
                          <a:ea typeface="Montserrat"/>
                          <a:cs typeface="Montserrat"/>
                          <a:sym typeface="Montserrat"/>
                        </a:rPr>
                        <a:t>D</a:t>
                      </a:r>
                      <a:r>
                        <a:rPr lang="en" sz="1300" u="none" strike="noStrike" cap="none">
                          <a:solidFill>
                            <a:schemeClr val="dk1"/>
                          </a:solidFill>
                          <a:latin typeface="Montserrat"/>
                          <a:ea typeface="Montserrat"/>
                          <a:cs typeface="Montserrat"/>
                          <a:sym typeface="Montserrat"/>
                        </a:rPr>
                        <a:t>rives </a:t>
                      </a:r>
                      <a:r>
                        <a:rPr lang="en" sz="1300">
                          <a:solidFill>
                            <a:schemeClr val="dk1"/>
                          </a:solidFill>
                          <a:latin typeface="Montserrat"/>
                          <a:ea typeface="Montserrat"/>
                          <a:cs typeface="Montserrat"/>
                          <a:sym typeface="Montserrat"/>
                        </a:rPr>
                        <a:t>Y</a:t>
                      </a:r>
                      <a:r>
                        <a:rPr lang="en" sz="1300" u="none" strike="noStrike" cap="none">
                          <a:solidFill>
                            <a:schemeClr val="dk1"/>
                          </a:solidFill>
                          <a:latin typeface="Montserrat"/>
                          <a:ea typeface="Montserrat"/>
                          <a:cs typeface="Montserrat"/>
                          <a:sym typeface="Montserrat"/>
                        </a:rPr>
                        <a:t>our </a:t>
                      </a:r>
                      <a:r>
                        <a:rPr lang="en" sz="1300">
                          <a:solidFill>
                            <a:schemeClr val="dk1"/>
                          </a:solidFill>
                          <a:latin typeface="Montserrat"/>
                          <a:ea typeface="Montserrat"/>
                          <a:cs typeface="Montserrat"/>
                          <a:sym typeface="Montserrat"/>
                        </a:rPr>
                        <a:t>Quoted Price</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extLst>
                  <a:ext uri="{0D108BD9-81ED-4DB2-BD59-A6C34878D82A}">
                    <a16:rowId xmlns:a16="http://schemas.microsoft.com/office/drawing/2014/main" val="10003"/>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4</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Developer </a:t>
                      </a:r>
                      <a:r>
                        <a:rPr lang="en" sz="1300">
                          <a:solidFill>
                            <a:schemeClr val="dk1"/>
                          </a:solidFill>
                          <a:latin typeface="Montserrat"/>
                          <a:ea typeface="Montserrat"/>
                          <a:cs typeface="Montserrat"/>
                          <a:sym typeface="Montserrat"/>
                        </a:rPr>
                        <a:t>E</a:t>
                      </a:r>
                      <a:r>
                        <a:rPr lang="en" sz="1300" u="none" strike="noStrike" cap="none">
                          <a:solidFill>
                            <a:schemeClr val="dk1"/>
                          </a:solidFill>
                          <a:latin typeface="Montserrat"/>
                          <a:ea typeface="Montserrat"/>
                          <a:cs typeface="Montserrat"/>
                          <a:sym typeface="Montserrat"/>
                        </a:rPr>
                        <a:t>conomics and the </a:t>
                      </a:r>
                      <a:r>
                        <a:rPr lang="en" sz="1300">
                          <a:solidFill>
                            <a:schemeClr val="dk1"/>
                          </a:solidFill>
                          <a:latin typeface="Montserrat"/>
                          <a:ea typeface="Montserrat"/>
                          <a:cs typeface="Montserrat"/>
                          <a:sym typeface="Montserrat"/>
                        </a:rPr>
                        <a:t>T</a:t>
                      </a:r>
                      <a:r>
                        <a:rPr lang="en" sz="1300" u="none" strike="noStrike" cap="none">
                          <a:solidFill>
                            <a:schemeClr val="dk1"/>
                          </a:solidFill>
                          <a:latin typeface="Montserrat"/>
                          <a:ea typeface="Montserrat"/>
                          <a:cs typeface="Montserrat"/>
                          <a:sym typeface="Montserrat"/>
                        </a:rPr>
                        <a:t>hree </a:t>
                      </a:r>
                      <a:r>
                        <a:rPr lang="en" sz="1300">
                          <a:solidFill>
                            <a:schemeClr val="dk1"/>
                          </a:solidFill>
                          <a:latin typeface="Montserrat"/>
                          <a:ea typeface="Montserrat"/>
                          <a:cs typeface="Montserrat"/>
                          <a:sym typeface="Montserrat"/>
                        </a:rPr>
                        <a:t>G</a:t>
                      </a:r>
                      <a:r>
                        <a:rPr lang="en" sz="1300" u="none" strike="noStrike" cap="none">
                          <a:solidFill>
                            <a:schemeClr val="dk1"/>
                          </a:solidFill>
                          <a:latin typeface="Montserrat"/>
                          <a:ea typeface="Montserrat"/>
                          <a:cs typeface="Montserrat"/>
                          <a:sym typeface="Montserrat"/>
                        </a:rPr>
                        <a:t>ates</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4"/>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5</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Case </a:t>
                      </a:r>
                      <a:r>
                        <a:rPr lang="en" sz="1300">
                          <a:solidFill>
                            <a:schemeClr val="dk1"/>
                          </a:solidFill>
                          <a:latin typeface="Montserrat"/>
                          <a:ea typeface="Montserrat"/>
                          <a:cs typeface="Montserrat"/>
                          <a:sym typeface="Montserrat"/>
                        </a:rPr>
                        <a:t>S</a:t>
                      </a:r>
                      <a:r>
                        <a:rPr lang="en" sz="1300" u="none" strike="noStrike" cap="none">
                          <a:solidFill>
                            <a:schemeClr val="dk1"/>
                          </a:solidFill>
                          <a:latin typeface="Montserrat"/>
                          <a:ea typeface="Montserrat"/>
                          <a:cs typeface="Montserrat"/>
                          <a:sym typeface="Montserrat"/>
                        </a:rPr>
                        <a:t>tud</a:t>
                      </a:r>
                      <a:r>
                        <a:rPr lang="en" sz="1300">
                          <a:solidFill>
                            <a:schemeClr val="dk1"/>
                          </a:solidFill>
                          <a:latin typeface="Montserrat"/>
                          <a:ea typeface="Montserrat"/>
                          <a:cs typeface="Montserrat"/>
                          <a:sym typeface="Montserrat"/>
                        </a:rPr>
                        <a:t>ies 5 &amp; 6</a:t>
                      </a:r>
                      <a:endParaRPr>
                        <a:solidFill>
                          <a:schemeClr val="dk1"/>
                        </a:solidFill>
                        <a:latin typeface="Montserrat"/>
                        <a:ea typeface="Montserrat"/>
                        <a:cs typeface="Montserrat"/>
                        <a:sym typeface="Montserrat"/>
                      </a:endParaRPr>
                    </a:p>
                  </a:txBody>
                  <a:tcPr marL="91450" marR="91450" marT="25400" marB="25400" anchor="ctr">
                    <a:solidFill>
                      <a:srgbClr val="FFFFFF"/>
                    </a:solidFill>
                  </a:tcPr>
                </a:tc>
                <a:extLst>
                  <a:ext uri="{0D108BD9-81ED-4DB2-BD59-A6C34878D82A}">
                    <a16:rowId xmlns:a16="http://schemas.microsoft.com/office/drawing/2014/main" val="10005"/>
                  </a:ext>
                </a:extLst>
              </a:tr>
              <a:tr h="345025">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6</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l" rtl="0">
                        <a:lnSpc>
                          <a:spcPct val="100000"/>
                        </a:lnSpc>
                        <a:spcBef>
                          <a:spcPts val="0"/>
                        </a:spcBef>
                        <a:spcAft>
                          <a:spcPts val="0"/>
                        </a:spcAft>
                        <a:buNone/>
                      </a:pPr>
                      <a:r>
                        <a:rPr lang="en" sz="1300" u="none" strike="noStrike" cap="none">
                          <a:solidFill>
                            <a:schemeClr val="dk1"/>
                          </a:solidFill>
                          <a:latin typeface="Montserrat"/>
                          <a:ea typeface="Montserrat"/>
                          <a:cs typeface="Montserrat"/>
                          <a:sym typeface="Montserrat"/>
                        </a:rPr>
                        <a:t>Key </a:t>
                      </a:r>
                      <a:r>
                        <a:rPr lang="en" sz="1300">
                          <a:solidFill>
                            <a:schemeClr val="dk1"/>
                          </a:solidFill>
                          <a:latin typeface="Montserrat"/>
                          <a:ea typeface="Montserrat"/>
                          <a:cs typeface="Montserrat"/>
                          <a:sym typeface="Montserrat"/>
                        </a:rPr>
                        <a:t>D</a:t>
                      </a:r>
                      <a:r>
                        <a:rPr lang="en" sz="1300" u="none" strike="noStrike" cap="none">
                          <a:solidFill>
                            <a:schemeClr val="dk1"/>
                          </a:solidFill>
                          <a:latin typeface="Montserrat"/>
                          <a:ea typeface="Montserrat"/>
                          <a:cs typeface="Montserrat"/>
                          <a:sym typeface="Montserrat"/>
                        </a:rPr>
                        <a:t>ecision </a:t>
                      </a:r>
                      <a:r>
                        <a:rPr lang="en" sz="1300">
                          <a:solidFill>
                            <a:schemeClr val="dk1"/>
                          </a:solidFill>
                          <a:latin typeface="Montserrat"/>
                          <a:ea typeface="Montserrat"/>
                          <a:cs typeface="Montserrat"/>
                          <a:sym typeface="Montserrat"/>
                        </a:rPr>
                        <a:t>P</a:t>
                      </a:r>
                      <a:r>
                        <a:rPr lang="en" sz="1300" u="none" strike="noStrike" cap="none">
                          <a:solidFill>
                            <a:schemeClr val="dk1"/>
                          </a:solidFill>
                          <a:latin typeface="Montserrat"/>
                          <a:ea typeface="Montserrat"/>
                          <a:cs typeface="Montserrat"/>
                          <a:sym typeface="Montserrat"/>
                        </a:rPr>
                        <a:t>oints and </a:t>
                      </a:r>
                      <a:r>
                        <a:rPr lang="en" sz="1300">
                          <a:solidFill>
                            <a:schemeClr val="dk1"/>
                          </a:solidFill>
                          <a:latin typeface="Montserrat"/>
                          <a:ea typeface="Montserrat"/>
                          <a:cs typeface="Montserrat"/>
                          <a:sym typeface="Montserrat"/>
                        </a:rPr>
                        <a:t>Wrap-up</a:t>
                      </a:r>
                      <a:endParaRPr>
                        <a:solidFill>
                          <a:schemeClr val="dk1"/>
                        </a:solidFill>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6"/>
                  </a:ext>
                </a:extLst>
              </a:tr>
            </a:tbl>
          </a:graphicData>
        </a:graphic>
      </p:graphicFrame>
      <p:sp>
        <p:nvSpPr>
          <p:cNvPr id="1499" name="Google Shape;1499;p162"/>
          <p:cNvSpPr txBox="1"/>
          <p:nvPr/>
        </p:nvSpPr>
        <p:spPr>
          <a:xfrm>
            <a:off x="4871317" y="1576126"/>
            <a:ext cx="4015500" cy="264900"/>
          </a:xfrm>
          <a:prstGeom prst="rect">
            <a:avLst/>
          </a:prstGeom>
          <a:noFill/>
          <a:ln>
            <a:noFill/>
          </a:ln>
        </p:spPr>
        <p:txBody>
          <a:bodyPr spcFirstLastPara="1" wrap="square" lIns="78725" tIns="39350" rIns="78725" bIns="39350" anchor="t" anchorCtr="0">
            <a:spAutoFit/>
          </a:bodyPr>
          <a:lstStyle/>
          <a:p>
            <a:pPr marL="0" marR="0" lvl="0" indent="0" algn="l" rtl="0">
              <a:lnSpc>
                <a:spcPct val="100000"/>
              </a:lnSpc>
              <a:spcBef>
                <a:spcPts val="0"/>
              </a:spcBef>
              <a:spcAft>
                <a:spcPts val="0"/>
              </a:spcAft>
              <a:buNone/>
            </a:pPr>
            <a:r>
              <a:rPr lang="en" sz="1205" b="1" i="0" u="none" strike="noStrike" cap="none">
                <a:solidFill>
                  <a:schemeClr val="dk1"/>
                </a:solidFill>
                <a:latin typeface="Montserrat"/>
                <a:ea typeface="Montserrat"/>
                <a:cs typeface="Montserrat"/>
                <a:sym typeface="Montserrat"/>
              </a:rPr>
              <a:t>By the end of this session you </a:t>
            </a:r>
            <a:r>
              <a:rPr lang="en" sz="1205" b="1">
                <a:solidFill>
                  <a:schemeClr val="dk1"/>
                </a:solidFill>
                <a:latin typeface="Montserrat"/>
                <a:ea typeface="Montserrat"/>
                <a:cs typeface="Montserrat"/>
                <a:sym typeface="Montserrat"/>
              </a:rPr>
              <a:t>will be able</a:t>
            </a:r>
            <a:r>
              <a:rPr lang="en" sz="1205" b="1" i="0" u="none" strike="noStrike" cap="none">
                <a:solidFill>
                  <a:schemeClr val="dk1"/>
                </a:solidFill>
                <a:latin typeface="Montserrat"/>
                <a:ea typeface="Montserrat"/>
                <a:cs typeface="Montserrat"/>
                <a:sym typeface="Montserrat"/>
              </a:rPr>
              <a:t>:</a:t>
            </a:r>
            <a:endParaRPr sz="1205">
              <a:solidFill>
                <a:schemeClr val="dk1"/>
              </a:solidFill>
              <a:latin typeface="Montserrat"/>
              <a:ea typeface="Montserrat"/>
              <a:cs typeface="Montserrat"/>
              <a:sym typeface="Montserrat"/>
            </a:endParaRPr>
          </a:p>
        </p:txBody>
      </p:sp>
      <p:sp>
        <p:nvSpPr>
          <p:cNvPr id="1500" name="Google Shape;1500;p162"/>
          <p:cNvSpPr txBox="1"/>
          <p:nvPr/>
        </p:nvSpPr>
        <p:spPr>
          <a:xfrm>
            <a:off x="4871313" y="1922565"/>
            <a:ext cx="4015500" cy="1970100"/>
          </a:xfrm>
          <a:prstGeom prst="rect">
            <a:avLst/>
          </a:prstGeom>
          <a:noFill/>
          <a:ln>
            <a:noFill/>
          </a:ln>
        </p:spPr>
        <p:txBody>
          <a:bodyPr spcFirstLastPara="1" wrap="square" lIns="78725" tIns="39350" rIns="78725" bIns="39350" anchor="t" anchorCtr="0">
            <a:spAutoFit/>
          </a:bodyPr>
          <a:lstStyle/>
          <a:p>
            <a:pPr marL="0" marR="0" lvl="0" indent="0" algn="l" rtl="0">
              <a:lnSpc>
                <a:spcPct val="115000"/>
              </a:lnSpc>
              <a:spcBef>
                <a:spcPts val="0"/>
              </a:spcBef>
              <a:spcAft>
                <a:spcPts val="0"/>
              </a:spcAft>
              <a:buNone/>
            </a:pPr>
            <a:r>
              <a:rPr lang="en" sz="1119" i="0" u="none" strike="noStrike" cap="none">
                <a:solidFill>
                  <a:schemeClr val="dk1"/>
                </a:solidFill>
                <a:latin typeface="Montserrat"/>
                <a:ea typeface="Montserrat"/>
                <a:cs typeface="Montserrat"/>
                <a:sym typeface="Montserrat"/>
              </a:rPr>
              <a:t>1.  </a:t>
            </a:r>
            <a:r>
              <a:rPr lang="en" sz="1119">
                <a:solidFill>
                  <a:schemeClr val="dk1"/>
                </a:solidFill>
                <a:latin typeface="Montserrat"/>
                <a:ea typeface="Montserrat"/>
                <a:cs typeface="Montserrat"/>
                <a:sym typeface="Montserrat"/>
              </a:rPr>
              <a:t>Breakdown</a:t>
            </a:r>
            <a:r>
              <a:rPr lang="en" sz="1119" i="0" u="none" strike="noStrike" cap="none">
                <a:solidFill>
                  <a:schemeClr val="dk1"/>
                </a:solidFill>
                <a:latin typeface="Montserrat"/>
                <a:ea typeface="Montserrat"/>
                <a:cs typeface="Montserrat"/>
                <a:sym typeface="Montserrat"/>
              </a:rPr>
              <a:t> a virtual DPPA monthly settlement into its five components and compare it to your EVN bill</a:t>
            </a:r>
            <a:endParaRPr sz="1205">
              <a:solidFill>
                <a:schemeClr val="dk1"/>
              </a:solidFill>
              <a:latin typeface="Montserrat"/>
              <a:ea typeface="Montserrat"/>
              <a:cs typeface="Montserrat"/>
              <a:sym typeface="Montserrat"/>
            </a:endParaRPr>
          </a:p>
          <a:p>
            <a:pPr marL="0" marR="0" lvl="0" indent="0" algn="l" rtl="0">
              <a:lnSpc>
                <a:spcPct val="115000"/>
              </a:lnSpc>
              <a:spcBef>
                <a:spcPts val="861"/>
              </a:spcBef>
              <a:spcAft>
                <a:spcPts val="0"/>
              </a:spcAft>
              <a:buNone/>
            </a:pPr>
            <a:r>
              <a:rPr lang="en" sz="1119" i="0" u="none" strike="noStrike" cap="none">
                <a:solidFill>
                  <a:schemeClr val="dk1"/>
                </a:solidFill>
                <a:latin typeface="Montserrat"/>
                <a:ea typeface="Montserrat"/>
                <a:cs typeface="Montserrat"/>
                <a:sym typeface="Montserrat"/>
              </a:rPr>
              <a:t>2.  Explain how the CfD strike, market price </a:t>
            </a:r>
            <a:r>
              <a:rPr lang="en" sz="1119">
                <a:solidFill>
                  <a:schemeClr val="dk1"/>
                </a:solidFill>
                <a:latin typeface="Montserrat"/>
                <a:ea typeface="Montserrat"/>
                <a:cs typeface="Montserrat"/>
                <a:sym typeface="Montserrat"/>
              </a:rPr>
              <a:t>(FMP)</a:t>
            </a:r>
            <a:r>
              <a:rPr lang="en" sz="1119" i="0" u="none" strike="noStrike" cap="none">
                <a:solidFill>
                  <a:schemeClr val="dk1"/>
                </a:solidFill>
                <a:latin typeface="Montserrat"/>
                <a:ea typeface="Montserrat"/>
                <a:cs typeface="Montserrat"/>
                <a:sym typeface="Montserrat"/>
              </a:rPr>
              <a:t>, loss factors, and grid fees set your net cost</a:t>
            </a:r>
            <a:endParaRPr sz="1205">
              <a:solidFill>
                <a:schemeClr val="dk1"/>
              </a:solidFill>
              <a:latin typeface="Montserrat"/>
              <a:ea typeface="Montserrat"/>
              <a:cs typeface="Montserrat"/>
              <a:sym typeface="Montserrat"/>
            </a:endParaRPr>
          </a:p>
          <a:p>
            <a:pPr marL="0" marR="0" lvl="0" indent="0" algn="l" rtl="0">
              <a:lnSpc>
                <a:spcPct val="115000"/>
              </a:lnSpc>
              <a:spcBef>
                <a:spcPts val="861"/>
              </a:spcBef>
              <a:spcAft>
                <a:spcPts val="0"/>
              </a:spcAft>
              <a:buNone/>
            </a:pPr>
            <a:r>
              <a:rPr lang="en" sz="1119" i="0" u="none" strike="noStrike" cap="none">
                <a:solidFill>
                  <a:schemeClr val="dk1"/>
                </a:solidFill>
                <a:latin typeface="Montserrat"/>
                <a:ea typeface="Montserrat"/>
                <a:cs typeface="Montserrat"/>
                <a:sym typeface="Montserrat"/>
              </a:rPr>
              <a:t>3.  See why buyers, sellers and lenders each have a </a:t>
            </a:r>
            <a:r>
              <a:rPr lang="en" sz="1119">
                <a:solidFill>
                  <a:schemeClr val="dk1"/>
                </a:solidFill>
                <a:latin typeface="Montserrat"/>
                <a:ea typeface="Montserrat"/>
                <a:cs typeface="Montserrat"/>
                <a:sym typeface="Montserrat"/>
              </a:rPr>
              <a:t>“</a:t>
            </a:r>
            <a:r>
              <a:rPr lang="en" sz="1119" i="0" u="none" strike="noStrike" cap="none">
                <a:solidFill>
                  <a:schemeClr val="dk1"/>
                </a:solidFill>
                <a:latin typeface="Montserrat"/>
                <a:ea typeface="Montserrat"/>
                <a:cs typeface="Montserrat"/>
                <a:sym typeface="Montserrat"/>
              </a:rPr>
              <a:t>gate</a:t>
            </a:r>
            <a:r>
              <a:rPr lang="en" sz="1119">
                <a:solidFill>
                  <a:schemeClr val="dk1"/>
                </a:solidFill>
                <a:latin typeface="Montserrat"/>
                <a:ea typeface="Montserrat"/>
                <a:cs typeface="Montserrat"/>
                <a:sym typeface="Montserrat"/>
              </a:rPr>
              <a:t>”</a:t>
            </a:r>
            <a:r>
              <a:rPr lang="en" sz="1119" i="0" u="none" strike="noStrike" cap="none">
                <a:solidFill>
                  <a:schemeClr val="dk1"/>
                </a:solidFill>
                <a:latin typeface="Montserrat"/>
                <a:ea typeface="Montserrat"/>
                <a:cs typeface="Montserrat"/>
                <a:sym typeface="Montserrat"/>
              </a:rPr>
              <a:t> and why a deal must pass all three</a:t>
            </a:r>
            <a:endParaRPr sz="1205">
              <a:solidFill>
                <a:schemeClr val="dk1"/>
              </a:solidFill>
              <a:latin typeface="Montserrat"/>
              <a:ea typeface="Montserrat"/>
              <a:cs typeface="Montserrat"/>
              <a:sym typeface="Montserrat"/>
            </a:endParaRPr>
          </a:p>
          <a:p>
            <a:pPr marL="0" marR="0" lvl="0" indent="0" algn="l" rtl="0">
              <a:lnSpc>
                <a:spcPct val="115000"/>
              </a:lnSpc>
              <a:spcBef>
                <a:spcPts val="861"/>
              </a:spcBef>
              <a:spcAft>
                <a:spcPts val="0"/>
              </a:spcAft>
              <a:buNone/>
            </a:pPr>
            <a:r>
              <a:rPr lang="en" sz="1119" i="0" u="none" strike="noStrike" cap="none">
                <a:solidFill>
                  <a:schemeClr val="dk1"/>
                </a:solidFill>
                <a:latin typeface="Montserrat"/>
                <a:ea typeface="Montserrat"/>
                <a:cs typeface="Montserrat"/>
                <a:sym typeface="Montserrat"/>
              </a:rPr>
              <a:t>4.  Leave with realistic pricing expectations grounded in a real factory model</a:t>
            </a:r>
            <a:endParaRPr sz="1205">
              <a:solidFill>
                <a:schemeClr val="dk1"/>
              </a:solidFill>
              <a:latin typeface="Montserrat"/>
              <a:ea typeface="Montserrat"/>
              <a:cs typeface="Montserrat"/>
              <a:sym typeface="Montserrat"/>
            </a:endParaRPr>
          </a:p>
        </p:txBody>
      </p:sp>
      <p:sp>
        <p:nvSpPr>
          <p:cNvPr id="1501" name="Google Shape;1501;p162"/>
          <p:cNvSpPr txBox="1"/>
          <p:nvPr/>
        </p:nvSpPr>
        <p:spPr>
          <a:xfrm>
            <a:off x="483535" y="4556438"/>
            <a:ext cx="2858400" cy="2694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400"/>
              </a:spcBef>
              <a:spcAft>
                <a:spcPts val="0"/>
              </a:spcAft>
              <a:buNone/>
            </a:pPr>
            <a:r>
              <a:rPr lang="en" sz="1150" i="0" u="none" strike="noStrike" cap="none">
                <a:solidFill>
                  <a:schemeClr val="dk1"/>
                </a:solidFill>
                <a:latin typeface="Montserrat"/>
                <a:ea typeface="Montserrat"/>
                <a:cs typeface="Montserrat"/>
                <a:sym typeface="Montserrat"/>
              </a:rPr>
              <a:t>Scope: </a:t>
            </a:r>
            <a:r>
              <a:rPr lang="en" sz="1150">
                <a:solidFill>
                  <a:schemeClr val="dk1"/>
                </a:solidFill>
                <a:latin typeface="Montserrat"/>
                <a:ea typeface="Montserrat"/>
                <a:cs typeface="Montserrat"/>
                <a:sym typeface="Montserrat"/>
              </a:rPr>
              <a:t>V</a:t>
            </a:r>
            <a:r>
              <a:rPr lang="en" sz="1150" i="0" u="none" strike="noStrike" cap="none">
                <a:solidFill>
                  <a:schemeClr val="dk1"/>
                </a:solidFill>
                <a:latin typeface="Montserrat"/>
                <a:ea typeface="Montserrat"/>
                <a:cs typeface="Montserrat"/>
                <a:sym typeface="Montserrat"/>
              </a:rPr>
              <a:t>irtual</a:t>
            </a:r>
            <a:r>
              <a:rPr lang="en" sz="1150">
                <a:solidFill>
                  <a:schemeClr val="dk1"/>
                </a:solidFill>
                <a:latin typeface="Montserrat"/>
                <a:ea typeface="Montserrat"/>
                <a:cs typeface="Montserrat"/>
                <a:sym typeface="Montserrat"/>
              </a:rPr>
              <a:t> </a:t>
            </a:r>
            <a:r>
              <a:rPr lang="en" sz="1150" i="0" u="none" strike="noStrike" cap="none">
                <a:solidFill>
                  <a:schemeClr val="dk1"/>
                </a:solidFill>
                <a:latin typeface="Montserrat"/>
                <a:ea typeface="Montserrat"/>
                <a:cs typeface="Montserrat"/>
                <a:sym typeface="Montserrat"/>
              </a:rPr>
              <a:t>DPPA </a:t>
            </a:r>
            <a:r>
              <a:rPr lang="en" sz="1150">
                <a:solidFill>
                  <a:schemeClr val="dk1"/>
                </a:solidFill>
                <a:latin typeface="Montserrat"/>
                <a:ea typeface="Montserrat"/>
                <a:cs typeface="Montserrat"/>
                <a:sym typeface="Montserrat"/>
              </a:rPr>
              <a:t> (grid CfD) </a:t>
            </a:r>
            <a:r>
              <a:rPr lang="en" sz="1150" i="0" u="none" strike="noStrike" cap="none">
                <a:solidFill>
                  <a:schemeClr val="dk1"/>
                </a:solidFill>
                <a:latin typeface="Montserrat"/>
                <a:ea typeface="Montserrat"/>
                <a:cs typeface="Montserrat"/>
                <a:sym typeface="Montserrat"/>
              </a:rPr>
              <a:t>only.</a:t>
            </a:r>
            <a:endParaRPr>
              <a:solidFill>
                <a:schemeClr val="dk1"/>
              </a:solidFill>
              <a:latin typeface="Montserrat"/>
              <a:ea typeface="Montserrat"/>
              <a:cs typeface="Montserrat"/>
              <a:sym typeface="Montserrat"/>
            </a:endParaRPr>
          </a:p>
        </p:txBody>
      </p:sp>
      <p:sp>
        <p:nvSpPr>
          <p:cNvPr id="1502" name="Google Shape;1502;p162"/>
          <p:cNvSpPr txBox="1"/>
          <p:nvPr/>
        </p:nvSpPr>
        <p:spPr>
          <a:xfrm>
            <a:off x="640492" y="281363"/>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a:solidFill>
                  <a:srgbClr val="FFFFFF"/>
                </a:solidFill>
                <a:latin typeface="Montserrat ExtraBold"/>
                <a:ea typeface="Montserrat ExtraBold"/>
                <a:cs typeface="Montserrat ExtraBold"/>
                <a:sym typeface="Montserrat ExtraBold"/>
              </a:rPr>
              <a:t>Session Roadmap</a:t>
            </a:r>
            <a:endParaRPr sz="2100">
              <a:solidFill>
                <a:srgbClr val="FFFFFF"/>
              </a:solidFill>
              <a:latin typeface="Montserrat ExtraBold"/>
              <a:ea typeface="Montserrat ExtraBold"/>
              <a:cs typeface="Montserrat ExtraBold"/>
              <a:sym typeface="Montserrat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6"/>
        <p:cNvGrpSpPr/>
        <p:nvPr/>
      </p:nvGrpSpPr>
      <p:grpSpPr>
        <a:xfrm>
          <a:off x="0" y="0"/>
          <a:ext cx="0" cy="0"/>
          <a:chOff x="0" y="0"/>
          <a:chExt cx="0" cy="0"/>
        </a:xfrm>
      </p:grpSpPr>
      <p:cxnSp>
        <p:nvCxnSpPr>
          <p:cNvPr id="1507" name="Google Shape;1507;p163"/>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508" name="Google Shape;1508;p163"/>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1:</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The Baseline: What You Pay EVN Today</a:t>
            </a:r>
            <a:endParaRPr sz="2800" b="1">
              <a:solidFill>
                <a:srgbClr val="0F172A"/>
              </a:solidFill>
              <a:highlight>
                <a:srgbClr val="FFFFFF"/>
              </a:highlight>
              <a:latin typeface="Montserrat"/>
              <a:ea typeface="Montserrat"/>
              <a:cs typeface="Montserrat"/>
              <a:sym typeface="Montserrat"/>
            </a:endParaRPr>
          </a:p>
        </p:txBody>
      </p:sp>
      <p:pic>
        <p:nvPicPr>
          <p:cNvPr id="1509" name="Google Shape;1509;p163"/>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510" name="Google Shape;1510;p163"/>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511" name="Google Shape;1511;p163"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512" name="Google Shape;1512;p163"/>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16"/>
        <p:cNvGrpSpPr/>
        <p:nvPr/>
      </p:nvGrpSpPr>
      <p:grpSpPr>
        <a:xfrm>
          <a:off x="0" y="0"/>
          <a:ext cx="0" cy="0"/>
          <a:chOff x="0" y="0"/>
          <a:chExt cx="0" cy="0"/>
        </a:xfrm>
      </p:grpSpPr>
      <p:pic>
        <p:nvPicPr>
          <p:cNvPr id="1517" name="Google Shape;1517;p164"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518" name="Google Shape;1518;p164"/>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519" name="Google Shape;1519;p164"/>
          <p:cNvSpPr/>
          <p:nvPr/>
        </p:nvSpPr>
        <p:spPr>
          <a:xfrm>
            <a:off x="4724550" y="2822025"/>
            <a:ext cx="4214400" cy="1644900"/>
          </a:xfrm>
          <a:prstGeom prst="roundRect">
            <a:avLst>
              <a:gd name="adj" fmla="val 9955"/>
            </a:avLst>
          </a:prstGeom>
          <a:solidFill>
            <a:schemeClr val="lt2"/>
          </a:solidFill>
          <a:ln>
            <a:noFill/>
          </a:ln>
        </p:spPr>
        <p:txBody>
          <a:bodyPr spcFirstLastPara="1" wrap="square" lIns="83775" tIns="83775" rIns="83775" bIns="83775" anchor="ctr" anchorCtr="0">
            <a:noAutofit/>
          </a:bodyPr>
          <a:lstStyle/>
          <a:p>
            <a:pPr marL="0" lvl="0" indent="0" algn="ctr" rtl="0">
              <a:spcBef>
                <a:spcPts val="0"/>
              </a:spcBef>
              <a:spcAft>
                <a:spcPts val="0"/>
              </a:spcAft>
              <a:buNone/>
            </a:pPr>
            <a:endParaRPr sz="1283">
              <a:latin typeface="Montserrat"/>
              <a:ea typeface="Montserrat"/>
              <a:cs typeface="Montserrat"/>
              <a:sym typeface="Montserrat"/>
            </a:endParaRPr>
          </a:p>
        </p:txBody>
      </p:sp>
      <p:sp>
        <p:nvSpPr>
          <p:cNvPr id="1520" name="Google Shape;1520;p164"/>
          <p:cNvSpPr/>
          <p:nvPr/>
        </p:nvSpPr>
        <p:spPr>
          <a:xfrm>
            <a:off x="4724550" y="1041207"/>
            <a:ext cx="4214400" cy="1685700"/>
          </a:xfrm>
          <a:prstGeom prst="roundRect">
            <a:avLst>
              <a:gd name="adj" fmla="val 9955"/>
            </a:avLst>
          </a:prstGeom>
          <a:solidFill>
            <a:schemeClr val="lt2"/>
          </a:solidFill>
          <a:ln>
            <a:noFill/>
          </a:ln>
        </p:spPr>
        <p:txBody>
          <a:bodyPr spcFirstLastPara="1" wrap="square" lIns="83775" tIns="83775" rIns="83775" bIns="83775" anchor="ctr" anchorCtr="0">
            <a:noAutofit/>
          </a:bodyPr>
          <a:lstStyle/>
          <a:p>
            <a:pPr marL="0" lvl="0" indent="0" algn="ctr" rtl="0">
              <a:spcBef>
                <a:spcPts val="0"/>
              </a:spcBef>
              <a:spcAft>
                <a:spcPts val="0"/>
              </a:spcAft>
              <a:buNone/>
            </a:pPr>
            <a:endParaRPr sz="1283">
              <a:latin typeface="Montserrat"/>
              <a:ea typeface="Montserrat"/>
              <a:cs typeface="Montserrat"/>
              <a:sym typeface="Montserrat"/>
            </a:endParaRPr>
          </a:p>
        </p:txBody>
      </p:sp>
      <p:graphicFrame>
        <p:nvGraphicFramePr>
          <p:cNvPr id="1521" name="Google Shape;1521;p164"/>
          <p:cNvGraphicFramePr/>
          <p:nvPr/>
        </p:nvGraphicFramePr>
        <p:xfrm>
          <a:off x="424258" y="1060382"/>
          <a:ext cx="4147800" cy="1305025"/>
        </p:xfrm>
        <a:graphic>
          <a:graphicData uri="http://schemas.openxmlformats.org/drawingml/2006/table">
            <a:tbl>
              <a:tblPr firstRow="1" bandRow="1">
                <a:noFill/>
                <a:tableStyleId>{CE8BD2AF-5D0D-4EDC-AE96-A30A7DA1AF2F}</a:tableStyleId>
              </a:tblPr>
              <a:tblGrid>
                <a:gridCol w="1422700">
                  <a:extLst>
                    <a:ext uri="{9D8B030D-6E8A-4147-A177-3AD203B41FA5}">
                      <a16:colId xmlns:a16="http://schemas.microsoft.com/office/drawing/2014/main" val="20000"/>
                    </a:ext>
                  </a:extLst>
                </a:gridCol>
                <a:gridCol w="1534100">
                  <a:extLst>
                    <a:ext uri="{9D8B030D-6E8A-4147-A177-3AD203B41FA5}">
                      <a16:colId xmlns:a16="http://schemas.microsoft.com/office/drawing/2014/main" val="20001"/>
                    </a:ext>
                  </a:extLst>
                </a:gridCol>
                <a:gridCol w="1191000">
                  <a:extLst>
                    <a:ext uri="{9D8B030D-6E8A-4147-A177-3AD203B41FA5}">
                      <a16:colId xmlns:a16="http://schemas.microsoft.com/office/drawing/2014/main" val="20002"/>
                    </a:ext>
                  </a:extLst>
                </a:gridCol>
              </a:tblGrid>
              <a:tr h="337875">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Period</a:t>
                      </a:r>
                      <a:endParaRPr sz="1000">
                        <a:latin typeface="Montserrat"/>
                        <a:ea typeface="Montserrat"/>
                        <a:cs typeface="Montserrat"/>
                        <a:sym typeface="Montserrat"/>
                      </a:endParaRPr>
                    </a:p>
                  </a:txBody>
                  <a:tcPr marL="91450" marR="91450" marT="25400" marB="25400" anchor="ctr">
                    <a:lnB w="9525" cap="flat" cmpd="sng">
                      <a:solidFill>
                        <a:srgbClr val="FFFFFF"/>
                      </a:solidFill>
                      <a:prstDash val="solid"/>
                      <a:round/>
                      <a:headEnd type="none" w="sm" len="sm"/>
                      <a:tailEnd type="none" w="sm" len="sm"/>
                    </a:lnB>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Hours</a:t>
                      </a:r>
                      <a:endParaRPr sz="1000">
                        <a:latin typeface="Montserrat"/>
                        <a:ea typeface="Montserrat"/>
                        <a:cs typeface="Montserrat"/>
                        <a:sym typeface="Montserrat"/>
                      </a:endParaRPr>
                    </a:p>
                  </a:txBody>
                  <a:tcPr marL="91450" marR="91450" marT="25400" marB="25400" anchor="ctr">
                    <a:lnB w="9525" cap="flat" cmpd="sng">
                      <a:solidFill>
                        <a:srgbClr val="FFFFFF"/>
                      </a:solidFill>
                      <a:prstDash val="solid"/>
                      <a:round/>
                      <a:headEnd type="none" w="sm" len="sm"/>
                      <a:tailEnd type="none" w="sm" len="sm"/>
                    </a:lnB>
                    <a:solidFill>
                      <a:srgbClr val="176B62"/>
                    </a:solidFill>
                  </a:tcPr>
                </a:tc>
                <a:tc>
                  <a:txBody>
                    <a:bodyPr/>
                    <a:lstStyle/>
                    <a:p>
                      <a:pPr marL="0" marR="0" lvl="0" indent="0" algn="ctr" rtl="0">
                        <a:lnSpc>
                          <a:spcPct val="100000"/>
                        </a:lnSpc>
                        <a:spcBef>
                          <a:spcPts val="0"/>
                        </a:spcBef>
                        <a:spcAft>
                          <a:spcPts val="0"/>
                        </a:spcAft>
                        <a:buNone/>
                      </a:pPr>
                      <a:r>
                        <a:rPr lang="en" sz="1000">
                          <a:latin typeface="Montserrat"/>
                          <a:ea typeface="Montserrat"/>
                          <a:cs typeface="Montserrat"/>
                          <a:sym typeface="Montserrat"/>
                        </a:rPr>
                        <a:t>Versus</a:t>
                      </a:r>
                      <a:r>
                        <a:rPr lang="en" sz="1000" u="none" strike="noStrike" cap="none">
                          <a:solidFill>
                            <a:srgbClr val="FFFFFF"/>
                          </a:solidFill>
                          <a:latin typeface="Montserrat"/>
                          <a:ea typeface="Montserrat"/>
                          <a:cs typeface="Montserrat"/>
                          <a:sym typeface="Montserrat"/>
                        </a:rPr>
                        <a:t> </a:t>
                      </a:r>
                      <a:r>
                        <a:rPr lang="en" sz="1000">
                          <a:latin typeface="Montserrat"/>
                          <a:ea typeface="Montserrat"/>
                          <a:cs typeface="Montserrat"/>
                          <a:sym typeface="Montserrat"/>
                        </a:rPr>
                        <a:t>B</a:t>
                      </a:r>
                      <a:r>
                        <a:rPr lang="en" sz="1000" u="none" strike="noStrike" cap="none">
                          <a:solidFill>
                            <a:srgbClr val="FFFFFF"/>
                          </a:solidFill>
                          <a:latin typeface="Montserrat"/>
                          <a:ea typeface="Montserrat"/>
                          <a:cs typeface="Montserrat"/>
                          <a:sym typeface="Montserrat"/>
                        </a:rPr>
                        <a:t>ase</a:t>
                      </a:r>
                      <a:endParaRPr sz="1000">
                        <a:latin typeface="Montserrat"/>
                        <a:ea typeface="Montserrat"/>
                        <a:cs typeface="Montserrat"/>
                        <a:sym typeface="Montserrat"/>
                      </a:endParaRPr>
                    </a:p>
                  </a:txBody>
                  <a:tcPr marL="91450" marR="91450" marT="25400" marB="25400" anchor="ctr">
                    <a:lnB w="9525" cap="flat" cmpd="sng">
                      <a:solidFill>
                        <a:srgbClr val="FFFFFF"/>
                      </a:solidFill>
                      <a:prstDash val="solid"/>
                      <a:round/>
                      <a:headEnd type="none" w="sm" len="sm"/>
                      <a:tailEnd type="none" w="sm" len="sm"/>
                    </a:lnB>
                    <a:solidFill>
                      <a:srgbClr val="176B62"/>
                    </a:solidFill>
                  </a:tcPr>
                </a:tc>
                <a:extLst>
                  <a:ext uri="{0D108BD9-81ED-4DB2-BD59-A6C34878D82A}">
                    <a16:rowId xmlns:a16="http://schemas.microsoft.com/office/drawing/2014/main" val="10000"/>
                  </a:ext>
                </a:extLst>
              </a:tr>
              <a:tr h="2658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Off-peak </a:t>
                      </a:r>
                      <a:endParaRPr sz="1000">
                        <a:latin typeface="Montserrat"/>
                        <a:ea typeface="Montserrat"/>
                        <a:cs typeface="Montserrat"/>
                        <a:sym typeface="Montserrat"/>
                      </a:endParaRPr>
                    </a:p>
                  </a:txBody>
                  <a:tcPr marL="91450" marR="91450" marT="25400" marB="25400" anchor="ctr">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8FAFC"/>
                    </a:solidFill>
                  </a:tcPr>
                </a:tc>
                <a:tc>
                  <a:txBody>
                    <a:bodyPr/>
                    <a:lstStyle/>
                    <a:p>
                      <a:pPr marL="0" marR="0" lvl="0" indent="0" algn="ctr" rtl="0">
                        <a:lnSpc>
                          <a:spcPct val="100000"/>
                        </a:lnSpc>
                        <a:spcBef>
                          <a:spcPts val="0"/>
                        </a:spcBef>
                        <a:spcAft>
                          <a:spcPts val="0"/>
                        </a:spcAft>
                        <a:buNone/>
                      </a:pPr>
                      <a:r>
                        <a:rPr lang="en" sz="1000">
                          <a:solidFill>
                            <a:srgbClr val="222B33"/>
                          </a:solidFill>
                          <a:latin typeface="Montserrat"/>
                          <a:ea typeface="Montserrat"/>
                          <a:cs typeface="Montserrat"/>
                          <a:sym typeface="Montserrat"/>
                        </a:rPr>
                        <a:t>00</a:t>
                      </a:r>
                      <a:r>
                        <a:rPr lang="en" sz="1000" u="none" strike="noStrike" cap="none">
                          <a:solidFill>
                            <a:srgbClr val="222B33"/>
                          </a:solidFill>
                          <a:latin typeface="Montserrat"/>
                          <a:ea typeface="Montserrat"/>
                          <a:cs typeface="Montserrat"/>
                          <a:sym typeface="Montserrat"/>
                        </a:rPr>
                        <a:t>:00 - 0</a:t>
                      </a:r>
                      <a:r>
                        <a:rPr lang="en" sz="1000">
                          <a:solidFill>
                            <a:srgbClr val="222B33"/>
                          </a:solidFill>
                          <a:latin typeface="Montserrat"/>
                          <a:ea typeface="Montserrat"/>
                          <a:cs typeface="Montserrat"/>
                          <a:sym typeface="Montserrat"/>
                        </a:rPr>
                        <a:t>6</a:t>
                      </a:r>
                      <a:r>
                        <a:rPr lang="en" sz="1000" u="none" strike="noStrike" cap="none">
                          <a:solidFill>
                            <a:srgbClr val="222B33"/>
                          </a:solidFill>
                          <a:latin typeface="Montserrat"/>
                          <a:ea typeface="Montserrat"/>
                          <a:cs typeface="Montserrat"/>
                          <a:sym typeface="Montserrat"/>
                        </a:rPr>
                        <a:t>:00</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~0.52x</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F8FAFC"/>
                    </a:solidFill>
                  </a:tcPr>
                </a:tc>
                <a:extLst>
                  <a:ext uri="{0D108BD9-81ED-4DB2-BD59-A6C34878D82A}">
                    <a16:rowId xmlns:a16="http://schemas.microsoft.com/office/drawing/2014/main" val="10001"/>
                  </a:ext>
                </a:extLst>
              </a:tr>
              <a:tr h="4354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Normal </a:t>
                      </a:r>
                      <a:endParaRPr sz="1000">
                        <a:latin typeface="Montserrat"/>
                        <a:ea typeface="Montserrat"/>
                        <a:cs typeface="Montserrat"/>
                        <a:sym typeface="Montserrat"/>
                      </a:endParaRPr>
                    </a:p>
                  </a:txBody>
                  <a:tcPr marL="91450" marR="91450" marT="25400" marB="25400" anchor="ctr">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solidFill>
                      <a:srgbClr val="FFFFFF"/>
                    </a:solidFill>
                  </a:tcPr>
                </a:tc>
                <a:tc>
                  <a:txBody>
                    <a:bodyPr/>
                    <a:lstStyle/>
                    <a:p>
                      <a:pPr marL="0" marR="0" lvl="0" indent="0" algn="ctr" rtl="0">
                        <a:lnSpc>
                          <a:spcPct val="100000"/>
                        </a:lnSpc>
                        <a:spcBef>
                          <a:spcPts val="0"/>
                        </a:spcBef>
                        <a:spcAft>
                          <a:spcPts val="0"/>
                        </a:spcAft>
                        <a:buNone/>
                      </a:pPr>
                      <a:r>
                        <a:rPr lang="en" sz="1000">
                          <a:solidFill>
                            <a:srgbClr val="222B33"/>
                          </a:solidFill>
                          <a:latin typeface="Montserrat"/>
                          <a:ea typeface="Montserrat"/>
                          <a:cs typeface="Montserrat"/>
                          <a:sym typeface="Montserrat"/>
                        </a:rPr>
                        <a:t>06:00 - 18:00</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1.0x</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T w="9525" cap="flat" cmpd="sng">
                      <a:solidFill>
                        <a:srgbClr val="FFFFFF"/>
                      </a:solidFill>
                      <a:prstDash val="solid"/>
                      <a:round/>
                      <a:headEnd type="none" w="sm" len="sm"/>
                      <a:tailEnd type="none" w="sm" len="sm"/>
                    </a:lnT>
                    <a:solidFill>
                      <a:srgbClr val="FFFFFF"/>
                    </a:solidFill>
                  </a:tcPr>
                </a:tc>
                <a:extLst>
                  <a:ext uri="{0D108BD9-81ED-4DB2-BD59-A6C34878D82A}">
                    <a16:rowId xmlns:a16="http://schemas.microsoft.com/office/drawing/2014/main" val="10002"/>
                  </a:ext>
                </a:extLst>
              </a:tr>
              <a:tr h="2658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Peak </a:t>
                      </a:r>
                      <a:endParaRPr sz="1000">
                        <a:latin typeface="Montserrat"/>
                        <a:ea typeface="Montserrat"/>
                        <a:cs typeface="Montserrat"/>
                        <a:sym typeface="Montserrat"/>
                      </a:endParaRPr>
                    </a:p>
                  </a:txBody>
                  <a:tcPr marL="91450" marR="91450" marT="25400" marB="25400" anchor="ctr">
                    <a:lnR w="12700" cap="flat" cmpd="sng">
                      <a:solidFill>
                        <a:srgbClr val="FFFFFF"/>
                      </a:solidFill>
                      <a:prstDash val="solid"/>
                      <a:round/>
                      <a:headEnd type="none" w="sm" len="sm"/>
                      <a:tailEnd type="none" w="sm" len="sm"/>
                    </a:lnR>
                    <a:solidFill>
                      <a:srgbClr val="F8FAFC"/>
                    </a:solidFill>
                  </a:tcPr>
                </a:tc>
                <a:tc>
                  <a:txBody>
                    <a:bodyPr/>
                    <a:lstStyle/>
                    <a:p>
                      <a:pPr marL="0" marR="0" lvl="0" indent="0" algn="ctr" rtl="0">
                        <a:lnSpc>
                          <a:spcPct val="100000"/>
                        </a:lnSpc>
                        <a:spcBef>
                          <a:spcPts val="0"/>
                        </a:spcBef>
                        <a:spcAft>
                          <a:spcPts val="0"/>
                        </a:spcAft>
                        <a:buNone/>
                      </a:pPr>
                      <a:r>
                        <a:rPr lang="en" sz="1000">
                          <a:solidFill>
                            <a:srgbClr val="222B33"/>
                          </a:solidFill>
                          <a:latin typeface="Montserrat"/>
                          <a:ea typeface="Montserrat"/>
                          <a:cs typeface="Montserrat"/>
                          <a:sym typeface="Montserrat"/>
                        </a:rPr>
                        <a:t>18:00 - 23:00</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~1.78x</a:t>
                      </a:r>
                      <a:endParaRPr sz="1000">
                        <a:latin typeface="Montserrat"/>
                        <a:ea typeface="Montserrat"/>
                        <a:cs typeface="Montserrat"/>
                        <a:sym typeface="Montserrat"/>
                      </a:endParaRPr>
                    </a:p>
                  </a:txBody>
                  <a:tcPr marL="91450" marR="91450" marT="25400" marB="25400" anchor="ctr">
                    <a:lnL w="12700" cap="flat" cmpd="sng">
                      <a:solidFill>
                        <a:srgbClr val="FFFFFF"/>
                      </a:solidFill>
                      <a:prstDash val="solid"/>
                      <a:round/>
                      <a:headEnd type="none" w="sm" len="sm"/>
                      <a:tailEnd type="none" w="sm" len="sm"/>
                    </a:lnL>
                    <a:solidFill>
                      <a:srgbClr val="F8FAFC"/>
                    </a:solidFill>
                  </a:tcPr>
                </a:tc>
                <a:extLst>
                  <a:ext uri="{0D108BD9-81ED-4DB2-BD59-A6C34878D82A}">
                    <a16:rowId xmlns:a16="http://schemas.microsoft.com/office/drawing/2014/main" val="10003"/>
                  </a:ext>
                </a:extLst>
              </a:tr>
            </a:tbl>
          </a:graphicData>
        </a:graphic>
      </p:graphicFrame>
      <p:sp>
        <p:nvSpPr>
          <p:cNvPr id="1522" name="Google Shape;1522;p164"/>
          <p:cNvSpPr txBox="1"/>
          <p:nvPr/>
        </p:nvSpPr>
        <p:spPr>
          <a:xfrm>
            <a:off x="424335" y="2473902"/>
            <a:ext cx="3968400" cy="2385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950" i="0" u="none" strike="noStrike" cap="none">
                <a:solidFill>
                  <a:schemeClr val="dk1"/>
                </a:solidFill>
                <a:latin typeface="Montserrat"/>
                <a:ea typeface="Montserrat"/>
                <a:cs typeface="Montserrat"/>
                <a:sym typeface="Montserrat"/>
              </a:rPr>
              <a:t>Sunday rule: no peak period on Sundays (all hours normal).</a:t>
            </a:r>
            <a:endParaRPr sz="1200">
              <a:solidFill>
                <a:schemeClr val="dk1"/>
              </a:solidFill>
              <a:latin typeface="Montserrat"/>
              <a:ea typeface="Montserrat"/>
              <a:cs typeface="Montserrat"/>
              <a:sym typeface="Montserrat"/>
            </a:endParaRPr>
          </a:p>
        </p:txBody>
      </p:sp>
      <p:graphicFrame>
        <p:nvGraphicFramePr>
          <p:cNvPr id="1523" name="Google Shape;1523;p164"/>
          <p:cNvGraphicFramePr/>
          <p:nvPr/>
        </p:nvGraphicFramePr>
        <p:xfrm>
          <a:off x="424295" y="2923477"/>
          <a:ext cx="4147800" cy="1469375"/>
        </p:xfrm>
        <a:graphic>
          <a:graphicData uri="http://schemas.openxmlformats.org/drawingml/2006/table">
            <a:tbl>
              <a:tblPr firstRow="1" bandRow="1">
                <a:noFill/>
                <a:tableStyleId>{CE8BD2AF-5D0D-4EDC-AE96-A30A7DA1AF2F}</a:tableStyleId>
              </a:tblPr>
              <a:tblGrid>
                <a:gridCol w="961800">
                  <a:extLst>
                    <a:ext uri="{9D8B030D-6E8A-4147-A177-3AD203B41FA5}">
                      <a16:colId xmlns:a16="http://schemas.microsoft.com/office/drawing/2014/main" val="20000"/>
                    </a:ext>
                  </a:extLst>
                </a:gridCol>
                <a:gridCol w="1062000">
                  <a:extLst>
                    <a:ext uri="{9D8B030D-6E8A-4147-A177-3AD203B41FA5}">
                      <a16:colId xmlns:a16="http://schemas.microsoft.com/office/drawing/2014/main" val="20001"/>
                    </a:ext>
                  </a:extLst>
                </a:gridCol>
                <a:gridCol w="1062000">
                  <a:extLst>
                    <a:ext uri="{9D8B030D-6E8A-4147-A177-3AD203B41FA5}">
                      <a16:colId xmlns:a16="http://schemas.microsoft.com/office/drawing/2014/main" val="20002"/>
                    </a:ext>
                  </a:extLst>
                </a:gridCol>
                <a:gridCol w="1062000">
                  <a:extLst>
                    <a:ext uri="{9D8B030D-6E8A-4147-A177-3AD203B41FA5}">
                      <a16:colId xmlns:a16="http://schemas.microsoft.com/office/drawing/2014/main" val="20003"/>
                    </a:ext>
                  </a:extLst>
                </a:gridCol>
              </a:tblGrid>
              <a:tr h="293875">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Voltage</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Off-peak</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Normal</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Peak  </a:t>
                      </a:r>
                      <a:endParaRPr sz="1000">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&gt;=110kV</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0.034</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0.065</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0.116</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22-110kV</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0.037</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0.070</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0.126</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6-22kV</a:t>
                      </a:r>
                      <a:endParaRPr sz="1000">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0.042</a:t>
                      </a:r>
                      <a:endParaRPr sz="1000">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0.079</a:t>
                      </a:r>
                      <a:endParaRPr sz="1000">
                        <a:latin typeface="Montserrat"/>
                        <a:ea typeface="Montserrat"/>
                        <a:cs typeface="Montserrat"/>
                        <a:sym typeface="Montserrat"/>
                      </a:endParaRPr>
                    </a:p>
                  </a:txBody>
                  <a:tcPr marL="91450" marR="91450" marT="25400" marB="25400" anchor="ctr">
                    <a:solidFill>
                      <a:srgbClr val="F5F6F7"/>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0.141</a:t>
                      </a:r>
                      <a:endParaRPr sz="1000">
                        <a:latin typeface="Montserrat"/>
                        <a:ea typeface="Montserrat"/>
                        <a:cs typeface="Montserrat"/>
                        <a:sym typeface="Montserrat"/>
                      </a:endParaRPr>
                    </a:p>
                  </a:txBody>
                  <a:tcPr marL="91450" marR="91450" marT="25400" marB="25400" anchor="ctr">
                    <a:solidFill>
                      <a:srgbClr val="F5F6F7"/>
                    </a:solidFill>
                  </a:tcPr>
                </a:tc>
                <a:extLst>
                  <a:ext uri="{0D108BD9-81ED-4DB2-BD59-A6C34878D82A}">
                    <a16:rowId xmlns:a16="http://schemas.microsoft.com/office/drawing/2014/main" val="10003"/>
                  </a:ext>
                </a:extLst>
              </a:tr>
              <a:tr h="293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&lt;6kV</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0.049</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0.092</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0.164</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524" name="Google Shape;1524;p164"/>
          <p:cNvSpPr txBox="1"/>
          <p:nvPr/>
        </p:nvSpPr>
        <p:spPr>
          <a:xfrm>
            <a:off x="4782490" y="1092421"/>
            <a:ext cx="2856600" cy="230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 sz="1050" b="1" i="0" u="none" strike="noStrike" cap="none">
                <a:solidFill>
                  <a:srgbClr val="0F293D"/>
                </a:solidFill>
                <a:latin typeface="Montserrat"/>
                <a:ea typeface="Montserrat"/>
                <a:cs typeface="Montserrat"/>
                <a:sym typeface="Montserrat"/>
              </a:rPr>
              <a:t>Why this matters for DPPA</a:t>
            </a:r>
            <a:endParaRPr sz="1050">
              <a:latin typeface="Montserrat"/>
              <a:ea typeface="Montserrat"/>
              <a:cs typeface="Montserrat"/>
              <a:sym typeface="Montserrat"/>
            </a:endParaRPr>
          </a:p>
        </p:txBody>
      </p:sp>
      <p:sp>
        <p:nvSpPr>
          <p:cNvPr id="1525" name="Google Shape;1525;p164"/>
          <p:cNvSpPr txBox="1"/>
          <p:nvPr/>
        </p:nvSpPr>
        <p:spPr>
          <a:xfrm>
            <a:off x="4824500" y="1425544"/>
            <a:ext cx="4114500" cy="1210800"/>
          </a:xfrm>
          <a:prstGeom prst="rect">
            <a:avLst/>
          </a:prstGeom>
          <a:noFill/>
          <a:ln>
            <a:noFill/>
          </a:ln>
        </p:spPr>
        <p:txBody>
          <a:bodyPr spcFirstLastPara="1" wrap="square" lIns="68550" tIns="34275" rIns="68550" bIns="34275" anchor="t" anchorCtr="0">
            <a:spAutoFit/>
          </a:bodyPr>
          <a:lstStyle/>
          <a:p>
            <a:pPr marL="457200" marR="0" lvl="0" indent="-292100" algn="l" rtl="0">
              <a:lnSpc>
                <a:spcPct val="115000"/>
              </a:lnSpc>
              <a:spcBef>
                <a:spcPts val="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Every DPPA offer is judged against this bill</a:t>
            </a:r>
            <a:r>
              <a:rPr lang="en" sz="1000">
                <a:solidFill>
                  <a:srgbClr val="222B33"/>
                </a:solidFill>
                <a:latin typeface="Montserrat"/>
                <a:ea typeface="Montserrat"/>
                <a:cs typeface="Montserrat"/>
                <a:sym typeface="Montserrat"/>
              </a:rPr>
              <a:t>: “</a:t>
            </a:r>
            <a:r>
              <a:rPr lang="en" sz="1000" i="0" u="none" strike="noStrike" cap="none">
                <a:solidFill>
                  <a:srgbClr val="222B33"/>
                </a:solidFill>
                <a:latin typeface="Montserrat"/>
                <a:ea typeface="Montserrat"/>
                <a:cs typeface="Montserrat"/>
                <a:sym typeface="Montserrat"/>
              </a:rPr>
              <a:t>business</a:t>
            </a:r>
            <a:r>
              <a:rPr lang="en" sz="1000">
                <a:solidFill>
                  <a:srgbClr val="222B33"/>
                </a:solidFill>
                <a:latin typeface="Montserrat"/>
                <a:ea typeface="Montserrat"/>
                <a:cs typeface="Montserrat"/>
                <a:sym typeface="Montserrat"/>
              </a:rPr>
              <a:t>-</a:t>
            </a:r>
            <a:r>
              <a:rPr lang="en" sz="1000" i="0" u="none" strike="noStrike" cap="none">
                <a:solidFill>
                  <a:srgbClr val="222B33"/>
                </a:solidFill>
                <a:latin typeface="Montserrat"/>
                <a:ea typeface="Montserrat"/>
                <a:cs typeface="Montserrat"/>
                <a:sym typeface="Montserrat"/>
              </a:rPr>
              <a:t>as-usual</a:t>
            </a:r>
            <a:r>
              <a:rPr lang="en" sz="1000">
                <a:solidFill>
                  <a:srgbClr val="222B33"/>
                </a:solidFill>
                <a:latin typeface="Montserrat"/>
                <a:ea typeface="Montserrat"/>
                <a:cs typeface="Montserrat"/>
                <a:sym typeface="Montserrat"/>
              </a:rPr>
              <a:t>” </a:t>
            </a:r>
            <a:r>
              <a:rPr lang="en" sz="1000" i="0" u="none" strike="noStrike" cap="none">
                <a:solidFill>
                  <a:srgbClr val="222B33"/>
                </a:solidFill>
                <a:latin typeface="Montserrat"/>
                <a:ea typeface="Montserrat"/>
                <a:cs typeface="Montserrat"/>
                <a:sym typeface="Montserrat"/>
              </a:rPr>
              <a:t>(BAU)</a:t>
            </a:r>
            <a:endParaRPr sz="1000">
              <a:latin typeface="Montserrat"/>
              <a:ea typeface="Montserrat"/>
              <a:cs typeface="Montserrat"/>
              <a:sym typeface="Montserrat"/>
            </a:endParaRPr>
          </a:p>
          <a:p>
            <a:pPr marL="457200" marR="0" lvl="0" indent="-292100" algn="l" rtl="0">
              <a:lnSpc>
                <a:spcPct val="115000"/>
              </a:lnSpc>
              <a:spcBef>
                <a:spcPts val="40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Peak hours cost 3.4x off-peak: your load shape decides what "average" means for you</a:t>
            </a:r>
            <a:endParaRPr sz="1000">
              <a:latin typeface="Montserrat"/>
              <a:ea typeface="Montserrat"/>
              <a:cs typeface="Montserrat"/>
              <a:sym typeface="Montserrat"/>
            </a:endParaRPr>
          </a:p>
          <a:p>
            <a:pPr marL="457200" marR="0" lvl="0" indent="-292100" algn="l" rtl="0">
              <a:lnSpc>
                <a:spcPct val="115000"/>
              </a:lnSpc>
              <a:spcBef>
                <a:spcPts val="400"/>
              </a:spcBef>
              <a:spcAft>
                <a:spcPts val="40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Residual energy (load not covered by the DPPA) keeps paying these TOU rates</a:t>
            </a:r>
            <a:endParaRPr sz="1000">
              <a:latin typeface="Montserrat"/>
              <a:ea typeface="Montserrat"/>
              <a:cs typeface="Montserrat"/>
              <a:sym typeface="Montserrat"/>
            </a:endParaRPr>
          </a:p>
        </p:txBody>
      </p:sp>
      <p:sp>
        <p:nvSpPr>
          <p:cNvPr id="1526" name="Google Shape;1526;p164"/>
          <p:cNvSpPr txBox="1"/>
          <p:nvPr/>
        </p:nvSpPr>
        <p:spPr>
          <a:xfrm>
            <a:off x="4782490" y="2885562"/>
            <a:ext cx="4293600" cy="230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None/>
            </a:pPr>
            <a:r>
              <a:rPr lang="en" sz="1050" b="1" i="0" u="none" strike="noStrike" cap="none">
                <a:solidFill>
                  <a:srgbClr val="0F293D"/>
                </a:solidFill>
                <a:latin typeface="Montserrat"/>
                <a:ea typeface="Montserrat"/>
                <a:cs typeface="Montserrat"/>
                <a:sym typeface="Montserrat"/>
              </a:rPr>
              <a:t>The savings benchmark</a:t>
            </a:r>
            <a:endParaRPr sz="1050">
              <a:latin typeface="Montserrat"/>
              <a:ea typeface="Montserrat"/>
              <a:cs typeface="Montserrat"/>
              <a:sym typeface="Montserrat"/>
            </a:endParaRPr>
          </a:p>
        </p:txBody>
      </p:sp>
      <p:sp>
        <p:nvSpPr>
          <p:cNvPr id="1527" name="Google Shape;1527;p164"/>
          <p:cNvSpPr txBox="1"/>
          <p:nvPr/>
        </p:nvSpPr>
        <p:spPr>
          <a:xfrm>
            <a:off x="4782500" y="3169357"/>
            <a:ext cx="4114500" cy="1210800"/>
          </a:xfrm>
          <a:prstGeom prst="rect">
            <a:avLst/>
          </a:prstGeom>
          <a:noFill/>
          <a:ln>
            <a:noFill/>
          </a:ln>
        </p:spPr>
        <p:txBody>
          <a:bodyPr spcFirstLastPara="1" wrap="square" lIns="68550" tIns="34275" rIns="68550" bIns="34275" anchor="t" anchorCtr="0">
            <a:spAutoFit/>
          </a:bodyPr>
          <a:lstStyle/>
          <a:p>
            <a:pPr marL="457200" marR="0" lvl="0" indent="-292100" algn="l" rtl="0">
              <a:lnSpc>
                <a:spcPct val="115000"/>
              </a:lnSpc>
              <a:spcBef>
                <a:spcPts val="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BAU = your current EVN bill escalated ~4%/yr (historical trend 2015-2024)</a:t>
            </a:r>
            <a:endParaRPr sz="1000">
              <a:latin typeface="Montserrat"/>
              <a:ea typeface="Montserrat"/>
              <a:cs typeface="Montserrat"/>
              <a:sym typeface="Montserrat"/>
            </a:endParaRPr>
          </a:p>
          <a:p>
            <a:pPr marL="457200" marR="0" lvl="0" indent="-292100" algn="l" rtl="0">
              <a:lnSpc>
                <a:spcPct val="115000"/>
              </a:lnSpc>
              <a:spcBef>
                <a:spcPts val="400"/>
              </a:spcBef>
              <a:spcAft>
                <a:spcPts val="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A DPPA is evaluated on cumulative cost vs BAU over 10 years and over the project lifetime - not just Year 1</a:t>
            </a:r>
            <a:endParaRPr sz="1000">
              <a:latin typeface="Montserrat"/>
              <a:ea typeface="Montserrat"/>
              <a:cs typeface="Montserrat"/>
              <a:sym typeface="Montserrat"/>
            </a:endParaRPr>
          </a:p>
          <a:p>
            <a:pPr marL="457200" marR="0" lvl="0" indent="-292100" algn="l" rtl="0">
              <a:lnSpc>
                <a:spcPct val="115000"/>
              </a:lnSpc>
              <a:spcBef>
                <a:spcPts val="400"/>
              </a:spcBef>
              <a:spcAft>
                <a:spcPts val="400"/>
              </a:spcAft>
              <a:buClr>
                <a:srgbClr val="222B33"/>
              </a:buClr>
              <a:buSzPts val="1000"/>
              <a:buFont typeface="Montserrat"/>
              <a:buChar char="●"/>
            </a:pPr>
            <a:r>
              <a:rPr lang="en" sz="1000" i="0" u="none" strike="noStrike" cap="none">
                <a:solidFill>
                  <a:srgbClr val="222B33"/>
                </a:solidFill>
                <a:latin typeface="Montserrat"/>
                <a:ea typeface="Montserrat"/>
                <a:cs typeface="Montserrat"/>
                <a:sym typeface="Montserrat"/>
              </a:rPr>
              <a:t>EVN tariff escalation is the main source of long-term DPPA value</a:t>
            </a:r>
            <a:endParaRPr sz="1000">
              <a:latin typeface="Montserrat"/>
              <a:ea typeface="Montserrat"/>
              <a:cs typeface="Montserrat"/>
              <a:sym typeface="Montserrat"/>
            </a:endParaRPr>
          </a:p>
        </p:txBody>
      </p:sp>
      <p:sp>
        <p:nvSpPr>
          <p:cNvPr id="1528" name="Google Shape;1528;p164"/>
          <p:cNvSpPr txBox="1"/>
          <p:nvPr/>
        </p:nvSpPr>
        <p:spPr>
          <a:xfrm>
            <a:off x="424250" y="4350167"/>
            <a:ext cx="3000000" cy="338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Font typeface="Arial"/>
              <a:buNone/>
            </a:pPr>
            <a:r>
              <a:rPr lang="en" sz="1000">
                <a:solidFill>
                  <a:schemeClr val="dk1"/>
                </a:solidFill>
                <a:latin typeface="Montserrat"/>
                <a:ea typeface="Montserrat"/>
                <a:cs typeface="Montserrat"/>
                <a:sym typeface="Montserrat"/>
              </a:rPr>
              <a:t>(USD/kWh approx. 2025)</a:t>
            </a:r>
            <a:endParaRPr sz="1000">
              <a:solidFill>
                <a:schemeClr val="dk1"/>
              </a:solidFill>
              <a:latin typeface="Montserrat"/>
              <a:ea typeface="Montserrat"/>
              <a:cs typeface="Montserrat"/>
              <a:sym typeface="Montserrat"/>
            </a:endParaRPr>
          </a:p>
        </p:txBody>
      </p:sp>
      <p:grpSp>
        <p:nvGrpSpPr>
          <p:cNvPr id="1529" name="Google Shape;1529;p164"/>
          <p:cNvGrpSpPr/>
          <p:nvPr/>
        </p:nvGrpSpPr>
        <p:grpSpPr>
          <a:xfrm>
            <a:off x="239992" y="63853"/>
            <a:ext cx="8728050" cy="745997"/>
            <a:chOff x="236700" y="63853"/>
            <a:chExt cx="8728050" cy="745997"/>
          </a:xfrm>
        </p:grpSpPr>
        <p:sp>
          <p:nvSpPr>
            <p:cNvPr id="1530" name="Google Shape;1530;p16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531" name="Google Shape;1531;p16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532" name="Google Shape;1532;p16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533" name="Google Shape;1533;p16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534" name="Google Shape;1534;p16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535" name="Google Shape;1535;p16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536" name="Google Shape;1536;p16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cxnSp>
          <p:nvCxnSpPr>
            <p:cNvPr id="1537" name="Google Shape;1537;p16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538" name="Google Shape;1538;p16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sp>
          <p:nvSpPr>
            <p:cNvPr id="1539" name="Google Shape;1539;p164"/>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1 - The Baseline</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What You Pay EVN Today: TOU Is The Reference Price</a:t>
              </a:r>
              <a:endParaRPr sz="2000">
                <a:solidFill>
                  <a:schemeClr val="lt1"/>
                </a:solidFill>
                <a:latin typeface="Montserrat ExtraBold"/>
                <a:ea typeface="Montserrat ExtraBold"/>
                <a:cs typeface="Montserrat ExtraBold"/>
                <a:sym typeface="Montserrat ExtraBold"/>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43"/>
        <p:cNvGrpSpPr/>
        <p:nvPr/>
      </p:nvGrpSpPr>
      <p:grpSpPr>
        <a:xfrm>
          <a:off x="0" y="0"/>
          <a:ext cx="0" cy="0"/>
          <a:chOff x="0" y="0"/>
          <a:chExt cx="0" cy="0"/>
        </a:xfrm>
      </p:grpSpPr>
      <p:cxnSp>
        <p:nvCxnSpPr>
          <p:cNvPr id="1544" name="Google Shape;1544;p165"/>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545" name="Google Shape;1545;p165"/>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2:</a:t>
            </a:r>
            <a:endParaRPr sz="2800" b="1">
              <a:solidFill>
                <a:srgbClr val="0F172A"/>
              </a:solidFill>
              <a:highlight>
                <a:srgbClr val="FFFFFF"/>
              </a:highlight>
              <a:latin typeface="Montserrat"/>
              <a:ea typeface="Montserrat"/>
              <a:cs typeface="Montserrat"/>
              <a:sym typeface="Montserrat"/>
            </a:endParaRPr>
          </a:p>
          <a:p>
            <a:pPr marL="0" lvl="0" indent="0" algn="l" rtl="0">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Virtual DPPA Money Flow: The Five-Line Bill</a:t>
            </a:r>
            <a:endParaRPr sz="2800" b="1">
              <a:solidFill>
                <a:srgbClr val="0F172A"/>
              </a:solidFill>
              <a:highlight>
                <a:srgbClr val="FFFFFF"/>
              </a:highlight>
              <a:latin typeface="Montserrat"/>
              <a:ea typeface="Montserrat"/>
              <a:cs typeface="Montserrat"/>
              <a:sym typeface="Montserrat"/>
            </a:endParaRPr>
          </a:p>
        </p:txBody>
      </p:sp>
      <p:pic>
        <p:nvPicPr>
          <p:cNvPr id="1546" name="Google Shape;1546;p165"/>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547" name="Google Shape;1547;p165"/>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548" name="Google Shape;1548;p165"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549" name="Google Shape;1549;p165"/>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53"/>
        <p:cNvGrpSpPr/>
        <p:nvPr/>
      </p:nvGrpSpPr>
      <p:grpSpPr>
        <a:xfrm>
          <a:off x="0" y="0"/>
          <a:ext cx="0" cy="0"/>
          <a:chOff x="0" y="0"/>
          <a:chExt cx="0" cy="0"/>
        </a:xfrm>
      </p:grpSpPr>
      <p:grpSp>
        <p:nvGrpSpPr>
          <p:cNvPr id="1554" name="Google Shape;1554;p166"/>
          <p:cNvGrpSpPr/>
          <p:nvPr/>
        </p:nvGrpSpPr>
        <p:grpSpPr>
          <a:xfrm>
            <a:off x="244142" y="63878"/>
            <a:ext cx="8728050" cy="745997"/>
            <a:chOff x="236700" y="63853"/>
            <a:chExt cx="8728050" cy="745997"/>
          </a:xfrm>
        </p:grpSpPr>
        <p:sp>
          <p:nvSpPr>
            <p:cNvPr id="1555" name="Google Shape;1555;p16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556" name="Google Shape;1556;p16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557" name="Google Shape;1557;p16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558" name="Google Shape;1558;p16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559" name="Google Shape;1559;p16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560" name="Google Shape;1560;p16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561" name="Google Shape;1561;p16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562" name="Google Shape;1562;p166"/>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Virtual DPPA Money Flow: Three Relationships, One Bill</a:t>
              </a:r>
              <a:endParaRPr sz="2100">
                <a:solidFill>
                  <a:schemeClr val="lt1"/>
                </a:solidFill>
                <a:latin typeface="Montserrat ExtraBold"/>
                <a:ea typeface="Montserrat ExtraBold"/>
                <a:cs typeface="Montserrat ExtraBold"/>
                <a:sym typeface="Montserrat ExtraBold"/>
              </a:endParaRPr>
            </a:p>
          </p:txBody>
        </p:sp>
        <p:cxnSp>
          <p:nvCxnSpPr>
            <p:cNvPr id="1563" name="Google Shape;1563;p16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564" name="Google Shape;1564;p16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565" name="Google Shape;1565;p166"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566" name="Google Shape;1566;p166"/>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567" name="Google Shape;1567;p166"/>
          <p:cNvSpPr/>
          <p:nvPr/>
        </p:nvSpPr>
        <p:spPr>
          <a:xfrm>
            <a:off x="248613" y="1595970"/>
            <a:ext cx="1962000" cy="1115100"/>
          </a:xfrm>
          <a:prstGeom prst="roundRect">
            <a:avLst>
              <a:gd name="adj" fmla="val 16667"/>
            </a:avLst>
          </a:prstGeom>
          <a:solidFill>
            <a:srgbClr val="127A7A"/>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RE GENERATOR</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sells 100% of output</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to the spot market</a:t>
            </a:r>
            <a:endParaRPr sz="1155">
              <a:latin typeface="Montserrat"/>
              <a:ea typeface="Montserrat"/>
              <a:cs typeface="Montserrat"/>
              <a:sym typeface="Montserrat"/>
            </a:endParaRPr>
          </a:p>
        </p:txBody>
      </p:sp>
      <p:sp>
        <p:nvSpPr>
          <p:cNvPr id="1568" name="Google Shape;1568;p166"/>
          <p:cNvSpPr/>
          <p:nvPr/>
        </p:nvSpPr>
        <p:spPr>
          <a:xfrm>
            <a:off x="3590999" y="1105277"/>
            <a:ext cx="1962000" cy="981300"/>
          </a:xfrm>
          <a:prstGeom prst="roundRect">
            <a:avLst>
              <a:gd name="adj" fmla="val 16667"/>
            </a:avLst>
          </a:prstGeom>
          <a:solidFill>
            <a:srgbClr val="0F293D"/>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VWEM SPOT MARKET</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pays generator FMP</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per kWh generated</a:t>
            </a:r>
            <a:endParaRPr sz="1155">
              <a:latin typeface="Montserrat"/>
              <a:ea typeface="Montserrat"/>
              <a:cs typeface="Montserrat"/>
              <a:sym typeface="Montserrat"/>
            </a:endParaRPr>
          </a:p>
        </p:txBody>
      </p:sp>
      <p:sp>
        <p:nvSpPr>
          <p:cNvPr id="1569" name="Google Shape;1569;p166"/>
          <p:cNvSpPr/>
          <p:nvPr/>
        </p:nvSpPr>
        <p:spPr>
          <a:xfrm>
            <a:off x="3590999" y="2532747"/>
            <a:ext cx="1962000" cy="981300"/>
          </a:xfrm>
          <a:prstGeom prst="roundRect">
            <a:avLst>
              <a:gd name="adj" fmla="val 16667"/>
            </a:avLst>
          </a:prstGeom>
          <a:solidFill>
            <a:srgbClr val="0F293D"/>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EVN</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meters, wheels, &amp; bills</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the DPPA customer</a:t>
            </a:r>
            <a:endParaRPr sz="1155">
              <a:latin typeface="Montserrat"/>
              <a:ea typeface="Montserrat"/>
              <a:cs typeface="Montserrat"/>
              <a:sym typeface="Montserrat"/>
            </a:endParaRPr>
          </a:p>
        </p:txBody>
      </p:sp>
      <p:sp>
        <p:nvSpPr>
          <p:cNvPr id="1570" name="Google Shape;1570;p166"/>
          <p:cNvSpPr/>
          <p:nvPr/>
        </p:nvSpPr>
        <p:spPr>
          <a:xfrm>
            <a:off x="6933386" y="1595970"/>
            <a:ext cx="1962000" cy="1115100"/>
          </a:xfrm>
          <a:prstGeom prst="roundRect">
            <a:avLst>
              <a:gd name="adj" fmla="val 16667"/>
            </a:avLst>
          </a:prstGeom>
          <a:solidFill>
            <a:srgbClr val="2E9E5B"/>
          </a:solidFill>
          <a:ln>
            <a:noFill/>
          </a:ln>
          <a:effectLst>
            <a:outerShdw blurRad="32999" dist="18974" dir="5400000" rotWithShape="0">
              <a:srgbClr val="000000">
                <a:alpha val="34900"/>
              </a:srgbClr>
            </a:outerShdw>
          </a:effectLst>
        </p:spPr>
        <p:txBody>
          <a:bodyPr spcFirstLastPara="1" wrap="square" lIns="60325" tIns="37675" rIns="60325" bIns="37675" anchor="ctr" anchorCtr="0">
            <a:noAutofit/>
          </a:bodyPr>
          <a:lstStyle/>
          <a:p>
            <a:pPr marL="0" marR="0" lvl="0" indent="0" algn="ctr" rtl="0">
              <a:lnSpc>
                <a:spcPct val="100000"/>
              </a:lnSpc>
              <a:spcBef>
                <a:spcPts val="0"/>
              </a:spcBef>
              <a:spcAft>
                <a:spcPts val="0"/>
              </a:spcAft>
              <a:buNone/>
            </a:pPr>
            <a:r>
              <a:rPr lang="en" sz="1155" b="1" i="0" u="none" strike="noStrike" cap="none">
                <a:solidFill>
                  <a:srgbClr val="FFFFFF"/>
                </a:solidFill>
                <a:latin typeface="Montserrat"/>
                <a:ea typeface="Montserrat"/>
                <a:cs typeface="Montserrat"/>
                <a:sym typeface="Montserrat"/>
              </a:rPr>
              <a:t>YOUR FA</a:t>
            </a:r>
            <a:r>
              <a:rPr lang="en" sz="1155" b="1">
                <a:solidFill>
                  <a:srgbClr val="FFFFFF"/>
                </a:solidFill>
                <a:latin typeface="Montserrat"/>
                <a:ea typeface="Montserrat"/>
                <a:cs typeface="Montserrat"/>
                <a:sym typeface="Montserrat"/>
              </a:rPr>
              <a:t>CTORY</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pays EVN the DPPA bill;</a:t>
            </a:r>
            <a:endParaRPr sz="1155">
              <a:latin typeface="Montserrat"/>
              <a:ea typeface="Montserrat"/>
              <a:cs typeface="Montserrat"/>
              <a:sym typeface="Montserrat"/>
            </a:endParaRPr>
          </a:p>
          <a:p>
            <a:pPr marL="0" marR="0" lvl="0" indent="0" algn="ctr" rtl="0">
              <a:lnSpc>
                <a:spcPct val="100000"/>
              </a:lnSpc>
              <a:spcBef>
                <a:spcPts val="83"/>
              </a:spcBef>
              <a:spcAft>
                <a:spcPts val="0"/>
              </a:spcAft>
              <a:buNone/>
            </a:pPr>
            <a:r>
              <a:rPr lang="en" sz="866" i="0" u="none" strike="noStrike" cap="none">
                <a:solidFill>
                  <a:srgbClr val="FFFFFF"/>
                </a:solidFill>
                <a:latin typeface="Montserrat"/>
                <a:ea typeface="Montserrat"/>
                <a:cs typeface="Montserrat"/>
                <a:sym typeface="Montserrat"/>
              </a:rPr>
              <a:t>settles CfD with generator</a:t>
            </a:r>
            <a:endParaRPr sz="1155">
              <a:latin typeface="Montserrat"/>
              <a:ea typeface="Montserrat"/>
              <a:cs typeface="Montserrat"/>
              <a:sym typeface="Montserrat"/>
            </a:endParaRPr>
          </a:p>
        </p:txBody>
      </p:sp>
      <p:cxnSp>
        <p:nvCxnSpPr>
          <p:cNvPr id="1571" name="Google Shape;1571;p166"/>
          <p:cNvCxnSpPr/>
          <p:nvPr/>
        </p:nvCxnSpPr>
        <p:spPr>
          <a:xfrm rot="10800000" flipH="1">
            <a:off x="2210448" y="1551620"/>
            <a:ext cx="1380600" cy="312000"/>
          </a:xfrm>
          <a:prstGeom prst="bentConnector3">
            <a:avLst>
              <a:gd name="adj1" fmla="val 50000"/>
            </a:avLst>
          </a:prstGeom>
          <a:noFill/>
          <a:ln w="20975" cap="flat" cmpd="sng">
            <a:solidFill>
              <a:srgbClr val="5A6670"/>
            </a:solidFill>
            <a:prstDash val="solid"/>
            <a:round/>
            <a:headEnd type="none" w="sm" len="sm"/>
            <a:tailEnd type="none" w="sm" len="sm"/>
          </a:ln>
          <a:effectLst>
            <a:outerShdw blurRad="32999" dist="16499" dir="5400000" rotWithShape="0">
              <a:srgbClr val="000000">
                <a:alpha val="38040"/>
              </a:srgbClr>
            </a:outerShdw>
          </a:effectLst>
        </p:spPr>
      </p:cxnSp>
      <p:sp>
        <p:nvSpPr>
          <p:cNvPr id="1572" name="Google Shape;1572;p166"/>
          <p:cNvSpPr txBox="1"/>
          <p:nvPr/>
        </p:nvSpPr>
        <p:spPr>
          <a:xfrm>
            <a:off x="2137621" y="1221760"/>
            <a:ext cx="14535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i="0" u="none" strike="noStrike" cap="none">
                <a:solidFill>
                  <a:schemeClr val="dk1"/>
                </a:solidFill>
                <a:latin typeface="Montserrat"/>
                <a:ea typeface="Montserrat"/>
                <a:cs typeface="Montserrat"/>
                <a:sym typeface="Montserrat"/>
              </a:rPr>
              <a:t>energy -&gt; market (FMP)</a:t>
            </a:r>
            <a:endParaRPr sz="1155">
              <a:solidFill>
                <a:schemeClr val="dk1"/>
              </a:solidFill>
              <a:latin typeface="Montserrat"/>
              <a:ea typeface="Montserrat"/>
              <a:cs typeface="Montserrat"/>
              <a:sym typeface="Montserrat"/>
            </a:endParaRPr>
          </a:p>
        </p:txBody>
      </p:sp>
      <p:cxnSp>
        <p:nvCxnSpPr>
          <p:cNvPr id="1573" name="Google Shape;1573;p166"/>
          <p:cNvCxnSpPr/>
          <p:nvPr/>
        </p:nvCxnSpPr>
        <p:spPr>
          <a:xfrm rot="10800000" flipH="1">
            <a:off x="5552835" y="2488240"/>
            <a:ext cx="1380600" cy="535200"/>
          </a:xfrm>
          <a:prstGeom prst="bentConnector3">
            <a:avLst>
              <a:gd name="adj1" fmla="val 50000"/>
            </a:avLst>
          </a:prstGeom>
          <a:noFill/>
          <a:ln w="20975" cap="flat" cmpd="sng">
            <a:solidFill>
              <a:srgbClr val="5A6670"/>
            </a:solidFill>
            <a:prstDash val="solid"/>
            <a:round/>
            <a:headEnd type="none" w="sm" len="sm"/>
            <a:tailEnd type="none" w="sm" len="sm"/>
          </a:ln>
          <a:effectLst>
            <a:outerShdw blurRad="32999" dist="16499" dir="5400000" rotWithShape="0">
              <a:srgbClr val="000000">
                <a:alpha val="38040"/>
              </a:srgbClr>
            </a:outerShdw>
          </a:effectLst>
        </p:spPr>
      </p:cxnSp>
      <p:sp>
        <p:nvSpPr>
          <p:cNvPr id="1574" name="Google Shape;1574;p166"/>
          <p:cNvSpPr txBox="1"/>
          <p:nvPr/>
        </p:nvSpPr>
        <p:spPr>
          <a:xfrm>
            <a:off x="5516505" y="3068048"/>
            <a:ext cx="15258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i="0" u="none" strike="noStrike" cap="none">
                <a:solidFill>
                  <a:schemeClr val="dk1"/>
                </a:solidFill>
                <a:latin typeface="Montserrat"/>
                <a:ea typeface="Montserrat"/>
                <a:cs typeface="Montserrat"/>
                <a:sym typeface="Montserrat"/>
              </a:rPr>
              <a:t>DPPA bill (5 lines)</a:t>
            </a:r>
            <a:endParaRPr sz="1155">
              <a:solidFill>
                <a:schemeClr val="dk1"/>
              </a:solidFill>
              <a:latin typeface="Montserrat"/>
              <a:ea typeface="Montserrat"/>
              <a:cs typeface="Montserrat"/>
              <a:sym typeface="Montserrat"/>
            </a:endParaRPr>
          </a:p>
        </p:txBody>
      </p:sp>
      <p:cxnSp>
        <p:nvCxnSpPr>
          <p:cNvPr id="1575" name="Google Shape;1575;p166"/>
          <p:cNvCxnSpPr/>
          <p:nvPr/>
        </p:nvCxnSpPr>
        <p:spPr>
          <a:xfrm>
            <a:off x="2210448" y="2398922"/>
            <a:ext cx="4722900" cy="600"/>
          </a:xfrm>
          <a:prstGeom prst="bentConnector3">
            <a:avLst>
              <a:gd name="adj1" fmla="val 50000"/>
            </a:avLst>
          </a:prstGeom>
          <a:noFill/>
          <a:ln w="20975" cap="flat" cmpd="sng">
            <a:solidFill>
              <a:srgbClr val="E09A2B"/>
            </a:solidFill>
            <a:prstDash val="dash"/>
            <a:round/>
            <a:headEnd type="none" w="sm" len="sm"/>
            <a:tailEnd type="none" w="sm" len="sm"/>
          </a:ln>
          <a:effectLst>
            <a:outerShdw blurRad="32999" dist="16499" dir="5400000" rotWithShape="0">
              <a:srgbClr val="000000">
                <a:alpha val="38040"/>
              </a:srgbClr>
            </a:outerShdw>
          </a:effectLst>
        </p:spPr>
      </p:cxnSp>
      <p:sp>
        <p:nvSpPr>
          <p:cNvPr id="1576" name="Google Shape;1576;p166"/>
          <p:cNvSpPr txBox="1"/>
          <p:nvPr/>
        </p:nvSpPr>
        <p:spPr>
          <a:xfrm>
            <a:off x="3808981" y="2086663"/>
            <a:ext cx="1598400" cy="209400"/>
          </a:xfrm>
          <a:prstGeom prst="rect">
            <a:avLst/>
          </a:prstGeom>
          <a:noFill/>
          <a:ln>
            <a:noFill/>
          </a:ln>
        </p:spPr>
        <p:txBody>
          <a:bodyPr spcFirstLastPara="1" wrap="square" lIns="75425" tIns="37675" rIns="75425" bIns="37675" anchor="t" anchorCtr="0">
            <a:spAutoFit/>
          </a:bodyPr>
          <a:lstStyle/>
          <a:p>
            <a:pPr marL="0" marR="0" lvl="0" indent="0" algn="ctr" rtl="0">
              <a:lnSpc>
                <a:spcPct val="100000"/>
              </a:lnSpc>
              <a:spcBef>
                <a:spcPts val="0"/>
              </a:spcBef>
              <a:spcAft>
                <a:spcPts val="0"/>
              </a:spcAft>
              <a:buNone/>
            </a:pPr>
            <a:r>
              <a:rPr lang="en" sz="866" b="0" i="0" u="none" strike="noStrike" cap="none">
                <a:solidFill>
                  <a:srgbClr val="E09A2B"/>
                </a:solidFill>
                <a:latin typeface="Quattrocento Sans"/>
                <a:ea typeface="Quattrocento Sans"/>
                <a:cs typeface="Quattrocento Sans"/>
                <a:sym typeface="Quattrocento Sans"/>
              </a:rPr>
              <a:t>CfD settlement (two-way)</a:t>
            </a:r>
            <a:endParaRPr sz="1155"/>
          </a:p>
        </p:txBody>
      </p:sp>
      <p:sp>
        <p:nvSpPr>
          <p:cNvPr id="1577" name="Google Shape;1577;p166"/>
          <p:cNvSpPr txBox="1"/>
          <p:nvPr/>
        </p:nvSpPr>
        <p:spPr>
          <a:xfrm>
            <a:off x="393875" y="3788371"/>
            <a:ext cx="8509800" cy="845100"/>
          </a:xfrm>
          <a:prstGeom prst="rect">
            <a:avLst/>
          </a:prstGeom>
          <a:noFill/>
          <a:ln>
            <a:noFill/>
          </a:ln>
        </p:spPr>
        <p:txBody>
          <a:bodyPr spcFirstLastPara="1" wrap="square" lIns="73000" tIns="36475" rIns="73000" bIns="36475" anchor="t" anchorCtr="0">
            <a:spAutoFit/>
          </a:bodyPr>
          <a:lstStyle/>
          <a:p>
            <a:pPr marL="457200" marR="0" lvl="0" indent="-309750" algn="l" rtl="0">
              <a:lnSpc>
                <a:spcPct val="120000"/>
              </a:lnSpc>
              <a:spcBef>
                <a:spcPts val="0"/>
              </a:spcBef>
              <a:spcAft>
                <a:spcPts val="0"/>
              </a:spcAft>
              <a:buClr>
                <a:schemeClr val="dk1"/>
              </a:buClr>
              <a:buSzPts val="1278"/>
              <a:buFont typeface="Montserrat"/>
              <a:buChar char="●"/>
            </a:pPr>
            <a:r>
              <a:rPr lang="en" sz="1278" i="0" u="none" strike="noStrike" cap="none">
                <a:solidFill>
                  <a:schemeClr val="dk1"/>
                </a:solidFill>
                <a:latin typeface="Montserrat"/>
                <a:ea typeface="Montserrat"/>
                <a:cs typeface="Montserrat"/>
                <a:sym typeface="Montserrat"/>
              </a:rPr>
              <a:t>Physical electrons flow through the national grid as usual </a:t>
            </a:r>
            <a:r>
              <a:rPr lang="en" sz="1278">
                <a:solidFill>
                  <a:schemeClr val="dk1"/>
                </a:solidFill>
                <a:latin typeface="Montserrat"/>
                <a:ea typeface="Montserrat"/>
                <a:cs typeface="Montserrat"/>
                <a:sym typeface="Montserrat"/>
              </a:rPr>
              <a:t>and</a:t>
            </a:r>
            <a:r>
              <a:rPr lang="en" sz="1278" i="0" u="none" strike="noStrike" cap="none">
                <a:solidFill>
                  <a:schemeClr val="dk1"/>
                </a:solidFill>
                <a:latin typeface="Montserrat"/>
                <a:ea typeface="Montserrat"/>
                <a:cs typeface="Montserrat"/>
                <a:sym typeface="Montserrat"/>
              </a:rPr>
              <a:t> the DPPA is a financial overlay</a:t>
            </a:r>
            <a:endParaRPr sz="1318">
              <a:solidFill>
                <a:schemeClr val="dk1"/>
              </a:solidFill>
              <a:latin typeface="Montserrat"/>
              <a:ea typeface="Montserrat"/>
              <a:cs typeface="Montserrat"/>
              <a:sym typeface="Montserrat"/>
            </a:endParaRPr>
          </a:p>
          <a:p>
            <a:pPr marL="457200" marR="0" lvl="0" indent="-309750" algn="l" rtl="0">
              <a:lnSpc>
                <a:spcPct val="120000"/>
              </a:lnSpc>
              <a:spcBef>
                <a:spcPts val="400"/>
              </a:spcBef>
              <a:spcAft>
                <a:spcPts val="0"/>
              </a:spcAft>
              <a:buClr>
                <a:schemeClr val="dk1"/>
              </a:buClr>
              <a:buSzPts val="1278"/>
              <a:buFont typeface="Montserrat"/>
              <a:buChar char="●"/>
            </a:pPr>
            <a:r>
              <a:rPr lang="en" sz="1278" i="0" u="none" strike="noStrike" cap="none">
                <a:solidFill>
                  <a:schemeClr val="dk1"/>
                </a:solidFill>
                <a:latin typeface="Montserrat"/>
                <a:ea typeface="Montserrat"/>
                <a:cs typeface="Montserrat"/>
                <a:sym typeface="Montserrat"/>
              </a:rPr>
              <a:t>The generator's revenue = spot sales at FMP + CfD settlement with you</a:t>
            </a:r>
            <a:r>
              <a:rPr lang="en" sz="1278">
                <a:solidFill>
                  <a:schemeClr val="dk1"/>
                </a:solidFill>
                <a:latin typeface="Montserrat"/>
                <a:ea typeface="Montserrat"/>
                <a:cs typeface="Montserrat"/>
                <a:sym typeface="Montserrat"/>
              </a:rPr>
              <a:t>r factory</a:t>
            </a:r>
            <a:endParaRPr sz="1318">
              <a:solidFill>
                <a:schemeClr val="dk1"/>
              </a:solidFill>
              <a:latin typeface="Montserrat"/>
              <a:ea typeface="Montserrat"/>
              <a:cs typeface="Montserrat"/>
              <a:sym typeface="Montserrat"/>
            </a:endParaRPr>
          </a:p>
          <a:p>
            <a:pPr marL="457200" marR="0" lvl="0" indent="-309750" algn="l" rtl="0">
              <a:lnSpc>
                <a:spcPct val="120000"/>
              </a:lnSpc>
              <a:spcBef>
                <a:spcPts val="400"/>
              </a:spcBef>
              <a:spcAft>
                <a:spcPts val="400"/>
              </a:spcAft>
              <a:buClr>
                <a:schemeClr val="dk1"/>
              </a:buClr>
              <a:buSzPts val="1278"/>
              <a:buFont typeface="Montserrat"/>
              <a:buChar char="●"/>
            </a:pPr>
            <a:r>
              <a:rPr lang="en" sz="1278">
                <a:solidFill>
                  <a:schemeClr val="dk1"/>
                </a:solidFill>
                <a:latin typeface="Montserrat"/>
                <a:ea typeface="Montserrat"/>
                <a:cs typeface="Montserrat"/>
                <a:sym typeface="Montserrat"/>
              </a:rPr>
              <a:t>Your factory </a:t>
            </a:r>
            <a:r>
              <a:rPr lang="en" sz="1278" i="0" u="none" strike="noStrike" cap="none">
                <a:solidFill>
                  <a:schemeClr val="dk1"/>
                </a:solidFill>
                <a:latin typeface="Montserrat"/>
                <a:ea typeface="Montserrat"/>
                <a:cs typeface="Montserrat"/>
                <a:sym typeface="Montserrat"/>
              </a:rPr>
              <a:t>cost = the five-line EVN bill + the CfD settlement</a:t>
            </a:r>
            <a:endParaRPr sz="1318">
              <a:solidFill>
                <a:schemeClr val="dk1"/>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20"/>
        <p:cNvGrpSpPr/>
        <p:nvPr/>
      </p:nvGrpSpPr>
      <p:grpSpPr>
        <a:xfrm>
          <a:off x="0" y="0"/>
          <a:ext cx="0" cy="0"/>
          <a:chOff x="0" y="0"/>
          <a:chExt cx="0" cy="0"/>
        </a:xfrm>
      </p:grpSpPr>
      <p:grpSp>
        <p:nvGrpSpPr>
          <p:cNvPr id="1621" name="Google Shape;1621;p168"/>
          <p:cNvGrpSpPr/>
          <p:nvPr/>
        </p:nvGrpSpPr>
        <p:grpSpPr>
          <a:xfrm>
            <a:off x="239992" y="63853"/>
            <a:ext cx="8728050" cy="745997"/>
            <a:chOff x="236700" y="63853"/>
            <a:chExt cx="8728050" cy="745997"/>
          </a:xfrm>
        </p:grpSpPr>
        <p:sp>
          <p:nvSpPr>
            <p:cNvPr id="1622" name="Google Shape;1622;p16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23" name="Google Shape;1623;p16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24" name="Google Shape;1624;p16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25" name="Google Shape;1625;p16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26" name="Google Shape;1626;p16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27" name="Google Shape;1627;p16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28" name="Google Shape;1628;p16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29" name="Google Shape;1629;p168"/>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The Monthly DPPA Settlement Has Five Lines</a:t>
              </a:r>
              <a:endParaRPr sz="2100">
                <a:solidFill>
                  <a:schemeClr val="lt1"/>
                </a:solidFill>
                <a:latin typeface="Montserrat ExtraBold"/>
                <a:ea typeface="Montserrat ExtraBold"/>
                <a:cs typeface="Montserrat ExtraBold"/>
                <a:sym typeface="Montserrat ExtraBold"/>
              </a:endParaRPr>
            </a:p>
          </p:txBody>
        </p:sp>
        <p:cxnSp>
          <p:nvCxnSpPr>
            <p:cNvPr id="1630" name="Google Shape;1630;p16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31" name="Google Shape;1631;p16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632" name="Google Shape;1632;p16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33" name="Google Shape;1633;p168"/>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634" name="Google Shape;1634;p168"/>
          <p:cNvGraphicFramePr/>
          <p:nvPr/>
        </p:nvGraphicFramePr>
        <p:xfrm>
          <a:off x="286486" y="969468"/>
          <a:ext cx="8450050" cy="2581700"/>
        </p:xfrm>
        <a:graphic>
          <a:graphicData uri="http://schemas.openxmlformats.org/drawingml/2006/table">
            <a:tbl>
              <a:tblPr firstRow="1" bandRow="1">
                <a:noFill/>
                <a:tableStyleId>{CE8BD2AF-5D0D-4EDC-AE96-A30A7DA1AF2F}</a:tableStyleId>
              </a:tblPr>
              <a:tblGrid>
                <a:gridCol w="398350">
                  <a:extLst>
                    <a:ext uri="{9D8B030D-6E8A-4147-A177-3AD203B41FA5}">
                      <a16:colId xmlns:a16="http://schemas.microsoft.com/office/drawing/2014/main" val="20000"/>
                    </a:ext>
                  </a:extLst>
                </a:gridCol>
                <a:gridCol w="1561550">
                  <a:extLst>
                    <a:ext uri="{9D8B030D-6E8A-4147-A177-3AD203B41FA5}">
                      <a16:colId xmlns:a16="http://schemas.microsoft.com/office/drawing/2014/main" val="20001"/>
                    </a:ext>
                  </a:extLst>
                </a:gridCol>
                <a:gridCol w="2981125">
                  <a:extLst>
                    <a:ext uri="{9D8B030D-6E8A-4147-A177-3AD203B41FA5}">
                      <a16:colId xmlns:a16="http://schemas.microsoft.com/office/drawing/2014/main" val="20002"/>
                    </a:ext>
                  </a:extLst>
                </a:gridCol>
                <a:gridCol w="3509025">
                  <a:extLst>
                    <a:ext uri="{9D8B030D-6E8A-4147-A177-3AD203B41FA5}">
                      <a16:colId xmlns:a16="http://schemas.microsoft.com/office/drawing/2014/main" val="20003"/>
                    </a:ext>
                  </a:extLst>
                </a:gridCol>
              </a:tblGrid>
              <a:tr h="429525">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Line</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Formula</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Level (2025 reference)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Market energy</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Q_Khc x FMP x k x K_pp</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FMP avg ~1,426.6 VND/kWh; k~1.026; K_pp by voltage</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2</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DPPA service fee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Q_Khc x C_dppa_dv</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360 VND/kWh</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3</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Balancing fee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Q_Khc x P_cl</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163.3 VND/kWh</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4</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Residual purchase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(Load - Q_Khc) x EVN retail</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TOU rates</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429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5</a:t>
                      </a:r>
                      <a:endParaRPr>
                        <a:latin typeface="Montserrat"/>
                        <a:ea typeface="Montserrat"/>
                        <a:cs typeface="Montserrat"/>
                        <a:sym typeface="Montserrat"/>
                      </a:endParaRPr>
                    </a:p>
                  </a:txBody>
                  <a:tcPr marL="91450" marR="91450" marT="25400" marB="25400" anchor="ctr">
                    <a:solidFill>
                      <a:srgbClr val="FBEEDD"/>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CfD settlement</a:t>
                      </a:r>
                      <a:endParaRPr>
                        <a:latin typeface="Montserrat"/>
                        <a:ea typeface="Montserrat"/>
                        <a:cs typeface="Montserrat"/>
                        <a:sym typeface="Montserrat"/>
                      </a:endParaRPr>
                    </a:p>
                  </a:txBody>
                  <a:tcPr marL="91450" marR="91450" marT="25400" marB="25400" anchor="ctr">
                    <a:solidFill>
                      <a:srgbClr val="FBEEDD"/>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(Strike - FMP) x min(Q_c, Q_Khc)</a:t>
                      </a:r>
                      <a:endParaRPr>
                        <a:latin typeface="Montserrat"/>
                        <a:ea typeface="Montserrat"/>
                        <a:cs typeface="Montserrat"/>
                        <a:sym typeface="Montserrat"/>
                      </a:endParaRPr>
                    </a:p>
                  </a:txBody>
                  <a:tcPr marL="91450" marR="91450" marT="25400" marB="25400" anchor="ctr">
                    <a:solidFill>
                      <a:srgbClr val="FBEEDD"/>
                    </a:solidFill>
                  </a:tcPr>
                </a:tc>
                <a:tc>
                  <a:txBody>
                    <a:bodyPr/>
                    <a:lstStyle/>
                    <a:p>
                      <a:pPr marL="0" marR="0" lvl="0" indent="0" algn="l" rtl="0">
                        <a:lnSpc>
                          <a:spcPct val="100000"/>
                        </a:lnSpc>
                        <a:spcBef>
                          <a:spcPts val="0"/>
                        </a:spcBef>
                        <a:spcAft>
                          <a:spcPts val="0"/>
                        </a:spcAft>
                        <a:buNone/>
                      </a:pPr>
                      <a:r>
                        <a:rPr lang="en" sz="1250">
                          <a:solidFill>
                            <a:srgbClr val="222B33"/>
                          </a:solidFill>
                          <a:latin typeface="Montserrat"/>
                          <a:ea typeface="Montserrat"/>
                          <a:cs typeface="Montserrat"/>
                          <a:sym typeface="Montserrat"/>
                        </a:rPr>
                        <a:t>T</a:t>
                      </a:r>
                      <a:r>
                        <a:rPr lang="en" sz="1250" u="none" strike="noStrike" cap="none">
                          <a:solidFill>
                            <a:srgbClr val="222B33"/>
                          </a:solidFill>
                          <a:latin typeface="Montserrat"/>
                          <a:ea typeface="Montserrat"/>
                          <a:cs typeface="Montserrat"/>
                          <a:sym typeface="Montserrat"/>
                        </a:rPr>
                        <a:t>wo-way: can be + or -</a:t>
                      </a:r>
                      <a:endParaRPr>
                        <a:latin typeface="Montserrat"/>
                        <a:ea typeface="Montserrat"/>
                        <a:cs typeface="Montserrat"/>
                        <a:sym typeface="Montserrat"/>
                      </a:endParaRPr>
                    </a:p>
                  </a:txBody>
                  <a:tcPr marL="91450" marR="91450" marT="25400" marB="25400" anchor="ctr">
                    <a:solidFill>
                      <a:srgbClr val="FBEEDD"/>
                    </a:solidFill>
                  </a:tcPr>
                </a:tc>
                <a:extLst>
                  <a:ext uri="{0D108BD9-81ED-4DB2-BD59-A6C34878D82A}">
                    <a16:rowId xmlns:a16="http://schemas.microsoft.com/office/drawing/2014/main" val="10005"/>
                  </a:ext>
                </a:extLst>
              </a:tr>
            </a:tbl>
          </a:graphicData>
        </a:graphic>
      </p:graphicFrame>
      <p:sp>
        <p:nvSpPr>
          <p:cNvPr id="1635" name="Google Shape;1635;p168"/>
          <p:cNvSpPr txBox="1"/>
          <p:nvPr/>
        </p:nvSpPr>
        <p:spPr>
          <a:xfrm>
            <a:off x="147416" y="3670238"/>
            <a:ext cx="8523000" cy="1044600"/>
          </a:xfrm>
          <a:prstGeom prst="rect">
            <a:avLst/>
          </a:prstGeom>
          <a:noFill/>
          <a:ln>
            <a:noFill/>
          </a:ln>
        </p:spPr>
        <p:txBody>
          <a:bodyPr spcFirstLastPara="1" wrap="square" lIns="91425" tIns="45700" rIns="91425" bIns="45700" anchor="t" anchorCtr="0">
            <a:spAutoFit/>
          </a:bodyPr>
          <a:lstStyle/>
          <a:p>
            <a:pPr marL="457200" marR="0" lvl="0" indent="-304800" algn="l" rtl="0">
              <a:lnSpc>
                <a:spcPct val="120000"/>
              </a:lnSpc>
              <a:spcBef>
                <a:spcPts val="0"/>
              </a:spcBef>
              <a:spcAft>
                <a:spcPts val="0"/>
              </a:spcAft>
              <a:buClr>
                <a:srgbClr val="222B33"/>
              </a:buClr>
              <a:buSzPts val="1200"/>
              <a:buFont typeface="Montserrat"/>
              <a:buChar char="●"/>
            </a:pPr>
            <a:r>
              <a:rPr lang="en" sz="1200" i="0" u="none" strike="noStrike" cap="none">
                <a:solidFill>
                  <a:srgbClr val="222B33"/>
                </a:solidFill>
                <a:latin typeface="Montserrat"/>
                <a:ea typeface="Montserrat"/>
                <a:cs typeface="Montserrat"/>
                <a:sym typeface="Montserrat"/>
              </a:rPr>
              <a:t>Lines 1-4 are billed by EVN. Line 5 settles bilaterally with the generator under CfD contract.</a:t>
            </a:r>
            <a:endParaRPr sz="1200">
              <a:latin typeface="Montserrat"/>
              <a:ea typeface="Montserrat"/>
              <a:cs typeface="Montserrat"/>
              <a:sym typeface="Montserrat"/>
            </a:endParaRPr>
          </a:p>
          <a:p>
            <a:pPr marL="457200" marR="0" lvl="0" indent="-304800" algn="l" rtl="0">
              <a:lnSpc>
                <a:spcPct val="120000"/>
              </a:lnSpc>
              <a:spcBef>
                <a:spcPts val="400"/>
              </a:spcBef>
              <a:spcAft>
                <a:spcPts val="0"/>
              </a:spcAft>
              <a:buClr>
                <a:srgbClr val="222B33"/>
              </a:buClr>
              <a:buSzPts val="1200"/>
              <a:buFont typeface="Montserrat"/>
              <a:buChar char="●"/>
            </a:pPr>
            <a:r>
              <a:rPr lang="en" sz="1200" i="0" u="none" strike="noStrike" cap="none">
                <a:solidFill>
                  <a:srgbClr val="222B33"/>
                </a:solidFill>
                <a:latin typeface="Montserrat"/>
                <a:ea typeface="Montserrat"/>
                <a:cs typeface="Montserrat"/>
                <a:sym typeface="Montserrat"/>
              </a:rPr>
              <a:t>Q_Khc = the renewable volume actually received and consumed (defined next slide).</a:t>
            </a:r>
            <a:endParaRPr sz="1200">
              <a:latin typeface="Montserrat"/>
              <a:ea typeface="Montserrat"/>
              <a:cs typeface="Montserrat"/>
              <a:sym typeface="Montserrat"/>
            </a:endParaRPr>
          </a:p>
          <a:p>
            <a:pPr marL="457200" marR="0" lvl="0" indent="-304800" algn="l" rtl="0">
              <a:lnSpc>
                <a:spcPct val="120000"/>
              </a:lnSpc>
              <a:spcBef>
                <a:spcPts val="400"/>
              </a:spcBef>
              <a:spcAft>
                <a:spcPts val="400"/>
              </a:spcAft>
              <a:buClr>
                <a:srgbClr val="222B33"/>
              </a:buClr>
              <a:buSzPts val="1200"/>
              <a:buFont typeface="Montserrat"/>
              <a:buChar char="●"/>
            </a:pPr>
            <a:r>
              <a:rPr lang="en" sz="1200" i="0" u="none" strike="noStrike" cap="none">
                <a:solidFill>
                  <a:srgbClr val="222B33"/>
                </a:solidFill>
                <a:latin typeface="Montserrat"/>
                <a:ea typeface="Montserrat"/>
                <a:cs typeface="Montserrat"/>
                <a:sym typeface="Montserrat"/>
              </a:rPr>
              <a:t>CFMP = FMP x k: k converts the market price to the customer delivery point (price conversion, not a volume loss).</a:t>
            </a:r>
            <a:endParaRPr sz="1200">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9"/>
        <p:cNvGrpSpPr/>
        <p:nvPr/>
      </p:nvGrpSpPr>
      <p:grpSpPr>
        <a:xfrm>
          <a:off x="0" y="0"/>
          <a:ext cx="0" cy="0"/>
          <a:chOff x="0" y="0"/>
          <a:chExt cx="0" cy="0"/>
        </a:xfrm>
      </p:grpSpPr>
      <p:grpSp>
        <p:nvGrpSpPr>
          <p:cNvPr id="1640" name="Google Shape;1640;p169"/>
          <p:cNvGrpSpPr/>
          <p:nvPr/>
        </p:nvGrpSpPr>
        <p:grpSpPr>
          <a:xfrm>
            <a:off x="239992" y="63853"/>
            <a:ext cx="8728050" cy="745997"/>
            <a:chOff x="236700" y="63853"/>
            <a:chExt cx="8728050" cy="745997"/>
          </a:xfrm>
        </p:grpSpPr>
        <p:sp>
          <p:nvSpPr>
            <p:cNvPr id="1641" name="Google Shape;1641;p16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42" name="Google Shape;1642;p16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43" name="Google Shape;1643;p16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44" name="Google Shape;1644;p16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45" name="Google Shape;1645;p16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46" name="Google Shape;1646;p16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47" name="Google Shape;1647;p16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48" name="Google Shape;1648;p169"/>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Contracted Volumes &amp; Actual Electricity Consumption</a:t>
              </a:r>
              <a:endParaRPr sz="2100">
                <a:solidFill>
                  <a:schemeClr val="lt1"/>
                </a:solidFill>
                <a:latin typeface="Montserrat ExtraBold"/>
                <a:ea typeface="Montserrat ExtraBold"/>
                <a:cs typeface="Montserrat ExtraBold"/>
                <a:sym typeface="Montserrat ExtraBold"/>
              </a:endParaRPr>
            </a:p>
          </p:txBody>
        </p:sp>
        <p:cxnSp>
          <p:nvCxnSpPr>
            <p:cNvPr id="1649" name="Google Shape;1649;p169"/>
            <p:cNvCxnSpPr/>
            <p:nvPr/>
          </p:nvCxnSpPr>
          <p:spPr>
            <a:xfrm rot="10800000">
              <a:off x="236700" y="712275"/>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50" name="Google Shape;1650;p16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1651" name="Google Shape;1651;p169"/>
          <p:cNvSpPr/>
          <p:nvPr/>
        </p:nvSpPr>
        <p:spPr>
          <a:xfrm>
            <a:off x="459518" y="1315950"/>
            <a:ext cx="7282200" cy="1695900"/>
          </a:xfrm>
          <a:prstGeom prst="roundRect">
            <a:avLst>
              <a:gd name="adj" fmla="val 16667"/>
            </a:avLst>
          </a:prstGeom>
          <a:solidFill>
            <a:srgbClr val="EEF4F4"/>
          </a:solidFill>
          <a:ln w="12700" cap="flat" cmpd="sng">
            <a:solidFill>
              <a:srgbClr val="127A7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164575" tIns="73150" rIns="164575" bIns="73150" anchor="ctr" anchorCtr="0">
            <a:noAutofit/>
          </a:bodyPr>
          <a:lstStyle/>
          <a:p>
            <a:pPr marL="0" marR="0" lvl="0" indent="0" algn="l" rtl="0">
              <a:lnSpc>
                <a:spcPct val="200000"/>
              </a:lnSpc>
              <a:spcBef>
                <a:spcPts val="0"/>
              </a:spcBef>
              <a:spcAft>
                <a:spcPts val="0"/>
              </a:spcAft>
              <a:buNone/>
            </a:pPr>
            <a:r>
              <a:rPr lang="en" sz="1400" b="0" i="0" u="none" strike="noStrike" cap="none">
                <a:solidFill>
                  <a:srgbClr val="0F293D"/>
                </a:solidFill>
                <a:latin typeface="Consolas"/>
                <a:ea typeface="Consolas"/>
                <a:cs typeface="Consolas"/>
                <a:sym typeface="Consolas"/>
              </a:rPr>
              <a:t>Q_adj = Q_meter / K_pp        delivered volume at your meter</a:t>
            </a:r>
            <a:endParaRPr/>
          </a:p>
          <a:p>
            <a:pPr marL="0" marR="0" lvl="0" indent="0" algn="l" rtl="0">
              <a:lnSpc>
                <a:spcPct val="200000"/>
              </a:lnSpc>
              <a:spcBef>
                <a:spcPts val="200"/>
              </a:spcBef>
              <a:spcAft>
                <a:spcPts val="0"/>
              </a:spcAft>
              <a:buNone/>
            </a:pPr>
            <a:r>
              <a:rPr lang="en" sz="1400" b="0" i="0" u="none" strike="noStrike" cap="none">
                <a:solidFill>
                  <a:srgbClr val="0F293D"/>
                </a:solidFill>
                <a:latin typeface="Consolas"/>
                <a:ea typeface="Consolas"/>
                <a:cs typeface="Consolas"/>
                <a:sym typeface="Consolas"/>
              </a:rPr>
              <a:t>Q_Khc = min(Load, Q_adj)      settled volume (lines 1-3)</a:t>
            </a:r>
            <a:endParaRPr/>
          </a:p>
          <a:p>
            <a:pPr marL="0" marR="0" lvl="0" indent="0" algn="l" rtl="0">
              <a:lnSpc>
                <a:spcPct val="200000"/>
              </a:lnSpc>
              <a:spcBef>
                <a:spcPts val="200"/>
              </a:spcBef>
              <a:spcAft>
                <a:spcPts val="0"/>
              </a:spcAft>
              <a:buNone/>
            </a:pPr>
            <a:r>
              <a:rPr lang="en" sz="1400" b="0" i="0" u="none" strike="noStrike" cap="none">
                <a:solidFill>
                  <a:srgbClr val="0F293D"/>
                </a:solidFill>
                <a:latin typeface="Consolas"/>
                <a:ea typeface="Consolas"/>
                <a:cs typeface="Consolas"/>
                <a:sym typeface="Consolas"/>
              </a:rPr>
              <a:t>Q_CfD = min(Q_c, Q_Khc)       CfD settles on received volume</a:t>
            </a:r>
            <a:endParaRPr/>
          </a:p>
        </p:txBody>
      </p:sp>
      <p:sp>
        <p:nvSpPr>
          <p:cNvPr id="1652" name="Google Shape;1652;p169"/>
          <p:cNvSpPr txBox="1"/>
          <p:nvPr/>
        </p:nvSpPr>
        <p:spPr>
          <a:xfrm>
            <a:off x="393875" y="3238525"/>
            <a:ext cx="8685000" cy="15456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000000"/>
              </a:buClr>
              <a:buSzPts val="1300"/>
              <a:buFont typeface="Montserrat"/>
              <a:buChar char="●"/>
            </a:pPr>
            <a:r>
              <a:rPr lang="en" sz="1300">
                <a:solidFill>
                  <a:srgbClr val="000000"/>
                </a:solidFill>
                <a:latin typeface="Montserrat"/>
                <a:ea typeface="Montserrat"/>
                <a:cs typeface="Montserrat"/>
                <a:sym typeface="Montserrat"/>
              </a:rPr>
              <a:t>Grid losses are reflected through coordinated volume and price conversions: </a:t>
            </a:r>
            <a:br>
              <a:rPr lang="en" sz="1300">
                <a:solidFill>
                  <a:srgbClr val="000000"/>
                </a:solidFill>
                <a:latin typeface="Montserrat"/>
                <a:ea typeface="Montserrat"/>
                <a:cs typeface="Montserrat"/>
                <a:sym typeface="Montserrat"/>
              </a:rPr>
            </a:br>
            <a:r>
              <a:rPr lang="en" sz="1300">
                <a:solidFill>
                  <a:srgbClr val="000000"/>
                </a:solidFill>
                <a:latin typeface="Montserrat"/>
                <a:ea typeface="Montserrat"/>
                <a:cs typeface="Montserrat"/>
                <a:sym typeface="Montserrat"/>
              </a:rPr>
              <a:t>K_pp converts generator-meter output into buyer-side credited volume, while </a:t>
            </a:r>
            <a:br>
              <a:rPr lang="en" sz="1300">
                <a:solidFill>
                  <a:srgbClr val="000000"/>
                </a:solidFill>
                <a:latin typeface="Montserrat"/>
                <a:ea typeface="Montserrat"/>
                <a:cs typeface="Montserrat"/>
                <a:sym typeface="Montserrat"/>
              </a:rPr>
            </a:br>
            <a:r>
              <a:rPr lang="en" sz="1300">
                <a:solidFill>
                  <a:srgbClr val="000000"/>
                </a:solidFill>
                <a:latin typeface="Montserrat"/>
                <a:ea typeface="Montserrat"/>
                <a:cs typeface="Montserrat"/>
                <a:sym typeface="Montserrat"/>
              </a:rPr>
              <a:t>k and K_pp convert FMP into the corresponding buyer-side market-energy price.</a:t>
            </a:r>
            <a:endParaRPr>
              <a:solidFill>
                <a:srgbClr val="000000"/>
              </a:solidFill>
              <a:latin typeface="Montserrat"/>
              <a:ea typeface="Montserrat"/>
              <a:cs typeface="Montserrat"/>
              <a:sym typeface="Montserrat"/>
            </a:endParaRPr>
          </a:p>
          <a:p>
            <a:pPr marL="457200" marR="0" lvl="0" indent="-311150" algn="l" rtl="0">
              <a:lnSpc>
                <a:spcPct val="115000"/>
              </a:lnSpc>
              <a:spcBef>
                <a:spcPts val="400"/>
              </a:spcBef>
              <a:spcAft>
                <a:spcPts val="0"/>
              </a:spcAft>
              <a:buClr>
                <a:srgbClr val="000000"/>
              </a:buClr>
              <a:buSzPts val="1300"/>
              <a:buFont typeface="Montserrat"/>
              <a:buChar char="●"/>
            </a:pPr>
            <a:r>
              <a:rPr lang="en" sz="1300" i="0" u="none" strike="noStrike" cap="none">
                <a:solidFill>
                  <a:srgbClr val="000000"/>
                </a:solidFill>
                <a:latin typeface="Montserrat"/>
                <a:ea typeface="Montserrat"/>
                <a:cs typeface="Montserrat"/>
                <a:sym typeface="Montserrat"/>
              </a:rPr>
              <a:t>If the plant generates more than you consume in an hour, the excess earns the generator spot revenue only</a:t>
            </a:r>
            <a:r>
              <a:rPr lang="en" sz="1300">
                <a:solidFill>
                  <a:srgbClr val="000000"/>
                </a:solidFill>
                <a:latin typeface="Montserrat"/>
                <a:ea typeface="Montserrat"/>
                <a:cs typeface="Montserrat"/>
                <a:sym typeface="Montserrat"/>
              </a:rPr>
              <a:t>; </a:t>
            </a:r>
            <a:r>
              <a:rPr lang="en" sz="1300" i="0" u="none" strike="noStrike" cap="none">
                <a:solidFill>
                  <a:srgbClr val="000000"/>
                </a:solidFill>
                <a:latin typeface="Montserrat"/>
                <a:ea typeface="Montserrat"/>
                <a:cs typeface="Montserrat"/>
                <a:sym typeface="Montserrat"/>
              </a:rPr>
              <a:t>it is NOT billed to you and does NOT earn CfD</a:t>
            </a:r>
            <a:endParaRPr>
              <a:solidFill>
                <a:srgbClr val="000000"/>
              </a:solidFill>
              <a:latin typeface="Montserrat"/>
              <a:ea typeface="Montserrat"/>
              <a:cs typeface="Montserrat"/>
              <a:sym typeface="Montserrat"/>
            </a:endParaRPr>
          </a:p>
          <a:p>
            <a:pPr marL="457200" marR="0" lvl="0" indent="-311150" algn="l" rtl="0">
              <a:lnSpc>
                <a:spcPct val="115000"/>
              </a:lnSpc>
              <a:spcBef>
                <a:spcPts val="400"/>
              </a:spcBef>
              <a:spcAft>
                <a:spcPts val="400"/>
              </a:spcAft>
              <a:buClr>
                <a:srgbClr val="000000"/>
              </a:buClr>
              <a:buSzPts val="1300"/>
              <a:buFont typeface="Montserrat"/>
              <a:buChar char="●"/>
            </a:pPr>
            <a:r>
              <a:rPr lang="en" sz="1300" b="1" i="0" u="none" strike="noStrike" cap="none">
                <a:solidFill>
                  <a:srgbClr val="000000"/>
                </a:solidFill>
                <a:latin typeface="Montserrat"/>
                <a:ea typeface="Montserrat"/>
                <a:cs typeface="Montserrat"/>
                <a:sym typeface="Montserrat"/>
              </a:rPr>
              <a:t>Practical consequence: </a:t>
            </a:r>
            <a:r>
              <a:rPr lang="en" sz="1300">
                <a:latin typeface="Montserrat"/>
                <a:ea typeface="Montserrat"/>
                <a:cs typeface="Montserrat"/>
                <a:sym typeface="Montserrat"/>
              </a:rPr>
              <a:t>C</a:t>
            </a:r>
            <a:r>
              <a:rPr lang="en" sz="1300" i="0" u="none" strike="noStrike" cap="none">
                <a:solidFill>
                  <a:srgbClr val="000000"/>
                </a:solidFill>
                <a:latin typeface="Montserrat"/>
                <a:ea typeface="Montserrat"/>
                <a:cs typeface="Montserrat"/>
                <a:sym typeface="Montserrat"/>
              </a:rPr>
              <a:t>ontracted volume (Q_c) above your real consumption buys nothing</a:t>
            </a:r>
            <a:endParaRPr>
              <a:solidFill>
                <a:srgbClr val="000000"/>
              </a:solidFill>
              <a:latin typeface="Montserrat"/>
              <a:ea typeface="Montserrat"/>
              <a:cs typeface="Montserrat"/>
              <a:sym typeface="Montserrat"/>
            </a:endParaRPr>
          </a:p>
        </p:txBody>
      </p:sp>
      <p:sp>
        <p:nvSpPr>
          <p:cNvPr id="1653" name="Google Shape;1653;p169"/>
          <p:cNvSpPr txBox="1"/>
          <p:nvPr/>
        </p:nvSpPr>
        <p:spPr>
          <a:xfrm>
            <a:off x="363039" y="878250"/>
            <a:ext cx="69417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200" b="1">
                <a:solidFill>
                  <a:srgbClr val="127A7A"/>
                </a:solidFill>
                <a:latin typeface="Montserrat"/>
                <a:ea typeface="Montserrat"/>
                <a:cs typeface="Montserrat"/>
                <a:sym typeface="Montserrat"/>
              </a:rPr>
              <a:t>Which volume? You settle only on what you actually consume</a:t>
            </a:r>
            <a:endParaRPr sz="1200" b="1">
              <a:solidFill>
                <a:srgbClr val="127A7A"/>
              </a:solidFill>
              <a:latin typeface="Montserrat"/>
              <a:ea typeface="Montserrat"/>
              <a:cs typeface="Montserrat"/>
              <a:sym typeface="Montserrat"/>
            </a:endParaRPr>
          </a:p>
        </p:txBody>
      </p:sp>
      <p:pic>
        <p:nvPicPr>
          <p:cNvPr id="1654" name="Google Shape;1654;p16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55" name="Google Shape;1655;p169"/>
          <p:cNvPicPr preferRelativeResize="0"/>
          <p:nvPr/>
        </p:nvPicPr>
        <p:blipFill>
          <a:blip r:embed="rId4">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59"/>
        <p:cNvGrpSpPr/>
        <p:nvPr/>
      </p:nvGrpSpPr>
      <p:grpSpPr>
        <a:xfrm>
          <a:off x="0" y="0"/>
          <a:ext cx="0" cy="0"/>
          <a:chOff x="0" y="0"/>
          <a:chExt cx="0" cy="0"/>
        </a:xfrm>
      </p:grpSpPr>
      <p:grpSp>
        <p:nvGrpSpPr>
          <p:cNvPr id="1660" name="Google Shape;1660;p170"/>
          <p:cNvGrpSpPr/>
          <p:nvPr/>
        </p:nvGrpSpPr>
        <p:grpSpPr>
          <a:xfrm>
            <a:off x="239992" y="63853"/>
            <a:ext cx="8728050" cy="745997"/>
            <a:chOff x="236700" y="63853"/>
            <a:chExt cx="8728050" cy="745997"/>
          </a:xfrm>
        </p:grpSpPr>
        <p:sp>
          <p:nvSpPr>
            <p:cNvPr id="1661" name="Google Shape;1661;p170"/>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62" name="Google Shape;1662;p17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63" name="Google Shape;1663;p17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64" name="Google Shape;1664;p17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65" name="Google Shape;1665;p17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66" name="Google Shape;1666;p17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67" name="Google Shape;1667;p17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68" name="Google Shape;1668;p170"/>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Simulation: Industrial Park Buys 6,000 MWh/month</a:t>
              </a:r>
              <a:endParaRPr sz="2100">
                <a:solidFill>
                  <a:schemeClr val="lt1"/>
                </a:solidFill>
                <a:latin typeface="Montserrat ExtraBold"/>
                <a:ea typeface="Montserrat ExtraBold"/>
                <a:cs typeface="Montserrat ExtraBold"/>
                <a:sym typeface="Montserrat ExtraBold"/>
              </a:endParaRPr>
            </a:p>
          </p:txBody>
        </p:sp>
        <p:cxnSp>
          <p:nvCxnSpPr>
            <p:cNvPr id="1669" name="Google Shape;1669;p170"/>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70" name="Google Shape;1670;p170"/>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graphicFrame>
        <p:nvGraphicFramePr>
          <p:cNvPr id="1671" name="Google Shape;1671;p170"/>
          <p:cNvGraphicFramePr/>
          <p:nvPr/>
        </p:nvGraphicFramePr>
        <p:xfrm>
          <a:off x="453128" y="984674"/>
          <a:ext cx="4731950" cy="3663625"/>
        </p:xfrm>
        <a:graphic>
          <a:graphicData uri="http://schemas.openxmlformats.org/drawingml/2006/table">
            <a:tbl>
              <a:tblPr firstRow="1" bandRow="1">
                <a:noFill/>
                <a:tableStyleId>{CE8BD2AF-5D0D-4EDC-AE96-A30A7DA1AF2F}</a:tableStyleId>
              </a:tblPr>
              <a:tblGrid>
                <a:gridCol w="2170750">
                  <a:extLst>
                    <a:ext uri="{9D8B030D-6E8A-4147-A177-3AD203B41FA5}">
                      <a16:colId xmlns:a16="http://schemas.microsoft.com/office/drawing/2014/main" val="20000"/>
                    </a:ext>
                  </a:extLst>
                </a:gridCol>
                <a:gridCol w="1129325">
                  <a:extLst>
                    <a:ext uri="{9D8B030D-6E8A-4147-A177-3AD203B41FA5}">
                      <a16:colId xmlns:a16="http://schemas.microsoft.com/office/drawing/2014/main" val="20001"/>
                    </a:ext>
                  </a:extLst>
                </a:gridCol>
                <a:gridCol w="1431875">
                  <a:extLst>
                    <a:ext uri="{9D8B030D-6E8A-4147-A177-3AD203B41FA5}">
                      <a16:colId xmlns:a16="http://schemas.microsoft.com/office/drawing/2014/main" val="20002"/>
                    </a:ext>
                  </a:extLst>
                </a:gridCol>
              </a:tblGrid>
              <a:tr h="331225">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Parameter</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Symbol</a:t>
                      </a:r>
                      <a:endParaRPr sz="10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000" u="none" strike="noStrike" cap="none">
                          <a:solidFill>
                            <a:srgbClr val="FFFFFF"/>
                          </a:solidFill>
                          <a:latin typeface="Montserrat"/>
                          <a:ea typeface="Montserrat"/>
                          <a:cs typeface="Montserrat"/>
                          <a:sym typeface="Montserrat"/>
                        </a:rPr>
                        <a:t>Value</a:t>
                      </a:r>
                      <a:endParaRPr sz="1000">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19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Consumption = received RE volume</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Q_KH = Q_Khc</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6,000,000 kWh/mo</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1987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Contracted CfD volume</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Q_c</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6,000,000 kWh/mo</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CfD strike price</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P_c</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1,300 VND/kWh</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3892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Market price (monthly avg)</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FMP</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1,200 VND/kWh</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Price conversion factor</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k</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1.026</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Loss factor (110 kV)</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K_pp</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1.008</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6"/>
                  </a:ext>
                </a:extLst>
              </a:tr>
              <a:tr h="3892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DPPA service fee</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C_dppa_dv</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360 VND/kWh</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7"/>
                  </a:ext>
                </a:extLst>
              </a:tr>
              <a:tr h="331225">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Balancing fee</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P_cl</a:t>
                      </a:r>
                      <a:endParaRPr sz="1000">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163.3 VND/kWh</a:t>
                      </a:r>
                      <a:endParaRPr sz="1000">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8"/>
                  </a:ext>
                </a:extLst>
              </a:tr>
              <a:tr h="389250">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Avg retail price (residual)</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P1</a:t>
                      </a:r>
                      <a:endParaRPr sz="1000">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000" u="none" strike="noStrike" cap="none">
                          <a:solidFill>
                            <a:srgbClr val="222B33"/>
                          </a:solidFill>
                          <a:latin typeface="Montserrat"/>
                          <a:ea typeface="Montserrat"/>
                          <a:cs typeface="Montserrat"/>
                          <a:sym typeface="Montserrat"/>
                        </a:rPr>
                        <a:t>2,204 VND/kWh</a:t>
                      </a:r>
                      <a:endParaRPr sz="1000">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9"/>
                  </a:ext>
                </a:extLst>
              </a:tr>
            </a:tbl>
          </a:graphicData>
        </a:graphic>
      </p:graphicFrame>
      <p:sp>
        <p:nvSpPr>
          <p:cNvPr id="1672" name="Google Shape;1672;p170"/>
          <p:cNvSpPr txBox="1"/>
          <p:nvPr/>
        </p:nvSpPr>
        <p:spPr>
          <a:xfrm>
            <a:off x="5262110" y="1008155"/>
            <a:ext cx="36381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F293D"/>
                </a:solidFill>
                <a:latin typeface="Montserrat"/>
                <a:ea typeface="Montserrat"/>
                <a:cs typeface="Montserrat"/>
                <a:sym typeface="Montserrat"/>
              </a:rPr>
              <a:t>Scenario</a:t>
            </a:r>
            <a:endParaRPr>
              <a:latin typeface="Montserrat"/>
              <a:ea typeface="Montserrat"/>
              <a:cs typeface="Montserrat"/>
              <a:sym typeface="Montserrat"/>
            </a:endParaRPr>
          </a:p>
        </p:txBody>
      </p:sp>
      <p:sp>
        <p:nvSpPr>
          <p:cNvPr id="1673" name="Google Shape;1673;p170"/>
          <p:cNvSpPr txBox="1"/>
          <p:nvPr/>
        </p:nvSpPr>
        <p:spPr>
          <a:xfrm>
            <a:off x="5166710" y="1345080"/>
            <a:ext cx="3733500" cy="17757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A 50 MW solar plant contracts its full output to one industrial customer</a:t>
            </a:r>
            <a:endParaRPr>
              <a:latin typeface="Montserrat"/>
              <a:ea typeface="Montserrat"/>
              <a:cs typeface="Montserrat"/>
              <a:sym typeface="Montserrat"/>
            </a:endParaRPr>
          </a:p>
          <a:p>
            <a:pPr marL="457200" marR="0" lvl="0" indent="-311150" algn="l" rtl="0">
              <a:lnSpc>
                <a:spcPct val="115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Consumption exactly equals delivered RE volume - no residual EVN purchase this month</a:t>
            </a:r>
            <a:endParaRPr>
              <a:latin typeface="Montserrat"/>
              <a:ea typeface="Montserrat"/>
              <a:cs typeface="Montserrat"/>
              <a:sym typeface="Montserrat"/>
            </a:endParaRPr>
          </a:p>
          <a:p>
            <a:pPr marL="457200" marR="0" lvl="0" indent="-311150" algn="l" rtl="0">
              <a:lnSpc>
                <a:spcPct val="115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Strike just 100 VND above market - watch what the fees do</a:t>
            </a:r>
            <a:endParaRPr sz="1300">
              <a:solidFill>
                <a:srgbClr val="222B33"/>
              </a:solidFill>
              <a:latin typeface="Montserrat"/>
              <a:ea typeface="Montserrat"/>
              <a:cs typeface="Montserrat"/>
              <a:sym typeface="Montserrat"/>
            </a:endParaRPr>
          </a:p>
        </p:txBody>
      </p:sp>
      <p:pic>
        <p:nvPicPr>
          <p:cNvPr id="1674" name="Google Shape;1674;p170"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75" name="Google Shape;1675;p170"/>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676" name="Google Shape;1676;p170"/>
          <p:cNvSpPr txBox="1"/>
          <p:nvPr/>
        </p:nvSpPr>
        <p:spPr>
          <a:xfrm>
            <a:off x="504775" y="4659046"/>
            <a:ext cx="2000400" cy="32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400"/>
              </a:spcAft>
              <a:buNone/>
            </a:pPr>
            <a:r>
              <a:rPr lang="en" sz="900" i="1">
                <a:solidFill>
                  <a:srgbClr val="222B33"/>
                </a:solidFill>
                <a:latin typeface="Montserrat"/>
                <a:ea typeface="Montserrat"/>
                <a:cs typeface="Montserrat"/>
                <a:sym typeface="Montserrat"/>
              </a:rPr>
              <a:t>Source: EAVCED public training</a:t>
            </a:r>
            <a:endParaRPr sz="1000" i="1"/>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0"/>
        <p:cNvGrpSpPr/>
        <p:nvPr/>
      </p:nvGrpSpPr>
      <p:grpSpPr>
        <a:xfrm>
          <a:off x="0" y="0"/>
          <a:ext cx="0" cy="0"/>
          <a:chOff x="0" y="0"/>
          <a:chExt cx="0" cy="0"/>
        </a:xfrm>
      </p:grpSpPr>
      <p:grpSp>
        <p:nvGrpSpPr>
          <p:cNvPr id="1681" name="Google Shape;1681;p171"/>
          <p:cNvGrpSpPr/>
          <p:nvPr/>
        </p:nvGrpSpPr>
        <p:grpSpPr>
          <a:xfrm>
            <a:off x="239992" y="63853"/>
            <a:ext cx="8728050" cy="745997"/>
            <a:chOff x="236700" y="63853"/>
            <a:chExt cx="8728050" cy="745997"/>
          </a:xfrm>
        </p:grpSpPr>
        <p:sp>
          <p:nvSpPr>
            <p:cNvPr id="1682" name="Google Shape;1682;p171"/>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683" name="Google Shape;1683;p17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684" name="Google Shape;1684;p17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685" name="Google Shape;1685;p17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686" name="Google Shape;1686;p17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687" name="Google Shape;1687;p17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688" name="Google Shape;1688;p17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689" name="Google Shape;1689;p171"/>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Clr>
                  <a:schemeClr val="dk1"/>
                </a:buClr>
                <a:buSzPts val="1100"/>
                <a:buFont typeface="Arial"/>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The Five Lines, Computed</a:t>
              </a:r>
              <a:endParaRPr sz="2100">
                <a:solidFill>
                  <a:schemeClr val="lt1"/>
                </a:solidFill>
                <a:latin typeface="Montserrat ExtraBold"/>
                <a:ea typeface="Montserrat ExtraBold"/>
                <a:cs typeface="Montserrat ExtraBold"/>
                <a:sym typeface="Montserrat ExtraBold"/>
              </a:endParaRPr>
            </a:p>
          </p:txBody>
        </p:sp>
        <p:cxnSp>
          <p:nvCxnSpPr>
            <p:cNvPr id="1690" name="Google Shape;1690;p171"/>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691" name="Google Shape;1691;p171"/>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692" name="Google Shape;1692;p171"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693" name="Google Shape;1693;p171"/>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694" name="Google Shape;1694;p171"/>
          <p:cNvGraphicFramePr/>
          <p:nvPr/>
        </p:nvGraphicFramePr>
        <p:xfrm>
          <a:off x="454280" y="1076025"/>
          <a:ext cx="8007925" cy="2503600"/>
        </p:xfrm>
        <a:graphic>
          <a:graphicData uri="http://schemas.openxmlformats.org/drawingml/2006/table">
            <a:tbl>
              <a:tblPr firstRow="1" bandRow="1">
                <a:noFill/>
                <a:tableStyleId>{CE8BD2AF-5D0D-4EDC-AE96-A30A7DA1AF2F}</a:tableStyleId>
              </a:tblPr>
              <a:tblGrid>
                <a:gridCol w="2651250">
                  <a:extLst>
                    <a:ext uri="{9D8B030D-6E8A-4147-A177-3AD203B41FA5}">
                      <a16:colId xmlns:a16="http://schemas.microsoft.com/office/drawing/2014/main" val="20000"/>
                    </a:ext>
                  </a:extLst>
                </a:gridCol>
                <a:gridCol w="2704175">
                  <a:extLst>
                    <a:ext uri="{9D8B030D-6E8A-4147-A177-3AD203B41FA5}">
                      <a16:colId xmlns:a16="http://schemas.microsoft.com/office/drawing/2014/main" val="20001"/>
                    </a:ext>
                  </a:extLst>
                </a:gridCol>
                <a:gridCol w="2652500">
                  <a:extLst>
                    <a:ext uri="{9D8B030D-6E8A-4147-A177-3AD203B41FA5}">
                      <a16:colId xmlns:a16="http://schemas.microsoft.com/office/drawing/2014/main" val="20002"/>
                    </a:ext>
                  </a:extLst>
                </a:gridCol>
              </a:tblGrid>
              <a:tr h="31295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Line</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Calculation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VND/month</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  Market energy (C_DN)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 x 1,200 x 1.026 x 1.008</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7,446,297,600</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2.  Service fee (C_dppa)</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 x 360</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2,160,000,000</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3.  Balancing fee (C_cl)</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 x 163.3</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979,800,000</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4.  Residual (C_bl)</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 kWh x 2,204</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312950">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   EVN bill (C_EVN)</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lines 1 + 2 + 3 + 4</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10,586,097,600</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extLst>
                  <a:ext uri="{0D108BD9-81ED-4DB2-BD59-A6C34878D82A}">
                    <a16:rowId xmlns:a16="http://schemas.microsoft.com/office/drawing/2014/main" val="10005"/>
                  </a:ext>
                </a:extLst>
              </a:tr>
              <a:tr h="31295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5.  CfD settlement (C_CfD)</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(1,300 - 1,200) x 6,000,000</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600,000,000</a:t>
                      </a:r>
                      <a:endParaRPr>
                        <a:solidFill>
                          <a:schemeClr val="dk1"/>
                        </a:solidFill>
                        <a:latin typeface="Montserrat"/>
                        <a:ea typeface="Montserrat"/>
                        <a:cs typeface="Montserrat"/>
                        <a:sym typeface="Montserrat"/>
                      </a:endParaRPr>
                    </a:p>
                  </a:txBody>
                  <a:tcPr marL="91450" marR="91450" marT="25400" marB="25400" anchor="ctr">
                    <a:lnB w="12700" cap="flat" cmpd="sng">
                      <a:solidFill>
                        <a:schemeClr val="dk2"/>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r h="312950">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   TOTAL (C_KH)</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C_EVN + C_CfD</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11,186,097,600</a:t>
                      </a:r>
                      <a:endParaRPr b="1">
                        <a:solidFill>
                          <a:schemeClr val="dk1"/>
                        </a:solidFill>
                        <a:latin typeface="Montserrat"/>
                        <a:ea typeface="Montserrat"/>
                        <a:cs typeface="Montserrat"/>
                        <a:sym typeface="Montserrat"/>
                      </a:endParaRPr>
                    </a:p>
                  </a:txBody>
                  <a:tcPr marL="91450" marR="91450" marT="25400" marB="25400" anchor="ctr">
                    <a:lnT w="12700" cap="flat" cmpd="sng">
                      <a:solidFill>
                        <a:schemeClr val="dk2"/>
                      </a:solidFill>
                      <a:prstDash val="solid"/>
                      <a:round/>
                      <a:headEnd type="none" w="sm" len="sm"/>
                      <a:tailEnd type="none" w="sm" len="sm"/>
                    </a:lnT>
                    <a:solidFill>
                      <a:srgbClr val="F8FAFC"/>
                    </a:solidFill>
                  </a:tcPr>
                </a:tc>
                <a:extLst>
                  <a:ext uri="{0D108BD9-81ED-4DB2-BD59-A6C34878D82A}">
                    <a16:rowId xmlns:a16="http://schemas.microsoft.com/office/drawing/2014/main" val="10007"/>
                  </a:ext>
                </a:extLst>
              </a:tr>
            </a:tbl>
          </a:graphicData>
        </a:graphic>
      </p:graphicFrame>
      <p:sp>
        <p:nvSpPr>
          <p:cNvPr id="1695" name="Google Shape;1695;p171"/>
          <p:cNvSpPr txBox="1"/>
          <p:nvPr/>
        </p:nvSpPr>
        <p:spPr>
          <a:xfrm>
            <a:off x="252333" y="3686620"/>
            <a:ext cx="8550900" cy="797700"/>
          </a:xfrm>
          <a:prstGeom prst="rect">
            <a:avLst/>
          </a:prstGeom>
          <a:noFill/>
          <a:ln>
            <a:noFill/>
          </a:ln>
        </p:spPr>
        <p:txBody>
          <a:bodyPr spcFirstLastPara="1" wrap="square" lIns="91425" tIns="45700" rIns="91425" bIns="45700" anchor="t" anchorCtr="0">
            <a:spAutoFit/>
          </a:bodyPr>
          <a:lstStyle/>
          <a:p>
            <a:pPr marL="457200" marR="0" lvl="0" indent="-307975" algn="l" rtl="0">
              <a:lnSpc>
                <a:spcPct val="120000"/>
              </a:lnSpc>
              <a:spcBef>
                <a:spcPts val="0"/>
              </a:spcBef>
              <a:spcAft>
                <a:spcPts val="0"/>
              </a:spcAft>
              <a:buClr>
                <a:schemeClr val="dk1"/>
              </a:buClr>
              <a:buSzPts val="1250"/>
              <a:buFont typeface="Montserrat"/>
              <a:buChar char="●"/>
            </a:pPr>
            <a:r>
              <a:rPr lang="en" sz="1250" i="0" u="none" strike="noStrike" cap="none">
                <a:solidFill>
                  <a:schemeClr val="dk1"/>
                </a:solidFill>
                <a:latin typeface="Montserrat"/>
                <a:ea typeface="Montserrat"/>
                <a:cs typeface="Montserrat"/>
                <a:sym typeface="Montserrat"/>
              </a:rPr>
              <a:t>Effective cost = 11,186,097,600 / 6,000,000 = ~1,864 VND/kWh for fully renewable supply (</a:t>
            </a:r>
            <a:r>
              <a:rPr lang="en" sz="1250">
                <a:solidFill>
                  <a:schemeClr val="dk1"/>
                </a:solidFill>
                <a:latin typeface="Montserrat"/>
                <a:ea typeface="Montserrat"/>
                <a:cs typeface="Montserrat"/>
                <a:sym typeface="Montserrat"/>
              </a:rPr>
              <a:t>versus </a:t>
            </a:r>
            <a:r>
              <a:rPr lang="en" sz="1250" i="0" u="none" strike="noStrike" cap="none">
                <a:solidFill>
                  <a:schemeClr val="dk1"/>
                </a:solidFill>
                <a:latin typeface="Montserrat"/>
                <a:ea typeface="Montserrat"/>
                <a:cs typeface="Montserrat"/>
                <a:sym typeface="Montserrat"/>
              </a:rPr>
              <a:t>~2,204</a:t>
            </a:r>
            <a:r>
              <a:rPr lang="en" sz="1250">
                <a:solidFill>
                  <a:schemeClr val="dk1"/>
                </a:solidFill>
                <a:latin typeface="Montserrat"/>
                <a:ea typeface="Montserrat"/>
                <a:cs typeface="Montserrat"/>
                <a:sym typeface="Montserrat"/>
              </a:rPr>
              <a:t> </a:t>
            </a:r>
            <a:r>
              <a:rPr lang="en" sz="1250" i="0" u="none" strike="noStrike" cap="none">
                <a:solidFill>
                  <a:schemeClr val="dk1"/>
                </a:solidFill>
                <a:latin typeface="Montserrat"/>
                <a:ea typeface="Montserrat"/>
                <a:cs typeface="Montserrat"/>
                <a:sym typeface="Montserrat"/>
              </a:rPr>
              <a:t>VND avg retail in the example)</a:t>
            </a:r>
            <a:endParaRPr>
              <a:solidFill>
                <a:schemeClr val="dk1"/>
              </a:solidFill>
              <a:latin typeface="Montserrat"/>
              <a:ea typeface="Montserrat"/>
              <a:cs typeface="Montserrat"/>
              <a:sym typeface="Montserrat"/>
            </a:endParaRPr>
          </a:p>
          <a:p>
            <a:pPr marL="457200" marR="0" lvl="0" indent="-307975" algn="l" rtl="0">
              <a:lnSpc>
                <a:spcPct val="120000"/>
              </a:lnSpc>
              <a:spcBef>
                <a:spcPts val="400"/>
              </a:spcBef>
              <a:spcAft>
                <a:spcPts val="400"/>
              </a:spcAft>
              <a:buClr>
                <a:schemeClr val="dk1"/>
              </a:buClr>
              <a:buSzPts val="1250"/>
              <a:buFont typeface="Montserrat"/>
              <a:buChar char="●"/>
            </a:pPr>
            <a:r>
              <a:rPr lang="en" sz="1250" i="0" u="none" strike="noStrike" cap="none">
                <a:solidFill>
                  <a:schemeClr val="dk1"/>
                </a:solidFill>
                <a:latin typeface="Montserrat"/>
                <a:ea typeface="Montserrat"/>
                <a:cs typeface="Montserrat"/>
                <a:sym typeface="Montserrat"/>
              </a:rPr>
              <a:t>Generator side: 6,048,000 kWh x 1,200 (spot) + 600,000,000 (CfD) = 7,857,600,000 VND</a:t>
            </a:r>
            <a:endParaRPr>
              <a:solidFill>
                <a:schemeClr val="dk1"/>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99"/>
        <p:cNvGrpSpPr/>
        <p:nvPr/>
      </p:nvGrpSpPr>
      <p:grpSpPr>
        <a:xfrm>
          <a:off x="0" y="0"/>
          <a:ext cx="0" cy="0"/>
          <a:chOff x="0" y="0"/>
          <a:chExt cx="0" cy="0"/>
        </a:xfrm>
      </p:grpSpPr>
      <p:sp>
        <p:nvSpPr>
          <p:cNvPr id="1700" name="Google Shape;1700;p172"/>
          <p:cNvSpPr/>
          <p:nvPr/>
        </p:nvSpPr>
        <p:spPr>
          <a:xfrm>
            <a:off x="431323" y="3865058"/>
            <a:ext cx="8459400" cy="8301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400" b="1" i="0" u="none" strike="noStrike" cap="none">
                <a:solidFill>
                  <a:srgbClr val="E77A10"/>
                </a:solidFill>
                <a:latin typeface="Montserrat"/>
                <a:ea typeface="Montserrat"/>
                <a:cs typeface="Montserrat"/>
                <a:sym typeface="Montserrat"/>
              </a:rPr>
              <a:t>Virtual DPPA is rarely a Day-1 discount. Its value</a:t>
            </a:r>
            <a:r>
              <a:rPr lang="en" b="1">
                <a:solidFill>
                  <a:srgbClr val="E77A10"/>
                </a:solidFill>
                <a:latin typeface="Montserrat"/>
                <a:ea typeface="Montserrat"/>
                <a:cs typeface="Montserrat"/>
                <a:sym typeface="Montserrat"/>
              </a:rPr>
              <a:t> comes from</a:t>
            </a:r>
            <a:r>
              <a:rPr lang="en" sz="1400" b="1" i="0" u="none" strike="noStrike" cap="none">
                <a:solidFill>
                  <a:srgbClr val="E77A10"/>
                </a:solidFill>
                <a:latin typeface="Montserrat"/>
                <a:ea typeface="Montserrat"/>
                <a:cs typeface="Montserrat"/>
                <a:sym typeface="Montserrat"/>
              </a:rPr>
              <a:t> price certainty </a:t>
            </a:r>
            <a:r>
              <a:rPr lang="en" b="1">
                <a:solidFill>
                  <a:srgbClr val="E77A10"/>
                </a:solidFill>
                <a:latin typeface="Montserrat"/>
                <a:ea typeface="Montserrat"/>
                <a:cs typeface="Montserrat"/>
                <a:sym typeface="Montserrat"/>
              </a:rPr>
              <a:t>versus </a:t>
            </a:r>
            <a:r>
              <a:rPr lang="en" sz="1400" b="1" i="0" u="none" strike="noStrike" cap="none">
                <a:solidFill>
                  <a:srgbClr val="E77A10"/>
                </a:solidFill>
                <a:latin typeface="Montserrat"/>
                <a:ea typeface="Montserrat"/>
                <a:cs typeface="Montserrat"/>
                <a:sym typeface="Montserrat"/>
              </a:rPr>
              <a:t>EVN escalation</a:t>
            </a:r>
            <a:r>
              <a:rPr lang="en" b="1">
                <a:solidFill>
                  <a:srgbClr val="E77A10"/>
                </a:solidFill>
                <a:latin typeface="Montserrat"/>
                <a:ea typeface="Montserrat"/>
                <a:cs typeface="Montserrat"/>
                <a:sym typeface="Montserrat"/>
              </a:rPr>
              <a:t>, </a:t>
            </a:r>
            <a:r>
              <a:rPr lang="en" sz="1500">
                <a:solidFill>
                  <a:schemeClr val="lt1"/>
                </a:solidFill>
                <a:latin typeface="Montserrat"/>
                <a:ea typeface="Montserrat"/>
                <a:cs typeface="Montserrat"/>
                <a:sym typeface="Montserrat"/>
              </a:rPr>
              <a:t>being able to cover 100% of annual electricity demand with contracted renewable generation, and utilizing </a:t>
            </a:r>
            <a:r>
              <a:rPr lang="en" sz="1400" b="1" i="0" u="none" strike="noStrike" cap="none">
                <a:solidFill>
                  <a:srgbClr val="E77A10"/>
                </a:solidFill>
                <a:latin typeface="Montserrat"/>
                <a:ea typeface="Montserrat"/>
                <a:cs typeface="Montserrat"/>
                <a:sym typeface="Montserrat"/>
              </a:rPr>
              <a:t>credible renewable claims.</a:t>
            </a:r>
            <a:endParaRPr>
              <a:solidFill>
                <a:srgbClr val="E77A10"/>
              </a:solidFill>
              <a:latin typeface="Montserrat"/>
              <a:ea typeface="Montserrat"/>
              <a:cs typeface="Montserrat"/>
              <a:sym typeface="Montserrat"/>
            </a:endParaRPr>
          </a:p>
        </p:txBody>
      </p:sp>
      <p:pic>
        <p:nvPicPr>
          <p:cNvPr id="1701" name="Google Shape;1701;p17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02" name="Google Shape;1702;p172"/>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703" name="Google Shape;1703;p172"/>
          <p:cNvGraphicFramePr/>
          <p:nvPr/>
        </p:nvGraphicFramePr>
        <p:xfrm>
          <a:off x="431317" y="1017908"/>
          <a:ext cx="5287075" cy="2778825"/>
        </p:xfrm>
        <a:graphic>
          <a:graphicData uri="http://schemas.openxmlformats.org/drawingml/2006/table">
            <a:tbl>
              <a:tblPr firstRow="1" bandRow="1">
                <a:noFill/>
                <a:tableStyleId>{CE8BD2AF-5D0D-4EDC-AE96-A30A7DA1AF2F}</a:tableStyleId>
              </a:tblPr>
              <a:tblGrid>
                <a:gridCol w="3082500">
                  <a:extLst>
                    <a:ext uri="{9D8B030D-6E8A-4147-A177-3AD203B41FA5}">
                      <a16:colId xmlns:a16="http://schemas.microsoft.com/office/drawing/2014/main" val="20000"/>
                    </a:ext>
                  </a:extLst>
                </a:gridCol>
                <a:gridCol w="1120600">
                  <a:extLst>
                    <a:ext uri="{9D8B030D-6E8A-4147-A177-3AD203B41FA5}">
                      <a16:colId xmlns:a16="http://schemas.microsoft.com/office/drawing/2014/main" val="20001"/>
                    </a:ext>
                  </a:extLst>
                </a:gridCol>
                <a:gridCol w="1083975">
                  <a:extLst>
                    <a:ext uri="{9D8B030D-6E8A-4147-A177-3AD203B41FA5}">
                      <a16:colId xmlns:a16="http://schemas.microsoft.com/office/drawing/2014/main" val="20002"/>
                    </a:ext>
                  </a:extLst>
                </a:gridCol>
              </a:tblGrid>
              <a:tr h="552825">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Component (per matched kWh)</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VND/kWh</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USD/kWh (cents)</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5675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Market energy at 2025 avg FMP x k x K_pp (22-110kV)</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~1,504</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~6.0</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5528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DPPA service fee (C_dppa_dv)</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360</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1.4</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5528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Balancing fee (P_cl)</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163.3</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0.7</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552825">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Delivered cost before CfD</a:t>
                      </a:r>
                      <a:endParaRPr b="1">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~2,027</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~8.1</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704" name="Google Shape;1704;p172"/>
          <p:cNvSpPr txBox="1"/>
          <p:nvPr/>
        </p:nvSpPr>
        <p:spPr>
          <a:xfrm>
            <a:off x="5709486" y="1017895"/>
            <a:ext cx="3181200" cy="24660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The 523 VND/kWh of fixed fees applies to every matched kWh, regardless of your strike</a:t>
            </a:r>
            <a:endParaRPr>
              <a:latin typeface="Montserrat"/>
              <a:ea typeface="Montserrat"/>
              <a:cs typeface="Montserrat"/>
              <a:sym typeface="Montserrat"/>
            </a:endParaRPr>
          </a:p>
          <a:p>
            <a:pPr marL="457200" marR="0" lvl="0" indent="-311150" algn="l" rtl="0">
              <a:lnSpc>
                <a:spcPct val="115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They are set by regulation, not negotiation</a:t>
            </a:r>
            <a:endParaRPr>
              <a:latin typeface="Montserrat"/>
              <a:ea typeface="Montserrat"/>
              <a:cs typeface="Montserrat"/>
              <a:sym typeface="Montserrat"/>
            </a:endParaRPr>
          </a:p>
          <a:p>
            <a:pPr marL="457200" marR="0" lvl="0" indent="-311150" algn="l" rtl="0">
              <a:lnSpc>
                <a:spcPct val="115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Compare ~2,027 VND delivered (pre-CfD) with your own TOU mix - for many factories that is already near or above average grid cost</a:t>
            </a:r>
            <a:endParaRPr>
              <a:latin typeface="Montserrat"/>
              <a:ea typeface="Montserrat"/>
              <a:cs typeface="Montserrat"/>
              <a:sym typeface="Montserrat"/>
            </a:endParaRPr>
          </a:p>
        </p:txBody>
      </p:sp>
      <p:grpSp>
        <p:nvGrpSpPr>
          <p:cNvPr id="1705" name="Google Shape;1705;p172"/>
          <p:cNvGrpSpPr/>
          <p:nvPr/>
        </p:nvGrpSpPr>
        <p:grpSpPr>
          <a:xfrm>
            <a:off x="239992" y="63853"/>
            <a:ext cx="8728050" cy="745997"/>
            <a:chOff x="236700" y="63853"/>
            <a:chExt cx="8728050" cy="745997"/>
          </a:xfrm>
        </p:grpSpPr>
        <p:sp>
          <p:nvSpPr>
            <p:cNvPr id="1706" name="Google Shape;1706;p17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07" name="Google Shape;1707;p17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08" name="Google Shape;1708;p17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09" name="Google Shape;1709;p17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10" name="Google Shape;1710;p17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11" name="Google Shape;1711;p17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12" name="Google Shape;1712;p17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13" name="Google Shape;1713;p172"/>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2 - The Five-Line Bill</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Your Monthly Settlement Has Five Lines</a:t>
              </a:r>
              <a:endParaRPr sz="2100">
                <a:solidFill>
                  <a:schemeClr val="lt1"/>
                </a:solidFill>
                <a:latin typeface="Montserrat ExtraBold"/>
                <a:ea typeface="Montserrat ExtraBold"/>
                <a:cs typeface="Montserrat ExtraBold"/>
                <a:sym typeface="Montserrat ExtraBold"/>
              </a:endParaRPr>
            </a:p>
          </p:txBody>
        </p:sp>
        <p:cxnSp>
          <p:nvCxnSpPr>
            <p:cNvPr id="1714" name="Google Shape;1714;p17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15" name="Google Shape;1715;p17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19"/>
        <p:cNvGrpSpPr/>
        <p:nvPr/>
      </p:nvGrpSpPr>
      <p:grpSpPr>
        <a:xfrm>
          <a:off x="0" y="0"/>
          <a:ext cx="0" cy="0"/>
          <a:chOff x="0" y="0"/>
          <a:chExt cx="0" cy="0"/>
        </a:xfrm>
      </p:grpSpPr>
      <p:cxnSp>
        <p:nvCxnSpPr>
          <p:cNvPr id="1720" name="Google Shape;1720;p173"/>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721" name="Google Shape;1721;p173"/>
          <p:cNvSpPr txBox="1"/>
          <p:nvPr/>
        </p:nvSpPr>
        <p:spPr>
          <a:xfrm>
            <a:off x="4572000" y="1440675"/>
            <a:ext cx="4572000" cy="19857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3:</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CfD Mechanics: What Drives Your Quoted Price</a:t>
            </a:r>
            <a:endParaRPr sz="2800" b="1">
              <a:solidFill>
                <a:srgbClr val="0F172A"/>
              </a:solidFill>
              <a:highlight>
                <a:srgbClr val="FFFFFF"/>
              </a:highlight>
              <a:latin typeface="Montserrat"/>
              <a:ea typeface="Montserrat"/>
              <a:cs typeface="Montserrat"/>
              <a:sym typeface="Montserrat"/>
            </a:endParaRPr>
          </a:p>
        </p:txBody>
      </p:sp>
      <p:pic>
        <p:nvPicPr>
          <p:cNvPr id="1722" name="Google Shape;1722;p173"/>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723" name="Google Shape;1723;p173"/>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724" name="Google Shape;1724;p173"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725" name="Google Shape;1725;p173"/>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29"/>
        <p:cNvGrpSpPr/>
        <p:nvPr/>
      </p:nvGrpSpPr>
      <p:grpSpPr>
        <a:xfrm>
          <a:off x="0" y="0"/>
          <a:ext cx="0" cy="0"/>
          <a:chOff x="0" y="0"/>
          <a:chExt cx="0" cy="0"/>
        </a:xfrm>
      </p:grpSpPr>
      <p:grpSp>
        <p:nvGrpSpPr>
          <p:cNvPr id="1730" name="Google Shape;1730;p174"/>
          <p:cNvGrpSpPr/>
          <p:nvPr/>
        </p:nvGrpSpPr>
        <p:grpSpPr>
          <a:xfrm>
            <a:off x="239992" y="63853"/>
            <a:ext cx="8728050" cy="745997"/>
            <a:chOff x="236700" y="63853"/>
            <a:chExt cx="8728050" cy="745997"/>
          </a:xfrm>
        </p:grpSpPr>
        <p:sp>
          <p:nvSpPr>
            <p:cNvPr id="1731" name="Google Shape;1731;p17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32" name="Google Shape;1732;p17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33" name="Google Shape;1733;p17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34" name="Google Shape;1734;p17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35" name="Google Shape;1735;p17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36" name="Google Shape;1736;p17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37" name="Google Shape;1737;p17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38" name="Google Shape;1738;p174"/>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3 - CfD Mechanics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1900" b="1">
                  <a:solidFill>
                    <a:schemeClr val="lt1"/>
                  </a:solidFill>
                  <a:latin typeface="Montserrat"/>
                  <a:ea typeface="Montserrat"/>
                  <a:cs typeface="Montserrat"/>
                  <a:sym typeface="Montserrat"/>
                </a:rPr>
                <a:t>The CfD Is Two-Way: Certainty, Not Automatic Savings</a:t>
              </a:r>
              <a:endParaRPr sz="1900" b="1">
                <a:solidFill>
                  <a:schemeClr val="lt1"/>
                </a:solidFill>
                <a:latin typeface="Montserrat"/>
                <a:ea typeface="Montserrat"/>
                <a:cs typeface="Montserrat"/>
                <a:sym typeface="Montserrat"/>
              </a:endParaRPr>
            </a:p>
          </p:txBody>
        </p:sp>
        <p:cxnSp>
          <p:nvCxnSpPr>
            <p:cNvPr id="1739" name="Google Shape;1739;p17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40" name="Google Shape;1740;p17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741" name="Google Shape;1741;p174"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42" name="Google Shape;1742;p174"/>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743" name="Google Shape;1743;p174"/>
          <p:cNvSpPr/>
          <p:nvPr/>
        </p:nvSpPr>
        <p:spPr>
          <a:xfrm>
            <a:off x="452050" y="1392175"/>
            <a:ext cx="4731600" cy="777300"/>
          </a:xfrm>
          <a:prstGeom prst="roundRect">
            <a:avLst>
              <a:gd name="adj" fmla="val 16667"/>
            </a:avLst>
          </a:prstGeom>
          <a:solidFill>
            <a:srgbClr val="EEF4F4"/>
          </a:solidFill>
          <a:ln w="12700" cap="flat" cmpd="sng">
            <a:solidFill>
              <a:srgbClr val="127A7A"/>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164575" tIns="73150" rIns="164575" bIns="73150" anchor="ctr" anchorCtr="0">
            <a:noAutofit/>
          </a:bodyPr>
          <a:lstStyle/>
          <a:p>
            <a:pPr marL="0" marR="0" lvl="0" indent="0" algn="l" rtl="0">
              <a:lnSpc>
                <a:spcPct val="100000"/>
              </a:lnSpc>
              <a:spcBef>
                <a:spcPts val="0"/>
              </a:spcBef>
              <a:spcAft>
                <a:spcPts val="0"/>
              </a:spcAft>
              <a:buNone/>
            </a:pPr>
            <a:r>
              <a:rPr lang="en" sz="1600" b="0" i="0" u="none" strike="noStrike" cap="none">
                <a:solidFill>
                  <a:srgbClr val="0F293D"/>
                </a:solidFill>
                <a:latin typeface="Consolas"/>
                <a:ea typeface="Consolas"/>
                <a:cs typeface="Consolas"/>
                <a:sym typeface="Consolas"/>
              </a:rPr>
              <a:t>CfD cash flow = (Strike - FMP) x Q_CfD</a:t>
            </a:r>
            <a:endParaRPr/>
          </a:p>
        </p:txBody>
      </p:sp>
      <p:graphicFrame>
        <p:nvGraphicFramePr>
          <p:cNvPr id="1744" name="Google Shape;1744;p174"/>
          <p:cNvGraphicFramePr/>
          <p:nvPr/>
        </p:nvGraphicFramePr>
        <p:xfrm>
          <a:off x="452045" y="2489455"/>
          <a:ext cx="4731600" cy="1261875"/>
        </p:xfrm>
        <a:graphic>
          <a:graphicData uri="http://schemas.openxmlformats.org/drawingml/2006/table">
            <a:tbl>
              <a:tblPr firstRow="1" bandRow="1">
                <a:noFill/>
                <a:tableStyleId>{CE8BD2AF-5D0D-4EDC-AE96-A30A7DA1AF2F}</a:tableStyleId>
              </a:tblPr>
              <a:tblGrid>
                <a:gridCol w="2026450">
                  <a:extLst>
                    <a:ext uri="{9D8B030D-6E8A-4147-A177-3AD203B41FA5}">
                      <a16:colId xmlns:a16="http://schemas.microsoft.com/office/drawing/2014/main" val="20000"/>
                    </a:ext>
                  </a:extLst>
                </a:gridCol>
                <a:gridCol w="2705150">
                  <a:extLst>
                    <a:ext uri="{9D8B030D-6E8A-4147-A177-3AD203B41FA5}">
                      <a16:colId xmlns:a16="http://schemas.microsoft.com/office/drawing/2014/main" val="20001"/>
                    </a:ext>
                  </a:extLst>
                </a:gridCol>
              </a:tblGrid>
              <a:tr h="420625">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Market condition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Who pays whom</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20625">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FMP below strike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You top up the generator</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20625">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FMP above strike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Generator pays you back</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bl>
          </a:graphicData>
        </a:graphic>
      </p:graphicFrame>
      <p:sp>
        <p:nvSpPr>
          <p:cNvPr id="1745" name="Google Shape;1745;p174"/>
          <p:cNvSpPr txBox="1"/>
          <p:nvPr/>
        </p:nvSpPr>
        <p:spPr>
          <a:xfrm>
            <a:off x="5276250" y="1392175"/>
            <a:ext cx="3691800" cy="27963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20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Net effect: </a:t>
            </a:r>
            <a:r>
              <a:rPr lang="en" sz="1300">
                <a:solidFill>
                  <a:srgbClr val="222B33"/>
                </a:solidFill>
                <a:latin typeface="Montserrat"/>
                <a:ea typeface="Montserrat"/>
                <a:cs typeface="Montserrat"/>
                <a:sym typeface="Montserrat"/>
              </a:rPr>
              <a:t>the </a:t>
            </a:r>
            <a:r>
              <a:rPr lang="en" sz="1300" i="0" u="none" strike="noStrike" cap="none">
                <a:solidFill>
                  <a:srgbClr val="222B33"/>
                </a:solidFill>
                <a:latin typeface="Montserrat"/>
                <a:ea typeface="Montserrat"/>
                <a:cs typeface="Montserrat"/>
                <a:sym typeface="Montserrat"/>
              </a:rPr>
              <a:t>renewable energy cost is locked near the strike (+ fees), whatever the market does</a:t>
            </a:r>
            <a:endParaRPr>
              <a:latin typeface="Montserrat"/>
              <a:ea typeface="Montserrat"/>
              <a:cs typeface="Montserrat"/>
              <a:sym typeface="Montserrat"/>
            </a:endParaRPr>
          </a:p>
          <a:p>
            <a:pPr marL="457200" marR="0" lvl="0" indent="-311150" algn="l" rtl="0">
              <a:lnSpc>
                <a:spcPct val="120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2025 reference: FMP averaged ~1,427</a:t>
            </a:r>
            <a:r>
              <a:rPr lang="en" sz="1300">
                <a:solidFill>
                  <a:srgbClr val="222B33"/>
                </a:solidFill>
                <a:latin typeface="Montserrat"/>
                <a:ea typeface="Montserrat"/>
                <a:cs typeface="Montserrat"/>
                <a:sym typeface="Montserrat"/>
              </a:rPr>
              <a:t> </a:t>
            </a:r>
            <a:r>
              <a:rPr lang="en" sz="1300" i="0" u="none" strike="noStrike" cap="none">
                <a:solidFill>
                  <a:srgbClr val="222B33"/>
                </a:solidFill>
                <a:latin typeface="Montserrat"/>
                <a:ea typeface="Montserrat"/>
                <a:cs typeface="Montserrat"/>
                <a:sym typeface="Montserrat"/>
              </a:rPr>
              <a:t>VND/kWh with strong hourly volatility</a:t>
            </a:r>
            <a:r>
              <a:rPr lang="en" sz="1300">
                <a:solidFill>
                  <a:srgbClr val="222B33"/>
                </a:solidFill>
                <a:latin typeface="Montserrat"/>
                <a:ea typeface="Montserrat"/>
                <a:cs typeface="Montserrat"/>
                <a:sym typeface="Montserrat"/>
              </a:rPr>
              <a:t>;</a:t>
            </a:r>
            <a:r>
              <a:rPr lang="en" sz="1300" i="0" u="none" strike="noStrike" cap="none">
                <a:solidFill>
                  <a:srgbClr val="222B33"/>
                </a:solidFill>
                <a:latin typeface="Montserrat"/>
                <a:ea typeface="Montserrat"/>
                <a:cs typeface="Montserrat"/>
                <a:sym typeface="Montserrat"/>
              </a:rPr>
              <a:t> the CfD removes that volatility from </a:t>
            </a:r>
            <a:r>
              <a:rPr lang="en" sz="1300">
                <a:solidFill>
                  <a:srgbClr val="222B33"/>
                </a:solidFill>
                <a:latin typeface="Montserrat"/>
                <a:ea typeface="Montserrat"/>
                <a:cs typeface="Montserrat"/>
                <a:sym typeface="Montserrat"/>
              </a:rPr>
              <a:t>the </a:t>
            </a:r>
            <a:r>
              <a:rPr lang="en" sz="1300" i="0" u="none" strike="noStrike" cap="none">
                <a:solidFill>
                  <a:srgbClr val="222B33"/>
                </a:solidFill>
                <a:latin typeface="Montserrat"/>
                <a:ea typeface="Montserrat"/>
                <a:cs typeface="Montserrat"/>
                <a:sym typeface="Montserrat"/>
              </a:rPr>
              <a:t>budget</a:t>
            </a:r>
            <a:endParaRPr>
              <a:latin typeface="Montserrat"/>
              <a:ea typeface="Montserrat"/>
              <a:cs typeface="Montserrat"/>
              <a:sym typeface="Montserrat"/>
            </a:endParaRPr>
          </a:p>
          <a:p>
            <a:pPr marL="457200" marR="0" lvl="0" indent="-311150" algn="l" rtl="0">
              <a:lnSpc>
                <a:spcPct val="120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A strike below expected average FMP would mean expected receipts</a:t>
            </a:r>
            <a:r>
              <a:rPr lang="en" sz="1300">
                <a:solidFill>
                  <a:srgbClr val="222B33"/>
                </a:solidFill>
                <a:latin typeface="Montserrat"/>
                <a:ea typeface="Montserrat"/>
                <a:cs typeface="Montserrat"/>
                <a:sym typeface="Montserrat"/>
              </a:rPr>
              <a:t>, </a:t>
            </a:r>
            <a:r>
              <a:rPr lang="en" sz="1300" i="0" u="none" strike="noStrike" cap="none">
                <a:solidFill>
                  <a:srgbClr val="222B33"/>
                </a:solidFill>
                <a:latin typeface="Montserrat"/>
                <a:ea typeface="Montserrat"/>
                <a:cs typeface="Montserrat"/>
                <a:sym typeface="Montserrat"/>
              </a:rPr>
              <a:t>but no developer can finance that (Module 4)</a:t>
            </a:r>
            <a:endParaRPr>
              <a:latin typeface="Montserrat"/>
              <a:ea typeface="Montserrat"/>
              <a:cs typeface="Montserrat"/>
              <a:sym typeface="Montserra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49"/>
        <p:cNvGrpSpPr/>
        <p:nvPr/>
      </p:nvGrpSpPr>
      <p:grpSpPr>
        <a:xfrm>
          <a:off x="0" y="0"/>
          <a:ext cx="0" cy="0"/>
          <a:chOff x="0" y="0"/>
          <a:chExt cx="0" cy="0"/>
        </a:xfrm>
      </p:grpSpPr>
      <p:grpSp>
        <p:nvGrpSpPr>
          <p:cNvPr id="1750" name="Google Shape;1750;p175"/>
          <p:cNvGrpSpPr/>
          <p:nvPr/>
        </p:nvGrpSpPr>
        <p:grpSpPr>
          <a:xfrm>
            <a:off x="239992" y="63853"/>
            <a:ext cx="8728050" cy="745997"/>
            <a:chOff x="236700" y="63853"/>
            <a:chExt cx="8728050" cy="745997"/>
          </a:xfrm>
        </p:grpSpPr>
        <p:sp>
          <p:nvSpPr>
            <p:cNvPr id="1751" name="Google Shape;1751;p175"/>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52" name="Google Shape;1752;p17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53" name="Google Shape;1753;p17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54" name="Google Shape;1754;p17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55" name="Google Shape;1755;p17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56" name="Google Shape;1756;p17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57" name="Google Shape;1757;p17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58" name="Google Shape;1758;p175"/>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3 - CfD Mechanics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Strike Escalation &amp; The Year 1 Reality</a:t>
              </a:r>
              <a:endParaRPr sz="2000">
                <a:solidFill>
                  <a:schemeClr val="lt1"/>
                </a:solidFill>
                <a:latin typeface="Montserrat ExtraBold"/>
                <a:ea typeface="Montserrat ExtraBold"/>
                <a:cs typeface="Montserrat ExtraBold"/>
                <a:sym typeface="Montserrat ExtraBold"/>
              </a:endParaRPr>
            </a:p>
          </p:txBody>
        </p:sp>
        <p:cxnSp>
          <p:nvCxnSpPr>
            <p:cNvPr id="1759" name="Google Shape;1759;p175"/>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60" name="Google Shape;1760;p175"/>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761" name="Google Shape;1761;p175"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62" name="Google Shape;1762;p175"/>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763" name="Google Shape;1763;p175"/>
          <p:cNvSpPr txBox="1"/>
          <p:nvPr/>
        </p:nvSpPr>
        <p:spPr>
          <a:xfrm>
            <a:off x="396013" y="1225275"/>
            <a:ext cx="40908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F293D"/>
                </a:solidFill>
                <a:latin typeface="Montserrat"/>
                <a:ea typeface="Montserrat"/>
                <a:cs typeface="Montserrat"/>
                <a:sym typeface="Montserrat"/>
              </a:rPr>
              <a:t>Strike escalation (e.g., 4%/yr)</a:t>
            </a:r>
            <a:endParaRPr>
              <a:latin typeface="Montserrat"/>
              <a:ea typeface="Montserrat"/>
              <a:cs typeface="Montserrat"/>
              <a:sym typeface="Montserrat"/>
            </a:endParaRPr>
          </a:p>
        </p:txBody>
      </p:sp>
      <p:sp>
        <p:nvSpPr>
          <p:cNvPr id="1764" name="Google Shape;1764;p175"/>
          <p:cNvSpPr txBox="1"/>
          <p:nvPr/>
        </p:nvSpPr>
        <p:spPr>
          <a:xfrm>
            <a:off x="396013" y="1557005"/>
            <a:ext cx="4090800" cy="17757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Escalating strikes improve the seller's and lender's lifetime economics...</a:t>
            </a:r>
            <a:endParaRPr>
              <a:latin typeface="Montserrat"/>
              <a:ea typeface="Montserrat"/>
              <a:cs typeface="Montserrat"/>
              <a:sym typeface="Montserrat"/>
            </a:endParaRPr>
          </a:p>
          <a:p>
            <a:pPr marL="457200" marR="0" lvl="0" indent="-311150" algn="l" rtl="0">
              <a:lnSpc>
                <a:spcPct val="115000"/>
              </a:lnSpc>
              <a:spcBef>
                <a:spcPts val="400"/>
              </a:spcBef>
              <a:spcAft>
                <a:spcPts val="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...but do nothing for </a:t>
            </a:r>
            <a:r>
              <a:rPr lang="en" sz="1300">
                <a:solidFill>
                  <a:srgbClr val="222B33"/>
                </a:solidFill>
                <a:latin typeface="Montserrat"/>
                <a:ea typeface="Montserrat"/>
                <a:cs typeface="Montserrat"/>
                <a:sym typeface="Montserrat"/>
              </a:rPr>
              <a:t>the </a:t>
            </a:r>
            <a:r>
              <a:rPr lang="en" sz="1300" i="0" u="none" strike="noStrike" cap="none">
                <a:solidFill>
                  <a:srgbClr val="222B33"/>
                </a:solidFill>
                <a:latin typeface="Montserrat"/>
                <a:ea typeface="Montserrat"/>
                <a:cs typeface="Montserrat"/>
                <a:sym typeface="Montserrat"/>
              </a:rPr>
              <a:t>Year 1 cost and compound against </a:t>
            </a:r>
            <a:r>
              <a:rPr lang="en" sz="1300">
                <a:solidFill>
                  <a:srgbClr val="222B33"/>
                </a:solidFill>
                <a:latin typeface="Montserrat"/>
                <a:ea typeface="Montserrat"/>
                <a:cs typeface="Montserrat"/>
                <a:sym typeface="Montserrat"/>
              </a:rPr>
              <a:t>BUYER </a:t>
            </a:r>
            <a:r>
              <a:rPr lang="en" sz="1300" i="0" u="none" strike="noStrike" cap="none">
                <a:solidFill>
                  <a:srgbClr val="222B33"/>
                </a:solidFill>
                <a:latin typeface="Montserrat"/>
                <a:ea typeface="Montserrat"/>
                <a:cs typeface="Montserrat"/>
                <a:sym typeface="Montserrat"/>
              </a:rPr>
              <a:t>later</a:t>
            </a:r>
            <a:endParaRPr>
              <a:latin typeface="Montserrat"/>
              <a:ea typeface="Montserrat"/>
              <a:cs typeface="Montserrat"/>
              <a:sym typeface="Montserrat"/>
            </a:endParaRPr>
          </a:p>
          <a:p>
            <a:pPr marL="457200" marR="0" lvl="0" indent="-311150" algn="l" rtl="0">
              <a:lnSpc>
                <a:spcPct val="115000"/>
              </a:lnSpc>
              <a:spcBef>
                <a:spcPts val="400"/>
              </a:spcBef>
              <a:spcAft>
                <a:spcPts val="400"/>
              </a:spcAft>
              <a:buClr>
                <a:srgbClr val="222B33"/>
              </a:buClr>
              <a:buSzPts val="1300"/>
              <a:buFont typeface="Montserrat"/>
              <a:buChar char="●"/>
            </a:pPr>
            <a:r>
              <a:rPr lang="en" sz="1300" i="0" u="none" strike="noStrike" cap="none">
                <a:solidFill>
                  <a:srgbClr val="222B33"/>
                </a:solidFill>
                <a:latin typeface="Montserrat"/>
                <a:ea typeface="Montserrat"/>
                <a:cs typeface="Montserrat"/>
                <a:sym typeface="Montserrat"/>
              </a:rPr>
              <a:t>Negotiate the escalation index as hard as the starting strike (fixed VND vs CPI vs USD-linked)</a:t>
            </a:r>
            <a:endParaRPr>
              <a:latin typeface="Montserrat"/>
              <a:ea typeface="Montserrat"/>
              <a:cs typeface="Montserrat"/>
              <a:sym typeface="Montserrat"/>
            </a:endParaRPr>
          </a:p>
        </p:txBody>
      </p:sp>
      <p:sp>
        <p:nvSpPr>
          <p:cNvPr id="1765" name="Google Shape;1765;p175"/>
          <p:cNvSpPr txBox="1"/>
          <p:nvPr/>
        </p:nvSpPr>
        <p:spPr>
          <a:xfrm>
            <a:off x="4793688" y="1225275"/>
            <a:ext cx="3954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F293D"/>
                </a:solidFill>
                <a:latin typeface="Montserrat"/>
                <a:ea typeface="Montserrat"/>
                <a:cs typeface="Montserrat"/>
                <a:sym typeface="Montserrat"/>
              </a:rPr>
              <a:t>What Year 1 usually looks like</a:t>
            </a:r>
            <a:endParaRPr>
              <a:latin typeface="Montserrat"/>
              <a:ea typeface="Montserrat"/>
              <a:cs typeface="Montserrat"/>
              <a:sym typeface="Montserrat"/>
            </a:endParaRPr>
          </a:p>
        </p:txBody>
      </p:sp>
      <p:sp>
        <p:nvSpPr>
          <p:cNvPr id="1766" name="Google Shape;1766;p175"/>
          <p:cNvSpPr txBox="1"/>
          <p:nvPr/>
        </p:nvSpPr>
        <p:spPr>
          <a:xfrm>
            <a:off x="4793700" y="1557000"/>
            <a:ext cx="4090800" cy="18447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In most realistic structures, Year 1 DPPA cost is at or above BAU</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Savings build as EVN tariffs escalate (~4%/yr) against </a:t>
            </a:r>
            <a:r>
              <a:rPr lang="en" sz="1300">
                <a:solidFill>
                  <a:schemeClr val="dk1"/>
                </a:solidFill>
                <a:latin typeface="Montserrat"/>
                <a:ea typeface="Montserrat"/>
                <a:cs typeface="Montserrat"/>
                <a:sym typeface="Montserrat"/>
              </a:rPr>
              <a:t>BUYER </a:t>
            </a:r>
            <a:r>
              <a:rPr lang="en" sz="1300" i="0" u="none" strike="noStrike" cap="none">
                <a:solidFill>
                  <a:schemeClr val="dk1"/>
                </a:solidFill>
                <a:latin typeface="Montserrat"/>
                <a:ea typeface="Montserrat"/>
                <a:cs typeface="Montserrat"/>
                <a:sym typeface="Montserrat"/>
              </a:rPr>
              <a:t>locked strike</a:t>
            </a:r>
            <a:endParaRPr>
              <a:solidFill>
                <a:schemeClr val="dk1"/>
              </a:solidFill>
              <a:latin typeface="Montserrat"/>
              <a:ea typeface="Montserrat"/>
              <a:cs typeface="Montserrat"/>
              <a:sym typeface="Montserrat"/>
            </a:endParaRPr>
          </a:p>
          <a:p>
            <a:pPr marL="457200" marR="0" lvl="0" indent="0" algn="l" rtl="0">
              <a:lnSpc>
                <a:spcPct val="115000"/>
              </a:lnSpc>
              <a:spcBef>
                <a:spcPts val="400"/>
              </a:spcBef>
              <a:spcAft>
                <a:spcPts val="0"/>
              </a:spcAft>
              <a:buNone/>
            </a:pPr>
            <a:endParaRPr>
              <a:solidFill>
                <a:schemeClr val="dk1"/>
              </a:solidFill>
              <a:latin typeface="Montserrat"/>
              <a:ea typeface="Montserrat"/>
              <a:cs typeface="Montserrat"/>
              <a:sym typeface="Montserrat"/>
            </a:endParaRPr>
          </a:p>
          <a:p>
            <a:pPr marL="0" marR="0" lvl="0" indent="0" algn="l" rtl="0">
              <a:lnSpc>
                <a:spcPct val="115000"/>
              </a:lnSpc>
              <a:spcBef>
                <a:spcPts val="400"/>
              </a:spcBef>
              <a:spcAft>
                <a:spcPts val="400"/>
              </a:spcAft>
              <a:buNone/>
            </a:pPr>
            <a:r>
              <a:rPr lang="en" sz="1300" b="1">
                <a:solidFill>
                  <a:schemeClr val="dk1"/>
                </a:solidFill>
                <a:latin typeface="Montserrat"/>
                <a:ea typeface="Montserrat"/>
                <a:cs typeface="Montserrat"/>
                <a:sym typeface="Montserrat"/>
              </a:rPr>
              <a:t>→ Advice: E</a:t>
            </a:r>
            <a:r>
              <a:rPr lang="en" sz="1300" b="1" i="0" u="none" strike="noStrike" cap="none">
                <a:solidFill>
                  <a:schemeClr val="dk1"/>
                </a:solidFill>
                <a:latin typeface="Montserrat"/>
                <a:ea typeface="Montserrat"/>
                <a:cs typeface="Montserrat"/>
                <a:sym typeface="Montserrat"/>
              </a:rPr>
              <a:t>valuate on 10-year and lifetime cumulative cost</a:t>
            </a:r>
            <a:r>
              <a:rPr lang="en" sz="1300" b="1">
                <a:solidFill>
                  <a:schemeClr val="dk1"/>
                </a:solidFill>
                <a:latin typeface="Montserrat"/>
                <a:ea typeface="Montserrat"/>
                <a:cs typeface="Montserrat"/>
                <a:sym typeface="Montserrat"/>
              </a:rPr>
              <a:t>, not </a:t>
            </a:r>
            <a:r>
              <a:rPr lang="en" sz="1300" b="1" i="0" u="none" strike="noStrike" cap="none">
                <a:solidFill>
                  <a:schemeClr val="dk1"/>
                </a:solidFill>
                <a:latin typeface="Montserrat"/>
                <a:ea typeface="Montserrat"/>
                <a:cs typeface="Montserrat"/>
                <a:sym typeface="Montserrat"/>
              </a:rPr>
              <a:t>on Year 1 alone</a:t>
            </a:r>
            <a:endParaRPr b="1">
              <a:solidFill>
                <a:schemeClr val="dk1"/>
              </a:solidFill>
              <a:latin typeface="Montserrat"/>
              <a:ea typeface="Montserrat"/>
              <a:cs typeface="Montserrat"/>
              <a:sym typeface="Montserrat"/>
            </a:endParaRPr>
          </a:p>
        </p:txBody>
      </p:sp>
      <p:sp>
        <p:nvSpPr>
          <p:cNvPr id="1767" name="Google Shape;1767;p175"/>
          <p:cNvSpPr/>
          <p:nvPr/>
        </p:nvSpPr>
        <p:spPr>
          <a:xfrm>
            <a:off x="395850" y="3609092"/>
            <a:ext cx="8352300" cy="7107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b="1">
                <a:solidFill>
                  <a:srgbClr val="FFFFFF"/>
                </a:solidFill>
                <a:latin typeface="Montserrat"/>
                <a:ea typeface="Montserrat"/>
                <a:cs typeface="Montserrat"/>
                <a:sym typeface="Montserrat"/>
              </a:rPr>
              <a:t>Internal </a:t>
            </a:r>
            <a:r>
              <a:rPr lang="en" sz="1400" b="1" i="0" u="none" strike="noStrike" cap="none">
                <a:solidFill>
                  <a:srgbClr val="FFFFFF"/>
                </a:solidFill>
                <a:latin typeface="Montserrat"/>
                <a:ea typeface="Montserrat"/>
                <a:cs typeface="Montserrat"/>
                <a:sym typeface="Montserrat"/>
              </a:rPr>
              <a:t>Budget </a:t>
            </a:r>
            <a:r>
              <a:rPr lang="en" b="1">
                <a:solidFill>
                  <a:srgbClr val="FFFFFF"/>
                </a:solidFill>
                <a:latin typeface="Montserrat"/>
                <a:ea typeface="Montserrat"/>
                <a:cs typeface="Montserrat"/>
                <a:sym typeface="Montserrat"/>
              </a:rPr>
              <a:t>Q</a:t>
            </a:r>
            <a:r>
              <a:rPr lang="en" sz="1400" b="1" i="0" u="none" strike="noStrike" cap="none">
                <a:solidFill>
                  <a:srgbClr val="FFFFFF"/>
                </a:solidFill>
                <a:latin typeface="Montserrat"/>
                <a:ea typeface="Montserrat"/>
                <a:cs typeface="Montserrat"/>
                <a:sym typeface="Montserrat"/>
              </a:rPr>
              <a:t>uestion to Consider: </a:t>
            </a:r>
            <a:r>
              <a:rPr lang="en" b="1">
                <a:solidFill>
                  <a:srgbClr val="FFFFFF"/>
                </a:solidFill>
                <a:latin typeface="Montserrat"/>
                <a:ea typeface="Montserrat"/>
                <a:cs typeface="Montserrat"/>
                <a:sym typeface="Montserrat"/>
              </a:rPr>
              <a:t>Can</a:t>
            </a:r>
            <a:r>
              <a:rPr lang="en" sz="1400" b="1" i="0" u="none" strike="noStrike" cap="none">
                <a:solidFill>
                  <a:srgbClr val="FFFFFF"/>
                </a:solidFill>
                <a:latin typeface="Montserrat"/>
                <a:ea typeface="Montserrat"/>
                <a:cs typeface="Montserrat"/>
                <a:sym typeface="Montserrat"/>
              </a:rPr>
              <a:t> we accept a modest Year 1 premium to cap </a:t>
            </a:r>
            <a:r>
              <a:rPr lang="en" b="1">
                <a:solidFill>
                  <a:srgbClr val="FFFFFF"/>
                </a:solidFill>
                <a:latin typeface="Montserrat"/>
                <a:ea typeface="Montserrat"/>
                <a:cs typeface="Montserrat"/>
                <a:sym typeface="Montserrat"/>
              </a:rPr>
              <a:t>15~25 </a:t>
            </a:r>
            <a:r>
              <a:rPr lang="en" sz="1400" b="1" i="0" u="none" strike="noStrike" cap="none">
                <a:solidFill>
                  <a:srgbClr val="FFFFFF"/>
                </a:solidFill>
                <a:latin typeface="Montserrat"/>
                <a:ea typeface="Montserrat"/>
                <a:cs typeface="Montserrat"/>
                <a:sym typeface="Montserrat"/>
              </a:rPr>
              <a:t>year exposure?</a:t>
            </a:r>
            <a:endParaRPr>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71"/>
        <p:cNvGrpSpPr/>
        <p:nvPr/>
      </p:nvGrpSpPr>
      <p:grpSpPr>
        <a:xfrm>
          <a:off x="0" y="0"/>
          <a:ext cx="0" cy="0"/>
          <a:chOff x="0" y="0"/>
          <a:chExt cx="0" cy="0"/>
        </a:xfrm>
      </p:grpSpPr>
      <p:grpSp>
        <p:nvGrpSpPr>
          <p:cNvPr id="1772" name="Google Shape;1772;p176"/>
          <p:cNvGrpSpPr/>
          <p:nvPr/>
        </p:nvGrpSpPr>
        <p:grpSpPr>
          <a:xfrm>
            <a:off x="239992" y="63853"/>
            <a:ext cx="8728050" cy="745997"/>
            <a:chOff x="236700" y="63853"/>
            <a:chExt cx="8728050" cy="745997"/>
          </a:xfrm>
        </p:grpSpPr>
        <p:sp>
          <p:nvSpPr>
            <p:cNvPr id="1773" name="Google Shape;1773;p17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774" name="Google Shape;1774;p17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775" name="Google Shape;1775;p17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776" name="Google Shape;1776;p17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777" name="Google Shape;1777;p17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778" name="Google Shape;1778;p17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779" name="Google Shape;1779;p17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780" name="Google Shape;1780;p176"/>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3 - CfD Mechanics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Contract Volume VS Your Load Shape</a:t>
              </a:r>
              <a:endParaRPr sz="2000">
                <a:solidFill>
                  <a:schemeClr val="lt1"/>
                </a:solidFill>
                <a:latin typeface="Montserrat ExtraBold"/>
                <a:ea typeface="Montserrat ExtraBold"/>
                <a:cs typeface="Montserrat ExtraBold"/>
                <a:sym typeface="Montserrat ExtraBold"/>
              </a:endParaRPr>
            </a:p>
          </p:txBody>
        </p:sp>
        <p:cxnSp>
          <p:nvCxnSpPr>
            <p:cNvPr id="1781" name="Google Shape;1781;p17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782" name="Google Shape;1782;p17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783" name="Google Shape;1783;p176"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784" name="Google Shape;1784;p176"/>
          <p:cNvPicPr preferRelativeResize="0"/>
          <p:nvPr/>
        </p:nvPicPr>
        <p:blipFill>
          <a:blip r:embed="rId4">
            <a:alphaModFix/>
          </a:blip>
          <a:stretch>
            <a:fillRect/>
          </a:stretch>
        </p:blipFill>
        <p:spPr>
          <a:xfrm>
            <a:off x="7472673" y="4659876"/>
            <a:ext cx="894924" cy="312775"/>
          </a:xfrm>
          <a:prstGeom prst="rect">
            <a:avLst/>
          </a:prstGeom>
          <a:noFill/>
          <a:ln>
            <a:noFill/>
          </a:ln>
        </p:spPr>
      </p:pic>
      <p:sp>
        <p:nvSpPr>
          <p:cNvPr id="1785" name="Google Shape;1785;p176"/>
          <p:cNvSpPr txBox="1"/>
          <p:nvPr/>
        </p:nvSpPr>
        <p:spPr>
          <a:xfrm>
            <a:off x="396525" y="1107850"/>
            <a:ext cx="7911600" cy="523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i="0" u="none" strike="noStrike" cap="none">
                <a:solidFill>
                  <a:srgbClr val="222B33"/>
                </a:solidFill>
                <a:latin typeface="Montserrat"/>
                <a:ea typeface="Montserrat"/>
                <a:cs typeface="Montserrat"/>
                <a:sym typeface="Montserrat"/>
              </a:rPr>
              <a:t>Solar generat</a:t>
            </a:r>
            <a:r>
              <a:rPr lang="en">
                <a:solidFill>
                  <a:srgbClr val="222B33"/>
                </a:solidFill>
                <a:latin typeface="Montserrat"/>
                <a:ea typeface="Montserrat"/>
                <a:cs typeface="Montserrat"/>
                <a:sym typeface="Montserrat"/>
              </a:rPr>
              <a:t>ion peaks </a:t>
            </a:r>
            <a:r>
              <a:rPr lang="en" sz="1400" i="0" u="none" strike="noStrike" cap="none">
                <a:solidFill>
                  <a:srgbClr val="222B33"/>
                </a:solidFill>
                <a:latin typeface="Montserrat"/>
                <a:ea typeface="Montserrat"/>
                <a:cs typeface="Montserrat"/>
                <a:sym typeface="Montserrat"/>
              </a:rPr>
              <a:t> midday</a:t>
            </a:r>
            <a:r>
              <a:rPr lang="en">
                <a:solidFill>
                  <a:srgbClr val="222B33"/>
                </a:solidFill>
                <a:latin typeface="Montserrat"/>
                <a:ea typeface="Montserrat"/>
                <a:cs typeface="Montserrat"/>
                <a:sym typeface="Montserrat"/>
              </a:rPr>
              <a:t>, but the </a:t>
            </a:r>
            <a:r>
              <a:rPr lang="en" sz="1400" i="0" u="none" strike="noStrike" cap="none">
                <a:solidFill>
                  <a:srgbClr val="222B33"/>
                </a:solidFill>
                <a:latin typeface="Montserrat"/>
                <a:ea typeface="Montserrat"/>
                <a:cs typeface="Montserrat"/>
                <a:sym typeface="Montserrat"/>
              </a:rPr>
              <a:t>factory runs its own shape. The overlap</a:t>
            </a:r>
            <a:r>
              <a:rPr lang="en">
                <a:solidFill>
                  <a:srgbClr val="222B33"/>
                </a:solidFill>
                <a:latin typeface="Montserrat"/>
                <a:ea typeface="Montserrat"/>
                <a:cs typeface="Montserrat"/>
                <a:sym typeface="Montserrat"/>
              </a:rPr>
              <a:t>—</a:t>
            </a:r>
            <a:r>
              <a:rPr lang="en" sz="1400" i="0" u="none" strike="noStrike" cap="none">
                <a:solidFill>
                  <a:srgbClr val="222B33"/>
                </a:solidFill>
                <a:latin typeface="Montserrat"/>
                <a:ea typeface="Montserrat"/>
                <a:cs typeface="Montserrat"/>
                <a:sym typeface="Montserrat"/>
              </a:rPr>
              <a:t>hour by hour</a:t>
            </a:r>
            <a:r>
              <a:rPr lang="en">
                <a:solidFill>
                  <a:srgbClr val="222B33"/>
                </a:solidFill>
                <a:latin typeface="Montserrat"/>
                <a:ea typeface="Montserrat"/>
                <a:cs typeface="Montserrat"/>
                <a:sym typeface="Montserrat"/>
              </a:rPr>
              <a:t> -</a:t>
            </a:r>
            <a:r>
              <a:rPr lang="en" sz="1400" i="0" u="none" strike="noStrike" cap="none">
                <a:solidFill>
                  <a:srgbClr val="222B33"/>
                </a:solidFill>
                <a:latin typeface="Montserrat"/>
                <a:ea typeface="Montserrat"/>
                <a:cs typeface="Montserrat"/>
                <a:sym typeface="Montserrat"/>
              </a:rPr>
              <a:t> is </a:t>
            </a:r>
            <a:r>
              <a:rPr lang="en">
                <a:solidFill>
                  <a:srgbClr val="222B33"/>
                </a:solidFill>
                <a:latin typeface="Montserrat"/>
                <a:ea typeface="Montserrat"/>
                <a:cs typeface="Montserrat"/>
                <a:sym typeface="Montserrat"/>
              </a:rPr>
              <a:t>what matters most.</a:t>
            </a:r>
            <a:endParaRPr>
              <a:latin typeface="Montserrat"/>
              <a:ea typeface="Montserrat"/>
              <a:cs typeface="Montserrat"/>
              <a:sym typeface="Montserrat"/>
            </a:endParaRPr>
          </a:p>
        </p:txBody>
      </p:sp>
      <p:graphicFrame>
        <p:nvGraphicFramePr>
          <p:cNvPr id="1786" name="Google Shape;1786;p176"/>
          <p:cNvGraphicFramePr/>
          <p:nvPr/>
        </p:nvGraphicFramePr>
        <p:xfrm>
          <a:off x="400170" y="1716625"/>
          <a:ext cx="8425150" cy="1865600"/>
        </p:xfrm>
        <a:graphic>
          <a:graphicData uri="http://schemas.openxmlformats.org/drawingml/2006/table">
            <a:tbl>
              <a:tblPr firstRow="1" bandRow="1">
                <a:noFill/>
                <a:tableStyleId>{CE8BD2AF-5D0D-4EDC-AE96-A30A7DA1AF2F}</a:tableStyleId>
              </a:tblPr>
              <a:tblGrid>
                <a:gridCol w="2347975">
                  <a:extLst>
                    <a:ext uri="{9D8B030D-6E8A-4147-A177-3AD203B41FA5}">
                      <a16:colId xmlns:a16="http://schemas.microsoft.com/office/drawing/2014/main" val="20000"/>
                    </a:ext>
                  </a:extLst>
                </a:gridCol>
                <a:gridCol w="3176700">
                  <a:extLst>
                    <a:ext uri="{9D8B030D-6E8A-4147-A177-3AD203B41FA5}">
                      <a16:colId xmlns:a16="http://schemas.microsoft.com/office/drawing/2014/main" val="20001"/>
                    </a:ext>
                  </a:extLst>
                </a:gridCol>
                <a:gridCol w="2900475">
                  <a:extLst>
                    <a:ext uri="{9D8B030D-6E8A-4147-A177-3AD203B41FA5}">
                      <a16:colId xmlns:a16="http://schemas.microsoft.com/office/drawing/2014/main" val="20002"/>
                    </a:ext>
                  </a:extLst>
                </a:gridCol>
              </a:tblGrid>
              <a:tr h="46640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If you...</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a:latin typeface="Montserrat"/>
                          <a:ea typeface="Montserrat"/>
                          <a:cs typeface="Montserrat"/>
                          <a:sym typeface="Montserrat"/>
                        </a:rPr>
                        <a:t>Then…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Cost consequence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66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Over-contract </a:t>
                      </a:r>
                      <a:endParaRPr sz="125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(Q_c &gt; consumption)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CfD caps at consumed volume - excess earns nothing</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You paid contract terms for volume you ca</a:t>
                      </a:r>
                      <a:r>
                        <a:rPr lang="en" sz="1250">
                          <a:solidFill>
                            <a:schemeClr val="dk1"/>
                          </a:solidFill>
                          <a:latin typeface="Montserrat"/>
                          <a:ea typeface="Montserrat"/>
                          <a:cs typeface="Montserrat"/>
                          <a:sym typeface="Montserrat"/>
                        </a:rPr>
                        <a:t>n’t </a:t>
                      </a:r>
                      <a:r>
                        <a:rPr lang="en" sz="1250" u="none" strike="noStrike" cap="none">
                          <a:solidFill>
                            <a:schemeClr val="dk1"/>
                          </a:solidFill>
                          <a:latin typeface="Montserrat"/>
                          <a:ea typeface="Montserrat"/>
                          <a:cs typeface="Montserrat"/>
                          <a:sym typeface="Montserrat"/>
                        </a:rPr>
                        <a:t> settle</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66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Match contract to hourly overlap</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Every contracted kWh settles</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b="1" u="none" strike="noStrike" cap="none">
                          <a:solidFill>
                            <a:schemeClr val="dk1"/>
                          </a:solidFill>
                          <a:latin typeface="Montserrat"/>
                          <a:ea typeface="Montserrat"/>
                          <a:cs typeface="Montserrat"/>
                          <a:sym typeface="Montserrat"/>
                        </a:rPr>
                        <a:t>Efficient</a:t>
                      </a:r>
                      <a:r>
                        <a:rPr lang="en" sz="1250" b="1">
                          <a:solidFill>
                            <a:schemeClr val="dk1"/>
                          </a:solidFill>
                          <a:latin typeface="Montserrat"/>
                          <a:ea typeface="Montserrat"/>
                          <a:cs typeface="Montserrat"/>
                          <a:sym typeface="Montserrat"/>
                        </a:rPr>
                        <a:t>; this is</a:t>
                      </a:r>
                      <a:r>
                        <a:rPr lang="en" sz="1250" b="1" u="none" strike="noStrike" cap="none">
                          <a:solidFill>
                            <a:schemeClr val="dk1"/>
                          </a:solidFill>
                          <a:latin typeface="Montserrat"/>
                          <a:ea typeface="Montserrat"/>
                          <a:cs typeface="Montserrat"/>
                          <a:sym typeface="Montserrat"/>
                        </a:rPr>
                        <a:t> the target</a:t>
                      </a:r>
                      <a:endParaRPr b="1">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466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Under-contract </a:t>
                      </a:r>
                      <a:endParaRPr sz="1250" u="none" strike="noStrike" cap="none">
                        <a:solidFill>
                          <a:schemeClr val="dk1"/>
                        </a:solidFill>
                        <a:latin typeface="Montserrat"/>
                        <a:ea typeface="Montserrat"/>
                        <a:cs typeface="Montserrat"/>
                        <a:sym typeface="Montserrat"/>
                      </a:endParaRPr>
                    </a:p>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(Q_c &lt; overlap)</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More residual purchased from EVN at TOU</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Less price certainty, smaller renewable claim</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bl>
          </a:graphicData>
        </a:graphic>
      </p:graphicFrame>
      <p:sp>
        <p:nvSpPr>
          <p:cNvPr id="1787" name="Google Shape;1787;p176"/>
          <p:cNvSpPr txBox="1"/>
          <p:nvPr/>
        </p:nvSpPr>
        <p:spPr>
          <a:xfrm>
            <a:off x="323025" y="3786200"/>
            <a:ext cx="8562000" cy="8040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Ask every developer for an hourly (8760 hour) matching analysis against </a:t>
            </a:r>
            <a:r>
              <a:rPr lang="en" sz="1300">
                <a:solidFill>
                  <a:schemeClr val="dk1"/>
                </a:solidFill>
                <a:latin typeface="Montserrat"/>
                <a:ea typeface="Montserrat"/>
                <a:cs typeface="Montserrat"/>
                <a:sym typeface="Montserrat"/>
              </a:rPr>
              <a:t>your </a:t>
            </a:r>
            <a:r>
              <a:rPr lang="en" sz="1300" i="0" u="none" strike="noStrike" cap="none">
                <a:solidFill>
                  <a:schemeClr val="dk1"/>
                </a:solidFill>
                <a:latin typeface="Montserrat"/>
                <a:ea typeface="Montserrat"/>
                <a:cs typeface="Montserrat"/>
                <a:sym typeface="Montserrat"/>
              </a:rPr>
              <a:t>meter data</a:t>
            </a:r>
            <a:r>
              <a:rPr lang="en" sz="1300">
                <a:solidFill>
                  <a:schemeClr val="dk1"/>
                </a:solidFill>
                <a:latin typeface="Montserrat"/>
                <a:ea typeface="Montserrat"/>
                <a:cs typeface="Montserrat"/>
                <a:sym typeface="Montserrat"/>
              </a:rPr>
              <a:t>, </a:t>
            </a:r>
            <a:r>
              <a:rPr lang="en" sz="1300" i="0" u="none" strike="noStrike" cap="none">
                <a:solidFill>
                  <a:schemeClr val="dk1"/>
                </a:solidFill>
                <a:latin typeface="Montserrat"/>
                <a:ea typeface="Montserrat"/>
                <a:cs typeface="Montserrat"/>
                <a:sym typeface="Montserrat"/>
              </a:rPr>
              <a:t>not an annual percentage</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40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Batteries can shift the overlap window but add </a:t>
            </a:r>
            <a:r>
              <a:rPr lang="en" sz="1300">
                <a:solidFill>
                  <a:schemeClr val="dk1"/>
                </a:solidFill>
                <a:latin typeface="Montserrat"/>
                <a:ea typeface="Montserrat"/>
                <a:cs typeface="Montserrat"/>
                <a:sym typeface="Montserrat"/>
              </a:rPr>
              <a:t>CAPEX</a:t>
            </a:r>
            <a:r>
              <a:rPr lang="en" sz="1300" i="0" u="none" strike="noStrike" cap="none">
                <a:solidFill>
                  <a:schemeClr val="dk1"/>
                </a:solidFill>
                <a:latin typeface="Montserrat"/>
                <a:ea typeface="Montserrat"/>
                <a:cs typeface="Montserrat"/>
                <a:sym typeface="Montserrat"/>
              </a:rPr>
              <a:t> the tariff must carry (see the case study)</a:t>
            </a:r>
            <a:endParaRPr>
              <a:solidFill>
                <a:schemeClr val="dk1"/>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91"/>
        <p:cNvGrpSpPr/>
        <p:nvPr/>
      </p:nvGrpSpPr>
      <p:grpSpPr>
        <a:xfrm>
          <a:off x="0" y="0"/>
          <a:ext cx="0" cy="0"/>
          <a:chOff x="0" y="0"/>
          <a:chExt cx="0" cy="0"/>
        </a:xfrm>
      </p:grpSpPr>
      <p:cxnSp>
        <p:nvCxnSpPr>
          <p:cNvPr id="1792" name="Google Shape;1792;p177"/>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793" name="Google Shape;1793;p177"/>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4:</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Developer Economics and the Three Gates</a:t>
            </a:r>
            <a:endParaRPr sz="2800" b="1">
              <a:solidFill>
                <a:srgbClr val="0F172A"/>
              </a:solidFill>
              <a:highlight>
                <a:srgbClr val="FFFFFF"/>
              </a:highlight>
              <a:latin typeface="Montserrat"/>
              <a:ea typeface="Montserrat"/>
              <a:cs typeface="Montserrat"/>
              <a:sym typeface="Montserrat"/>
            </a:endParaRPr>
          </a:p>
        </p:txBody>
      </p:sp>
      <p:pic>
        <p:nvPicPr>
          <p:cNvPr id="1794" name="Google Shape;1794;p177"/>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795" name="Google Shape;1795;p177"/>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796" name="Google Shape;1796;p177"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797" name="Google Shape;1797;p177"/>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01"/>
        <p:cNvGrpSpPr/>
        <p:nvPr/>
      </p:nvGrpSpPr>
      <p:grpSpPr>
        <a:xfrm>
          <a:off x="0" y="0"/>
          <a:ext cx="0" cy="0"/>
          <a:chOff x="0" y="0"/>
          <a:chExt cx="0" cy="0"/>
        </a:xfrm>
      </p:grpSpPr>
      <p:grpSp>
        <p:nvGrpSpPr>
          <p:cNvPr id="1802" name="Google Shape;1802;p178"/>
          <p:cNvGrpSpPr/>
          <p:nvPr/>
        </p:nvGrpSpPr>
        <p:grpSpPr>
          <a:xfrm>
            <a:off x="239992" y="63853"/>
            <a:ext cx="8728050" cy="745997"/>
            <a:chOff x="236700" y="63853"/>
            <a:chExt cx="8728050" cy="745997"/>
          </a:xfrm>
        </p:grpSpPr>
        <p:sp>
          <p:nvSpPr>
            <p:cNvPr id="1803" name="Google Shape;1803;p17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04" name="Google Shape;1804;p17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05" name="Google Shape;1805;p17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06" name="Google Shape;1806;p17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07" name="Google Shape;1807;p17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08" name="Google Shape;1808;p17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09" name="Google Shape;1809;p17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10" name="Google Shape;1810;p178"/>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4 - Developer Economics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Developer’s Perspective on Economics</a:t>
              </a:r>
              <a:endParaRPr sz="2000">
                <a:solidFill>
                  <a:schemeClr val="lt1"/>
                </a:solidFill>
                <a:latin typeface="Montserrat ExtraBold"/>
                <a:ea typeface="Montserrat ExtraBold"/>
                <a:cs typeface="Montserrat ExtraBold"/>
                <a:sym typeface="Montserrat ExtraBold"/>
              </a:endParaRPr>
            </a:p>
          </p:txBody>
        </p:sp>
        <p:cxnSp>
          <p:nvCxnSpPr>
            <p:cNvPr id="1811" name="Google Shape;1811;p17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12" name="Google Shape;1812;p17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13" name="Google Shape;1813;p17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14" name="Google Shape;1814;p178"/>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815" name="Google Shape;1815;p178"/>
          <p:cNvSpPr/>
          <p:nvPr/>
        </p:nvSpPr>
        <p:spPr>
          <a:xfrm>
            <a:off x="454275" y="1039125"/>
            <a:ext cx="5093700" cy="1751700"/>
          </a:xfrm>
          <a:prstGeom prst="roundRect">
            <a:avLst>
              <a:gd name="adj" fmla="val 16667"/>
            </a:avLst>
          </a:prstGeom>
          <a:solidFill>
            <a:srgbClr val="EEF4F4"/>
          </a:solidFill>
          <a:ln w="9375" cap="flat" cmpd="sng">
            <a:solidFill>
              <a:srgbClr val="127A7A"/>
            </a:solidFill>
            <a:prstDash val="solid"/>
            <a:round/>
            <a:headEnd type="none" w="sm" len="sm"/>
            <a:tailEnd type="none" w="sm" len="sm"/>
          </a:ln>
          <a:effectLst>
            <a:outerShdw blurRad="29555" dist="16994" dir="5400000" rotWithShape="0">
              <a:srgbClr val="000000">
                <a:alpha val="34900"/>
              </a:srgbClr>
            </a:outerShdw>
          </a:effectLst>
        </p:spPr>
        <p:txBody>
          <a:bodyPr spcFirstLastPara="1" wrap="square" lIns="45700" tIns="45700" rIns="45700" bIns="45700" anchor="ctr" anchorCtr="0">
            <a:noAutofit/>
          </a:bodyPr>
          <a:lstStyle/>
          <a:p>
            <a:pPr marL="0" marR="0" lvl="0" indent="0" algn="l" rtl="0">
              <a:lnSpc>
                <a:spcPct val="100000"/>
              </a:lnSpc>
              <a:spcBef>
                <a:spcPts val="0"/>
              </a:spcBef>
              <a:spcAft>
                <a:spcPts val="0"/>
              </a:spcAft>
              <a:buNone/>
            </a:pPr>
            <a:r>
              <a:rPr lang="en" sz="1600" b="1" i="0" u="none" strike="noStrike" cap="none">
                <a:solidFill>
                  <a:schemeClr val="dk1"/>
                </a:solidFill>
                <a:latin typeface="Consolas"/>
                <a:ea typeface="Consolas"/>
                <a:cs typeface="Consolas"/>
                <a:sym typeface="Consolas"/>
              </a:rPr>
              <a:t>Revenue</a:t>
            </a:r>
            <a:r>
              <a:rPr lang="en" sz="1600" i="0" u="none" strike="noStrike" cap="none">
                <a:solidFill>
                  <a:schemeClr val="dk1"/>
                </a:solidFill>
                <a:latin typeface="Consolas"/>
                <a:ea typeface="Consolas"/>
                <a:cs typeface="Consolas"/>
                <a:sym typeface="Consolas"/>
              </a:rPr>
              <a:t> =</a:t>
            </a:r>
            <a:endParaRPr sz="160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None/>
            </a:pPr>
            <a:endParaRPr sz="1600">
              <a:solidFill>
                <a:schemeClr val="dk1"/>
              </a:solidFill>
              <a:latin typeface="Consolas"/>
              <a:ea typeface="Consolas"/>
              <a:cs typeface="Consolas"/>
              <a:sym typeface="Consolas"/>
            </a:endParaRPr>
          </a:p>
          <a:p>
            <a:pPr marL="0" marR="0" lvl="0" indent="0" algn="l" rtl="0">
              <a:lnSpc>
                <a:spcPct val="100000"/>
              </a:lnSpc>
              <a:spcBef>
                <a:spcPts val="0"/>
              </a:spcBef>
              <a:spcAft>
                <a:spcPts val="0"/>
              </a:spcAft>
              <a:buNone/>
            </a:pPr>
            <a:r>
              <a:rPr lang="en" sz="1600">
                <a:solidFill>
                  <a:schemeClr val="dk1"/>
                </a:solidFill>
                <a:latin typeface="Consolas"/>
                <a:ea typeface="Consolas"/>
                <a:cs typeface="Consolas"/>
                <a:sym typeface="Consolas"/>
              </a:rPr>
              <a:t> </a:t>
            </a:r>
            <a:r>
              <a:rPr lang="en" sz="1600" i="0" u="none" strike="noStrike" cap="none">
                <a:solidFill>
                  <a:schemeClr val="dk1"/>
                </a:solidFill>
                <a:latin typeface="Consolas"/>
                <a:ea typeface="Consolas"/>
                <a:cs typeface="Consolas"/>
                <a:sym typeface="Consolas"/>
              </a:rPr>
              <a:t>Q_meter x FMP</a:t>
            </a:r>
            <a:r>
              <a:rPr lang="en" sz="1600">
                <a:solidFill>
                  <a:schemeClr val="dk1"/>
                </a:solidFill>
                <a:latin typeface="Consolas"/>
                <a:ea typeface="Consolas"/>
                <a:cs typeface="Consolas"/>
                <a:sym typeface="Consolas"/>
              </a:rPr>
              <a:t>	</a:t>
            </a:r>
            <a:r>
              <a:rPr lang="en" sz="1600" i="1" u="none" strike="noStrike" cap="none">
                <a:solidFill>
                  <a:schemeClr val="dk1"/>
                </a:solidFill>
                <a:latin typeface="Consolas"/>
                <a:ea typeface="Consolas"/>
                <a:cs typeface="Consolas"/>
                <a:sym typeface="Consolas"/>
              </a:rPr>
              <a:t>spot sales (volatile)</a:t>
            </a:r>
            <a:br>
              <a:rPr lang="en" sz="1600" i="1" u="none" strike="noStrike" cap="none">
                <a:solidFill>
                  <a:schemeClr val="dk1"/>
                </a:solidFill>
                <a:latin typeface="Consolas"/>
                <a:ea typeface="Consolas"/>
                <a:cs typeface="Consolas"/>
                <a:sym typeface="Consolas"/>
              </a:rPr>
            </a:br>
            <a:r>
              <a:rPr lang="en" sz="1600" i="1" u="none" strike="noStrike" cap="none">
                <a:solidFill>
                  <a:schemeClr val="dk1"/>
                </a:solidFill>
                <a:latin typeface="Consolas"/>
                <a:ea typeface="Consolas"/>
                <a:cs typeface="Consolas"/>
                <a:sym typeface="Consolas"/>
              </a:rPr>
              <a:t>	</a:t>
            </a:r>
            <a:r>
              <a:rPr lang="en" sz="1600">
                <a:solidFill>
                  <a:schemeClr val="dk1"/>
                </a:solidFill>
                <a:latin typeface="Consolas"/>
                <a:ea typeface="Consolas"/>
                <a:cs typeface="Consolas"/>
                <a:sym typeface="Consolas"/>
              </a:rPr>
              <a:t>+ </a:t>
            </a:r>
            <a:endParaRPr sz="1600" i="1">
              <a:solidFill>
                <a:schemeClr val="dk1"/>
              </a:solidFill>
              <a:latin typeface="Consolas"/>
              <a:ea typeface="Consolas"/>
              <a:cs typeface="Consolas"/>
              <a:sym typeface="Consolas"/>
            </a:endParaRPr>
          </a:p>
          <a:p>
            <a:pPr marL="0" marR="0" lvl="0" indent="0" algn="l" rtl="0">
              <a:lnSpc>
                <a:spcPct val="100000"/>
              </a:lnSpc>
              <a:spcBef>
                <a:spcPts val="148"/>
              </a:spcBef>
              <a:spcAft>
                <a:spcPts val="0"/>
              </a:spcAft>
              <a:buNone/>
            </a:pPr>
            <a:r>
              <a:rPr lang="en" sz="1600" i="0" u="none" strike="noStrike" cap="none">
                <a:solidFill>
                  <a:schemeClr val="dk1"/>
                </a:solidFill>
                <a:latin typeface="Consolas"/>
                <a:ea typeface="Consolas"/>
                <a:cs typeface="Consolas"/>
                <a:sym typeface="Consolas"/>
              </a:rPr>
              <a:t> (Strike - FMP) x Q_CfD  	</a:t>
            </a:r>
            <a:endParaRPr sz="1600" i="0" u="none" strike="noStrike" cap="none">
              <a:solidFill>
                <a:schemeClr val="dk1"/>
              </a:solidFill>
              <a:latin typeface="Consolas"/>
              <a:ea typeface="Consolas"/>
              <a:cs typeface="Consolas"/>
              <a:sym typeface="Consolas"/>
            </a:endParaRPr>
          </a:p>
          <a:p>
            <a:pPr marL="1828800" marR="0" lvl="0" indent="0" algn="l" rtl="0">
              <a:lnSpc>
                <a:spcPct val="100000"/>
              </a:lnSpc>
              <a:spcBef>
                <a:spcPts val="148"/>
              </a:spcBef>
              <a:spcAft>
                <a:spcPts val="0"/>
              </a:spcAft>
              <a:buNone/>
            </a:pPr>
            <a:r>
              <a:rPr lang="en" sz="1600" i="1" u="none" strike="noStrike" cap="none">
                <a:solidFill>
                  <a:schemeClr val="dk1"/>
                </a:solidFill>
                <a:latin typeface="Consolas"/>
                <a:ea typeface="Consolas"/>
                <a:cs typeface="Consolas"/>
                <a:sym typeface="Consolas"/>
              </a:rPr>
              <a:t>CfD with you</a:t>
            </a:r>
            <a:r>
              <a:rPr lang="en" sz="1600" i="1">
                <a:solidFill>
                  <a:schemeClr val="dk1"/>
                </a:solidFill>
                <a:latin typeface="Consolas"/>
                <a:ea typeface="Consolas"/>
                <a:cs typeface="Consolas"/>
                <a:sym typeface="Consolas"/>
              </a:rPr>
              <a:t>r factory </a:t>
            </a:r>
            <a:r>
              <a:rPr lang="en" sz="1600" i="1" u="none" strike="noStrike" cap="none">
                <a:solidFill>
                  <a:schemeClr val="dk1"/>
                </a:solidFill>
                <a:latin typeface="Consolas"/>
                <a:ea typeface="Consolas"/>
                <a:cs typeface="Consolas"/>
                <a:sym typeface="Consolas"/>
              </a:rPr>
              <a:t>(stabiliser)</a:t>
            </a:r>
            <a:endParaRPr sz="1600" i="1">
              <a:solidFill>
                <a:schemeClr val="dk1"/>
              </a:solidFill>
              <a:latin typeface="Consolas"/>
              <a:ea typeface="Consolas"/>
              <a:cs typeface="Consolas"/>
              <a:sym typeface="Consolas"/>
            </a:endParaRPr>
          </a:p>
        </p:txBody>
      </p:sp>
      <p:sp>
        <p:nvSpPr>
          <p:cNvPr id="1816" name="Google Shape;1816;p178"/>
          <p:cNvSpPr txBox="1"/>
          <p:nvPr/>
        </p:nvSpPr>
        <p:spPr>
          <a:xfrm>
            <a:off x="5642025" y="1196161"/>
            <a:ext cx="3165900" cy="1629900"/>
          </a:xfrm>
          <a:prstGeom prst="rect">
            <a:avLst/>
          </a:prstGeom>
          <a:noFill/>
          <a:ln>
            <a:noFill/>
          </a:ln>
        </p:spPr>
        <p:txBody>
          <a:bodyPr spcFirstLastPara="1" wrap="square" lIns="67550" tIns="33775" rIns="67550" bIns="33775" anchor="t" anchorCtr="0">
            <a:spAutoFit/>
          </a:bodyPr>
          <a:lstStyle/>
          <a:p>
            <a:pPr marL="457200" marR="0" lvl="0" indent="-304800" algn="l" rtl="0">
              <a:lnSpc>
                <a:spcPct val="115000"/>
              </a:lnSpc>
              <a:spcBef>
                <a:spcPts val="0"/>
              </a:spcBef>
              <a:spcAft>
                <a:spcPts val="0"/>
              </a:spcAft>
              <a:buClr>
                <a:schemeClr val="dk1"/>
              </a:buClr>
              <a:buSzPts val="1200"/>
              <a:buFont typeface="Montserrat"/>
              <a:buChar char="●"/>
            </a:pPr>
            <a:r>
              <a:rPr lang="en" sz="1200" i="0" u="none" strike="noStrike" cap="none">
                <a:solidFill>
                  <a:schemeClr val="dk1"/>
                </a:solidFill>
                <a:latin typeface="Montserrat"/>
                <a:ea typeface="Montserrat"/>
                <a:cs typeface="Montserrat"/>
                <a:sym typeface="Montserrat"/>
              </a:rPr>
              <a:t>The CfD converts volatile spot revenue into a near-fixed price on matched volume</a:t>
            </a:r>
            <a:endParaRPr sz="1200">
              <a:solidFill>
                <a:schemeClr val="dk1"/>
              </a:solidFill>
              <a:latin typeface="Montserrat"/>
              <a:ea typeface="Montserrat"/>
              <a:cs typeface="Montserrat"/>
              <a:sym typeface="Montserrat"/>
            </a:endParaRPr>
          </a:p>
          <a:p>
            <a:pPr marL="457200" marR="0" lvl="0" indent="-304800" algn="l" rtl="0">
              <a:lnSpc>
                <a:spcPct val="115000"/>
              </a:lnSpc>
              <a:spcBef>
                <a:spcPts val="400"/>
              </a:spcBef>
              <a:spcAft>
                <a:spcPts val="0"/>
              </a:spcAft>
              <a:buClr>
                <a:schemeClr val="dk1"/>
              </a:buClr>
              <a:buSzPts val="1200"/>
              <a:buFont typeface="Montserrat"/>
              <a:buChar char="●"/>
            </a:pPr>
            <a:r>
              <a:rPr lang="en" sz="1200" i="0" u="none" strike="noStrike" cap="none">
                <a:solidFill>
                  <a:schemeClr val="dk1"/>
                </a:solidFill>
                <a:latin typeface="Montserrat"/>
                <a:ea typeface="Montserrat"/>
                <a:cs typeface="Montserrat"/>
                <a:sym typeface="Montserrat"/>
              </a:rPr>
              <a:t>Your strike IS the developer's bankable revenue line</a:t>
            </a:r>
            <a:endParaRPr sz="1200">
              <a:solidFill>
                <a:schemeClr val="dk1"/>
              </a:solidFill>
              <a:latin typeface="Montserrat"/>
              <a:ea typeface="Montserrat"/>
              <a:cs typeface="Montserrat"/>
              <a:sym typeface="Montserrat"/>
            </a:endParaRPr>
          </a:p>
          <a:p>
            <a:pPr marL="457200" marR="0" lvl="0" indent="-304800" algn="l" rtl="0">
              <a:lnSpc>
                <a:spcPct val="115000"/>
              </a:lnSpc>
              <a:spcBef>
                <a:spcPts val="400"/>
              </a:spcBef>
              <a:spcAft>
                <a:spcPts val="400"/>
              </a:spcAft>
              <a:buClr>
                <a:schemeClr val="dk1"/>
              </a:buClr>
              <a:buSzPts val="1200"/>
              <a:buFont typeface="Montserrat"/>
              <a:buChar char="●"/>
            </a:pPr>
            <a:r>
              <a:rPr lang="en" sz="1200" i="0" u="none" strike="noStrike" cap="none">
                <a:solidFill>
                  <a:schemeClr val="dk1"/>
                </a:solidFill>
                <a:latin typeface="Montserrat"/>
                <a:ea typeface="Montserrat"/>
                <a:cs typeface="Montserrat"/>
                <a:sym typeface="Montserrat"/>
              </a:rPr>
              <a:t>Everything the lender checks flows from it</a:t>
            </a:r>
            <a:endParaRPr sz="1200">
              <a:solidFill>
                <a:schemeClr val="dk1"/>
              </a:solidFill>
              <a:latin typeface="Montserrat"/>
              <a:ea typeface="Montserrat"/>
              <a:cs typeface="Montserrat"/>
              <a:sym typeface="Montserrat"/>
            </a:endParaRPr>
          </a:p>
        </p:txBody>
      </p:sp>
      <p:graphicFrame>
        <p:nvGraphicFramePr>
          <p:cNvPr id="1817" name="Google Shape;1817;p178"/>
          <p:cNvGraphicFramePr/>
          <p:nvPr/>
        </p:nvGraphicFramePr>
        <p:xfrm>
          <a:off x="461982" y="2920461"/>
          <a:ext cx="5093750" cy="1988820"/>
        </p:xfrm>
        <a:graphic>
          <a:graphicData uri="http://schemas.openxmlformats.org/drawingml/2006/table">
            <a:tbl>
              <a:tblPr>
                <a:noFill/>
                <a:tableStyleId>{121033D3-121A-4ABF-A30B-B91F07BF1167}</a:tableStyleId>
              </a:tblPr>
              <a:tblGrid>
                <a:gridCol w="2168425">
                  <a:extLst>
                    <a:ext uri="{9D8B030D-6E8A-4147-A177-3AD203B41FA5}">
                      <a16:colId xmlns:a16="http://schemas.microsoft.com/office/drawing/2014/main" val="20000"/>
                    </a:ext>
                  </a:extLst>
                </a:gridCol>
                <a:gridCol w="2925325">
                  <a:extLst>
                    <a:ext uri="{9D8B030D-6E8A-4147-A177-3AD203B41FA5}">
                      <a16:colId xmlns:a16="http://schemas.microsoft.com/office/drawing/2014/main" val="20001"/>
                    </a:ext>
                  </a:extLst>
                </a:gridCol>
              </a:tblGrid>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Capital Structure</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70% Debt / 30% Equity</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0"/>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Debt Term</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~10 years</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1"/>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Debt Interest Rate (VND)</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~8.5% per year</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2"/>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Debt Interest Rate (USD)</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~5% per year (International)</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3"/>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Equity Target Return</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12 - 15%+ IRR</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4"/>
                  </a:ext>
                </a:extLst>
              </a:tr>
              <a:tr h="220050">
                <a:tc>
                  <a:txBody>
                    <a:bodyPr/>
                    <a:lstStyle/>
                    <a:p>
                      <a:pPr marL="0" lvl="0" indent="0" algn="l" rtl="0">
                        <a:lnSpc>
                          <a:spcPct val="115000"/>
                        </a:lnSpc>
                        <a:spcBef>
                          <a:spcPts val="0"/>
                        </a:spcBef>
                        <a:spcAft>
                          <a:spcPts val="0"/>
                        </a:spcAft>
                        <a:buNone/>
                      </a:pPr>
                      <a:r>
                        <a:rPr lang="en" sz="1100" b="1">
                          <a:solidFill>
                            <a:schemeClr val="lt1"/>
                          </a:solidFill>
                          <a:latin typeface="Montserrat"/>
                          <a:ea typeface="Montserrat"/>
                          <a:cs typeface="Montserrat"/>
                          <a:sym typeface="Montserrat"/>
                        </a:rPr>
                        <a:t>CIT Incentives</a:t>
                      </a:r>
                      <a:endParaRPr sz="1100" b="1">
                        <a:solidFill>
                          <a:schemeClr val="lt1"/>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solidFill>
                      <a:srgbClr val="14645C"/>
                    </a:solidFill>
                  </a:tcPr>
                </a:tc>
                <a:tc>
                  <a:txBody>
                    <a:bodyPr/>
                    <a:lstStyle/>
                    <a:p>
                      <a:pPr marL="0" lvl="0" indent="0" algn="l" rtl="0">
                        <a:lnSpc>
                          <a:spcPct val="115000"/>
                        </a:lnSpc>
                        <a:spcBef>
                          <a:spcPts val="0"/>
                        </a:spcBef>
                        <a:spcAft>
                          <a:spcPts val="0"/>
                        </a:spcAft>
                        <a:buNone/>
                      </a:pPr>
                      <a:r>
                        <a:rPr lang="en" sz="1100">
                          <a:solidFill>
                            <a:srgbClr val="1F1F1F"/>
                          </a:solidFill>
                          <a:latin typeface="Montserrat"/>
                          <a:ea typeface="Montserrat"/>
                          <a:cs typeface="Montserrat"/>
                          <a:sym typeface="Montserrat"/>
                        </a:rPr>
                        <a:t>4 years exempt + 9 years at half rate</a:t>
                      </a:r>
                      <a:endParaRPr sz="1100">
                        <a:solidFill>
                          <a:srgbClr val="1F1F1F"/>
                        </a:solidFill>
                        <a:latin typeface="Montserrat"/>
                        <a:ea typeface="Montserrat"/>
                        <a:cs typeface="Montserrat"/>
                        <a:sym typeface="Montserrat"/>
                      </a:endParaRPr>
                    </a:p>
                  </a:txBody>
                  <a:tcPr marL="114300" marR="114300" marT="76200" marB="76200">
                    <a:lnL w="10575" cap="flat" cmpd="sng">
                      <a:solidFill>
                        <a:srgbClr val="C4C7C5"/>
                      </a:solidFill>
                      <a:prstDash val="solid"/>
                      <a:round/>
                      <a:headEnd type="none" w="sm" len="sm"/>
                      <a:tailEnd type="none" w="sm" len="sm"/>
                    </a:lnL>
                    <a:lnR w="10575" cap="flat" cmpd="sng">
                      <a:solidFill>
                        <a:srgbClr val="C4C7C5"/>
                      </a:solidFill>
                      <a:prstDash val="solid"/>
                      <a:round/>
                      <a:headEnd type="none" w="sm" len="sm"/>
                      <a:tailEnd type="none" w="sm" len="sm"/>
                    </a:lnR>
                    <a:lnT w="10575" cap="flat" cmpd="sng">
                      <a:solidFill>
                        <a:srgbClr val="C4C7C5"/>
                      </a:solidFill>
                      <a:prstDash val="solid"/>
                      <a:round/>
                      <a:headEnd type="none" w="sm" len="sm"/>
                      <a:tailEnd type="none" w="sm" len="sm"/>
                    </a:lnT>
                    <a:lnB w="10575" cap="flat" cmpd="sng">
                      <a:solidFill>
                        <a:srgbClr val="C4C7C5"/>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21"/>
        <p:cNvGrpSpPr/>
        <p:nvPr/>
      </p:nvGrpSpPr>
      <p:grpSpPr>
        <a:xfrm>
          <a:off x="0" y="0"/>
          <a:ext cx="0" cy="0"/>
          <a:chOff x="0" y="0"/>
          <a:chExt cx="0" cy="0"/>
        </a:xfrm>
      </p:grpSpPr>
      <p:grpSp>
        <p:nvGrpSpPr>
          <p:cNvPr id="1822" name="Google Shape;1822;p179"/>
          <p:cNvGrpSpPr/>
          <p:nvPr/>
        </p:nvGrpSpPr>
        <p:grpSpPr>
          <a:xfrm>
            <a:off x="239992" y="63853"/>
            <a:ext cx="8728050" cy="745997"/>
            <a:chOff x="236700" y="63853"/>
            <a:chExt cx="8728050" cy="745997"/>
          </a:xfrm>
        </p:grpSpPr>
        <p:sp>
          <p:nvSpPr>
            <p:cNvPr id="1823" name="Google Shape;1823;p17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24" name="Google Shape;1824;p17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25" name="Google Shape;1825;p17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26" name="Google Shape;1826;p17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27" name="Google Shape;1827;p17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28" name="Google Shape;1828;p17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29" name="Google Shape;1829;p17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30" name="Google Shape;1830;p179"/>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4 - Developer Economics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A Deal Must Pass Three Gates to Proceed</a:t>
              </a:r>
              <a:endParaRPr sz="2000">
                <a:solidFill>
                  <a:schemeClr val="lt1"/>
                </a:solidFill>
                <a:latin typeface="Montserrat ExtraBold"/>
                <a:ea typeface="Montserrat ExtraBold"/>
                <a:cs typeface="Montserrat ExtraBold"/>
                <a:sym typeface="Montserrat ExtraBold"/>
              </a:endParaRPr>
            </a:p>
          </p:txBody>
        </p:sp>
        <p:cxnSp>
          <p:nvCxnSpPr>
            <p:cNvPr id="1831" name="Google Shape;1831;p179"/>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32" name="Google Shape;1832;p17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33" name="Google Shape;1833;p17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34" name="Google Shape;1834;p179"/>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835" name="Google Shape;1835;p179"/>
          <p:cNvGraphicFramePr/>
          <p:nvPr/>
        </p:nvGraphicFramePr>
        <p:xfrm>
          <a:off x="454273" y="1352177"/>
          <a:ext cx="8358325" cy="1581230"/>
        </p:xfrm>
        <a:graphic>
          <a:graphicData uri="http://schemas.openxmlformats.org/drawingml/2006/table">
            <a:tbl>
              <a:tblPr firstRow="1" bandRow="1">
                <a:noFill/>
                <a:tableStyleId>{CE8BD2AF-5D0D-4EDC-AE96-A30A7DA1AF2F}</a:tableStyleId>
              </a:tblPr>
              <a:tblGrid>
                <a:gridCol w="1062500">
                  <a:extLst>
                    <a:ext uri="{9D8B030D-6E8A-4147-A177-3AD203B41FA5}">
                      <a16:colId xmlns:a16="http://schemas.microsoft.com/office/drawing/2014/main" val="20000"/>
                    </a:ext>
                  </a:extLst>
                </a:gridCol>
                <a:gridCol w="1062500">
                  <a:extLst>
                    <a:ext uri="{9D8B030D-6E8A-4147-A177-3AD203B41FA5}">
                      <a16:colId xmlns:a16="http://schemas.microsoft.com/office/drawing/2014/main" val="20001"/>
                    </a:ext>
                  </a:extLst>
                </a:gridCol>
                <a:gridCol w="3966650">
                  <a:extLst>
                    <a:ext uri="{9D8B030D-6E8A-4147-A177-3AD203B41FA5}">
                      <a16:colId xmlns:a16="http://schemas.microsoft.com/office/drawing/2014/main" val="20002"/>
                    </a:ext>
                  </a:extLst>
                </a:gridCol>
                <a:gridCol w="2266675">
                  <a:extLst>
                    <a:ext uri="{9D8B030D-6E8A-4147-A177-3AD203B41FA5}">
                      <a16:colId xmlns:a16="http://schemas.microsoft.com/office/drawing/2014/main" val="20003"/>
                    </a:ext>
                  </a:extLst>
                </a:gridCol>
              </a:tblGrid>
              <a:tr h="343575">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Gate</a:t>
                      </a:r>
                      <a:endParaRPr>
                        <a:latin typeface="Montserrat"/>
                        <a:ea typeface="Montserrat"/>
                        <a:cs typeface="Montserrat"/>
                        <a:sym typeface="Montserrat"/>
                      </a:endParaRPr>
                    </a:p>
                  </a:txBody>
                  <a:tcPr marL="91450" marR="91450" marT="25400" marB="25400" anchor="ctr">
                    <a:solidFill>
                      <a:srgbClr val="2F645B"/>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Who</a:t>
                      </a:r>
                      <a:endParaRPr>
                        <a:latin typeface="Montserrat"/>
                        <a:ea typeface="Montserrat"/>
                        <a:cs typeface="Montserrat"/>
                        <a:sym typeface="Montserrat"/>
                      </a:endParaRPr>
                    </a:p>
                  </a:txBody>
                  <a:tcPr marL="91450" marR="91450" marT="25400" marB="25400" anchor="ctr">
                    <a:solidFill>
                      <a:srgbClr val="2F645B"/>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Test</a:t>
                      </a:r>
                      <a:endParaRPr>
                        <a:latin typeface="Montserrat"/>
                        <a:ea typeface="Montserrat"/>
                        <a:cs typeface="Montserrat"/>
                        <a:sym typeface="Montserrat"/>
                      </a:endParaRPr>
                    </a:p>
                  </a:txBody>
                  <a:tcPr marL="91450" marR="91450" marT="25400" marB="25400" anchor="ctr">
                    <a:solidFill>
                      <a:srgbClr val="2F645B"/>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Strike pressure</a:t>
                      </a:r>
                      <a:endParaRPr>
                        <a:latin typeface="Montserrat"/>
                        <a:ea typeface="Montserrat"/>
                        <a:cs typeface="Montserrat"/>
                        <a:sym typeface="Montserrat"/>
                      </a:endParaRPr>
                    </a:p>
                  </a:txBody>
                  <a:tcPr marL="91450" marR="91450" marT="25400" marB="25400" anchor="ctr">
                    <a:solidFill>
                      <a:srgbClr val="2F645B"/>
                    </a:solidFill>
                  </a:tcPr>
                </a:tc>
                <a:extLst>
                  <a:ext uri="{0D108BD9-81ED-4DB2-BD59-A6C34878D82A}">
                    <a16:rowId xmlns:a16="http://schemas.microsoft.com/office/drawing/2014/main" val="10000"/>
                  </a:ext>
                </a:extLst>
              </a:tr>
              <a:tr h="388175">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1. Buyer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You</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Cumulative cost &lt;= BAU over 10 yr AND lifetime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P</a:t>
                      </a:r>
                      <a:r>
                        <a:rPr lang="en" sz="1300" u="none" strike="noStrike" cap="none">
                          <a:solidFill>
                            <a:srgbClr val="222B33"/>
                          </a:solidFill>
                          <a:latin typeface="Montserrat"/>
                          <a:ea typeface="Montserrat"/>
                          <a:cs typeface="Montserrat"/>
                          <a:sym typeface="Montserrat"/>
                        </a:rPr>
                        <a:t>ushes strike DOWN</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343575">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2. Seller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Developer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Equity IRR &gt;= 12-15%</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P</a:t>
                      </a:r>
                      <a:r>
                        <a:rPr lang="en" sz="1300" u="none" strike="noStrike" cap="none">
                          <a:solidFill>
                            <a:srgbClr val="222B33"/>
                          </a:solidFill>
                          <a:latin typeface="Montserrat"/>
                          <a:ea typeface="Montserrat"/>
                          <a:cs typeface="Montserrat"/>
                          <a:sym typeface="Montserrat"/>
                        </a:rPr>
                        <a:t>ushes strike UP</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88175">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3. </a:t>
                      </a:r>
                      <a:r>
                        <a:rPr lang="en" sz="1300" u="none" strike="noStrike" cap="none">
                          <a:solidFill>
                            <a:srgbClr val="222B33"/>
                          </a:solidFill>
                          <a:latin typeface="Montserrat"/>
                          <a:ea typeface="Montserrat"/>
                          <a:cs typeface="Montserrat"/>
                          <a:sym typeface="Montserrat"/>
                        </a:rPr>
                        <a:t>L</a:t>
                      </a:r>
                      <a:r>
                        <a:rPr lang="en" sz="1300">
                          <a:solidFill>
                            <a:srgbClr val="222B33"/>
                          </a:solidFill>
                          <a:latin typeface="Montserrat"/>
                          <a:ea typeface="Montserrat"/>
                          <a:cs typeface="Montserrat"/>
                          <a:sym typeface="Montserrat"/>
                        </a:rPr>
                        <a:t>ender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Bank</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Minimum DSCR &gt;= ~1.20x every year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P</a:t>
                      </a:r>
                      <a:r>
                        <a:rPr lang="en" sz="1300" u="none" strike="noStrike" cap="none">
                          <a:solidFill>
                            <a:srgbClr val="222B33"/>
                          </a:solidFill>
                          <a:latin typeface="Montserrat"/>
                          <a:ea typeface="Montserrat"/>
                          <a:cs typeface="Montserrat"/>
                          <a:sym typeface="Montserrat"/>
                        </a:rPr>
                        <a:t>ushes strike UP (hardest gate)</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bl>
          </a:graphicData>
        </a:graphic>
      </p:graphicFrame>
      <p:sp>
        <p:nvSpPr>
          <p:cNvPr id="1836" name="Google Shape;1836;p179"/>
          <p:cNvSpPr txBox="1"/>
          <p:nvPr/>
        </p:nvSpPr>
        <p:spPr>
          <a:xfrm>
            <a:off x="400125" y="3211875"/>
            <a:ext cx="8358300" cy="966000"/>
          </a:xfrm>
          <a:prstGeom prst="rect">
            <a:avLst/>
          </a:prstGeom>
          <a:noFill/>
          <a:ln>
            <a:noFill/>
          </a:ln>
        </p:spPr>
        <p:txBody>
          <a:bodyPr spcFirstLastPara="1" wrap="square" lIns="91425" tIns="45700" rIns="91425" bIns="45700" anchor="t" anchorCtr="0">
            <a:spAutoFit/>
          </a:bodyPr>
          <a:lstStyle/>
          <a:p>
            <a:pPr marL="457200" marR="0" lvl="0" indent="-298450" algn="l" rtl="0">
              <a:lnSpc>
                <a:spcPct val="115000"/>
              </a:lnSpc>
              <a:spcBef>
                <a:spcPts val="0"/>
              </a:spcBef>
              <a:spcAft>
                <a:spcPts val="0"/>
              </a:spcAft>
              <a:buClr>
                <a:schemeClr val="dk1"/>
              </a:buClr>
              <a:buSzPts val="1100"/>
              <a:buFont typeface="Montserrat"/>
              <a:buChar char="●"/>
            </a:pPr>
            <a:r>
              <a:rPr lang="en" sz="1100" i="0" u="none" strike="noStrike" cap="none">
                <a:solidFill>
                  <a:schemeClr val="dk1"/>
                </a:solidFill>
                <a:latin typeface="Montserrat"/>
                <a:ea typeface="Montserrat"/>
                <a:cs typeface="Montserrat"/>
                <a:sym typeface="Montserrat"/>
              </a:rPr>
              <a:t>DSCR = </a:t>
            </a:r>
            <a:r>
              <a:rPr lang="en" sz="1100">
                <a:solidFill>
                  <a:schemeClr val="dk1"/>
                </a:solidFill>
                <a:latin typeface="Montserrat"/>
                <a:ea typeface="Montserrat"/>
                <a:cs typeface="Montserrat"/>
                <a:sym typeface="Montserrat"/>
              </a:rPr>
              <a:t>					, </a:t>
            </a:r>
            <a:r>
              <a:rPr lang="en" sz="1100" i="0" u="none" strike="noStrike" cap="none">
                <a:solidFill>
                  <a:schemeClr val="dk1"/>
                </a:solidFill>
                <a:latin typeface="Montserrat"/>
                <a:ea typeface="Montserrat"/>
                <a:cs typeface="Montserrat"/>
                <a:sym typeface="Montserrat"/>
              </a:rPr>
              <a:t>computed for every year of the loan</a:t>
            </a:r>
            <a:br>
              <a:rPr lang="en" sz="1100" i="0" u="none" strike="noStrike" cap="none">
                <a:solidFill>
                  <a:schemeClr val="dk1"/>
                </a:solidFill>
                <a:latin typeface="Montserrat"/>
                <a:ea typeface="Montserrat"/>
                <a:cs typeface="Montserrat"/>
                <a:sym typeface="Montserrat"/>
              </a:rPr>
            </a:br>
            <a:endParaRPr sz="1200">
              <a:solidFill>
                <a:schemeClr val="dk1"/>
              </a:solidFill>
              <a:latin typeface="Montserrat"/>
              <a:ea typeface="Montserrat"/>
              <a:cs typeface="Montserrat"/>
              <a:sym typeface="Montserrat"/>
            </a:endParaRPr>
          </a:p>
          <a:p>
            <a:pPr marL="457200" marR="0" lvl="0" indent="-298450" algn="l" rtl="0">
              <a:lnSpc>
                <a:spcPct val="115000"/>
              </a:lnSpc>
              <a:spcBef>
                <a:spcPts val="400"/>
              </a:spcBef>
              <a:spcAft>
                <a:spcPts val="0"/>
              </a:spcAft>
              <a:buClr>
                <a:schemeClr val="dk1"/>
              </a:buClr>
              <a:buSzPts val="1100"/>
              <a:buFont typeface="Montserrat"/>
              <a:buChar char="●"/>
            </a:pPr>
            <a:r>
              <a:rPr lang="en" sz="1100" i="0" u="none" strike="noStrike" cap="none">
                <a:solidFill>
                  <a:schemeClr val="dk1"/>
                </a:solidFill>
                <a:latin typeface="Montserrat"/>
                <a:ea typeface="Montserrat"/>
                <a:cs typeface="Montserrat"/>
                <a:sym typeface="Montserrat"/>
              </a:rPr>
              <a:t>One </a:t>
            </a:r>
            <a:r>
              <a:rPr lang="en" sz="1100">
                <a:solidFill>
                  <a:schemeClr val="dk1"/>
                </a:solidFill>
                <a:latin typeface="Montserrat"/>
                <a:ea typeface="Montserrat"/>
                <a:cs typeface="Montserrat"/>
                <a:sym typeface="Montserrat"/>
              </a:rPr>
              <a:t>CAPEX heavy year (</a:t>
            </a:r>
            <a:r>
              <a:rPr lang="en" sz="1100" i="0" u="none" strike="noStrike" cap="none">
                <a:solidFill>
                  <a:schemeClr val="dk1"/>
                </a:solidFill>
                <a:latin typeface="Montserrat"/>
                <a:ea typeface="Montserrat"/>
                <a:cs typeface="Montserrat"/>
                <a:sym typeface="Montserrat"/>
              </a:rPr>
              <a:t> e.g., a battery replacement</a:t>
            </a:r>
            <a:r>
              <a:rPr lang="en" sz="1100">
                <a:solidFill>
                  <a:schemeClr val="dk1"/>
                </a:solidFill>
                <a:latin typeface="Montserrat"/>
                <a:ea typeface="Montserrat"/>
                <a:cs typeface="Montserrat"/>
                <a:sym typeface="Montserrat"/>
              </a:rPr>
              <a:t>) </a:t>
            </a:r>
            <a:r>
              <a:rPr lang="en" sz="1100" i="0" u="none" strike="noStrike" cap="none">
                <a:solidFill>
                  <a:schemeClr val="dk1"/>
                </a:solidFill>
                <a:latin typeface="Montserrat"/>
                <a:ea typeface="Montserrat"/>
                <a:cs typeface="Montserrat"/>
                <a:sym typeface="Montserrat"/>
              </a:rPr>
              <a:t>can sink the whole financing even if averages look fine</a:t>
            </a:r>
            <a:endParaRPr sz="1200">
              <a:solidFill>
                <a:schemeClr val="dk1"/>
              </a:solidFill>
              <a:latin typeface="Montserrat"/>
              <a:ea typeface="Montserrat"/>
              <a:cs typeface="Montserrat"/>
              <a:sym typeface="Montserrat"/>
            </a:endParaRPr>
          </a:p>
          <a:p>
            <a:pPr marL="457200" marR="0" lvl="0" indent="-298450" algn="l" rtl="0">
              <a:lnSpc>
                <a:spcPct val="115000"/>
              </a:lnSpc>
              <a:spcBef>
                <a:spcPts val="400"/>
              </a:spcBef>
              <a:spcAft>
                <a:spcPts val="400"/>
              </a:spcAft>
              <a:buClr>
                <a:schemeClr val="dk1"/>
              </a:buClr>
              <a:buSzPts val="1100"/>
              <a:buFont typeface="Montserrat"/>
              <a:buChar char="●"/>
            </a:pPr>
            <a:r>
              <a:rPr lang="en" sz="1100" i="0" u="none" strike="noStrike" cap="none">
                <a:solidFill>
                  <a:schemeClr val="dk1"/>
                </a:solidFill>
                <a:latin typeface="Montserrat"/>
                <a:ea typeface="Montserrat"/>
                <a:cs typeface="Montserrat"/>
                <a:sym typeface="Montserrat"/>
              </a:rPr>
              <a:t>The negotiation window is the strike range where all three gates </a:t>
            </a:r>
            <a:r>
              <a:rPr lang="en" sz="1100">
                <a:solidFill>
                  <a:schemeClr val="dk1"/>
                </a:solidFill>
                <a:latin typeface="Montserrat"/>
                <a:ea typeface="Montserrat"/>
                <a:cs typeface="Montserrat"/>
                <a:sym typeface="Montserrat"/>
              </a:rPr>
              <a:t>“</a:t>
            </a:r>
            <a:r>
              <a:rPr lang="en" sz="1100" i="0" u="none" strike="noStrike" cap="none">
                <a:solidFill>
                  <a:schemeClr val="dk1"/>
                </a:solidFill>
                <a:latin typeface="Montserrat"/>
                <a:ea typeface="Montserrat"/>
                <a:cs typeface="Montserrat"/>
                <a:sym typeface="Montserrat"/>
              </a:rPr>
              <a:t>pass</a:t>
            </a:r>
            <a:r>
              <a:rPr lang="en" sz="1100">
                <a:solidFill>
                  <a:schemeClr val="dk1"/>
                </a:solidFill>
                <a:latin typeface="Montserrat"/>
                <a:ea typeface="Montserrat"/>
                <a:cs typeface="Montserrat"/>
                <a:sym typeface="Montserrat"/>
              </a:rPr>
              <a:t>”; but </a:t>
            </a:r>
            <a:r>
              <a:rPr lang="en" sz="1100" i="0" u="none" strike="noStrike" cap="none">
                <a:solidFill>
                  <a:schemeClr val="dk1"/>
                </a:solidFill>
                <a:latin typeface="Montserrat"/>
                <a:ea typeface="Montserrat"/>
                <a:cs typeface="Montserrat"/>
                <a:sym typeface="Montserrat"/>
              </a:rPr>
              <a:t> it can be empty (see case study)</a:t>
            </a:r>
            <a:endParaRPr sz="1200">
              <a:solidFill>
                <a:schemeClr val="dk1"/>
              </a:solidFill>
              <a:latin typeface="Montserrat"/>
              <a:ea typeface="Montserrat"/>
              <a:cs typeface="Montserrat"/>
              <a:sym typeface="Montserrat"/>
            </a:endParaRPr>
          </a:p>
        </p:txBody>
      </p:sp>
      <p:sp>
        <p:nvSpPr>
          <p:cNvPr id="1837" name="Google Shape;1837;p179"/>
          <p:cNvSpPr/>
          <p:nvPr/>
        </p:nvSpPr>
        <p:spPr>
          <a:xfrm>
            <a:off x="454275" y="4308376"/>
            <a:ext cx="7913400" cy="442200"/>
          </a:xfrm>
          <a:prstGeom prst="roundRect">
            <a:avLst>
              <a:gd name="adj" fmla="val 16667"/>
            </a:avLst>
          </a:prstGeom>
          <a:solidFill>
            <a:srgbClr val="176B62"/>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300" b="1" i="0" u="none" strike="noStrike" cap="none">
                <a:solidFill>
                  <a:srgbClr val="FFFFFF"/>
                </a:solidFill>
                <a:latin typeface="Montserrat"/>
                <a:ea typeface="Montserrat"/>
                <a:cs typeface="Montserrat"/>
                <a:sym typeface="Montserrat"/>
              </a:rPr>
              <a:t>A strike below the developer's bankability floor does not mean a cheap deal</a:t>
            </a:r>
            <a:r>
              <a:rPr lang="en" sz="1300" b="1">
                <a:solidFill>
                  <a:srgbClr val="FFFFFF"/>
                </a:solidFill>
                <a:latin typeface="Montserrat"/>
                <a:ea typeface="Montserrat"/>
                <a:cs typeface="Montserrat"/>
                <a:sym typeface="Montserrat"/>
              </a:rPr>
              <a:t>; </a:t>
            </a:r>
            <a:endParaRPr sz="1300" b="1">
              <a:solidFill>
                <a:srgbClr val="FFFFFF"/>
              </a:solidFill>
              <a:latin typeface="Montserrat"/>
              <a:ea typeface="Montserrat"/>
              <a:cs typeface="Montserrat"/>
              <a:sym typeface="Montserrat"/>
            </a:endParaRPr>
          </a:p>
          <a:p>
            <a:pPr marL="0" marR="0" lvl="0" indent="0" algn="l" rtl="0">
              <a:lnSpc>
                <a:spcPct val="100000"/>
              </a:lnSpc>
              <a:spcBef>
                <a:spcPts val="0"/>
              </a:spcBef>
              <a:spcAft>
                <a:spcPts val="0"/>
              </a:spcAft>
              <a:buNone/>
            </a:pPr>
            <a:r>
              <a:rPr lang="en" sz="1300" b="1" i="0" u="none" strike="noStrike" cap="none">
                <a:solidFill>
                  <a:schemeClr val="accent4"/>
                </a:solidFill>
                <a:latin typeface="Montserrat"/>
                <a:ea typeface="Montserrat"/>
                <a:cs typeface="Montserrat"/>
                <a:sym typeface="Montserrat"/>
              </a:rPr>
              <a:t>it means no project.</a:t>
            </a:r>
            <a:endParaRPr sz="1300">
              <a:solidFill>
                <a:schemeClr val="accent4"/>
              </a:solidFill>
              <a:latin typeface="Montserrat"/>
              <a:ea typeface="Montserrat"/>
              <a:cs typeface="Montserrat"/>
              <a:sym typeface="Montserrat"/>
            </a:endParaRPr>
          </a:p>
        </p:txBody>
      </p:sp>
      <p:sp>
        <p:nvSpPr>
          <p:cNvPr id="1838" name="Google Shape;1838;p179"/>
          <p:cNvSpPr txBox="1"/>
          <p:nvPr/>
        </p:nvSpPr>
        <p:spPr>
          <a:xfrm>
            <a:off x="400125" y="942563"/>
            <a:ext cx="55581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b="1">
                <a:solidFill>
                  <a:srgbClr val="E77A10"/>
                </a:solidFill>
                <a:latin typeface="Montserrat"/>
                <a:ea typeface="Montserrat"/>
                <a:cs typeface="Montserrat"/>
                <a:sym typeface="Montserrat"/>
              </a:rPr>
              <a:t>THREE GATES</a:t>
            </a:r>
            <a:endParaRPr b="1">
              <a:latin typeface="Montserrat"/>
              <a:ea typeface="Montserrat"/>
              <a:cs typeface="Montserrat"/>
              <a:sym typeface="Montserrat"/>
            </a:endParaRPr>
          </a:p>
        </p:txBody>
      </p:sp>
      <p:sp>
        <p:nvSpPr>
          <p:cNvPr id="1839" name="Google Shape;1839;p179"/>
          <p:cNvSpPr txBox="1"/>
          <p:nvPr/>
        </p:nvSpPr>
        <p:spPr>
          <a:xfrm>
            <a:off x="1517725" y="3344975"/>
            <a:ext cx="2146200" cy="21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Montserrat"/>
                <a:ea typeface="Montserrat"/>
                <a:cs typeface="Montserrat"/>
                <a:sym typeface="Montserrat"/>
              </a:rPr>
              <a:t>Debt Service</a:t>
            </a:r>
            <a:endParaRPr sz="1000">
              <a:solidFill>
                <a:schemeClr val="dk1"/>
              </a:solidFill>
              <a:latin typeface="Montserrat"/>
              <a:ea typeface="Montserrat"/>
              <a:cs typeface="Montserrat"/>
              <a:sym typeface="Montserrat"/>
            </a:endParaRPr>
          </a:p>
        </p:txBody>
      </p:sp>
      <p:cxnSp>
        <p:nvCxnSpPr>
          <p:cNvPr id="1840" name="Google Shape;1840;p179"/>
          <p:cNvCxnSpPr/>
          <p:nvPr/>
        </p:nvCxnSpPr>
        <p:spPr>
          <a:xfrm>
            <a:off x="1517725" y="3344975"/>
            <a:ext cx="2146200" cy="0"/>
          </a:xfrm>
          <a:prstGeom prst="straightConnector1">
            <a:avLst/>
          </a:prstGeom>
          <a:noFill/>
          <a:ln w="9525" cap="flat" cmpd="sng">
            <a:solidFill>
              <a:schemeClr val="dk1"/>
            </a:solidFill>
            <a:prstDash val="solid"/>
            <a:round/>
            <a:headEnd type="none" w="med" len="med"/>
            <a:tailEnd type="none" w="med" len="med"/>
          </a:ln>
        </p:spPr>
      </p:cxnSp>
      <p:sp>
        <p:nvSpPr>
          <p:cNvPr id="1841" name="Google Shape;1841;p179"/>
          <p:cNvSpPr txBox="1"/>
          <p:nvPr/>
        </p:nvSpPr>
        <p:spPr>
          <a:xfrm>
            <a:off x="1517725" y="3125125"/>
            <a:ext cx="2146200" cy="2118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solidFill>
                  <a:schemeClr val="dk1"/>
                </a:solidFill>
                <a:latin typeface="Montserrat"/>
                <a:ea typeface="Montserrat"/>
                <a:cs typeface="Montserrat"/>
                <a:sym typeface="Montserrat"/>
              </a:rPr>
              <a:t>Cash available for Debt service</a:t>
            </a:r>
            <a:endParaRPr sz="1000">
              <a:solidFill>
                <a:schemeClr val="dk1"/>
              </a:solidFill>
              <a:latin typeface="Montserrat"/>
              <a:ea typeface="Montserrat"/>
              <a:cs typeface="Montserrat"/>
              <a:sym typeface="Montserra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45"/>
        <p:cNvGrpSpPr/>
        <p:nvPr/>
      </p:nvGrpSpPr>
      <p:grpSpPr>
        <a:xfrm>
          <a:off x="0" y="0"/>
          <a:ext cx="0" cy="0"/>
          <a:chOff x="0" y="0"/>
          <a:chExt cx="0" cy="0"/>
        </a:xfrm>
      </p:grpSpPr>
      <p:grpSp>
        <p:nvGrpSpPr>
          <p:cNvPr id="1846" name="Google Shape;1846;p180"/>
          <p:cNvGrpSpPr/>
          <p:nvPr/>
        </p:nvGrpSpPr>
        <p:grpSpPr>
          <a:xfrm>
            <a:off x="239992" y="63853"/>
            <a:ext cx="8728050" cy="745997"/>
            <a:chOff x="236700" y="63853"/>
            <a:chExt cx="8728050" cy="745997"/>
          </a:xfrm>
        </p:grpSpPr>
        <p:sp>
          <p:nvSpPr>
            <p:cNvPr id="1847" name="Google Shape;1847;p180"/>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48" name="Google Shape;1848;p18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49" name="Google Shape;1849;p18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50" name="Google Shape;1850;p18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51" name="Google Shape;1851;p18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52" name="Google Shape;1852;p18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53" name="Google Shape;1853;p18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54" name="Google Shape;1854;p180"/>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4 - Developer Economics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Key Lifecycle Items The Tariff Must Contain</a:t>
              </a:r>
              <a:endParaRPr sz="2000">
                <a:solidFill>
                  <a:schemeClr val="lt1"/>
                </a:solidFill>
                <a:latin typeface="Montserrat ExtraBold"/>
                <a:ea typeface="Montserrat ExtraBold"/>
                <a:cs typeface="Montserrat ExtraBold"/>
                <a:sym typeface="Montserrat ExtraBold"/>
              </a:endParaRPr>
            </a:p>
          </p:txBody>
        </p:sp>
        <p:cxnSp>
          <p:nvCxnSpPr>
            <p:cNvPr id="1855" name="Google Shape;1855;p180"/>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56" name="Google Shape;1856;p180"/>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57" name="Google Shape;1857;p180"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58" name="Google Shape;1858;p180"/>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859" name="Google Shape;1859;p180"/>
          <p:cNvGraphicFramePr/>
          <p:nvPr/>
        </p:nvGraphicFramePr>
        <p:xfrm>
          <a:off x="453115" y="1110455"/>
          <a:ext cx="8385775" cy="2572000"/>
        </p:xfrm>
        <a:graphic>
          <a:graphicData uri="http://schemas.openxmlformats.org/drawingml/2006/table">
            <a:tbl>
              <a:tblPr firstRow="1" bandRow="1">
                <a:noFill/>
                <a:tableStyleId>{CE8BD2AF-5D0D-4EDC-AE96-A30A7DA1AF2F}</a:tableStyleId>
              </a:tblPr>
              <a:tblGrid>
                <a:gridCol w="1649650">
                  <a:extLst>
                    <a:ext uri="{9D8B030D-6E8A-4147-A177-3AD203B41FA5}">
                      <a16:colId xmlns:a16="http://schemas.microsoft.com/office/drawing/2014/main" val="20000"/>
                    </a:ext>
                  </a:extLst>
                </a:gridCol>
                <a:gridCol w="2749450">
                  <a:extLst>
                    <a:ext uri="{9D8B030D-6E8A-4147-A177-3AD203B41FA5}">
                      <a16:colId xmlns:a16="http://schemas.microsoft.com/office/drawing/2014/main" val="20001"/>
                    </a:ext>
                  </a:extLst>
                </a:gridCol>
                <a:gridCol w="3986675">
                  <a:extLst>
                    <a:ext uri="{9D8B030D-6E8A-4147-A177-3AD203B41FA5}">
                      <a16:colId xmlns:a16="http://schemas.microsoft.com/office/drawing/2014/main" val="20002"/>
                    </a:ext>
                  </a:extLst>
                </a:gridCol>
              </a:tblGrid>
              <a:tr h="51440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Item</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Typical assumption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a:latin typeface="Montserrat"/>
                          <a:ea typeface="Montserrat"/>
                          <a:cs typeface="Montserrat"/>
                          <a:sym typeface="Montserrat"/>
                        </a:rPr>
                        <a:t>Buyer Implication</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PV degradation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~0.5%/yr output decline</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Matched volume shrinks; lost kWh repurchased from EVN at TOU</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Battery replacement</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a:solidFill>
                            <a:schemeClr val="dk1"/>
                          </a:solidFill>
                          <a:latin typeface="Montserrat"/>
                          <a:ea typeface="Montserrat"/>
                          <a:cs typeface="Montserrat"/>
                          <a:sym typeface="Montserrat"/>
                        </a:rPr>
                        <a:t>Large capex every 8-10 years</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Can </a:t>
                      </a:r>
                      <a:r>
                        <a:rPr lang="en" sz="1250">
                          <a:solidFill>
                            <a:schemeClr val="dk1"/>
                          </a:solidFill>
                          <a:latin typeface="Montserrat"/>
                          <a:ea typeface="Montserrat"/>
                          <a:cs typeface="Montserrat"/>
                          <a:sym typeface="Montserrat"/>
                        </a:rPr>
                        <a:t>highly impact </a:t>
                      </a:r>
                      <a:r>
                        <a:rPr lang="en" sz="1250" u="none" strike="noStrike" cap="none">
                          <a:solidFill>
                            <a:schemeClr val="dk1"/>
                          </a:solidFill>
                          <a:latin typeface="Montserrat"/>
                          <a:ea typeface="Montserrat"/>
                          <a:cs typeface="Montserrat"/>
                          <a:sym typeface="Montserrat"/>
                        </a:rPr>
                        <a:t>DSCR in that </a:t>
                      </a:r>
                      <a:r>
                        <a:rPr lang="en" sz="1250">
                          <a:solidFill>
                            <a:schemeClr val="dk1"/>
                          </a:solidFill>
                          <a:latin typeface="Montserrat"/>
                          <a:ea typeface="Montserrat"/>
                          <a:cs typeface="Montserrat"/>
                          <a:sym typeface="Montserrat"/>
                        </a:rPr>
                        <a:t>replacement</a:t>
                      </a:r>
                      <a:r>
                        <a:rPr lang="en" sz="1250" u="none" strike="noStrike" cap="none">
                          <a:solidFill>
                            <a:schemeClr val="dk1"/>
                          </a:solidFill>
                          <a:latin typeface="Montserrat"/>
                          <a:ea typeface="Montserrat"/>
                          <a:cs typeface="Montserrat"/>
                          <a:sym typeface="Montserrat"/>
                        </a:rPr>
                        <a:t> year</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CIT holiday</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4 yr exempt + 9 yr half rate (RE projects)</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Improves developer economics</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514400">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FX exposure</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VND strike vs USD capex/debt</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USD-linked terms shift FX </a:t>
                      </a:r>
                      <a:r>
                        <a:rPr lang="en" sz="1250">
                          <a:solidFill>
                            <a:schemeClr val="dk1"/>
                          </a:solidFill>
                          <a:latin typeface="Montserrat"/>
                          <a:ea typeface="Montserrat"/>
                          <a:cs typeface="Montserrat"/>
                          <a:sym typeface="Montserrat"/>
                        </a:rPr>
                        <a:t>the</a:t>
                      </a:r>
                      <a:r>
                        <a:rPr lang="en" sz="1250" u="none" strike="noStrike" cap="none">
                          <a:solidFill>
                            <a:schemeClr val="dk1"/>
                          </a:solidFill>
                          <a:latin typeface="Montserrat"/>
                          <a:ea typeface="Montserrat"/>
                          <a:cs typeface="Montserrat"/>
                          <a:sym typeface="Montserrat"/>
                        </a:rPr>
                        <a:t> </a:t>
                      </a:r>
                      <a:r>
                        <a:rPr lang="en" sz="1250">
                          <a:solidFill>
                            <a:schemeClr val="dk1"/>
                          </a:solidFill>
                          <a:latin typeface="Montserrat"/>
                          <a:ea typeface="Montserrat"/>
                          <a:cs typeface="Montserrat"/>
                          <a:sym typeface="Montserrat"/>
                        </a:rPr>
                        <a:t>risks</a:t>
                      </a:r>
                      <a:r>
                        <a:rPr lang="en" sz="1250" u="none" strike="noStrike" cap="none">
                          <a:solidFill>
                            <a:schemeClr val="dk1"/>
                          </a:solidFill>
                          <a:latin typeface="Montserrat"/>
                          <a:ea typeface="Montserrat"/>
                          <a:cs typeface="Montserrat"/>
                          <a:sym typeface="Montserrat"/>
                        </a:rPr>
                        <a:t>; price it consciously</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860" name="Google Shape;1860;p180"/>
          <p:cNvSpPr txBox="1"/>
          <p:nvPr/>
        </p:nvSpPr>
        <p:spPr>
          <a:xfrm>
            <a:off x="283125" y="3983065"/>
            <a:ext cx="8385900" cy="900300"/>
          </a:xfrm>
          <a:prstGeom prst="rect">
            <a:avLst/>
          </a:prstGeom>
          <a:noFill/>
          <a:ln>
            <a:noFill/>
          </a:ln>
        </p:spPr>
        <p:txBody>
          <a:bodyPr spcFirstLastPara="1" wrap="square" lIns="91425" tIns="45700" rIns="91425" bIns="45700" anchor="t" anchorCtr="0">
            <a:spAutoFit/>
          </a:bodyPr>
          <a:lstStyle/>
          <a:p>
            <a:pPr marL="457200" lvl="0" indent="-311150" algn="l" rtl="0">
              <a:spcBef>
                <a:spcPts val="0"/>
              </a:spcBef>
              <a:spcAft>
                <a:spcPts val="0"/>
              </a:spcAft>
              <a:buSzPts val="1300"/>
              <a:buFont typeface="Montserrat"/>
              <a:buChar char="●"/>
            </a:pPr>
            <a:r>
              <a:rPr lang="en" sz="1300">
                <a:latin typeface="Montserrat"/>
                <a:ea typeface="Montserrat"/>
                <a:cs typeface="Montserrat"/>
                <a:sym typeface="Montserrat"/>
              </a:rPr>
              <a:t>The above terms are key components of the tariff and are included even when they are absent from the term sheet</a:t>
            </a:r>
            <a:endParaRPr sz="1300">
              <a:latin typeface="Montserrat"/>
              <a:ea typeface="Montserrat"/>
              <a:cs typeface="Montserrat"/>
              <a:sym typeface="Montserrat"/>
            </a:endParaRPr>
          </a:p>
          <a:p>
            <a:pPr marL="457200" marR="0" lvl="0" indent="-311150" algn="l" rtl="0">
              <a:lnSpc>
                <a:spcPct val="100000"/>
              </a:lnSpc>
              <a:spcBef>
                <a:spcPts val="400"/>
              </a:spcBef>
              <a:spcAft>
                <a:spcPts val="400"/>
              </a:spcAft>
              <a:buSzPts val="1300"/>
              <a:buFont typeface="Montserrat"/>
              <a:buChar char="●"/>
            </a:pPr>
            <a:r>
              <a:rPr lang="en" sz="1300" i="0" u="none" strike="noStrike" cap="none">
                <a:latin typeface="Montserrat"/>
                <a:ea typeface="Montserrat"/>
                <a:cs typeface="Montserrat"/>
                <a:sym typeface="Montserrat"/>
              </a:rPr>
              <a:t>These rarely appear in headline term sheets, but each one moves the bankable strike floor and therefore your price.</a:t>
            </a:r>
            <a:endParaRPr>
              <a:latin typeface="Montserrat"/>
              <a:ea typeface="Montserrat"/>
              <a:cs typeface="Montserrat"/>
              <a:sym typeface="Montserra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64"/>
        <p:cNvGrpSpPr/>
        <p:nvPr/>
      </p:nvGrpSpPr>
      <p:grpSpPr>
        <a:xfrm>
          <a:off x="0" y="0"/>
          <a:ext cx="0" cy="0"/>
          <a:chOff x="0" y="0"/>
          <a:chExt cx="0" cy="0"/>
        </a:xfrm>
      </p:grpSpPr>
      <p:cxnSp>
        <p:nvCxnSpPr>
          <p:cNvPr id="1865" name="Google Shape;1865;p181"/>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866" name="Google Shape;1866;p181"/>
          <p:cNvSpPr txBox="1"/>
          <p:nvPr/>
        </p:nvSpPr>
        <p:spPr>
          <a:xfrm>
            <a:off x="4572000" y="1440675"/>
            <a:ext cx="4572000" cy="11235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5:</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Case Studies 5 &amp; 6</a:t>
            </a:r>
            <a:endParaRPr sz="2800" b="1">
              <a:solidFill>
                <a:srgbClr val="0F172A"/>
              </a:solidFill>
              <a:highlight>
                <a:srgbClr val="FFFFFF"/>
              </a:highlight>
              <a:latin typeface="Montserrat"/>
              <a:ea typeface="Montserrat"/>
              <a:cs typeface="Montserrat"/>
              <a:sym typeface="Montserrat"/>
            </a:endParaRPr>
          </a:p>
        </p:txBody>
      </p:sp>
      <p:pic>
        <p:nvPicPr>
          <p:cNvPr id="1867" name="Google Shape;1867;p181"/>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868" name="Google Shape;1868;p181"/>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869" name="Google Shape;1869;p181"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870" name="Google Shape;1870;p181"/>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74"/>
        <p:cNvGrpSpPr/>
        <p:nvPr/>
      </p:nvGrpSpPr>
      <p:grpSpPr>
        <a:xfrm>
          <a:off x="0" y="0"/>
          <a:ext cx="0" cy="0"/>
          <a:chOff x="0" y="0"/>
          <a:chExt cx="0" cy="0"/>
        </a:xfrm>
      </p:grpSpPr>
      <p:grpSp>
        <p:nvGrpSpPr>
          <p:cNvPr id="1875" name="Google Shape;1875;p182"/>
          <p:cNvGrpSpPr/>
          <p:nvPr/>
        </p:nvGrpSpPr>
        <p:grpSpPr>
          <a:xfrm>
            <a:off x="239992" y="63853"/>
            <a:ext cx="8728050" cy="745997"/>
            <a:chOff x="236700" y="63853"/>
            <a:chExt cx="8728050" cy="745997"/>
          </a:xfrm>
        </p:grpSpPr>
        <p:sp>
          <p:nvSpPr>
            <p:cNvPr id="1876" name="Google Shape;1876;p18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77" name="Google Shape;1877;p18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78" name="Google Shape;1878;p18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79" name="Google Shape;1879;p18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80" name="Google Shape;1880;p18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881" name="Google Shape;1881;p18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882" name="Google Shape;1882;p18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883" name="Google Shape;1883;p182"/>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5 - Case Study</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Same Factory As Yesterday - Now Procuring Offsite</a:t>
              </a:r>
              <a:endParaRPr sz="2000">
                <a:solidFill>
                  <a:schemeClr val="lt1"/>
                </a:solidFill>
                <a:latin typeface="Montserrat ExtraBold"/>
                <a:ea typeface="Montserrat ExtraBold"/>
                <a:cs typeface="Montserrat ExtraBold"/>
                <a:sym typeface="Montserrat ExtraBold"/>
              </a:endParaRPr>
            </a:p>
          </p:txBody>
        </p:sp>
        <p:cxnSp>
          <p:nvCxnSpPr>
            <p:cNvPr id="1884" name="Google Shape;1884;p18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885" name="Google Shape;1885;p18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886" name="Google Shape;1886;p18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887" name="Google Shape;1887;p182"/>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888" name="Google Shape;1888;p182"/>
          <p:cNvSpPr txBox="1"/>
          <p:nvPr/>
        </p:nvSpPr>
        <p:spPr>
          <a:xfrm>
            <a:off x="457950" y="1022675"/>
            <a:ext cx="8228100" cy="13275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r>
              <a:rPr lang="en" sz="1350" i="1" u="none" strike="noStrike" cap="none">
                <a:solidFill>
                  <a:srgbClr val="222B33"/>
                </a:solidFill>
                <a:latin typeface="Montserrat"/>
                <a:ea typeface="Montserrat"/>
                <a:cs typeface="Montserrat"/>
                <a:sym typeface="Montserrat"/>
              </a:rPr>
              <a:t>Yesterday</a:t>
            </a:r>
            <a:r>
              <a:rPr lang="en" sz="1350" i="1">
                <a:solidFill>
                  <a:srgbClr val="222B33"/>
                </a:solidFill>
                <a:latin typeface="Montserrat"/>
                <a:ea typeface="Montserrat"/>
                <a:cs typeface="Montserrat"/>
                <a:sym typeface="Montserrat"/>
              </a:rPr>
              <a:t>’s </a:t>
            </a:r>
            <a:r>
              <a:rPr lang="en" sz="1350" i="1" u="none" strike="noStrike" cap="none">
                <a:solidFill>
                  <a:srgbClr val="222B33"/>
                </a:solidFill>
                <a:latin typeface="Montserrat"/>
                <a:ea typeface="Montserrat"/>
                <a:cs typeface="Montserrat"/>
                <a:sym typeface="Montserrat"/>
              </a:rPr>
              <a:t>On-Site </a:t>
            </a:r>
            <a:r>
              <a:rPr lang="en" sz="1350" i="1">
                <a:solidFill>
                  <a:srgbClr val="222B33"/>
                </a:solidFill>
                <a:latin typeface="Montserrat"/>
                <a:ea typeface="Montserrat"/>
                <a:cs typeface="Montserrat"/>
                <a:sym typeface="Montserrat"/>
              </a:rPr>
              <a:t>S</a:t>
            </a:r>
            <a:r>
              <a:rPr lang="en" sz="1350" i="1" u="none" strike="noStrike" cap="none">
                <a:solidFill>
                  <a:srgbClr val="222B33"/>
                </a:solidFill>
                <a:latin typeface="Montserrat"/>
                <a:ea typeface="Montserrat"/>
                <a:cs typeface="Montserrat"/>
                <a:sym typeface="Montserrat"/>
              </a:rPr>
              <a:t>ession: Cases 1-4 explored rooftop solar + BESS behind the meter. </a:t>
            </a:r>
            <a:endParaRPr sz="1350" i="1" u="none" strike="noStrike" cap="none">
              <a:solidFill>
                <a:srgbClr val="222B33"/>
              </a:solidFill>
              <a:latin typeface="Montserrat"/>
              <a:ea typeface="Montserrat"/>
              <a:cs typeface="Montserrat"/>
              <a:sym typeface="Montserrat"/>
            </a:endParaRPr>
          </a:p>
          <a:p>
            <a:pPr marL="0" marR="0" lvl="0" indent="0" algn="l" rtl="0">
              <a:lnSpc>
                <a:spcPct val="115000"/>
              </a:lnSpc>
              <a:spcBef>
                <a:spcPts val="400"/>
              </a:spcBef>
              <a:spcAft>
                <a:spcPts val="0"/>
              </a:spcAft>
              <a:buNone/>
            </a:pPr>
            <a:r>
              <a:rPr lang="en" sz="1350" b="1" i="0" u="none" strike="noStrike" cap="none">
                <a:solidFill>
                  <a:srgbClr val="222B33"/>
                </a:solidFill>
                <a:latin typeface="Montserrat"/>
                <a:ea typeface="Montserrat"/>
                <a:cs typeface="Montserrat"/>
                <a:sym typeface="Montserrat"/>
              </a:rPr>
              <a:t>Today:</a:t>
            </a:r>
            <a:r>
              <a:rPr lang="en" sz="1350" b="1">
                <a:solidFill>
                  <a:srgbClr val="222B33"/>
                </a:solidFill>
                <a:latin typeface="Montserrat"/>
                <a:ea typeface="Montserrat"/>
                <a:cs typeface="Montserrat"/>
                <a:sym typeface="Montserrat"/>
              </a:rPr>
              <a:t> </a:t>
            </a:r>
            <a:r>
              <a:rPr lang="en" sz="1350">
                <a:solidFill>
                  <a:srgbClr val="222B33"/>
                </a:solidFill>
                <a:latin typeface="Montserrat"/>
                <a:ea typeface="Montserrat"/>
                <a:cs typeface="Montserrat"/>
                <a:sym typeface="Montserrat"/>
              </a:rPr>
              <a:t>T</a:t>
            </a:r>
            <a:r>
              <a:rPr lang="en" sz="1350" i="0" u="none" strike="noStrike" cap="none">
                <a:solidFill>
                  <a:srgbClr val="222B33"/>
                </a:solidFill>
                <a:latin typeface="Montserrat"/>
                <a:ea typeface="Montserrat"/>
                <a:cs typeface="Montserrat"/>
                <a:sym typeface="Montserrat"/>
              </a:rPr>
              <a:t>he same southern</a:t>
            </a:r>
            <a:r>
              <a:rPr lang="en" sz="1350">
                <a:solidFill>
                  <a:srgbClr val="222B33"/>
                </a:solidFill>
                <a:latin typeface="Montserrat"/>
                <a:ea typeface="Montserrat"/>
                <a:cs typeface="Montserrat"/>
                <a:sym typeface="Montserrat"/>
              </a:rPr>
              <a:t> </a:t>
            </a:r>
            <a:r>
              <a:rPr lang="en" sz="1350" i="0" u="none" strike="noStrike" cap="none">
                <a:solidFill>
                  <a:srgbClr val="222B33"/>
                </a:solidFill>
                <a:latin typeface="Montserrat"/>
                <a:ea typeface="Montserrat"/>
                <a:cs typeface="Montserrat"/>
                <a:sym typeface="Montserrat"/>
              </a:rPr>
              <a:t>Vietnam manufacturing facility (22-110kV) signs a </a:t>
            </a:r>
            <a:r>
              <a:rPr lang="en" sz="1350" b="1" i="0" u="none" strike="noStrike" cap="none">
                <a:solidFill>
                  <a:srgbClr val="222B33"/>
                </a:solidFill>
                <a:latin typeface="Montserrat"/>
                <a:ea typeface="Montserrat"/>
                <a:cs typeface="Montserrat"/>
                <a:sym typeface="Montserrat"/>
              </a:rPr>
              <a:t>virtual DPPA</a:t>
            </a:r>
            <a:r>
              <a:rPr lang="en" sz="1350" i="0" u="none" strike="noStrike" cap="none">
                <a:solidFill>
                  <a:srgbClr val="222B33"/>
                </a:solidFill>
                <a:latin typeface="Montserrat"/>
                <a:ea typeface="Montserrat"/>
                <a:cs typeface="Montserrat"/>
                <a:sym typeface="Montserrat"/>
              </a:rPr>
              <a:t> with a dedicated solar + storage project.</a:t>
            </a:r>
            <a:endParaRPr sz="1350" i="0" u="none" strike="noStrike" cap="none">
              <a:solidFill>
                <a:srgbClr val="222B33"/>
              </a:solidFill>
              <a:latin typeface="Montserrat"/>
              <a:ea typeface="Montserrat"/>
              <a:cs typeface="Montserrat"/>
              <a:sym typeface="Montserrat"/>
            </a:endParaRPr>
          </a:p>
          <a:p>
            <a:pPr marL="457200" lvl="0" indent="-314325" algn="l" rtl="0">
              <a:spcBef>
                <a:spcPts val="400"/>
              </a:spcBef>
              <a:spcAft>
                <a:spcPts val="0"/>
              </a:spcAft>
              <a:buClr>
                <a:srgbClr val="222B33"/>
              </a:buClr>
              <a:buSzPts val="1350"/>
              <a:buFont typeface="Montserrat"/>
              <a:buChar char="●"/>
            </a:pPr>
            <a:r>
              <a:rPr lang="en" sz="1300" b="1">
                <a:solidFill>
                  <a:srgbClr val="222B33"/>
                </a:solidFill>
                <a:latin typeface="Montserrat"/>
                <a:ea typeface="Montserrat"/>
                <a:cs typeface="Montserrat"/>
                <a:sym typeface="Montserrat"/>
              </a:rPr>
              <a:t>Case 5: Solar + Large BESS</a:t>
            </a:r>
            <a:endParaRPr sz="1300" b="1">
              <a:solidFill>
                <a:srgbClr val="222B33"/>
              </a:solidFill>
              <a:latin typeface="Montserrat"/>
              <a:ea typeface="Montserrat"/>
              <a:cs typeface="Montserrat"/>
              <a:sym typeface="Montserrat"/>
            </a:endParaRPr>
          </a:p>
          <a:p>
            <a:pPr marL="457200" lvl="0" indent="-314325" algn="l" rtl="0">
              <a:spcBef>
                <a:spcPts val="0"/>
              </a:spcBef>
              <a:spcAft>
                <a:spcPts val="0"/>
              </a:spcAft>
              <a:buClr>
                <a:srgbClr val="222B33"/>
              </a:buClr>
              <a:buSzPts val="1350"/>
              <a:buFont typeface="Montserrat"/>
              <a:buChar char="●"/>
            </a:pPr>
            <a:r>
              <a:rPr lang="en" sz="1300" b="1">
                <a:solidFill>
                  <a:srgbClr val="222B33"/>
                </a:solidFill>
                <a:latin typeface="Montserrat"/>
                <a:ea typeface="Montserrat"/>
                <a:cs typeface="Montserrat"/>
                <a:sym typeface="Montserrat"/>
              </a:rPr>
              <a:t>Case 6: Solar + Minimum BESS</a:t>
            </a:r>
            <a:endParaRPr sz="1350">
              <a:solidFill>
                <a:srgbClr val="222B33"/>
              </a:solidFill>
              <a:latin typeface="Montserrat"/>
              <a:ea typeface="Montserrat"/>
              <a:cs typeface="Montserrat"/>
              <a:sym typeface="Montserrat"/>
            </a:endParaRPr>
          </a:p>
        </p:txBody>
      </p:sp>
      <p:graphicFrame>
        <p:nvGraphicFramePr>
          <p:cNvPr id="1889" name="Google Shape;1889;p182"/>
          <p:cNvGraphicFramePr/>
          <p:nvPr/>
        </p:nvGraphicFramePr>
        <p:xfrm>
          <a:off x="455701" y="2568688"/>
          <a:ext cx="8012900" cy="2163690"/>
        </p:xfrm>
        <a:graphic>
          <a:graphicData uri="http://schemas.openxmlformats.org/drawingml/2006/table">
            <a:tbl>
              <a:tblPr firstRow="1" bandRow="1">
                <a:noFill/>
                <a:tableStyleId>{CE8BD2AF-5D0D-4EDC-AE96-A30A7DA1AF2F}</a:tableStyleId>
              </a:tblPr>
              <a:tblGrid>
                <a:gridCol w="2645775">
                  <a:extLst>
                    <a:ext uri="{9D8B030D-6E8A-4147-A177-3AD203B41FA5}">
                      <a16:colId xmlns:a16="http://schemas.microsoft.com/office/drawing/2014/main" val="20000"/>
                    </a:ext>
                  </a:extLst>
                </a:gridCol>
                <a:gridCol w="5367125">
                  <a:extLst>
                    <a:ext uri="{9D8B030D-6E8A-4147-A177-3AD203B41FA5}">
                      <a16:colId xmlns:a16="http://schemas.microsoft.com/office/drawing/2014/main" val="20001"/>
                    </a:ext>
                  </a:extLst>
                </a:gridCol>
              </a:tblGrid>
              <a:tr h="312850">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Deal frame (both cases)</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300" u="none" strike="noStrike" cap="none">
                          <a:solidFill>
                            <a:srgbClr val="FFFFFF"/>
                          </a:solidFill>
                          <a:latin typeface="Montserrat"/>
                          <a:ea typeface="Montserrat"/>
                          <a:cs typeface="Montserrat"/>
                          <a:sym typeface="Montserrat"/>
                        </a:rPr>
                        <a:t>Value</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312850">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DPPA type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Virtual (grid CfD) under Decree 57/2025</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312850">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Strike price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2,000 VND/kWh, escalating 4%/yr</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12850">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Tenor / analysis period</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25 years</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312850">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Financing</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300" u="none" strike="noStrike" cap="none">
                          <a:solidFill>
                            <a:srgbClr val="222B33"/>
                          </a:solidFill>
                          <a:latin typeface="Montserrat"/>
                          <a:ea typeface="Montserrat"/>
                          <a:cs typeface="Montserrat"/>
                          <a:sym typeface="Montserrat"/>
                        </a:rPr>
                        <a:t>70% debt, 8.5% VND, 10-yr term</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312850">
                <a:tc>
                  <a:txBody>
                    <a:bodyPr/>
                    <a:lstStyle/>
                    <a:p>
                      <a:pPr marL="0" marR="0" lvl="0" indent="0" algn="l" rtl="0">
                        <a:lnSpc>
                          <a:spcPct val="100000"/>
                        </a:lnSpc>
                        <a:spcBef>
                          <a:spcPts val="0"/>
                        </a:spcBef>
                        <a:spcAft>
                          <a:spcPts val="0"/>
                        </a:spcAft>
                        <a:buNone/>
                      </a:pPr>
                      <a:r>
                        <a:rPr lang="en" sz="1300">
                          <a:solidFill>
                            <a:srgbClr val="222B33"/>
                          </a:solidFill>
                          <a:latin typeface="Montserrat"/>
                          <a:ea typeface="Montserrat"/>
                          <a:cs typeface="Montserrat"/>
                          <a:sym typeface="Montserrat"/>
                        </a:rPr>
                        <a:t>Method</a:t>
                      </a:r>
                      <a:endParaRPr sz="1300" u="none" strike="noStrike" cap="none">
                        <a:solidFill>
                          <a:srgbClr val="222B33"/>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lvl="0" indent="0" algn="l" rtl="0">
                        <a:spcBef>
                          <a:spcPts val="0"/>
                        </a:spcBef>
                        <a:spcAft>
                          <a:spcPts val="0"/>
                        </a:spcAft>
                        <a:buClr>
                          <a:schemeClr val="dk1"/>
                        </a:buClr>
                        <a:buFont typeface="Arial"/>
                        <a:buNone/>
                      </a:pPr>
                      <a:r>
                        <a:rPr lang="en" sz="1200">
                          <a:solidFill>
                            <a:schemeClr val="dk1"/>
                          </a:solidFill>
                          <a:latin typeface="Montserrat"/>
                          <a:ea typeface="Montserrat"/>
                          <a:cs typeface="Montserrat"/>
                          <a:sym typeface="Montserrat"/>
                        </a:rPr>
                        <a:t>Full 8760-hour settlement simulation (ND57 formulas, hourly FMP/CFMP series) + 25-year project cash-flow model with the three gates.</a:t>
                      </a:r>
                      <a:endParaRPr sz="1300" u="none" strike="noStrike" cap="none">
                        <a:solidFill>
                          <a:srgbClr val="222B33"/>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93"/>
        <p:cNvGrpSpPr/>
        <p:nvPr/>
      </p:nvGrpSpPr>
      <p:grpSpPr>
        <a:xfrm>
          <a:off x="0" y="0"/>
          <a:ext cx="0" cy="0"/>
          <a:chOff x="0" y="0"/>
          <a:chExt cx="0" cy="0"/>
        </a:xfrm>
      </p:grpSpPr>
      <p:grpSp>
        <p:nvGrpSpPr>
          <p:cNvPr id="1894" name="Google Shape;1894;p183"/>
          <p:cNvGrpSpPr/>
          <p:nvPr/>
        </p:nvGrpSpPr>
        <p:grpSpPr>
          <a:xfrm>
            <a:off x="239992" y="63853"/>
            <a:ext cx="8728050" cy="745997"/>
            <a:chOff x="236700" y="63853"/>
            <a:chExt cx="8728050" cy="745997"/>
          </a:xfrm>
        </p:grpSpPr>
        <p:sp>
          <p:nvSpPr>
            <p:cNvPr id="1895" name="Google Shape;1895;p183"/>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896" name="Google Shape;1896;p183"/>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897" name="Google Shape;1897;p183"/>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898" name="Google Shape;1898;p183"/>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899" name="Google Shape;1899;p183"/>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00" name="Google Shape;1900;p183"/>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01" name="Google Shape;1901;p183"/>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cxnSp>
          <p:nvCxnSpPr>
            <p:cNvPr id="1902" name="Google Shape;1902;p183"/>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03" name="Google Shape;1903;p183"/>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904" name="Google Shape;1904;p183"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905" name="Google Shape;1905;p183"/>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906" name="Google Shape;1906;p183"/>
          <p:cNvGraphicFramePr/>
          <p:nvPr/>
        </p:nvGraphicFramePr>
        <p:xfrm>
          <a:off x="463533" y="1174100"/>
          <a:ext cx="4926850" cy="2493450"/>
        </p:xfrm>
        <a:graphic>
          <a:graphicData uri="http://schemas.openxmlformats.org/drawingml/2006/table">
            <a:tbl>
              <a:tblPr firstRow="1" bandRow="1">
                <a:noFill/>
                <a:tableStyleId>{CE8BD2AF-5D0D-4EDC-AE96-A30A7DA1AF2F}</a:tableStyleId>
              </a:tblPr>
              <a:tblGrid>
                <a:gridCol w="2771350">
                  <a:extLst>
                    <a:ext uri="{9D8B030D-6E8A-4147-A177-3AD203B41FA5}">
                      <a16:colId xmlns:a16="http://schemas.microsoft.com/office/drawing/2014/main" val="20000"/>
                    </a:ext>
                  </a:extLst>
                </a:gridCol>
                <a:gridCol w="2155500">
                  <a:extLst>
                    <a:ext uri="{9D8B030D-6E8A-4147-A177-3AD203B41FA5}">
                      <a16:colId xmlns:a16="http://schemas.microsoft.com/office/drawing/2014/main" val="20001"/>
                    </a:ext>
                  </a:extLst>
                </a:gridCol>
              </a:tblGrid>
              <a:tr h="27705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Metric</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Result</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Seller equity IRR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16.9%</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Project IRR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13.5%</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Developer NPV</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$1.52M</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Minimum DSCR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1.14x  (replacement year)</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Payback</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9.1 yr</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Buyer vs BAU - Year 1</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-8.7%</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6"/>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Buyer vs BAU - 10-yr cumulative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-8.9%</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7"/>
                  </a:ext>
                </a:extLst>
              </a:tr>
              <a:tr h="277050">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Buyer vs BAU - lifetime</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-9.3%</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8"/>
                  </a:ext>
                </a:extLst>
              </a:tr>
            </a:tbl>
          </a:graphicData>
        </a:graphic>
      </p:graphicFrame>
      <p:sp>
        <p:nvSpPr>
          <p:cNvPr id="1907" name="Google Shape;1907;p183"/>
          <p:cNvSpPr txBox="1"/>
          <p:nvPr/>
        </p:nvSpPr>
        <p:spPr>
          <a:xfrm>
            <a:off x="5488338" y="1340501"/>
            <a:ext cx="3437700" cy="19395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At strike 2,000 the buyer pays ~9% MORE than BAU on every horizon</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The oversized battery adds a ~$1.2M replacement around year 11 that the tariff must recover</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40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Even so, lender comfort is thin (min DSCR 1.14x &lt; 1.20x)</a:t>
            </a:r>
            <a:endParaRPr>
              <a:solidFill>
                <a:schemeClr val="dk1"/>
              </a:solidFill>
              <a:latin typeface="Montserrat"/>
              <a:ea typeface="Montserrat"/>
              <a:cs typeface="Montserrat"/>
              <a:sym typeface="Montserrat"/>
            </a:endParaRPr>
          </a:p>
        </p:txBody>
      </p:sp>
      <p:sp>
        <p:nvSpPr>
          <p:cNvPr id="1908" name="Google Shape;1908;p183"/>
          <p:cNvSpPr/>
          <p:nvPr/>
        </p:nvSpPr>
        <p:spPr>
          <a:xfrm>
            <a:off x="463525" y="3965638"/>
            <a:ext cx="8224200" cy="650700"/>
          </a:xfrm>
          <a:prstGeom prst="roundRect">
            <a:avLst>
              <a:gd name="adj" fmla="val 16667"/>
            </a:avLst>
          </a:prstGeom>
          <a:solidFill>
            <a:srgbClr val="B33A3A"/>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400" b="1" i="0" u="none" strike="noStrike" cap="none">
                <a:solidFill>
                  <a:srgbClr val="FFFFFF"/>
                </a:solidFill>
                <a:latin typeface="Montserrat"/>
                <a:ea typeface="Montserrat"/>
                <a:cs typeface="Montserrat"/>
                <a:sym typeface="Montserrat"/>
              </a:rPr>
              <a:t>Lesson 1: </a:t>
            </a:r>
            <a:r>
              <a:rPr lang="en" b="1">
                <a:solidFill>
                  <a:srgbClr val="FFFFFF"/>
                </a:solidFill>
                <a:latin typeface="Montserrat"/>
                <a:ea typeface="Montserrat"/>
                <a:cs typeface="Montserrat"/>
                <a:sym typeface="Montserrat"/>
              </a:rPr>
              <a:t>A</a:t>
            </a:r>
            <a:r>
              <a:rPr lang="en" sz="1400" b="1" i="0" u="none" strike="noStrike" cap="none">
                <a:solidFill>
                  <a:srgbClr val="FFFFFF"/>
                </a:solidFill>
                <a:latin typeface="Montserrat"/>
                <a:ea typeface="Montserrat"/>
                <a:cs typeface="Montserrat"/>
                <a:sym typeface="Montserrat"/>
              </a:rPr>
              <a:t>n oversized battery cannot carry its own replacement cost through the tariff</a:t>
            </a:r>
            <a:r>
              <a:rPr lang="en" b="1">
                <a:solidFill>
                  <a:srgbClr val="FFFFFF"/>
                </a:solidFill>
                <a:latin typeface="Montserrat"/>
                <a:ea typeface="Montserrat"/>
                <a:cs typeface="Montserrat"/>
                <a:sym typeface="Montserrat"/>
              </a:rPr>
              <a:t>;</a:t>
            </a:r>
            <a:r>
              <a:rPr lang="en" sz="1400" b="1" i="0" u="none" strike="noStrike" cap="none">
                <a:solidFill>
                  <a:srgbClr val="FFFFFF"/>
                </a:solidFill>
                <a:latin typeface="Montserrat"/>
                <a:ea typeface="Montserrat"/>
                <a:cs typeface="Montserrat"/>
                <a:sym typeface="Montserrat"/>
              </a:rPr>
              <a:t> everyone loses.</a:t>
            </a:r>
            <a:endParaRPr>
              <a:latin typeface="Montserrat"/>
              <a:ea typeface="Montserrat"/>
              <a:cs typeface="Montserrat"/>
              <a:sym typeface="Montserrat"/>
            </a:endParaRPr>
          </a:p>
        </p:txBody>
      </p:sp>
      <p:sp>
        <p:nvSpPr>
          <p:cNvPr id="1909" name="Google Shape;1909;p183"/>
          <p:cNvSpPr txBox="1"/>
          <p:nvPr/>
        </p:nvSpPr>
        <p:spPr>
          <a:xfrm>
            <a:off x="374425" y="857152"/>
            <a:ext cx="6228900" cy="276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 sz="1200" b="1">
                <a:solidFill>
                  <a:srgbClr val="B33A3A"/>
                </a:solidFill>
                <a:latin typeface="Montserrat"/>
                <a:ea typeface="Montserrat"/>
                <a:cs typeface="Montserrat"/>
                <a:sym typeface="Montserrat"/>
              </a:rPr>
              <a:t>BATTERY EATS THE DEAL</a:t>
            </a:r>
            <a:endParaRPr sz="1200" b="1">
              <a:solidFill>
                <a:srgbClr val="B33A3A"/>
              </a:solidFill>
              <a:latin typeface="Montserrat"/>
              <a:ea typeface="Montserrat"/>
              <a:cs typeface="Montserrat"/>
              <a:sym typeface="Montserrat"/>
            </a:endParaRPr>
          </a:p>
        </p:txBody>
      </p:sp>
      <p:sp>
        <p:nvSpPr>
          <p:cNvPr id="1910" name="Google Shape;1910;p183"/>
          <p:cNvSpPr txBox="1"/>
          <p:nvPr/>
        </p:nvSpPr>
        <p:spPr>
          <a:xfrm>
            <a:off x="672542"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5 - Case Study</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Font typeface="Arial"/>
              <a:buNone/>
            </a:pPr>
            <a:r>
              <a:rPr lang="en" sz="2000" b="1">
                <a:solidFill>
                  <a:schemeClr val="lt1"/>
                </a:solidFill>
                <a:latin typeface="Montserrat"/>
                <a:ea typeface="Montserrat"/>
                <a:cs typeface="Montserrat"/>
                <a:sym typeface="Montserrat"/>
              </a:rPr>
              <a:t>Case Study 5: Solar + Large BESS</a:t>
            </a:r>
            <a:endParaRPr sz="20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14"/>
        <p:cNvGrpSpPr/>
        <p:nvPr/>
      </p:nvGrpSpPr>
      <p:grpSpPr>
        <a:xfrm>
          <a:off x="0" y="0"/>
          <a:ext cx="0" cy="0"/>
          <a:chOff x="0" y="0"/>
          <a:chExt cx="0" cy="0"/>
        </a:xfrm>
      </p:grpSpPr>
      <p:pic>
        <p:nvPicPr>
          <p:cNvPr id="1915" name="Google Shape;1915;p184" title="CEBA new logo.png"/>
          <p:cNvPicPr preferRelativeResize="0"/>
          <p:nvPr/>
        </p:nvPicPr>
        <p:blipFill>
          <a:blip r:embed="rId3">
            <a:alphaModFix/>
          </a:blip>
          <a:stretch>
            <a:fillRect/>
          </a:stretch>
        </p:blipFill>
        <p:spPr>
          <a:xfrm>
            <a:off x="8407423" y="4881212"/>
            <a:ext cx="708296" cy="211825"/>
          </a:xfrm>
          <a:prstGeom prst="rect">
            <a:avLst/>
          </a:prstGeom>
          <a:noFill/>
          <a:ln>
            <a:noFill/>
          </a:ln>
        </p:spPr>
      </p:pic>
      <p:pic>
        <p:nvPicPr>
          <p:cNvPr id="1916" name="Google Shape;1916;p184"/>
          <p:cNvPicPr preferRelativeResize="0"/>
          <p:nvPr/>
        </p:nvPicPr>
        <p:blipFill>
          <a:blip r:embed="rId4">
            <a:alphaModFix/>
          </a:blip>
          <a:stretch>
            <a:fillRect/>
          </a:stretch>
        </p:blipFill>
        <p:spPr>
          <a:xfrm>
            <a:off x="7512498" y="4830726"/>
            <a:ext cx="894924" cy="312775"/>
          </a:xfrm>
          <a:prstGeom prst="rect">
            <a:avLst/>
          </a:prstGeom>
          <a:noFill/>
          <a:ln>
            <a:noFill/>
          </a:ln>
        </p:spPr>
      </p:pic>
      <p:graphicFrame>
        <p:nvGraphicFramePr>
          <p:cNvPr id="1917" name="Google Shape;1917;p184"/>
          <p:cNvGraphicFramePr/>
          <p:nvPr/>
        </p:nvGraphicFramePr>
        <p:xfrm>
          <a:off x="444696" y="1324825"/>
          <a:ext cx="4847825" cy="2075675"/>
        </p:xfrm>
        <a:graphic>
          <a:graphicData uri="http://schemas.openxmlformats.org/drawingml/2006/table">
            <a:tbl>
              <a:tblPr firstRow="1" bandRow="1">
                <a:noFill/>
                <a:tableStyleId>{CE8BD2AF-5D0D-4EDC-AE96-A30A7DA1AF2F}</a:tableStyleId>
              </a:tblPr>
              <a:tblGrid>
                <a:gridCol w="2526625">
                  <a:extLst>
                    <a:ext uri="{9D8B030D-6E8A-4147-A177-3AD203B41FA5}">
                      <a16:colId xmlns:a16="http://schemas.microsoft.com/office/drawing/2014/main" val="20000"/>
                    </a:ext>
                  </a:extLst>
                </a:gridCol>
                <a:gridCol w="2321200">
                  <a:extLst>
                    <a:ext uri="{9D8B030D-6E8A-4147-A177-3AD203B41FA5}">
                      <a16:colId xmlns:a16="http://schemas.microsoft.com/office/drawing/2014/main" val="20001"/>
                    </a:ext>
                  </a:extLst>
                </a:gridCol>
              </a:tblGrid>
              <a:tr h="296525">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Metric</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Result</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Seller equity IRR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E9E5B"/>
                          </a:solidFill>
                          <a:latin typeface="Montserrat"/>
                          <a:ea typeface="Montserrat"/>
                          <a:cs typeface="Montserrat"/>
                          <a:sym typeface="Montserrat"/>
                        </a:rPr>
                        <a:t>26.9%</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Project IRR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18.2%</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Developer NPV</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$2.54M</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Minimum DSCR</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2E9E5B"/>
                          </a:solidFill>
                          <a:latin typeface="Montserrat"/>
                          <a:ea typeface="Montserrat"/>
                          <a:cs typeface="Montserrat"/>
                          <a:sym typeface="Montserrat"/>
                        </a:rPr>
                        <a:t>1.50x  (comfortably &gt; 1.20x)</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Payback</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4.7 yr</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r h="2965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Buyer vs BAU - all horizons</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-14.4%</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6"/>
                  </a:ext>
                </a:extLst>
              </a:tr>
            </a:tbl>
          </a:graphicData>
        </a:graphic>
      </p:graphicFrame>
      <p:sp>
        <p:nvSpPr>
          <p:cNvPr id="1918" name="Google Shape;1918;p184"/>
          <p:cNvSpPr txBox="1"/>
          <p:nvPr/>
        </p:nvSpPr>
        <p:spPr>
          <a:xfrm>
            <a:off x="5341875" y="1414299"/>
            <a:ext cx="3464100" cy="2235900"/>
          </a:xfrm>
          <a:prstGeom prst="rect">
            <a:avLst/>
          </a:prstGeom>
          <a:noFill/>
          <a:ln>
            <a:noFill/>
          </a:ln>
        </p:spPr>
        <p:txBody>
          <a:bodyPr spcFirstLastPara="1" wrap="square" lIns="91425" tIns="45700" rIns="91425" bIns="45700" anchor="t" anchorCtr="0">
            <a:spAutoFit/>
          </a:bodyPr>
          <a:lstStyle/>
          <a:p>
            <a:pPr marL="457200" marR="0" lvl="0" indent="-311150" algn="l" rtl="0">
              <a:lnSpc>
                <a:spcPct val="115000"/>
              </a:lnSpc>
              <a:spcBef>
                <a:spcPts val="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Lean sizing: seller and lender are now comfortable - returns strong, DSCR 1.50x</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0"/>
              </a:spcAft>
              <a:buClr>
                <a:schemeClr val="dk1"/>
              </a:buClr>
              <a:buSzPts val="1300"/>
              <a:buFont typeface="Montserrat"/>
              <a:buChar char="●"/>
            </a:pPr>
            <a:r>
              <a:rPr lang="en" sz="1300" i="0" u="none" strike="noStrike" cap="none">
                <a:solidFill>
                  <a:schemeClr val="dk1"/>
                </a:solidFill>
                <a:latin typeface="Montserrat"/>
                <a:ea typeface="Montserrat"/>
                <a:cs typeface="Montserrat"/>
                <a:sym typeface="Montserrat"/>
              </a:rPr>
              <a:t>But at strike 2,000 </a:t>
            </a:r>
            <a:r>
              <a:rPr lang="en" sz="1100">
                <a:solidFill>
                  <a:schemeClr val="dk1"/>
                </a:solidFill>
                <a:latin typeface="Montserrat"/>
                <a:ea typeface="Montserrat"/>
                <a:cs typeface="Montserrat"/>
                <a:sym typeface="Montserrat"/>
              </a:rPr>
              <a:t>VND/kWh</a:t>
            </a:r>
            <a:r>
              <a:rPr lang="en" sz="1300">
                <a:solidFill>
                  <a:schemeClr val="dk1"/>
                </a:solidFill>
                <a:latin typeface="Montserrat"/>
                <a:ea typeface="Montserrat"/>
                <a:cs typeface="Montserrat"/>
                <a:sym typeface="Montserrat"/>
              </a:rPr>
              <a:t> </a:t>
            </a:r>
            <a:r>
              <a:rPr lang="en" sz="1300" i="0" u="none" strike="noStrike" cap="none">
                <a:solidFill>
                  <a:schemeClr val="dk1"/>
                </a:solidFill>
                <a:latin typeface="Montserrat"/>
                <a:ea typeface="Montserrat"/>
                <a:cs typeface="Montserrat"/>
                <a:sym typeface="Montserrat"/>
              </a:rPr>
              <a:t>the buyer is ~14% worse than BAU: the seller's headroom IS the negotiation space</a:t>
            </a:r>
            <a:endParaRPr>
              <a:solidFill>
                <a:schemeClr val="dk1"/>
              </a:solidFill>
              <a:latin typeface="Montserrat"/>
              <a:ea typeface="Montserrat"/>
              <a:cs typeface="Montserrat"/>
              <a:sym typeface="Montserrat"/>
            </a:endParaRPr>
          </a:p>
          <a:p>
            <a:pPr marL="457200" marR="0" lvl="0" indent="-311150" algn="l" rtl="0">
              <a:lnSpc>
                <a:spcPct val="115000"/>
              </a:lnSpc>
              <a:spcBef>
                <a:spcPts val="400"/>
              </a:spcBef>
              <a:spcAft>
                <a:spcPts val="400"/>
              </a:spcAft>
              <a:buClr>
                <a:schemeClr val="dk1"/>
              </a:buClr>
              <a:buSzPts val="1300"/>
              <a:buFont typeface="Montserrat"/>
              <a:buChar char="●"/>
            </a:pPr>
            <a:r>
              <a:rPr lang="en" sz="1300">
                <a:solidFill>
                  <a:schemeClr val="dk1"/>
                </a:solidFill>
                <a:latin typeface="Montserrat"/>
                <a:ea typeface="Montserrat"/>
                <a:cs typeface="Montserrat"/>
                <a:sym typeface="Montserrat"/>
              </a:rPr>
              <a:t>Therefore, </a:t>
            </a:r>
            <a:r>
              <a:rPr lang="en" sz="1300" i="0" u="none" strike="noStrike" cap="none">
                <a:solidFill>
                  <a:schemeClr val="dk1"/>
                </a:solidFill>
                <a:latin typeface="Montserrat"/>
                <a:ea typeface="Montserrat"/>
                <a:cs typeface="Montserrat"/>
                <a:sym typeface="Montserrat"/>
              </a:rPr>
              <a:t>sweep the strike down and see where the gates cross</a:t>
            </a:r>
            <a:endParaRPr>
              <a:solidFill>
                <a:schemeClr val="dk1"/>
              </a:solidFill>
              <a:latin typeface="Montserrat"/>
              <a:ea typeface="Montserrat"/>
              <a:cs typeface="Montserrat"/>
              <a:sym typeface="Montserrat"/>
            </a:endParaRPr>
          </a:p>
        </p:txBody>
      </p:sp>
      <p:sp>
        <p:nvSpPr>
          <p:cNvPr id="1919" name="Google Shape;1919;p184"/>
          <p:cNvSpPr/>
          <p:nvPr/>
        </p:nvSpPr>
        <p:spPr>
          <a:xfrm>
            <a:off x="444700" y="3920100"/>
            <a:ext cx="8361300" cy="691200"/>
          </a:xfrm>
          <a:prstGeom prst="roundRect">
            <a:avLst>
              <a:gd name="adj" fmla="val 16667"/>
            </a:avLst>
          </a:prstGeom>
          <a:solidFill>
            <a:srgbClr val="01A86F"/>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400" b="1" i="0" u="none" strike="noStrike" cap="none">
                <a:solidFill>
                  <a:srgbClr val="FFFFFF"/>
                </a:solidFill>
                <a:latin typeface="Montserrat"/>
                <a:ea typeface="Montserrat"/>
                <a:cs typeface="Montserrat"/>
                <a:sym typeface="Montserrat"/>
              </a:rPr>
              <a:t>Lesson 2: </a:t>
            </a:r>
            <a:r>
              <a:rPr lang="en" b="1">
                <a:solidFill>
                  <a:srgbClr val="FFFFFF"/>
                </a:solidFill>
                <a:latin typeface="Montserrat"/>
                <a:ea typeface="Montserrat"/>
                <a:cs typeface="Montserrat"/>
                <a:sym typeface="Montserrat"/>
              </a:rPr>
              <a:t>R</a:t>
            </a:r>
            <a:r>
              <a:rPr lang="en" sz="1400" b="1" i="0" u="none" strike="noStrike" cap="none">
                <a:solidFill>
                  <a:srgbClr val="FFFFFF"/>
                </a:solidFill>
                <a:latin typeface="Montserrat"/>
                <a:ea typeface="Montserrat"/>
                <a:cs typeface="Montserrat"/>
                <a:sym typeface="Montserrat"/>
              </a:rPr>
              <a:t>ight-sized </a:t>
            </a:r>
            <a:r>
              <a:rPr lang="en" b="1">
                <a:solidFill>
                  <a:srgbClr val="FFFFFF"/>
                </a:solidFill>
                <a:latin typeface="Montserrat"/>
                <a:ea typeface="Montserrat"/>
                <a:cs typeface="Montserrat"/>
                <a:sym typeface="Montserrat"/>
              </a:rPr>
              <a:t>the BESS</a:t>
            </a:r>
            <a:r>
              <a:rPr lang="en" sz="1400" b="1" i="0" u="none" strike="noStrike" cap="none">
                <a:solidFill>
                  <a:srgbClr val="FFFFFF"/>
                </a:solidFill>
                <a:latin typeface="Montserrat"/>
                <a:ea typeface="Montserrat"/>
                <a:cs typeface="Montserrat"/>
                <a:sym typeface="Montserrat"/>
              </a:rPr>
              <a:t> makes the project financeable</a:t>
            </a:r>
            <a:r>
              <a:rPr lang="en" b="1">
                <a:solidFill>
                  <a:srgbClr val="FFFFFF"/>
                </a:solidFill>
                <a:latin typeface="Montserrat"/>
                <a:ea typeface="Montserrat"/>
                <a:cs typeface="Montserrat"/>
                <a:sym typeface="Montserrat"/>
              </a:rPr>
              <a:t>.</a:t>
            </a:r>
            <a:r>
              <a:rPr lang="en" sz="1400" b="1" i="0" u="none" strike="noStrike" cap="none">
                <a:solidFill>
                  <a:srgbClr val="FFFFFF"/>
                </a:solidFill>
                <a:latin typeface="Montserrat"/>
                <a:ea typeface="Montserrat"/>
                <a:cs typeface="Montserrat"/>
                <a:sym typeface="Montserrat"/>
              </a:rPr>
              <a:t> </a:t>
            </a:r>
            <a:r>
              <a:rPr lang="en" b="1">
                <a:solidFill>
                  <a:srgbClr val="FFFFFF"/>
                </a:solidFill>
                <a:latin typeface="Montserrat"/>
                <a:ea typeface="Montserrat"/>
                <a:cs typeface="Montserrat"/>
                <a:sym typeface="Montserrat"/>
              </a:rPr>
              <a:t>T</a:t>
            </a:r>
            <a:r>
              <a:rPr lang="en" sz="1400" b="1" i="0" u="none" strike="noStrike" cap="none">
                <a:solidFill>
                  <a:srgbClr val="FFFFFF"/>
                </a:solidFill>
                <a:latin typeface="Montserrat"/>
                <a:ea typeface="Montserrat"/>
                <a:cs typeface="Montserrat"/>
                <a:sym typeface="Montserrat"/>
              </a:rPr>
              <a:t>hen, the entire negotiation is the strike price.</a:t>
            </a:r>
            <a:endParaRPr>
              <a:latin typeface="Montserrat"/>
              <a:ea typeface="Montserrat"/>
              <a:cs typeface="Montserrat"/>
              <a:sym typeface="Montserrat"/>
            </a:endParaRPr>
          </a:p>
        </p:txBody>
      </p:sp>
      <p:sp>
        <p:nvSpPr>
          <p:cNvPr id="1920" name="Google Shape;1920;p184"/>
          <p:cNvSpPr txBox="1"/>
          <p:nvPr/>
        </p:nvSpPr>
        <p:spPr>
          <a:xfrm>
            <a:off x="414251" y="928899"/>
            <a:ext cx="7178100" cy="2769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 sz="1200" b="1">
                <a:solidFill>
                  <a:srgbClr val="01A86F"/>
                </a:solidFill>
                <a:latin typeface="Montserrat"/>
                <a:ea typeface="Montserrat"/>
                <a:cs typeface="Montserrat"/>
                <a:sym typeface="Montserrat"/>
              </a:rPr>
              <a:t>CHALLENGING, YET BANKABLE</a:t>
            </a:r>
            <a:endParaRPr sz="1200" b="1">
              <a:solidFill>
                <a:srgbClr val="01A86F"/>
              </a:solidFill>
              <a:latin typeface="Montserrat"/>
              <a:ea typeface="Montserrat"/>
              <a:cs typeface="Montserrat"/>
              <a:sym typeface="Montserrat"/>
            </a:endParaRPr>
          </a:p>
        </p:txBody>
      </p:sp>
      <p:grpSp>
        <p:nvGrpSpPr>
          <p:cNvPr id="1921" name="Google Shape;1921;p184"/>
          <p:cNvGrpSpPr/>
          <p:nvPr/>
        </p:nvGrpSpPr>
        <p:grpSpPr>
          <a:xfrm>
            <a:off x="239992" y="63853"/>
            <a:ext cx="8728050" cy="745997"/>
            <a:chOff x="236700" y="63853"/>
            <a:chExt cx="8728050" cy="745997"/>
          </a:xfrm>
        </p:grpSpPr>
        <p:sp>
          <p:nvSpPr>
            <p:cNvPr id="1922" name="Google Shape;1922;p18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23" name="Google Shape;1923;p18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924" name="Google Shape;1924;p18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925" name="Google Shape;1925;p18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926" name="Google Shape;1926;p18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27" name="Google Shape;1927;p18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28" name="Google Shape;1928;p18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cxnSp>
          <p:nvCxnSpPr>
            <p:cNvPr id="1929" name="Google Shape;1929;p18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30" name="Google Shape;1930;p18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1931" name="Google Shape;1931;p184"/>
          <p:cNvSpPr txBox="1"/>
          <p:nvPr/>
        </p:nvSpPr>
        <p:spPr>
          <a:xfrm>
            <a:off x="672542"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5 - Case Study</a:t>
            </a:r>
            <a:br>
              <a:rPr lang="en" sz="2000">
                <a:solidFill>
                  <a:schemeClr val="lt1"/>
                </a:solidFill>
                <a:latin typeface="Montserrat ExtraBold"/>
                <a:ea typeface="Montserrat ExtraBold"/>
                <a:cs typeface="Montserrat ExtraBold"/>
                <a:sym typeface="Montserrat ExtraBold"/>
              </a:rPr>
            </a:br>
            <a:r>
              <a:rPr lang="en" sz="2000" b="1">
                <a:solidFill>
                  <a:schemeClr val="lt1"/>
                </a:solidFill>
                <a:latin typeface="Montserrat"/>
                <a:ea typeface="Montserrat"/>
                <a:cs typeface="Montserrat"/>
                <a:sym typeface="Montserrat"/>
              </a:rPr>
              <a:t>Case Study 6: Solar + Minimum BESS</a:t>
            </a:r>
            <a:endParaRPr sz="2000">
              <a:solidFill>
                <a:schemeClr val="lt1"/>
              </a:solidFill>
              <a:latin typeface="Montserrat ExtraBold"/>
              <a:ea typeface="Montserrat ExtraBold"/>
              <a:cs typeface="Montserrat ExtraBold"/>
              <a:sym typeface="Montserrat ExtraBo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35"/>
        <p:cNvGrpSpPr/>
        <p:nvPr/>
      </p:nvGrpSpPr>
      <p:grpSpPr>
        <a:xfrm>
          <a:off x="0" y="0"/>
          <a:ext cx="0" cy="0"/>
          <a:chOff x="0" y="0"/>
          <a:chExt cx="0" cy="0"/>
        </a:xfrm>
      </p:grpSpPr>
      <p:grpSp>
        <p:nvGrpSpPr>
          <p:cNvPr id="1936" name="Google Shape;1936;p185"/>
          <p:cNvGrpSpPr/>
          <p:nvPr/>
        </p:nvGrpSpPr>
        <p:grpSpPr>
          <a:xfrm>
            <a:off x="239992" y="63853"/>
            <a:ext cx="8728050" cy="745997"/>
            <a:chOff x="236700" y="63853"/>
            <a:chExt cx="8728050" cy="745997"/>
          </a:xfrm>
        </p:grpSpPr>
        <p:sp>
          <p:nvSpPr>
            <p:cNvPr id="1937" name="Google Shape;1937;p185"/>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38" name="Google Shape;1938;p185"/>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939" name="Google Shape;1939;p185"/>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940" name="Google Shape;1940;p185"/>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941" name="Google Shape;1941;p185"/>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42" name="Google Shape;1942;p185"/>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43" name="Google Shape;1943;p185"/>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944" name="Google Shape;1944;p185"/>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5 - Case Study</a:t>
              </a:r>
              <a:br>
                <a:rPr lang="en" sz="2100">
                  <a:solidFill>
                    <a:schemeClr val="lt1"/>
                  </a:solidFill>
                  <a:latin typeface="Montserrat ExtraBold"/>
                  <a:ea typeface="Montserrat ExtraBold"/>
                  <a:cs typeface="Montserrat ExtraBold"/>
                  <a:sym typeface="Montserrat ExtraBold"/>
                </a:rPr>
              </a:br>
              <a:r>
                <a:rPr lang="en" sz="2000" b="1">
                  <a:solidFill>
                    <a:schemeClr val="lt1"/>
                  </a:solidFill>
                  <a:latin typeface="Montserrat"/>
                  <a:ea typeface="Montserrat"/>
                  <a:cs typeface="Montserrat"/>
                  <a:sym typeface="Montserrat"/>
                </a:rPr>
                <a:t>Sweeping The Strike On Case Study 6: Empty Window</a:t>
              </a:r>
              <a:endParaRPr sz="2000">
                <a:solidFill>
                  <a:schemeClr val="lt1"/>
                </a:solidFill>
                <a:latin typeface="Montserrat ExtraBold"/>
                <a:ea typeface="Montserrat ExtraBold"/>
                <a:cs typeface="Montserrat ExtraBold"/>
                <a:sym typeface="Montserrat ExtraBold"/>
              </a:endParaRPr>
            </a:p>
          </p:txBody>
        </p:sp>
        <p:cxnSp>
          <p:nvCxnSpPr>
            <p:cNvPr id="1945" name="Google Shape;1945;p185"/>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46" name="Google Shape;1946;p185"/>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947" name="Google Shape;1947;p185"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948" name="Google Shape;1948;p185"/>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949" name="Google Shape;1949;p185"/>
          <p:cNvSpPr txBox="1"/>
          <p:nvPr/>
        </p:nvSpPr>
        <p:spPr>
          <a:xfrm>
            <a:off x="374425" y="952825"/>
            <a:ext cx="8538900" cy="744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300" i="0" u="none" strike="noStrike" cap="none">
                <a:solidFill>
                  <a:srgbClr val="222B33"/>
                </a:solidFill>
                <a:latin typeface="Montserrat"/>
                <a:ea typeface="Montserrat"/>
                <a:cs typeface="Montserrat"/>
                <a:sym typeface="Montserrat"/>
              </a:rPr>
              <a:t>56 scenarios anal</a:t>
            </a:r>
            <a:r>
              <a:rPr lang="en" sz="1300">
                <a:solidFill>
                  <a:srgbClr val="222B33"/>
                </a:solidFill>
                <a:latin typeface="Montserrat"/>
                <a:ea typeface="Montserrat"/>
                <a:cs typeface="Montserrat"/>
                <a:sym typeface="Montserrat"/>
              </a:rPr>
              <a:t>yzed</a:t>
            </a:r>
            <a:r>
              <a:rPr lang="en" sz="1300" i="0" u="none" strike="noStrike" cap="none">
                <a:solidFill>
                  <a:srgbClr val="222B33"/>
                </a:solidFill>
                <a:latin typeface="Montserrat"/>
                <a:ea typeface="Montserrat"/>
                <a:cs typeface="Montserrat"/>
                <a:sym typeface="Montserrat"/>
              </a:rPr>
              <a:t>: </a:t>
            </a:r>
            <a:r>
              <a:rPr lang="en" sz="1300">
                <a:solidFill>
                  <a:srgbClr val="222B33"/>
                </a:solidFill>
                <a:latin typeface="Montserrat"/>
                <a:ea typeface="Montserrat"/>
                <a:cs typeface="Montserrat"/>
                <a:sym typeface="Montserrat"/>
              </a:rPr>
              <a:t>12 strike prices ranging from </a:t>
            </a:r>
            <a:r>
              <a:rPr lang="en" sz="1300" i="0" u="none" strike="noStrike" cap="none">
                <a:solidFill>
                  <a:srgbClr val="222B33"/>
                </a:solidFill>
                <a:latin typeface="Montserrat"/>
                <a:ea typeface="Montserrat"/>
                <a:cs typeface="Montserrat"/>
                <a:sym typeface="Montserrat"/>
              </a:rPr>
              <a:t> 1,200-2,200 VND/kWh </a:t>
            </a:r>
            <a:r>
              <a:rPr lang="en" sz="1300">
                <a:solidFill>
                  <a:srgbClr val="222B33"/>
                </a:solidFill>
                <a:latin typeface="Montserrat"/>
                <a:ea typeface="Montserrat"/>
                <a:cs typeface="Montserrat"/>
                <a:sym typeface="Montserrat"/>
              </a:rPr>
              <a:t>and 4 </a:t>
            </a:r>
            <a:r>
              <a:rPr lang="en" sz="1300" i="0" u="none" strike="noStrike" cap="none">
                <a:solidFill>
                  <a:srgbClr val="222B33"/>
                </a:solidFill>
                <a:latin typeface="Montserrat"/>
                <a:ea typeface="Montserrat"/>
                <a:cs typeface="Montserrat"/>
                <a:sym typeface="Montserrat"/>
              </a:rPr>
              <a:t>contract volume</a:t>
            </a:r>
            <a:r>
              <a:rPr lang="en" sz="1300">
                <a:solidFill>
                  <a:srgbClr val="222B33"/>
                </a:solidFill>
                <a:latin typeface="Montserrat"/>
                <a:ea typeface="Montserrat"/>
                <a:cs typeface="Montserrat"/>
                <a:sym typeface="Montserrat"/>
              </a:rPr>
              <a:t>s ranging from </a:t>
            </a:r>
            <a:r>
              <a:rPr lang="en" sz="1300" i="0" u="none" strike="noStrike" cap="none">
                <a:solidFill>
                  <a:srgbClr val="222B33"/>
                </a:solidFill>
                <a:latin typeface="Montserrat"/>
                <a:ea typeface="Montserrat"/>
                <a:cs typeface="Montserrat"/>
                <a:sym typeface="Montserrat"/>
              </a:rPr>
              <a:t>70-100%. </a:t>
            </a:r>
            <a:endParaRPr sz="1300">
              <a:solidFill>
                <a:srgbClr val="222B33"/>
              </a:solidFill>
              <a:latin typeface="Montserrat"/>
              <a:ea typeface="Montserrat"/>
              <a:cs typeface="Montserrat"/>
              <a:sym typeface="Montserrat"/>
            </a:endParaRPr>
          </a:p>
          <a:p>
            <a:pPr marL="0" marR="0" lvl="0" indent="0" algn="l" rtl="0">
              <a:lnSpc>
                <a:spcPct val="100000"/>
              </a:lnSpc>
              <a:spcBef>
                <a:spcPts val="400"/>
              </a:spcBef>
              <a:spcAft>
                <a:spcPts val="400"/>
              </a:spcAft>
              <a:buNone/>
            </a:pPr>
            <a:r>
              <a:rPr lang="en" sz="1300" b="1" i="0" u="none" strike="noStrike" cap="none">
                <a:solidFill>
                  <a:srgbClr val="E77A10"/>
                </a:solidFill>
                <a:latin typeface="Montserrat"/>
                <a:ea typeface="Montserrat"/>
                <a:cs typeface="Montserrat"/>
                <a:sym typeface="Montserrat"/>
              </a:rPr>
              <a:t>Gate results:</a:t>
            </a:r>
            <a:endParaRPr b="1">
              <a:solidFill>
                <a:srgbClr val="E77A10"/>
              </a:solidFill>
              <a:latin typeface="Montserrat"/>
              <a:ea typeface="Montserrat"/>
              <a:cs typeface="Montserrat"/>
              <a:sym typeface="Montserrat"/>
            </a:endParaRPr>
          </a:p>
        </p:txBody>
      </p:sp>
      <p:graphicFrame>
        <p:nvGraphicFramePr>
          <p:cNvPr id="1950" name="Google Shape;1950;p185"/>
          <p:cNvGraphicFramePr/>
          <p:nvPr/>
        </p:nvGraphicFramePr>
        <p:xfrm>
          <a:off x="454270" y="1665232"/>
          <a:ext cx="8459025" cy="1765840"/>
        </p:xfrm>
        <a:graphic>
          <a:graphicData uri="http://schemas.openxmlformats.org/drawingml/2006/table">
            <a:tbl>
              <a:tblPr firstRow="1" bandRow="1">
                <a:noFill/>
                <a:tableStyleId>{CE8BD2AF-5D0D-4EDC-AE96-A30A7DA1AF2F}</a:tableStyleId>
              </a:tblPr>
              <a:tblGrid>
                <a:gridCol w="1812625">
                  <a:extLst>
                    <a:ext uri="{9D8B030D-6E8A-4147-A177-3AD203B41FA5}">
                      <a16:colId xmlns:a16="http://schemas.microsoft.com/office/drawing/2014/main" val="20000"/>
                    </a:ext>
                  </a:extLst>
                </a:gridCol>
                <a:gridCol w="1888175">
                  <a:extLst>
                    <a:ext uri="{9D8B030D-6E8A-4147-A177-3AD203B41FA5}">
                      <a16:colId xmlns:a16="http://schemas.microsoft.com/office/drawing/2014/main" val="20001"/>
                    </a:ext>
                  </a:extLst>
                </a:gridCol>
                <a:gridCol w="1510550">
                  <a:extLst>
                    <a:ext uri="{9D8B030D-6E8A-4147-A177-3AD203B41FA5}">
                      <a16:colId xmlns:a16="http://schemas.microsoft.com/office/drawing/2014/main" val="20002"/>
                    </a:ext>
                  </a:extLst>
                </a:gridCol>
                <a:gridCol w="2190300">
                  <a:extLst>
                    <a:ext uri="{9D8B030D-6E8A-4147-A177-3AD203B41FA5}">
                      <a16:colId xmlns:a16="http://schemas.microsoft.com/office/drawing/2014/main" val="20003"/>
                    </a:ext>
                  </a:extLst>
                </a:gridCol>
                <a:gridCol w="1057375">
                  <a:extLst>
                    <a:ext uri="{9D8B030D-6E8A-4147-A177-3AD203B41FA5}">
                      <a16:colId xmlns:a16="http://schemas.microsoft.com/office/drawing/2014/main" val="20004"/>
                    </a:ext>
                  </a:extLst>
                </a:gridCol>
              </a:tblGrid>
              <a:tr h="339225">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Strike level </a:t>
                      </a:r>
                      <a:r>
                        <a:rPr lang="en" sz="1100" u="none" strike="noStrike" cap="none">
                          <a:solidFill>
                            <a:srgbClr val="FFFFFF"/>
                          </a:solidFill>
                          <a:latin typeface="Montserrat"/>
                          <a:ea typeface="Montserrat"/>
                          <a:cs typeface="Montserrat"/>
                          <a:sym typeface="Montserrat"/>
                        </a:rPr>
                        <a:t>(VND/kWh)</a:t>
                      </a:r>
                      <a:endParaRPr sz="1100">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Buyer gate</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Seller gate</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Lender gate (&gt;=1.20x)</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ctr"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Balanced?</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3392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~2,000 (offer)</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FAIL  -14%</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  1.50x</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No</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3392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~1,400</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FAIL  -1.4%</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  19%</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  1.19-1.5x</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No</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3392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~1,300 x 70% vol</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E9E5B"/>
                          </a:solidFill>
                          <a:latin typeface="Montserrat"/>
                          <a:ea typeface="Montserrat"/>
                          <a:cs typeface="Montserrat"/>
                          <a:sym typeface="Montserrat"/>
                        </a:rPr>
                        <a:t>PASS  +0.5% lifetime</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  17.9%</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FAIL  1.14x</a:t>
                      </a:r>
                      <a:endParaRPr>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No</a:t>
                      </a:r>
                      <a:endParaRPr>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339225">
                <a:tc>
                  <a:txBody>
                    <a:bodyPr/>
                    <a:lstStyle/>
                    <a:p>
                      <a:pPr marL="0" marR="0" lvl="0" indent="0" algn="l"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~1,200</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E9E5B"/>
                          </a:solidFill>
                          <a:latin typeface="Montserrat"/>
                          <a:ea typeface="Montserrat"/>
                          <a:cs typeface="Montserrat"/>
                          <a:sym typeface="Montserrat"/>
                        </a:rPr>
                        <a:t>PASS  +2.9%</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PASS</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B33A3A"/>
                          </a:solidFill>
                          <a:latin typeface="Montserrat"/>
                          <a:ea typeface="Montserrat"/>
                          <a:cs typeface="Montserrat"/>
                          <a:sym typeface="Montserrat"/>
                        </a:rPr>
                        <a:t>FAIL  &lt;1.20x</a:t>
                      </a:r>
                      <a:endParaRPr>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ctr" rtl="0">
                        <a:lnSpc>
                          <a:spcPct val="100000"/>
                        </a:lnSpc>
                        <a:spcBef>
                          <a:spcPts val="0"/>
                        </a:spcBef>
                        <a:spcAft>
                          <a:spcPts val="0"/>
                        </a:spcAft>
                        <a:buNone/>
                      </a:pPr>
                      <a:r>
                        <a:rPr lang="en" sz="1250" u="none" strike="noStrike" cap="none">
                          <a:solidFill>
                            <a:srgbClr val="222B33"/>
                          </a:solidFill>
                          <a:latin typeface="Montserrat"/>
                          <a:ea typeface="Montserrat"/>
                          <a:cs typeface="Montserrat"/>
                          <a:sym typeface="Montserrat"/>
                        </a:rPr>
                        <a:t>No</a:t>
                      </a:r>
                      <a:endParaRPr>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bl>
          </a:graphicData>
        </a:graphic>
      </p:graphicFrame>
      <p:sp>
        <p:nvSpPr>
          <p:cNvPr id="1951" name="Google Shape;1951;p185"/>
          <p:cNvSpPr txBox="1"/>
          <p:nvPr/>
        </p:nvSpPr>
        <p:spPr>
          <a:xfrm>
            <a:off x="374425" y="3513200"/>
            <a:ext cx="8356500" cy="507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350" b="1" i="0" u="none" strike="noStrike" cap="none">
                <a:solidFill>
                  <a:srgbClr val="0F293D"/>
                </a:solidFill>
                <a:latin typeface="Montserrat"/>
                <a:ea typeface="Montserrat"/>
                <a:cs typeface="Montserrat"/>
                <a:sym typeface="Montserrat"/>
              </a:rPr>
              <a:t>The buyer turns positive just as the lender drops out: </a:t>
            </a:r>
            <a:r>
              <a:rPr lang="en" sz="1350" b="1" u="sng">
                <a:solidFill>
                  <a:srgbClr val="0F293D"/>
                </a:solidFill>
                <a:latin typeface="Montserrat"/>
                <a:ea typeface="Montserrat"/>
                <a:cs typeface="Montserrat"/>
                <a:sym typeface="Montserrat"/>
              </a:rPr>
              <a:t>0</a:t>
            </a:r>
            <a:r>
              <a:rPr lang="en" sz="1350" b="1" i="0" u="none" strike="noStrike" cap="none">
                <a:solidFill>
                  <a:srgbClr val="0F293D"/>
                </a:solidFill>
                <a:latin typeface="Montserrat"/>
                <a:ea typeface="Montserrat"/>
                <a:cs typeface="Montserrat"/>
                <a:sym typeface="Montserrat"/>
              </a:rPr>
              <a:t> of 56 scenarios pass all three gates at current market prices and fee levels.</a:t>
            </a:r>
            <a:endParaRPr>
              <a:latin typeface="Montserrat"/>
              <a:ea typeface="Montserrat"/>
              <a:cs typeface="Montserrat"/>
              <a:sym typeface="Montserrat"/>
            </a:endParaRPr>
          </a:p>
        </p:txBody>
      </p:sp>
      <p:sp>
        <p:nvSpPr>
          <p:cNvPr id="1952" name="Google Shape;1952;p185"/>
          <p:cNvSpPr/>
          <p:nvPr/>
        </p:nvSpPr>
        <p:spPr>
          <a:xfrm>
            <a:off x="454275" y="4120225"/>
            <a:ext cx="8418000" cy="657000"/>
          </a:xfrm>
          <a:prstGeom prst="roundRect">
            <a:avLst>
              <a:gd name="adj" fmla="val 16667"/>
            </a:avLst>
          </a:prstGeom>
          <a:solidFill>
            <a:srgbClr val="E77A10"/>
          </a:solidFill>
          <a:ln>
            <a:noFill/>
          </a:ln>
          <a:effectLst>
            <a:outerShdw blurRad="40000" dist="23000" dir="5400000" rotWithShape="0">
              <a:srgbClr val="000000">
                <a:alpha val="34900"/>
              </a:srgbClr>
            </a:outerShdw>
          </a:effectLst>
        </p:spPr>
        <p:txBody>
          <a:bodyPr spcFirstLastPara="1" wrap="square" lIns="182875" tIns="45700" rIns="182875" bIns="45700" anchor="ctr" anchorCtr="0">
            <a:noAutofit/>
          </a:bodyPr>
          <a:lstStyle/>
          <a:p>
            <a:pPr marL="0" marR="0" lvl="0" indent="0" algn="l" rtl="0">
              <a:lnSpc>
                <a:spcPct val="100000"/>
              </a:lnSpc>
              <a:spcBef>
                <a:spcPts val="0"/>
              </a:spcBef>
              <a:spcAft>
                <a:spcPts val="0"/>
              </a:spcAft>
              <a:buNone/>
            </a:pPr>
            <a:r>
              <a:rPr lang="en" sz="1350" b="1" i="0" u="none" strike="noStrike" cap="none">
                <a:solidFill>
                  <a:srgbClr val="FFFFFF"/>
                </a:solidFill>
                <a:latin typeface="Montserrat"/>
                <a:ea typeface="Montserrat"/>
                <a:cs typeface="Montserrat"/>
                <a:sym typeface="Montserrat"/>
              </a:rPr>
              <a:t>Pricing alone cannot balance this deal</a:t>
            </a:r>
            <a:r>
              <a:rPr lang="en" sz="1350" b="1">
                <a:solidFill>
                  <a:srgbClr val="FFFFFF"/>
                </a:solidFill>
                <a:latin typeface="Montserrat"/>
                <a:ea typeface="Montserrat"/>
                <a:cs typeface="Montserrat"/>
                <a:sym typeface="Montserrat"/>
              </a:rPr>
              <a:t>, BUT there</a:t>
            </a:r>
            <a:r>
              <a:rPr lang="en" sz="1350" b="1" i="0" u="none" strike="noStrike" cap="none">
                <a:solidFill>
                  <a:srgbClr val="FFFFFF"/>
                </a:solidFill>
                <a:latin typeface="Montserrat"/>
                <a:ea typeface="Montserrat"/>
                <a:cs typeface="Montserrat"/>
                <a:sym typeface="Montserrat"/>
              </a:rPr>
              <a:t> a</a:t>
            </a:r>
            <a:r>
              <a:rPr lang="en" sz="1350" b="1">
                <a:solidFill>
                  <a:srgbClr val="FFFFFF"/>
                </a:solidFill>
                <a:latin typeface="Montserrat"/>
                <a:ea typeface="Montserrat"/>
                <a:cs typeface="Montserrat"/>
                <a:sym typeface="Montserrat"/>
              </a:rPr>
              <a:t>re “</a:t>
            </a:r>
            <a:r>
              <a:rPr lang="en" sz="1350" b="1" i="0" u="none" strike="noStrike" cap="none">
                <a:solidFill>
                  <a:srgbClr val="FFFFFF"/>
                </a:solidFill>
                <a:latin typeface="Montserrat"/>
                <a:ea typeface="Montserrat"/>
                <a:cs typeface="Montserrat"/>
                <a:sym typeface="Montserrat"/>
              </a:rPr>
              <a:t>levers” that can: lower leverage, debt sculpting, USD-denominated debt (~5%), fee relief, longer tenor.</a:t>
            </a:r>
            <a:endParaRPr>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56"/>
        <p:cNvGrpSpPr/>
        <p:nvPr/>
      </p:nvGrpSpPr>
      <p:grpSpPr>
        <a:xfrm>
          <a:off x="0" y="0"/>
          <a:ext cx="0" cy="0"/>
          <a:chOff x="0" y="0"/>
          <a:chExt cx="0" cy="0"/>
        </a:xfrm>
      </p:grpSpPr>
      <p:grpSp>
        <p:nvGrpSpPr>
          <p:cNvPr id="1957" name="Google Shape;1957;p186"/>
          <p:cNvGrpSpPr/>
          <p:nvPr/>
        </p:nvGrpSpPr>
        <p:grpSpPr>
          <a:xfrm>
            <a:off x="239992" y="63853"/>
            <a:ext cx="8728050" cy="745997"/>
            <a:chOff x="236700" y="63853"/>
            <a:chExt cx="8728050" cy="745997"/>
          </a:xfrm>
        </p:grpSpPr>
        <p:sp>
          <p:nvSpPr>
            <p:cNvPr id="1958" name="Google Shape;1958;p18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59" name="Google Shape;1959;p18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960" name="Google Shape;1960;p18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961" name="Google Shape;1961;p18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962" name="Google Shape;1962;p18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63" name="Google Shape;1963;p18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64" name="Google Shape;1964;p18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965" name="Google Shape;1965;p186"/>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5 - Case Study</a:t>
              </a:r>
              <a:br>
                <a:rPr lang="en" sz="2100">
                  <a:solidFill>
                    <a:schemeClr val="lt1"/>
                  </a:solidFill>
                  <a:latin typeface="Montserrat ExtraBold"/>
                  <a:ea typeface="Montserrat ExtraBold"/>
                  <a:cs typeface="Montserrat ExtraBold"/>
                  <a:sym typeface="Montserrat ExtraBold"/>
                </a:rPr>
              </a:br>
              <a:r>
                <a:rPr lang="en" sz="2000" b="1">
                  <a:solidFill>
                    <a:schemeClr val="lt1"/>
                  </a:solidFill>
                  <a:latin typeface="Montserrat"/>
                  <a:ea typeface="Montserrat"/>
                  <a:cs typeface="Montserrat"/>
                  <a:sym typeface="Montserrat"/>
                </a:rPr>
                <a:t>What This Means And Expectations</a:t>
              </a:r>
              <a:endParaRPr sz="2000">
                <a:solidFill>
                  <a:schemeClr val="lt1"/>
                </a:solidFill>
                <a:latin typeface="Montserrat ExtraBold"/>
                <a:ea typeface="Montserrat ExtraBold"/>
                <a:cs typeface="Montserrat ExtraBold"/>
                <a:sym typeface="Montserrat ExtraBold"/>
              </a:endParaRPr>
            </a:p>
          </p:txBody>
        </p:sp>
        <p:cxnSp>
          <p:nvCxnSpPr>
            <p:cNvPr id="1966" name="Google Shape;1966;p18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67" name="Google Shape;1967;p18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968" name="Google Shape;1968;p186"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969" name="Google Shape;1969;p186"/>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1970" name="Google Shape;1970;p186"/>
          <p:cNvSpPr txBox="1"/>
          <p:nvPr/>
        </p:nvSpPr>
        <p:spPr>
          <a:xfrm>
            <a:off x="466200" y="1316375"/>
            <a:ext cx="8069700" cy="3055500"/>
          </a:xfrm>
          <a:prstGeom prst="rect">
            <a:avLst/>
          </a:prstGeom>
          <a:noFill/>
          <a:ln>
            <a:noFill/>
          </a:ln>
        </p:spPr>
        <p:txBody>
          <a:bodyPr spcFirstLastPara="1" wrap="square" lIns="91425" tIns="45700" rIns="91425" bIns="45700" anchor="t" anchorCtr="0">
            <a:spAutoFit/>
          </a:bodyPr>
          <a:lstStyle/>
          <a:p>
            <a:pPr marL="457200" marR="0" lvl="0" indent="-323850" algn="l" rtl="0">
              <a:lnSpc>
                <a:spcPct val="115000"/>
              </a:lnSpc>
              <a:spcBef>
                <a:spcPts val="0"/>
              </a:spcBef>
              <a:spcAft>
                <a:spcPts val="0"/>
              </a:spcAft>
              <a:buClr>
                <a:schemeClr val="dk1"/>
              </a:buClr>
              <a:buSzPts val="1500"/>
              <a:buFont typeface="Montserrat"/>
              <a:buChar char="●"/>
            </a:pPr>
            <a:r>
              <a:rPr lang="en" sz="1500" b="1" i="0" u="none" strike="noStrike" cap="none">
                <a:solidFill>
                  <a:schemeClr val="dk1"/>
                </a:solidFill>
                <a:latin typeface="Montserrat"/>
                <a:ea typeface="Montserrat"/>
                <a:cs typeface="Montserrat"/>
                <a:sym typeface="Montserrat"/>
              </a:rPr>
              <a:t>Expect low single-digit lifetime savings at best</a:t>
            </a:r>
            <a:r>
              <a:rPr lang="en" sz="1500" b="1">
                <a:solidFill>
                  <a:schemeClr val="dk1"/>
                </a:solidFill>
                <a:latin typeface="Montserrat"/>
                <a:ea typeface="Montserrat"/>
                <a:cs typeface="Montserrat"/>
                <a:sym typeface="Montserrat"/>
              </a:rPr>
              <a:t>. </a:t>
            </a:r>
            <a:r>
              <a:rPr lang="en" sz="1500">
                <a:solidFill>
                  <a:schemeClr val="dk1"/>
                </a:solidFill>
                <a:latin typeface="Montserrat"/>
                <a:ea typeface="Montserrat"/>
                <a:cs typeface="Montserrat"/>
                <a:sym typeface="Montserrat"/>
              </a:rPr>
              <a:t>T</a:t>
            </a:r>
            <a:r>
              <a:rPr lang="en" sz="1500" i="0" u="none" strike="noStrike" cap="none">
                <a:solidFill>
                  <a:schemeClr val="dk1"/>
                </a:solidFill>
                <a:latin typeface="Montserrat"/>
                <a:ea typeface="Montserrat"/>
                <a:cs typeface="Montserrat"/>
                <a:sym typeface="Montserrat"/>
              </a:rPr>
              <a:t>he product you are buying i</a:t>
            </a:r>
            <a:r>
              <a:rPr lang="en" sz="1500">
                <a:solidFill>
                  <a:schemeClr val="dk1"/>
                </a:solidFill>
                <a:latin typeface="Montserrat"/>
                <a:ea typeface="Montserrat"/>
                <a:cs typeface="Montserrat"/>
                <a:sym typeface="Montserrat"/>
              </a:rPr>
              <a:t>s 10-</a:t>
            </a:r>
            <a:r>
              <a:rPr lang="en" sz="1500" i="0" u="none" strike="noStrike" cap="none">
                <a:solidFill>
                  <a:schemeClr val="dk1"/>
                </a:solidFill>
                <a:latin typeface="Montserrat"/>
                <a:ea typeface="Montserrat"/>
                <a:cs typeface="Montserrat"/>
                <a:sym typeface="Montserrat"/>
              </a:rPr>
              <a:t>25</a:t>
            </a:r>
            <a:r>
              <a:rPr lang="en" sz="1500">
                <a:solidFill>
                  <a:schemeClr val="dk1"/>
                </a:solidFill>
                <a:latin typeface="Montserrat"/>
                <a:ea typeface="Montserrat"/>
                <a:cs typeface="Montserrat"/>
                <a:sym typeface="Montserrat"/>
              </a:rPr>
              <a:t> </a:t>
            </a:r>
            <a:r>
              <a:rPr lang="en" sz="1500" i="0" u="none" strike="noStrike" cap="none">
                <a:solidFill>
                  <a:schemeClr val="dk1"/>
                </a:solidFill>
                <a:latin typeface="Montserrat"/>
                <a:ea typeface="Montserrat"/>
                <a:cs typeface="Montserrat"/>
                <a:sym typeface="Montserrat"/>
              </a:rPr>
              <a:t>year price certaint</a:t>
            </a:r>
            <a:r>
              <a:rPr lang="en" sz="1500">
                <a:solidFill>
                  <a:schemeClr val="dk1"/>
                </a:solidFill>
                <a:latin typeface="Montserrat"/>
                <a:ea typeface="Montserrat"/>
                <a:cs typeface="Montserrat"/>
                <a:sym typeface="Montserrat"/>
              </a:rPr>
              <a:t>y, meet up to 100% of annual electricity demand with contracted renewable generation, and</a:t>
            </a:r>
            <a:r>
              <a:rPr lang="en" sz="1500" i="0" u="none" strike="noStrike" cap="none">
                <a:solidFill>
                  <a:schemeClr val="dk1"/>
                </a:solidFill>
                <a:latin typeface="Montserrat"/>
                <a:ea typeface="Montserrat"/>
                <a:cs typeface="Montserrat"/>
                <a:sym typeface="Montserrat"/>
              </a:rPr>
              <a:t> </a:t>
            </a:r>
            <a:r>
              <a:rPr lang="en" sz="1500">
                <a:solidFill>
                  <a:schemeClr val="dk1"/>
                </a:solidFill>
                <a:latin typeface="Montserrat"/>
                <a:ea typeface="Montserrat"/>
                <a:cs typeface="Montserrat"/>
                <a:sym typeface="Montserrat"/>
              </a:rPr>
              <a:t>utilize </a:t>
            </a:r>
            <a:r>
              <a:rPr lang="en" sz="1500" i="0" u="none" strike="noStrike" cap="none">
                <a:solidFill>
                  <a:schemeClr val="dk1"/>
                </a:solidFill>
                <a:latin typeface="Montserrat"/>
                <a:ea typeface="Montserrat"/>
                <a:cs typeface="Montserrat"/>
                <a:sym typeface="Montserrat"/>
              </a:rPr>
              <a:t>credible renewable claims, but </a:t>
            </a:r>
            <a:r>
              <a:rPr lang="en" sz="1500">
                <a:solidFill>
                  <a:schemeClr val="dk1"/>
                </a:solidFill>
                <a:latin typeface="Montserrat"/>
                <a:ea typeface="Montserrat"/>
                <a:cs typeface="Montserrat"/>
                <a:sym typeface="Montserrat"/>
              </a:rPr>
              <a:t>all at a price premium.</a:t>
            </a:r>
            <a:endParaRPr>
              <a:solidFill>
                <a:schemeClr val="dk1"/>
              </a:solidFill>
              <a:latin typeface="Montserrat"/>
              <a:ea typeface="Montserrat"/>
              <a:cs typeface="Montserrat"/>
              <a:sym typeface="Montserrat"/>
            </a:endParaRPr>
          </a:p>
          <a:p>
            <a:pPr marL="457200" marR="0" lvl="0" indent="-323850" algn="l" rtl="0">
              <a:lnSpc>
                <a:spcPct val="115000"/>
              </a:lnSpc>
              <a:spcBef>
                <a:spcPts val="400"/>
              </a:spcBef>
              <a:spcAft>
                <a:spcPts val="0"/>
              </a:spcAft>
              <a:buClr>
                <a:schemeClr val="dk1"/>
              </a:buClr>
              <a:buSzPts val="1500"/>
              <a:buFont typeface="Montserrat"/>
              <a:buChar char="●"/>
            </a:pPr>
            <a:r>
              <a:rPr lang="en" sz="1500" b="1" i="0" u="none" strike="noStrike" cap="none">
                <a:solidFill>
                  <a:schemeClr val="dk1"/>
                </a:solidFill>
                <a:latin typeface="Montserrat"/>
                <a:ea typeface="Montserrat"/>
                <a:cs typeface="Montserrat"/>
                <a:sym typeface="Montserrat"/>
              </a:rPr>
              <a:t>Expect Year 1 to cost more than BAU</a:t>
            </a:r>
            <a:r>
              <a:rPr lang="en" sz="1500" b="1">
                <a:solidFill>
                  <a:schemeClr val="dk1"/>
                </a:solidFill>
                <a:latin typeface="Montserrat"/>
                <a:ea typeface="Montserrat"/>
                <a:cs typeface="Montserrat"/>
                <a:sym typeface="Montserrat"/>
              </a:rPr>
              <a:t>. </a:t>
            </a:r>
            <a:r>
              <a:rPr lang="en" sz="1500">
                <a:solidFill>
                  <a:schemeClr val="dk1"/>
                </a:solidFill>
                <a:latin typeface="Montserrat"/>
                <a:ea typeface="Montserrat"/>
                <a:cs typeface="Montserrat"/>
                <a:sym typeface="Montserrat"/>
              </a:rPr>
              <a:t>P</a:t>
            </a:r>
            <a:r>
              <a:rPr lang="en" sz="1500" i="0" u="none" strike="noStrike" cap="none">
                <a:solidFill>
                  <a:schemeClr val="dk1"/>
                </a:solidFill>
                <a:latin typeface="Montserrat"/>
                <a:ea typeface="Montserrat"/>
                <a:cs typeface="Montserrat"/>
                <a:sym typeface="Montserrat"/>
              </a:rPr>
              <a:t>lan the internal approval around cumulative horizons.</a:t>
            </a:r>
            <a:endParaRPr>
              <a:solidFill>
                <a:schemeClr val="dk1"/>
              </a:solidFill>
              <a:latin typeface="Montserrat"/>
              <a:ea typeface="Montserrat"/>
              <a:cs typeface="Montserrat"/>
              <a:sym typeface="Montserrat"/>
            </a:endParaRPr>
          </a:p>
          <a:p>
            <a:pPr marL="457200" marR="0" lvl="0" indent="-323850" algn="l" rtl="0">
              <a:lnSpc>
                <a:spcPct val="115000"/>
              </a:lnSpc>
              <a:spcBef>
                <a:spcPts val="400"/>
              </a:spcBef>
              <a:spcAft>
                <a:spcPts val="0"/>
              </a:spcAft>
              <a:buClr>
                <a:schemeClr val="dk1"/>
              </a:buClr>
              <a:buSzPts val="1500"/>
              <a:buFont typeface="Montserrat"/>
              <a:buChar char="●"/>
            </a:pPr>
            <a:r>
              <a:rPr lang="en" sz="1500" b="1" i="0" u="none" strike="noStrike" cap="none">
                <a:solidFill>
                  <a:schemeClr val="dk1"/>
                </a:solidFill>
                <a:latin typeface="Montserrat"/>
                <a:ea typeface="Montserrat"/>
                <a:cs typeface="Montserrat"/>
                <a:sym typeface="Montserrat"/>
              </a:rPr>
              <a:t>Strike offers near 2,000 VND/kWh leave the buyer deeply negative</a:t>
            </a:r>
            <a:r>
              <a:rPr lang="en" sz="1500" b="1">
                <a:solidFill>
                  <a:schemeClr val="dk1"/>
                </a:solidFill>
                <a:latin typeface="Montserrat"/>
                <a:ea typeface="Montserrat"/>
                <a:cs typeface="Montserrat"/>
                <a:sym typeface="Montserrat"/>
              </a:rPr>
              <a:t>. </a:t>
            </a:r>
            <a:r>
              <a:rPr lang="en" sz="1500">
                <a:solidFill>
                  <a:schemeClr val="dk1"/>
                </a:solidFill>
                <a:latin typeface="Montserrat"/>
                <a:ea typeface="Montserrat"/>
                <a:cs typeface="Montserrat"/>
                <a:sym typeface="Montserrat"/>
              </a:rPr>
              <a:t>R</a:t>
            </a:r>
            <a:r>
              <a:rPr lang="en" sz="1500" i="0" u="none" strike="noStrike" cap="none">
                <a:solidFill>
                  <a:schemeClr val="dk1"/>
                </a:solidFill>
                <a:latin typeface="Montserrat"/>
                <a:ea typeface="Montserrat"/>
                <a:cs typeface="Montserrat"/>
                <a:sym typeface="Montserrat"/>
              </a:rPr>
              <a:t>ealistic buyer-positive territory starts near ~1,300 VND, which today fails the lender.</a:t>
            </a:r>
            <a:endParaRPr>
              <a:solidFill>
                <a:schemeClr val="dk1"/>
              </a:solidFill>
              <a:latin typeface="Montserrat"/>
              <a:ea typeface="Montserrat"/>
              <a:cs typeface="Montserrat"/>
              <a:sym typeface="Montserrat"/>
            </a:endParaRPr>
          </a:p>
          <a:p>
            <a:pPr marL="457200" marR="0" lvl="0" indent="-323850" algn="l" rtl="0">
              <a:lnSpc>
                <a:spcPct val="115000"/>
              </a:lnSpc>
              <a:spcBef>
                <a:spcPts val="400"/>
              </a:spcBef>
              <a:spcAft>
                <a:spcPts val="400"/>
              </a:spcAft>
              <a:buClr>
                <a:schemeClr val="dk1"/>
              </a:buClr>
              <a:buSzPts val="1500"/>
              <a:buFont typeface="Montserrat"/>
              <a:buChar char="●"/>
            </a:pPr>
            <a:r>
              <a:rPr lang="en" sz="1500" b="1" i="0" u="none" strike="noStrike" cap="none">
                <a:solidFill>
                  <a:schemeClr val="dk1"/>
                </a:solidFill>
                <a:latin typeface="Montserrat"/>
                <a:ea typeface="Montserrat"/>
                <a:cs typeface="Montserrat"/>
                <a:sym typeface="Montserrat"/>
              </a:rPr>
              <a:t>Deal feasibility is decided by financing structure as much as by price.</a:t>
            </a:r>
            <a:r>
              <a:rPr lang="en" sz="1500" b="1">
                <a:solidFill>
                  <a:schemeClr val="dk1"/>
                </a:solidFill>
                <a:latin typeface="Montserrat"/>
                <a:ea typeface="Montserrat"/>
                <a:cs typeface="Montserrat"/>
                <a:sym typeface="Montserrat"/>
              </a:rPr>
              <a:t> </a:t>
            </a:r>
            <a:br>
              <a:rPr lang="en" sz="1500" b="1">
                <a:solidFill>
                  <a:schemeClr val="dk1"/>
                </a:solidFill>
                <a:latin typeface="Montserrat"/>
                <a:ea typeface="Montserrat"/>
                <a:cs typeface="Montserrat"/>
                <a:sym typeface="Montserrat"/>
              </a:rPr>
            </a:br>
            <a:r>
              <a:rPr lang="en" sz="1500">
                <a:solidFill>
                  <a:schemeClr val="dk1"/>
                </a:solidFill>
                <a:latin typeface="Montserrat"/>
                <a:ea typeface="Montserrat"/>
                <a:cs typeface="Montserrat"/>
                <a:sym typeface="Montserrat"/>
              </a:rPr>
              <a:t>As</a:t>
            </a:r>
            <a:r>
              <a:rPr lang="en" sz="1500" i="0" u="none" strike="noStrike" cap="none">
                <a:solidFill>
                  <a:schemeClr val="dk1"/>
                </a:solidFill>
                <a:latin typeface="Montserrat"/>
                <a:ea typeface="Montserrat"/>
                <a:cs typeface="Montserrat"/>
                <a:sym typeface="Montserrat"/>
              </a:rPr>
              <a:t>k developers HOW their project is financed, not just what they charge.</a:t>
            </a:r>
            <a:endParaRPr>
              <a:solidFill>
                <a:schemeClr val="dk1"/>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74"/>
        <p:cNvGrpSpPr/>
        <p:nvPr/>
      </p:nvGrpSpPr>
      <p:grpSpPr>
        <a:xfrm>
          <a:off x="0" y="0"/>
          <a:ext cx="0" cy="0"/>
          <a:chOff x="0" y="0"/>
          <a:chExt cx="0" cy="0"/>
        </a:xfrm>
      </p:grpSpPr>
      <p:cxnSp>
        <p:nvCxnSpPr>
          <p:cNvPr id="1975" name="Google Shape;1975;p187"/>
          <p:cNvCxnSpPr/>
          <p:nvPr/>
        </p:nvCxnSpPr>
        <p:spPr>
          <a:xfrm>
            <a:off x="4954604" y="1335506"/>
            <a:ext cx="1241400" cy="0"/>
          </a:xfrm>
          <a:prstGeom prst="straightConnector1">
            <a:avLst/>
          </a:prstGeom>
          <a:noFill/>
          <a:ln w="57150" cap="flat" cmpd="sng">
            <a:solidFill>
              <a:srgbClr val="1B786E"/>
            </a:solidFill>
            <a:prstDash val="solid"/>
            <a:miter lim="800000"/>
            <a:headEnd type="none" w="sm" len="sm"/>
            <a:tailEnd type="none" w="sm" len="sm"/>
          </a:ln>
        </p:spPr>
      </p:cxnSp>
      <p:sp>
        <p:nvSpPr>
          <p:cNvPr id="1976" name="Google Shape;1976;p187"/>
          <p:cNvSpPr txBox="1"/>
          <p:nvPr/>
        </p:nvSpPr>
        <p:spPr>
          <a:xfrm>
            <a:off x="4572000" y="1440675"/>
            <a:ext cx="4572000" cy="1554600"/>
          </a:xfrm>
          <a:prstGeom prst="rect">
            <a:avLst/>
          </a:prstGeom>
          <a:noFill/>
          <a:ln>
            <a:noFill/>
          </a:ln>
        </p:spPr>
        <p:txBody>
          <a:bodyPr spcFirstLastPara="1" wrap="square" lIns="68575" tIns="34275" rIns="68575" bIns="34275" anchor="t" anchorCtr="0">
            <a:spAutoFit/>
          </a:bodyPr>
          <a:lstStyle/>
          <a:p>
            <a:pPr marL="0" lvl="0" indent="0" algn="l" rtl="0">
              <a:lnSpc>
                <a:spcPct val="100000"/>
              </a:lnSpc>
              <a:spcBef>
                <a:spcPts val="0"/>
              </a:spcBef>
              <a:spcAft>
                <a:spcPts val="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Module 6:</a:t>
            </a:r>
            <a:endParaRPr sz="2800" b="1">
              <a:solidFill>
                <a:srgbClr val="0F172A"/>
              </a:solidFill>
              <a:highlight>
                <a:srgbClr val="FFFFFF"/>
              </a:highlight>
              <a:latin typeface="Montserrat"/>
              <a:ea typeface="Montserrat"/>
              <a:cs typeface="Montserrat"/>
              <a:sym typeface="Montserrat"/>
            </a:endParaRPr>
          </a:p>
          <a:p>
            <a:pPr marL="0" lvl="0" indent="0" algn="l" rtl="0">
              <a:lnSpc>
                <a:spcPct val="100000"/>
              </a:lnSpc>
              <a:spcBef>
                <a:spcPts val="1500"/>
              </a:spcBef>
              <a:spcAft>
                <a:spcPts val="1500"/>
              </a:spcAft>
              <a:buClr>
                <a:schemeClr val="dk1"/>
              </a:buClr>
              <a:buSzPts val="1100"/>
              <a:buFont typeface="Arial"/>
              <a:buNone/>
            </a:pPr>
            <a:r>
              <a:rPr lang="en" sz="2800" b="1">
                <a:solidFill>
                  <a:srgbClr val="0F172A"/>
                </a:solidFill>
                <a:highlight>
                  <a:srgbClr val="FFFFFF"/>
                </a:highlight>
                <a:latin typeface="Montserrat"/>
                <a:ea typeface="Montserrat"/>
                <a:cs typeface="Montserrat"/>
                <a:sym typeface="Montserrat"/>
              </a:rPr>
              <a:t>Key Decision Points and Wrap-up</a:t>
            </a:r>
            <a:endParaRPr sz="2800" b="1">
              <a:solidFill>
                <a:srgbClr val="0F172A"/>
              </a:solidFill>
              <a:highlight>
                <a:srgbClr val="FFFFFF"/>
              </a:highlight>
              <a:latin typeface="Montserrat"/>
              <a:ea typeface="Montserrat"/>
              <a:cs typeface="Montserrat"/>
              <a:sym typeface="Montserrat"/>
            </a:endParaRPr>
          </a:p>
        </p:txBody>
      </p:sp>
      <p:pic>
        <p:nvPicPr>
          <p:cNvPr id="1977" name="Google Shape;1977;p187"/>
          <p:cNvPicPr preferRelativeResize="0"/>
          <p:nvPr/>
        </p:nvPicPr>
        <p:blipFill rotWithShape="1">
          <a:blip r:embed="rId3">
            <a:alphaModFix/>
          </a:blip>
          <a:srcRect l="6658" t="3134" r="48140" b="13296"/>
          <a:stretch/>
        </p:blipFill>
        <p:spPr>
          <a:xfrm>
            <a:off x="0" y="0"/>
            <a:ext cx="4266600" cy="5143499"/>
          </a:xfrm>
          <a:prstGeom prst="rect">
            <a:avLst/>
          </a:prstGeom>
          <a:noFill/>
          <a:ln>
            <a:noFill/>
          </a:ln>
        </p:spPr>
      </p:pic>
      <p:sp>
        <p:nvSpPr>
          <p:cNvPr id="1978" name="Google Shape;1978;p187"/>
          <p:cNvSpPr/>
          <p:nvPr/>
        </p:nvSpPr>
        <p:spPr>
          <a:xfrm>
            <a:off x="4067877" y="1580950"/>
            <a:ext cx="397200" cy="2988600"/>
          </a:xfrm>
          <a:prstGeom prst="rect">
            <a:avLst/>
          </a:prstGeom>
          <a:solidFill>
            <a:srgbClr val="2E3A49"/>
          </a:solidFill>
          <a:ln w="9525" cap="flat" cmpd="sng">
            <a:solidFill>
              <a:srgbClr val="1C3052"/>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1979" name="Google Shape;1979;p187"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1980" name="Google Shape;1980;p187"/>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984"/>
        <p:cNvGrpSpPr/>
        <p:nvPr/>
      </p:nvGrpSpPr>
      <p:grpSpPr>
        <a:xfrm>
          <a:off x="0" y="0"/>
          <a:ext cx="0" cy="0"/>
          <a:chOff x="0" y="0"/>
          <a:chExt cx="0" cy="0"/>
        </a:xfrm>
      </p:grpSpPr>
      <p:grpSp>
        <p:nvGrpSpPr>
          <p:cNvPr id="1985" name="Google Shape;1985;p188"/>
          <p:cNvGrpSpPr/>
          <p:nvPr/>
        </p:nvGrpSpPr>
        <p:grpSpPr>
          <a:xfrm>
            <a:off x="239992" y="63853"/>
            <a:ext cx="8728050" cy="745997"/>
            <a:chOff x="236700" y="63853"/>
            <a:chExt cx="8728050" cy="745997"/>
          </a:xfrm>
        </p:grpSpPr>
        <p:sp>
          <p:nvSpPr>
            <p:cNvPr id="1986" name="Google Shape;1986;p18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1987" name="Google Shape;1987;p18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1988" name="Google Shape;1988;p18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1989" name="Google Shape;1989;p18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1990" name="Google Shape;1990;p18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1991" name="Google Shape;1991;p18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1992" name="Google Shape;1992;p18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1993" name="Google Shape;1993;p188"/>
            <p:cNvSpPr txBox="1"/>
            <p:nvPr/>
          </p:nvSpPr>
          <p:spPr>
            <a:xfrm>
              <a:off x="669250" y="205988"/>
              <a:ext cx="8255400" cy="461700"/>
            </a:xfrm>
            <a:prstGeom prst="rect">
              <a:avLst/>
            </a:prstGeom>
            <a:noFill/>
            <a:ln>
              <a:noFill/>
            </a:ln>
          </p:spPr>
          <p:txBody>
            <a:bodyPr spcFirstLastPara="1" wrap="square" lIns="68575" tIns="34275" rIns="68575" bIns="34275" anchor="ctr" anchorCtr="0">
              <a:noAutofit/>
            </a:bodyPr>
            <a:lstStyle/>
            <a:p>
              <a:pPr marL="0" lvl="0" indent="0" algn="l" rtl="0">
                <a:spcBef>
                  <a:spcPts val="0"/>
                </a:spcBef>
                <a:spcAft>
                  <a:spcPts val="0"/>
                </a:spcAft>
                <a:buNone/>
              </a:pPr>
              <a:r>
                <a:rPr lang="en" sz="1000">
                  <a:solidFill>
                    <a:schemeClr val="lt1"/>
                  </a:solidFill>
                  <a:latin typeface="Montserrat ExtraBold"/>
                  <a:ea typeface="Montserrat ExtraBold"/>
                  <a:cs typeface="Montserrat ExtraBold"/>
                  <a:sym typeface="Montserrat ExtraBold"/>
                </a:rPr>
                <a:t>Module 6 - Decision Points</a:t>
              </a: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Five Questions That Change The Term Sheet</a:t>
              </a:r>
              <a:endParaRPr sz="2000">
                <a:solidFill>
                  <a:schemeClr val="lt1"/>
                </a:solidFill>
                <a:latin typeface="Montserrat ExtraBold"/>
                <a:ea typeface="Montserrat ExtraBold"/>
                <a:cs typeface="Montserrat ExtraBold"/>
                <a:sym typeface="Montserrat ExtraBold"/>
              </a:endParaRPr>
            </a:p>
          </p:txBody>
        </p:sp>
        <p:cxnSp>
          <p:nvCxnSpPr>
            <p:cNvPr id="1994" name="Google Shape;1994;p18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1995" name="Google Shape;1995;p18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1996" name="Google Shape;1996;p18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1997" name="Google Shape;1997;p188"/>
          <p:cNvPicPr preferRelativeResize="0"/>
          <p:nvPr/>
        </p:nvPicPr>
        <p:blipFill>
          <a:blip r:embed="rId4">
            <a:alphaModFix/>
          </a:blip>
          <a:stretch>
            <a:fillRect/>
          </a:stretch>
        </p:blipFill>
        <p:spPr>
          <a:xfrm>
            <a:off x="7472673" y="4830726"/>
            <a:ext cx="894924" cy="312775"/>
          </a:xfrm>
          <a:prstGeom prst="rect">
            <a:avLst/>
          </a:prstGeom>
          <a:noFill/>
          <a:ln>
            <a:noFill/>
          </a:ln>
        </p:spPr>
      </p:pic>
      <p:graphicFrame>
        <p:nvGraphicFramePr>
          <p:cNvPr id="1998" name="Google Shape;1998;p188"/>
          <p:cNvGraphicFramePr/>
          <p:nvPr/>
        </p:nvGraphicFramePr>
        <p:xfrm>
          <a:off x="454270" y="1280800"/>
          <a:ext cx="8216225" cy="2748875"/>
        </p:xfrm>
        <a:graphic>
          <a:graphicData uri="http://schemas.openxmlformats.org/drawingml/2006/table">
            <a:tbl>
              <a:tblPr firstRow="1" bandRow="1">
                <a:noFill/>
                <a:tableStyleId>{CE8BD2AF-5D0D-4EDC-AE96-A30A7DA1AF2F}</a:tableStyleId>
              </a:tblPr>
              <a:tblGrid>
                <a:gridCol w="404075">
                  <a:extLst>
                    <a:ext uri="{9D8B030D-6E8A-4147-A177-3AD203B41FA5}">
                      <a16:colId xmlns:a16="http://schemas.microsoft.com/office/drawing/2014/main" val="20000"/>
                    </a:ext>
                  </a:extLst>
                </a:gridCol>
                <a:gridCol w="2693850">
                  <a:extLst>
                    <a:ext uri="{9D8B030D-6E8A-4147-A177-3AD203B41FA5}">
                      <a16:colId xmlns:a16="http://schemas.microsoft.com/office/drawing/2014/main" val="20001"/>
                    </a:ext>
                  </a:extLst>
                </a:gridCol>
                <a:gridCol w="5118300">
                  <a:extLst>
                    <a:ext uri="{9D8B030D-6E8A-4147-A177-3AD203B41FA5}">
                      <a16:colId xmlns:a16="http://schemas.microsoft.com/office/drawing/2014/main" val="20002"/>
                    </a:ext>
                  </a:extLst>
                </a:gridCol>
              </a:tblGrid>
              <a:tr h="450250">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Decision</a:t>
                      </a:r>
                      <a:endParaRPr>
                        <a:latin typeface="Montserrat"/>
                        <a:ea typeface="Montserrat"/>
                        <a:cs typeface="Montserrat"/>
                        <a:sym typeface="Montserrat"/>
                      </a:endParaRPr>
                    </a:p>
                  </a:txBody>
                  <a:tcPr marL="91450" marR="91450" marT="25400" marB="25400" anchor="ctr">
                    <a:solidFill>
                      <a:srgbClr val="176B62"/>
                    </a:solidFill>
                  </a:tcPr>
                </a:tc>
                <a:tc>
                  <a:txBody>
                    <a:bodyPr/>
                    <a:lstStyle/>
                    <a:p>
                      <a:pPr marL="0" marR="0" lvl="0" indent="0" algn="l" rtl="0">
                        <a:lnSpc>
                          <a:spcPct val="100000"/>
                        </a:lnSpc>
                        <a:spcBef>
                          <a:spcPts val="0"/>
                        </a:spcBef>
                        <a:spcAft>
                          <a:spcPts val="0"/>
                        </a:spcAft>
                        <a:buNone/>
                      </a:pPr>
                      <a:r>
                        <a:rPr lang="en" sz="1250" u="none" strike="noStrike" cap="none">
                          <a:solidFill>
                            <a:srgbClr val="FFFFFF"/>
                          </a:solidFill>
                          <a:latin typeface="Montserrat"/>
                          <a:ea typeface="Montserrat"/>
                          <a:cs typeface="Montserrat"/>
                          <a:sym typeface="Montserrat"/>
                        </a:rPr>
                        <a:t>What to check</a:t>
                      </a:r>
                      <a:endParaRPr>
                        <a:latin typeface="Montserrat"/>
                        <a:ea typeface="Montserrat"/>
                        <a:cs typeface="Montserrat"/>
                        <a:sym typeface="Montserrat"/>
                      </a:endParaRPr>
                    </a:p>
                  </a:txBody>
                  <a:tcPr marL="91450" marR="91450" marT="25400" marB="25400" anchor="ctr">
                    <a:solidFill>
                      <a:srgbClr val="176B62"/>
                    </a:solidFill>
                  </a:tcPr>
                </a:tc>
                <a:extLst>
                  <a:ext uri="{0D108BD9-81ED-4DB2-BD59-A6C34878D82A}">
                    <a16:rowId xmlns:a16="http://schemas.microsoft.com/office/drawing/2014/main" val="10000"/>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1</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Strike level &amp; escalation/indexation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Fixed VND vs </a:t>
                      </a:r>
                      <a:r>
                        <a:rPr lang="en" sz="1250">
                          <a:solidFill>
                            <a:schemeClr val="dk1"/>
                          </a:solidFill>
                          <a:latin typeface="Montserrat"/>
                          <a:ea typeface="Montserrat"/>
                          <a:cs typeface="Montserrat"/>
                          <a:sym typeface="Montserrat"/>
                        </a:rPr>
                        <a:t>escalating/deescalating</a:t>
                      </a:r>
                      <a:r>
                        <a:rPr lang="en" sz="1250" u="none" strike="noStrike" cap="none">
                          <a:solidFill>
                            <a:schemeClr val="dk1"/>
                          </a:solidFill>
                          <a:latin typeface="Montserrat"/>
                          <a:ea typeface="Montserrat"/>
                          <a:cs typeface="Montserrat"/>
                          <a:sym typeface="Montserrat"/>
                        </a:rPr>
                        <a:t> vs USD</a:t>
                      </a:r>
                      <a:r>
                        <a:rPr lang="en" sz="1250">
                          <a:solidFill>
                            <a:schemeClr val="dk1"/>
                          </a:solidFill>
                          <a:latin typeface="Montserrat"/>
                          <a:ea typeface="Montserrat"/>
                          <a:cs typeface="Montserrat"/>
                          <a:sym typeface="Montserrat"/>
                        </a:rPr>
                        <a:t> </a:t>
                      </a:r>
                      <a:r>
                        <a:rPr lang="en" sz="1250" u="none" strike="noStrike" cap="none">
                          <a:solidFill>
                            <a:schemeClr val="dk1"/>
                          </a:solidFill>
                          <a:latin typeface="Montserrat"/>
                          <a:ea typeface="Montserrat"/>
                          <a:cs typeface="Montserrat"/>
                          <a:sym typeface="Montserrat"/>
                        </a:rPr>
                        <a:t>linked; model </a:t>
                      </a:r>
                      <a:r>
                        <a:rPr lang="en" sz="1250">
                          <a:solidFill>
                            <a:schemeClr val="dk1"/>
                          </a:solidFill>
                          <a:latin typeface="Montserrat"/>
                          <a:ea typeface="Montserrat"/>
                          <a:cs typeface="Montserrat"/>
                          <a:sym typeface="Montserrat"/>
                        </a:rPr>
                        <a:t>these </a:t>
                      </a:r>
                      <a:r>
                        <a:rPr lang="en" sz="1250" u="none" strike="noStrike" cap="none">
                          <a:solidFill>
                            <a:schemeClr val="dk1"/>
                          </a:solidFill>
                          <a:latin typeface="Montserrat"/>
                          <a:ea typeface="Montserrat"/>
                          <a:cs typeface="Montserrat"/>
                          <a:sym typeface="Montserrat"/>
                        </a:rPr>
                        <a:t>vs BAU</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1"/>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2</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Contract volume vs load shape</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8760 hourly matching vs meter data; CfD caps at consumed volume</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2"/>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3</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Tenor &amp; termination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Developer wants 15-25 yr; match to your lease / order book; exit terms</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3"/>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4</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Voltage eligibility &amp; K_pp</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&gt;=22kV only today; which K_pp applies decides your loss adjustment</a:t>
                      </a:r>
                      <a:endParaRPr>
                        <a:solidFill>
                          <a:schemeClr val="dk1"/>
                        </a:solidFill>
                        <a:latin typeface="Montserrat"/>
                        <a:ea typeface="Montserrat"/>
                        <a:cs typeface="Montserrat"/>
                        <a:sym typeface="Montserrat"/>
                      </a:endParaRPr>
                    </a:p>
                  </a:txBody>
                  <a:tcPr marL="91450" marR="91450" marT="25400" marB="25400" anchor="ctr">
                    <a:solidFill>
                      <a:schemeClr val="lt1"/>
                    </a:solidFill>
                  </a:tcPr>
                </a:tc>
                <a:extLst>
                  <a:ext uri="{0D108BD9-81ED-4DB2-BD59-A6C34878D82A}">
                    <a16:rowId xmlns:a16="http://schemas.microsoft.com/office/drawing/2014/main" val="10004"/>
                  </a:ext>
                </a:extLst>
              </a:tr>
              <a:tr h="459725">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5</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Risk allocation</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tc>
                  <a:txBody>
                    <a:bodyPr/>
                    <a:lstStyle/>
                    <a:p>
                      <a:pPr marL="0" marR="0" lvl="0" indent="0" algn="l" rtl="0">
                        <a:lnSpc>
                          <a:spcPct val="100000"/>
                        </a:lnSpc>
                        <a:spcBef>
                          <a:spcPts val="0"/>
                        </a:spcBef>
                        <a:spcAft>
                          <a:spcPts val="0"/>
                        </a:spcAft>
                        <a:buNone/>
                      </a:pPr>
                      <a:r>
                        <a:rPr lang="en" sz="1250" u="none" strike="noStrike" cap="none">
                          <a:solidFill>
                            <a:schemeClr val="dk1"/>
                          </a:solidFill>
                          <a:latin typeface="Montserrat"/>
                          <a:ea typeface="Montserrat"/>
                          <a:cs typeface="Montserrat"/>
                          <a:sym typeface="Montserrat"/>
                        </a:rPr>
                        <a:t>FMP volatility, curtailment, negative</a:t>
                      </a:r>
                      <a:r>
                        <a:rPr lang="en" sz="1250">
                          <a:solidFill>
                            <a:schemeClr val="dk1"/>
                          </a:solidFill>
                          <a:latin typeface="Montserrat"/>
                          <a:ea typeface="Montserrat"/>
                          <a:cs typeface="Montserrat"/>
                          <a:sym typeface="Montserrat"/>
                        </a:rPr>
                        <a:t> </a:t>
                      </a:r>
                      <a:r>
                        <a:rPr lang="en" sz="1250" u="none" strike="noStrike" cap="none">
                          <a:solidFill>
                            <a:schemeClr val="dk1"/>
                          </a:solidFill>
                          <a:latin typeface="Montserrat"/>
                          <a:ea typeface="Montserrat"/>
                          <a:cs typeface="Montserrat"/>
                          <a:sym typeface="Montserrat"/>
                        </a:rPr>
                        <a:t>CfD months, change-in-law</a:t>
                      </a:r>
                      <a:endParaRPr>
                        <a:solidFill>
                          <a:schemeClr val="dk1"/>
                        </a:solidFill>
                        <a:latin typeface="Montserrat"/>
                        <a:ea typeface="Montserrat"/>
                        <a:cs typeface="Montserrat"/>
                        <a:sym typeface="Montserrat"/>
                      </a:endParaRPr>
                    </a:p>
                  </a:txBody>
                  <a:tcPr marL="91450" marR="91450" marT="25400" marB="25400" anchor="ctr">
                    <a:solidFill>
                      <a:srgbClr val="F8FAFC"/>
                    </a:solidFill>
                  </a:tcPr>
                </a:tc>
                <a:extLst>
                  <a:ext uri="{0D108BD9-81ED-4DB2-BD59-A6C34878D82A}">
                    <a16:rowId xmlns:a16="http://schemas.microsoft.com/office/drawing/2014/main" val="10005"/>
                  </a:ext>
                </a:extLst>
              </a:tr>
            </a:tbl>
          </a:graphicData>
        </a:graphic>
      </p:graphicFrame>
      <p:sp>
        <p:nvSpPr>
          <p:cNvPr id="1999" name="Google Shape;1999;p188"/>
          <p:cNvSpPr txBox="1"/>
          <p:nvPr/>
        </p:nvSpPr>
        <p:spPr>
          <a:xfrm>
            <a:off x="387798" y="4236473"/>
            <a:ext cx="6478500" cy="2769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200" i="0" u="none" strike="noStrike" cap="none">
                <a:solidFill>
                  <a:srgbClr val="127A7A"/>
                </a:solidFill>
                <a:latin typeface="Montserrat"/>
                <a:ea typeface="Montserrat"/>
                <a:cs typeface="Montserrat"/>
                <a:sym typeface="Montserrat"/>
              </a:rPr>
              <a:t>Items 1-4 are quantifiable before negotiation</a:t>
            </a:r>
            <a:r>
              <a:rPr lang="en" sz="1200">
                <a:solidFill>
                  <a:srgbClr val="127A7A"/>
                </a:solidFill>
                <a:latin typeface="Montserrat"/>
                <a:ea typeface="Montserrat"/>
                <a:cs typeface="Montserrat"/>
                <a:sym typeface="Montserrat"/>
              </a:rPr>
              <a:t>;</a:t>
            </a:r>
            <a:r>
              <a:rPr lang="en" sz="1200" i="0" u="none" strike="noStrike" cap="none">
                <a:solidFill>
                  <a:srgbClr val="127A7A"/>
                </a:solidFill>
                <a:latin typeface="Montserrat"/>
                <a:ea typeface="Montserrat"/>
                <a:cs typeface="Montserrat"/>
                <a:sym typeface="Montserrat"/>
              </a:rPr>
              <a:t> run them against load data first.</a:t>
            </a:r>
            <a:endParaRPr sz="1200">
              <a:solidFill>
                <a:srgbClr val="127A7A"/>
              </a:solidFill>
              <a:latin typeface="Montserrat"/>
              <a:ea typeface="Montserrat"/>
              <a:cs typeface="Montserrat"/>
              <a:sym typeface="Montserrat"/>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20"/>
        <p:cNvGrpSpPr/>
        <p:nvPr/>
      </p:nvGrpSpPr>
      <p:grpSpPr>
        <a:xfrm>
          <a:off x="0" y="0"/>
          <a:ext cx="0" cy="0"/>
          <a:chOff x="0" y="0"/>
          <a:chExt cx="0" cy="0"/>
        </a:xfrm>
      </p:grpSpPr>
      <p:sp>
        <p:nvSpPr>
          <p:cNvPr id="2121" name="Google Shape;2121;p196"/>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1200">
                <a:solidFill>
                  <a:schemeClr val="dk1"/>
                </a:solidFill>
                <a:latin typeface="Montserrat"/>
                <a:ea typeface="Montserrat"/>
                <a:cs typeface="Montserrat"/>
                <a:sym typeface="Montserrat"/>
              </a:rPr>
              <a:t>Based on Decree</a:t>
            </a:r>
            <a:r>
              <a:rPr lang="en" sz="1200">
                <a:solidFill>
                  <a:srgbClr val="1B3E6D"/>
                </a:solidFill>
                <a:latin typeface="Montserrat"/>
                <a:ea typeface="Montserrat"/>
                <a:cs typeface="Montserrat"/>
                <a:sym typeface="Montserrat"/>
              </a:rPr>
              <a:t> </a:t>
            </a:r>
            <a:r>
              <a:rPr lang="en" sz="1200" b="1">
                <a:solidFill>
                  <a:srgbClr val="E77A10"/>
                </a:solidFill>
                <a:latin typeface="Montserrat"/>
                <a:ea typeface="Montserrat"/>
                <a:cs typeface="Montserrat"/>
                <a:sym typeface="Montserrat"/>
              </a:rPr>
              <a:t>57/2025/ND-CP</a:t>
            </a:r>
            <a:r>
              <a:rPr lang="en" sz="1200">
                <a:solidFill>
                  <a:schemeClr val="dk1"/>
                </a:solidFill>
                <a:latin typeface="Montserrat"/>
                <a:ea typeface="Montserrat"/>
                <a:cs typeface="Montserrat"/>
                <a:sym typeface="Montserrat"/>
              </a:rPr>
              <a:t>, the cost calculation parameters are assumed as follows:</a:t>
            </a:r>
            <a:endParaRPr sz="1200">
              <a:solidFill>
                <a:schemeClr val="dk1"/>
              </a:solidFill>
              <a:latin typeface="Montserrat"/>
              <a:ea typeface="Montserrat"/>
              <a:cs typeface="Montserrat"/>
              <a:sym typeface="Montserrat"/>
            </a:endParaRPr>
          </a:p>
          <a:p>
            <a:pPr marL="0" lvl="0" indent="0" algn="l" rtl="0">
              <a:spcBef>
                <a:spcPts val="1200"/>
              </a:spcBef>
              <a:spcAft>
                <a:spcPts val="1200"/>
              </a:spcAft>
              <a:buNone/>
            </a:pPr>
            <a:endParaRPr sz="1200">
              <a:solidFill>
                <a:srgbClr val="1B3E6D"/>
              </a:solidFill>
              <a:latin typeface="Montserrat"/>
              <a:ea typeface="Montserrat"/>
              <a:cs typeface="Montserrat"/>
              <a:sym typeface="Montserrat"/>
            </a:endParaRPr>
          </a:p>
        </p:txBody>
      </p:sp>
      <p:grpSp>
        <p:nvGrpSpPr>
          <p:cNvPr id="2122" name="Google Shape;2122;p196"/>
          <p:cNvGrpSpPr/>
          <p:nvPr/>
        </p:nvGrpSpPr>
        <p:grpSpPr>
          <a:xfrm>
            <a:off x="239992" y="63853"/>
            <a:ext cx="8728050" cy="745997"/>
            <a:chOff x="236700" y="63853"/>
            <a:chExt cx="8728050" cy="745997"/>
          </a:xfrm>
        </p:grpSpPr>
        <p:sp>
          <p:nvSpPr>
            <p:cNvPr id="2123" name="Google Shape;2123;p196"/>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24" name="Google Shape;2124;p196"/>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25" name="Google Shape;2125;p196"/>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26" name="Google Shape;2126;p196"/>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27" name="Google Shape;2127;p196"/>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28" name="Google Shape;2128;p196"/>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29" name="Google Shape;2129;p196"/>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30" name="Google Shape;2130;p196"/>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General Assumptions &amp; Formula</a:t>
              </a:r>
              <a:endParaRPr sz="2100">
                <a:solidFill>
                  <a:srgbClr val="FFFFFF"/>
                </a:solidFill>
                <a:latin typeface="Montserrat ExtraBold"/>
                <a:ea typeface="Montserrat ExtraBold"/>
                <a:cs typeface="Montserrat ExtraBold"/>
                <a:sym typeface="Montserrat ExtraBold"/>
              </a:endParaRPr>
            </a:p>
          </p:txBody>
        </p:sp>
        <p:cxnSp>
          <p:nvCxnSpPr>
            <p:cNvPr id="2131" name="Google Shape;2131;p196"/>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32" name="Google Shape;2132;p196"/>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graphicFrame>
        <p:nvGraphicFramePr>
          <p:cNvPr id="2133" name="Google Shape;2133;p196"/>
          <p:cNvGraphicFramePr/>
          <p:nvPr/>
        </p:nvGraphicFramePr>
        <p:xfrm>
          <a:off x="377550" y="1592300"/>
          <a:ext cx="4677825" cy="2819850"/>
        </p:xfrm>
        <a:graphic>
          <a:graphicData uri="http://schemas.openxmlformats.org/drawingml/2006/table">
            <a:tbl>
              <a:tblPr>
                <a:noFill/>
                <a:tableStyleId>{F1742F6B-ED47-481C-AEBF-CD6BD0922621}</a:tableStyleId>
              </a:tblPr>
              <a:tblGrid>
                <a:gridCol w="884100">
                  <a:extLst>
                    <a:ext uri="{9D8B030D-6E8A-4147-A177-3AD203B41FA5}">
                      <a16:colId xmlns:a16="http://schemas.microsoft.com/office/drawing/2014/main" val="20000"/>
                    </a:ext>
                  </a:extLst>
                </a:gridCol>
                <a:gridCol w="965625">
                  <a:extLst>
                    <a:ext uri="{9D8B030D-6E8A-4147-A177-3AD203B41FA5}">
                      <a16:colId xmlns:a16="http://schemas.microsoft.com/office/drawing/2014/main" val="20001"/>
                    </a:ext>
                  </a:extLst>
                </a:gridCol>
                <a:gridCol w="991150">
                  <a:extLst>
                    <a:ext uri="{9D8B030D-6E8A-4147-A177-3AD203B41FA5}">
                      <a16:colId xmlns:a16="http://schemas.microsoft.com/office/drawing/2014/main" val="20002"/>
                    </a:ext>
                  </a:extLst>
                </a:gridCol>
                <a:gridCol w="1836950">
                  <a:extLst>
                    <a:ext uri="{9D8B030D-6E8A-4147-A177-3AD203B41FA5}">
                      <a16:colId xmlns:a16="http://schemas.microsoft.com/office/drawing/2014/main" val="20003"/>
                    </a:ext>
                  </a:extLst>
                </a:gridCol>
              </a:tblGrid>
              <a:tr h="381600">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Symbol</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Unit</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Assumed Value</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tc>
                  <a:txBody>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Description</a:t>
                      </a:r>
                      <a:endParaRPr sz="1000" b="1">
                        <a:solidFill>
                          <a:schemeClr val="lt1"/>
                        </a:solidFill>
                        <a:latin typeface="Montserrat"/>
                        <a:ea typeface="Montserrat"/>
                        <a:cs typeface="Montserrat"/>
                        <a:sym typeface="Montserrat"/>
                      </a:endParaRPr>
                    </a:p>
                  </a:txBody>
                  <a:tcPr marL="91425" marR="91425" marT="91425" marB="91425">
                    <a:lnL w="9525" cap="flat" cmpd="sng">
                      <a:solidFill>
                        <a:schemeClr val="lt1"/>
                      </a:solidFill>
                      <a:prstDash val="solid"/>
                      <a:round/>
                      <a:headEnd type="none" w="sm" len="sm"/>
                      <a:tailEnd type="none" w="sm" len="sm"/>
                    </a:lnL>
                    <a:lnR w="9525" cap="flat" cmpd="sng">
                      <a:solidFill>
                        <a:schemeClr val="lt1"/>
                      </a:solidFill>
                      <a:prstDash val="solid"/>
                      <a:round/>
                      <a:headEnd type="none" w="sm" len="sm"/>
                      <a:tailEnd type="none" w="sm" len="sm"/>
                    </a:lnR>
                    <a:lnT w="9525" cap="flat" cmpd="sng">
                      <a:solidFill>
                        <a:schemeClr val="lt1"/>
                      </a:solidFill>
                      <a:prstDash val="solid"/>
                      <a:round/>
                      <a:headEnd type="none" w="sm" len="sm"/>
                      <a:tailEnd type="none" w="sm" len="sm"/>
                    </a:lnT>
                    <a:lnB w="9525" cap="flat" cmpd="sng">
                      <a:solidFill>
                        <a:schemeClr val="lt1"/>
                      </a:solidFill>
                      <a:prstDash val="solid"/>
                      <a:round/>
                      <a:headEnd type="none" w="sm" len="sm"/>
                      <a:tailEnd type="none" w="sm" len="sm"/>
                    </a:lnB>
                    <a:solidFill>
                      <a:srgbClr val="1B3E6D"/>
                    </a:solidFill>
                  </a:tcPr>
                </a:tc>
                <a:extLst>
                  <a:ext uri="{0D108BD9-81ED-4DB2-BD59-A6C34878D82A}">
                    <a16:rowId xmlns:a16="http://schemas.microsoft.com/office/drawing/2014/main" val="10000"/>
                  </a:ext>
                </a:extLst>
              </a:tr>
              <a:tr h="331350">
                <a:tc>
                  <a:txBody>
                    <a:bodyPr/>
                    <a:lstStyle/>
                    <a:p>
                      <a:pPr marL="0" lvl="0" indent="0" algn="l" rtl="0">
                        <a:spcBef>
                          <a:spcPts val="0"/>
                        </a:spcBef>
                        <a:spcAft>
                          <a:spcPts val="0"/>
                        </a:spcAft>
                        <a:buNone/>
                      </a:pPr>
                      <a:r>
                        <a:rPr lang="en" sz="1000">
                          <a:latin typeface="Montserrat"/>
                          <a:ea typeface="Montserrat"/>
                          <a:cs typeface="Montserrat"/>
                          <a:sym typeface="Montserrat"/>
                        </a:rPr>
                        <a:t>k</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r>
                        <a:rPr lang="en" sz="1000">
                          <a:latin typeface="Montserrat"/>
                          <a:ea typeface="Montserrat"/>
                          <a:cs typeface="Montserrat"/>
                          <a:sym typeface="Montserrat"/>
                        </a:rPr>
                        <a:t>1.026</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tc>
                  <a:txBody>
                    <a:bodyPr/>
                    <a:lstStyle/>
                    <a:p>
                      <a:pPr marL="0" lvl="0" indent="0" algn="l" rtl="0">
                        <a:spcBef>
                          <a:spcPts val="0"/>
                        </a:spcBef>
                        <a:spcAft>
                          <a:spcPts val="0"/>
                        </a:spcAft>
                        <a:buNone/>
                      </a:pPr>
                      <a:r>
                        <a:rPr lang="en" sz="1000">
                          <a:latin typeface="Montserrat"/>
                          <a:ea typeface="Montserrat"/>
                          <a:cs typeface="Montserrat"/>
                          <a:sym typeface="Montserrat"/>
                        </a:rPr>
                        <a:t>Adjustment coefficient</a:t>
                      </a:r>
                      <a:endParaRPr sz="1000">
                        <a:latin typeface="Montserrat"/>
                        <a:ea typeface="Montserrat"/>
                        <a:cs typeface="Montserrat"/>
                        <a:sym typeface="Montserrat"/>
                      </a:endParaRPr>
                    </a:p>
                  </a:txBody>
                  <a:tcPr marL="91425" marR="91425" marT="91425" marB="91425">
                    <a:lnT w="9525" cap="flat" cmpd="sng">
                      <a:solidFill>
                        <a:schemeClr val="lt1"/>
                      </a:solidFill>
                      <a:prstDash val="solid"/>
                      <a:round/>
                      <a:headEnd type="none" w="sm" len="sm"/>
                      <a:tailEnd type="none" w="sm" len="sm"/>
                    </a:lnT>
                  </a:tcPr>
                </a:tc>
                <a:extLst>
                  <a:ext uri="{0D108BD9-81ED-4DB2-BD59-A6C34878D82A}">
                    <a16:rowId xmlns:a16="http://schemas.microsoft.com/office/drawing/2014/main" val="10001"/>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CDPPA_dv</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360</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Power system service cost</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2"/>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Pcl</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163.30</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Differential clearing fee</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3"/>
                  </a:ext>
                </a:extLst>
              </a:tr>
              <a:tr h="505075">
                <a:tc>
                  <a:txBody>
                    <a:bodyPr/>
                    <a:lstStyle/>
                    <a:p>
                      <a:pPr marL="0" lvl="0" indent="0" algn="l" rtl="0">
                        <a:spcBef>
                          <a:spcPts val="0"/>
                        </a:spcBef>
                        <a:spcAft>
                          <a:spcPts val="0"/>
                        </a:spcAft>
                        <a:buNone/>
                      </a:pPr>
                      <a:r>
                        <a:rPr lang="en" sz="1000">
                          <a:latin typeface="Montserrat"/>
                          <a:ea typeface="Montserrat"/>
                          <a:cs typeface="Montserrat"/>
                          <a:sym typeface="Montserrat"/>
                        </a:rPr>
                        <a:t>Kpp</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1.008</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Loss conversion coefficient at 110 kV voltage level</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4"/>
                  </a:ext>
                </a:extLst>
              </a:tr>
              <a:tr h="381600">
                <a:tc>
                  <a:txBody>
                    <a:bodyPr/>
                    <a:lstStyle/>
                    <a:p>
                      <a:pPr marL="0" lvl="0" indent="0" algn="l" rtl="0">
                        <a:spcBef>
                          <a:spcPts val="0"/>
                        </a:spcBef>
                        <a:spcAft>
                          <a:spcPts val="0"/>
                        </a:spcAft>
                        <a:buNone/>
                      </a:pPr>
                      <a:r>
                        <a:rPr lang="en" sz="1000">
                          <a:latin typeface="Montserrat"/>
                          <a:ea typeface="Montserrat"/>
                          <a:cs typeface="Montserrat"/>
                          <a:sym typeface="Montserrat"/>
                        </a:rPr>
                        <a:t>P1</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VND/kWh</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2,204</a:t>
                      </a:r>
                      <a:endParaRPr sz="1000">
                        <a:latin typeface="Montserrat"/>
                        <a:ea typeface="Montserrat"/>
                        <a:cs typeface="Montserrat"/>
                        <a:sym typeface="Montserrat"/>
                      </a:endParaRPr>
                    </a:p>
                  </a:txBody>
                  <a:tcPr marL="91425" marR="91425" marT="91425" marB="91425"/>
                </a:tc>
                <a:tc>
                  <a:txBody>
                    <a:bodyPr/>
                    <a:lstStyle/>
                    <a:p>
                      <a:pPr marL="0" lvl="0" indent="0" algn="l" rtl="0">
                        <a:spcBef>
                          <a:spcPts val="0"/>
                        </a:spcBef>
                        <a:spcAft>
                          <a:spcPts val="0"/>
                        </a:spcAft>
                        <a:buNone/>
                      </a:pPr>
                      <a:r>
                        <a:rPr lang="en" sz="1000">
                          <a:latin typeface="Montserrat"/>
                          <a:ea typeface="Montserrat"/>
                          <a:cs typeface="Montserrat"/>
                          <a:sym typeface="Montserrat"/>
                        </a:rPr>
                        <a:t>Average retail electricity price</a:t>
                      </a:r>
                      <a:endParaRPr sz="1000">
                        <a:latin typeface="Montserrat"/>
                        <a:ea typeface="Montserrat"/>
                        <a:cs typeface="Montserrat"/>
                        <a:sym typeface="Montserrat"/>
                      </a:endParaRPr>
                    </a:p>
                  </a:txBody>
                  <a:tcPr marL="91425" marR="91425" marT="91425" marB="91425"/>
                </a:tc>
                <a:extLst>
                  <a:ext uri="{0D108BD9-81ED-4DB2-BD59-A6C34878D82A}">
                    <a16:rowId xmlns:a16="http://schemas.microsoft.com/office/drawing/2014/main" val="10005"/>
                  </a:ext>
                </a:extLst>
              </a:tr>
            </a:tbl>
          </a:graphicData>
        </a:graphic>
      </p:graphicFrame>
      <p:sp>
        <p:nvSpPr>
          <p:cNvPr id="2134" name="Google Shape;2134;p196"/>
          <p:cNvSpPr txBox="1"/>
          <p:nvPr/>
        </p:nvSpPr>
        <p:spPr>
          <a:xfrm>
            <a:off x="5173475" y="1588600"/>
            <a:ext cx="3970500" cy="2819700"/>
          </a:xfrm>
          <a:prstGeom prst="rect">
            <a:avLst/>
          </a:prstGeom>
          <a:noFill/>
          <a:ln>
            <a:noFill/>
          </a:ln>
        </p:spPr>
        <p:txBody>
          <a:bodyPr spcFirstLastPara="1" wrap="square" lIns="91425" tIns="91425" rIns="91425" bIns="91425" anchor="t" anchorCtr="0">
            <a:noAutofit/>
          </a:bodyPr>
          <a:lstStyle/>
          <a:p>
            <a:pPr marL="0" lvl="0" indent="0" algn="l" rtl="0">
              <a:lnSpc>
                <a:spcPct val="112000"/>
              </a:lnSpc>
              <a:spcBef>
                <a:spcPts val="0"/>
              </a:spcBef>
              <a:spcAft>
                <a:spcPts val="0"/>
              </a:spcAft>
              <a:buNone/>
            </a:pPr>
            <a:r>
              <a:rPr lang="en" sz="1150">
                <a:solidFill>
                  <a:srgbClr val="1C5648"/>
                </a:solidFill>
                <a:latin typeface="Montserrat"/>
                <a:ea typeface="Montserrat"/>
                <a:cs typeface="Montserrat"/>
                <a:sym typeface="Montserrat"/>
              </a:rPr>
              <a:t>Cost Formulas</a:t>
            </a: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None/>
            </a:pPr>
            <a:endParaRPr sz="1150">
              <a:solidFill>
                <a:srgbClr val="1C5648"/>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600" b="1">
                <a:solidFill>
                  <a:srgbClr val="C8902B"/>
                </a:solidFill>
                <a:latin typeface="Montserrat"/>
                <a:ea typeface="Montserrat"/>
                <a:cs typeface="Montserrat"/>
                <a:sym typeface="Montserrat"/>
              </a:rPr>
              <a:t>C_KH</a:t>
            </a:r>
            <a:r>
              <a:rPr lang="en" sz="1600" b="1">
                <a:solidFill>
                  <a:srgbClr val="1B2D2A"/>
                </a:solidFill>
                <a:latin typeface="Montserrat"/>
                <a:ea typeface="Montserrat"/>
                <a:cs typeface="Montserrat"/>
                <a:sym typeface="Montserrat"/>
              </a:rPr>
              <a:t>  =  	C_EVN  +  	C_CfD</a:t>
            </a: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Clr>
                <a:schemeClr val="dk1"/>
              </a:buClr>
              <a:buSzPts val="1100"/>
              <a:buFont typeface="Arial"/>
              <a:buNone/>
            </a:pPr>
            <a:endParaRPr sz="1150">
              <a:solidFill>
                <a:srgbClr val="1C5648"/>
              </a:solidFill>
              <a:latin typeface="Montserrat"/>
              <a:ea typeface="Montserrat"/>
              <a:cs typeface="Montserrat"/>
              <a:sym typeface="Montserrat"/>
            </a:endParaRPr>
          </a:p>
          <a:p>
            <a:pPr marL="0" lvl="0" indent="0" algn="l" rtl="0">
              <a:lnSpc>
                <a:spcPct val="112000"/>
              </a:lnSpc>
              <a:spcBef>
                <a:spcPts val="0"/>
              </a:spcBef>
              <a:spcAft>
                <a:spcPts val="0"/>
              </a:spcAft>
              <a:buNone/>
            </a:pPr>
            <a:endParaRPr sz="1800">
              <a:solidFill>
                <a:schemeClr val="dk2"/>
              </a:solidFill>
              <a:latin typeface="Montserrat"/>
              <a:ea typeface="Montserrat"/>
              <a:cs typeface="Montserrat"/>
              <a:sym typeface="Montserrat"/>
            </a:endParaRPr>
          </a:p>
        </p:txBody>
      </p:sp>
      <p:sp>
        <p:nvSpPr>
          <p:cNvPr id="2135" name="Google Shape;2135;p196"/>
          <p:cNvSpPr txBox="1"/>
          <p:nvPr/>
        </p:nvSpPr>
        <p:spPr>
          <a:xfrm>
            <a:off x="344700" y="4556025"/>
            <a:ext cx="8520600" cy="49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i="1">
                <a:solidFill>
                  <a:srgbClr val="127A7A"/>
                </a:solidFill>
                <a:latin typeface="Montserrat"/>
                <a:ea typeface="Montserrat"/>
                <a:cs typeface="Montserrat"/>
                <a:sym typeface="Montserrat"/>
              </a:rPr>
              <a:t>Note:  The plant sells all output to the spot market (receives FMP); the CfD only adjusts the price to Pc for the contracted volume Qc.</a:t>
            </a:r>
            <a:endParaRPr sz="900" i="1">
              <a:solidFill>
                <a:srgbClr val="127A7A"/>
              </a:solidFill>
              <a:latin typeface="Montserrat"/>
              <a:ea typeface="Montserrat"/>
              <a:cs typeface="Montserrat"/>
              <a:sym typeface="Montserrat"/>
            </a:endParaRPr>
          </a:p>
        </p:txBody>
      </p:sp>
      <p:sp>
        <p:nvSpPr>
          <p:cNvPr id="2136" name="Google Shape;2136;p196"/>
          <p:cNvSpPr txBox="1"/>
          <p:nvPr/>
        </p:nvSpPr>
        <p:spPr>
          <a:xfrm>
            <a:off x="7786200" y="2521750"/>
            <a:ext cx="1357800" cy="1330800"/>
          </a:xfrm>
          <a:prstGeom prst="rect">
            <a:avLst/>
          </a:prstGeom>
          <a:noFill/>
          <a:ln>
            <a:noFill/>
          </a:ln>
        </p:spPr>
        <p:txBody>
          <a:bodyPr spcFirstLastPara="1" wrap="square" lIns="91425" tIns="91425" rIns="91425" bIns="91425" anchor="t" anchorCtr="0">
            <a:noAutofit/>
          </a:bodyPr>
          <a:lstStyle/>
          <a:p>
            <a:pPr marL="0" lvl="0" indent="0" algn="l" rtl="0">
              <a:lnSpc>
                <a:spcPct val="112000"/>
              </a:lnSpc>
              <a:spcBef>
                <a:spcPts val="0"/>
              </a:spcBef>
              <a:spcAft>
                <a:spcPts val="0"/>
              </a:spcAft>
              <a:buNone/>
            </a:pPr>
            <a:endParaRPr sz="1150">
              <a:solidFill>
                <a:srgbClr val="1B2D2A"/>
              </a:solidFill>
              <a:latin typeface="Montserrat"/>
              <a:ea typeface="Montserrat"/>
              <a:cs typeface="Montserrat"/>
              <a:sym typeface="Montserrat"/>
            </a:endParaRPr>
          </a:p>
          <a:p>
            <a:pPr marL="0" lvl="0" indent="0" algn="l" rtl="0">
              <a:lnSpc>
                <a:spcPct val="112000"/>
              </a:lnSpc>
              <a:spcBef>
                <a:spcPts val="0"/>
              </a:spcBef>
              <a:spcAft>
                <a:spcPts val="0"/>
              </a:spcAft>
              <a:buClr>
                <a:schemeClr val="dk1"/>
              </a:buClr>
              <a:buSzPts val="1100"/>
              <a:buFont typeface="Arial"/>
              <a:buNone/>
            </a:pPr>
            <a:r>
              <a:rPr lang="en" sz="1150">
                <a:solidFill>
                  <a:srgbClr val="1B2D2A"/>
                </a:solidFill>
                <a:latin typeface="Montserrat"/>
                <a:ea typeface="Montserrat"/>
                <a:cs typeface="Montserrat"/>
                <a:sym typeface="Montserrat"/>
              </a:rPr>
              <a:t>(Pc − FMP) * Qc</a:t>
            </a:r>
            <a:endParaRPr sz="1800">
              <a:solidFill>
                <a:schemeClr val="dk2"/>
              </a:solidFill>
            </a:endParaRPr>
          </a:p>
        </p:txBody>
      </p:sp>
      <p:sp>
        <p:nvSpPr>
          <p:cNvPr id="2137" name="Google Shape;2137;p196"/>
          <p:cNvSpPr txBox="1"/>
          <p:nvPr/>
        </p:nvSpPr>
        <p:spPr>
          <a:xfrm rot="5400000">
            <a:off x="6891650" y="2286150"/>
            <a:ext cx="308700" cy="57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Montserrat"/>
                <a:ea typeface="Montserrat"/>
                <a:cs typeface="Montserrat"/>
                <a:sym typeface="Montserrat"/>
              </a:rPr>
              <a:t>=</a:t>
            </a:r>
            <a:endParaRPr sz="2000" b="1">
              <a:solidFill>
                <a:schemeClr val="dk1"/>
              </a:solidFill>
              <a:latin typeface="Montserrat"/>
              <a:ea typeface="Montserrat"/>
              <a:cs typeface="Montserrat"/>
              <a:sym typeface="Montserrat"/>
            </a:endParaRPr>
          </a:p>
        </p:txBody>
      </p:sp>
      <p:sp>
        <p:nvSpPr>
          <p:cNvPr id="2138" name="Google Shape;2138;p196"/>
          <p:cNvSpPr txBox="1"/>
          <p:nvPr/>
        </p:nvSpPr>
        <p:spPr>
          <a:xfrm>
            <a:off x="5119525" y="2766575"/>
            <a:ext cx="2212200" cy="1645500"/>
          </a:xfrm>
          <a:prstGeom prst="rect">
            <a:avLst/>
          </a:prstGeom>
          <a:noFill/>
          <a:ln>
            <a:noFill/>
          </a:ln>
        </p:spPr>
        <p:txBody>
          <a:bodyPr spcFirstLastPara="1" wrap="square" lIns="91425" tIns="91425" rIns="91425" bIns="91425" anchor="t" anchorCtr="0">
            <a:noAutofit/>
          </a:bodyPr>
          <a:lstStyle/>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FMP * k * Kpp = </a:t>
            </a:r>
            <a:r>
              <a:rPr lang="en" sz="1050" b="1">
                <a:solidFill>
                  <a:srgbClr val="1B2D2A"/>
                </a:solidFill>
                <a:latin typeface="Montserrat"/>
                <a:ea typeface="Montserrat"/>
                <a:cs typeface="Montserrat"/>
                <a:sym typeface="Montserrat"/>
              </a:rPr>
              <a:t>C_DN </a:t>
            </a:r>
            <a:endParaRPr sz="1050" b="1">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C_dppa_dv = </a:t>
            </a:r>
            <a:r>
              <a:rPr lang="en" sz="1050" b="1">
                <a:solidFill>
                  <a:srgbClr val="1B2D2A"/>
                </a:solidFill>
                <a:latin typeface="Montserrat"/>
                <a:ea typeface="Montserrat"/>
                <a:cs typeface="Montserrat"/>
                <a:sym typeface="Montserrat"/>
              </a:rPr>
              <a:t>C_dppa </a:t>
            </a:r>
            <a:endParaRPr sz="1050" b="1">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Qkhhc * Pcl = </a:t>
            </a:r>
            <a:r>
              <a:rPr lang="en" sz="1050" b="1">
                <a:solidFill>
                  <a:srgbClr val="1B2D2A"/>
                </a:solidFill>
                <a:latin typeface="Montserrat"/>
                <a:ea typeface="Montserrat"/>
                <a:cs typeface="Montserrat"/>
                <a:sym typeface="Montserrat"/>
              </a:rPr>
              <a:t>C_cl</a:t>
            </a:r>
            <a:r>
              <a:rPr lang="en" sz="1050">
                <a:solidFill>
                  <a:srgbClr val="1B2D2A"/>
                </a:solidFill>
                <a:latin typeface="Montserrat"/>
                <a:ea typeface="Montserrat"/>
                <a:cs typeface="Montserrat"/>
                <a:sym typeface="Montserrat"/>
              </a:rPr>
              <a:t> </a:t>
            </a: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endParaRPr sz="1050">
              <a:solidFill>
                <a:srgbClr val="1B2D2A"/>
              </a:solidFill>
              <a:latin typeface="Montserrat"/>
              <a:ea typeface="Montserrat"/>
              <a:cs typeface="Montserrat"/>
              <a:sym typeface="Montserrat"/>
            </a:endParaRPr>
          </a:p>
          <a:p>
            <a:pPr marL="0" lvl="0" indent="0" algn="r" rtl="0">
              <a:lnSpc>
                <a:spcPct val="112000"/>
              </a:lnSpc>
              <a:spcBef>
                <a:spcPts val="0"/>
              </a:spcBef>
              <a:spcAft>
                <a:spcPts val="0"/>
              </a:spcAft>
              <a:buClr>
                <a:schemeClr val="dk1"/>
              </a:buClr>
              <a:buSzPts val="1100"/>
              <a:buFont typeface="Arial"/>
              <a:buNone/>
            </a:pPr>
            <a:r>
              <a:rPr lang="en" sz="1050">
                <a:solidFill>
                  <a:srgbClr val="1B2D2A"/>
                </a:solidFill>
                <a:latin typeface="Montserrat"/>
                <a:ea typeface="Montserrat"/>
                <a:cs typeface="Montserrat"/>
                <a:sym typeface="Montserrat"/>
              </a:rPr>
              <a:t>(QKH − Qkhhc) * P1 = </a:t>
            </a:r>
            <a:r>
              <a:rPr lang="en" sz="1050" b="1">
                <a:solidFill>
                  <a:srgbClr val="1B2D2A"/>
                </a:solidFill>
                <a:latin typeface="Montserrat"/>
                <a:ea typeface="Montserrat"/>
                <a:cs typeface="Montserrat"/>
                <a:sym typeface="Montserrat"/>
              </a:rPr>
              <a:t>C_bl</a:t>
            </a:r>
            <a:endParaRPr sz="1050" b="1">
              <a:solidFill>
                <a:srgbClr val="1B2D2A"/>
              </a:solidFill>
              <a:latin typeface="Montserrat"/>
              <a:ea typeface="Montserrat"/>
              <a:cs typeface="Montserrat"/>
              <a:sym typeface="Montserrat"/>
            </a:endParaRPr>
          </a:p>
          <a:p>
            <a:pPr marL="0" lvl="0" indent="0" algn="r" rtl="0">
              <a:spcBef>
                <a:spcPts val="0"/>
              </a:spcBef>
              <a:spcAft>
                <a:spcPts val="0"/>
              </a:spcAft>
              <a:buNone/>
            </a:pPr>
            <a:endParaRPr sz="1700">
              <a:solidFill>
                <a:schemeClr val="dk2"/>
              </a:solidFill>
            </a:endParaRPr>
          </a:p>
        </p:txBody>
      </p:sp>
      <p:sp>
        <p:nvSpPr>
          <p:cNvPr id="2139" name="Google Shape;2139;p196"/>
          <p:cNvSpPr txBox="1"/>
          <p:nvPr/>
        </p:nvSpPr>
        <p:spPr>
          <a:xfrm>
            <a:off x="6648175" y="3005450"/>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0" name="Google Shape;2140;p196"/>
          <p:cNvSpPr txBox="1"/>
          <p:nvPr/>
        </p:nvSpPr>
        <p:spPr>
          <a:xfrm>
            <a:off x="6643550" y="3385625"/>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1" name="Google Shape;2141;p196"/>
          <p:cNvSpPr txBox="1"/>
          <p:nvPr/>
        </p:nvSpPr>
        <p:spPr>
          <a:xfrm>
            <a:off x="6643550" y="3765875"/>
            <a:ext cx="804900" cy="205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dk1"/>
                </a:solidFill>
                <a:latin typeface="Montserrat"/>
                <a:ea typeface="Montserrat"/>
                <a:cs typeface="Montserrat"/>
                <a:sym typeface="Montserrat"/>
              </a:rPr>
              <a:t>+</a:t>
            </a:r>
            <a:endParaRPr sz="1600" b="1">
              <a:solidFill>
                <a:schemeClr val="dk1"/>
              </a:solidFill>
              <a:latin typeface="Montserrat"/>
              <a:ea typeface="Montserrat"/>
              <a:cs typeface="Montserrat"/>
              <a:sym typeface="Montserrat"/>
            </a:endParaRPr>
          </a:p>
        </p:txBody>
      </p:sp>
      <p:sp>
        <p:nvSpPr>
          <p:cNvPr id="2142" name="Google Shape;2142;p196"/>
          <p:cNvSpPr txBox="1"/>
          <p:nvPr/>
        </p:nvSpPr>
        <p:spPr>
          <a:xfrm rot="5400000">
            <a:off x="8195075" y="2286150"/>
            <a:ext cx="308700" cy="571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b="1">
                <a:solidFill>
                  <a:schemeClr val="dk1"/>
                </a:solidFill>
                <a:latin typeface="Montserrat"/>
                <a:ea typeface="Montserrat"/>
                <a:cs typeface="Montserrat"/>
                <a:sym typeface="Montserrat"/>
              </a:rPr>
              <a:t>=</a:t>
            </a:r>
            <a:endParaRPr sz="2000" b="1">
              <a:solidFill>
                <a:schemeClr val="dk1"/>
              </a:solidFill>
              <a:latin typeface="Montserrat"/>
              <a:ea typeface="Montserrat"/>
              <a:cs typeface="Montserrat"/>
              <a:sym typeface="Montserra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46"/>
        <p:cNvGrpSpPr/>
        <p:nvPr/>
      </p:nvGrpSpPr>
      <p:grpSpPr>
        <a:xfrm>
          <a:off x="0" y="0"/>
          <a:ext cx="0" cy="0"/>
          <a:chOff x="0" y="0"/>
          <a:chExt cx="0" cy="0"/>
        </a:xfrm>
      </p:grpSpPr>
      <p:pic>
        <p:nvPicPr>
          <p:cNvPr id="2147" name="Google Shape;2147;p197"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148" name="Google Shape;2148;p197"/>
          <p:cNvPicPr preferRelativeResize="0"/>
          <p:nvPr/>
        </p:nvPicPr>
        <p:blipFill>
          <a:blip r:embed="rId4">
            <a:alphaModFix/>
          </a:blip>
          <a:stretch>
            <a:fillRect/>
          </a:stretch>
        </p:blipFill>
        <p:spPr>
          <a:xfrm>
            <a:off x="7472673" y="4830726"/>
            <a:ext cx="894924" cy="312775"/>
          </a:xfrm>
          <a:prstGeom prst="rect">
            <a:avLst/>
          </a:prstGeom>
          <a:noFill/>
          <a:ln>
            <a:noFill/>
          </a:ln>
        </p:spPr>
      </p:pic>
      <p:grpSp>
        <p:nvGrpSpPr>
          <p:cNvPr id="2149" name="Google Shape;2149;p197"/>
          <p:cNvGrpSpPr/>
          <p:nvPr/>
        </p:nvGrpSpPr>
        <p:grpSpPr>
          <a:xfrm>
            <a:off x="239992" y="63853"/>
            <a:ext cx="8728050" cy="745997"/>
            <a:chOff x="236700" y="63853"/>
            <a:chExt cx="8728050" cy="745997"/>
          </a:xfrm>
        </p:grpSpPr>
        <p:sp>
          <p:nvSpPr>
            <p:cNvPr id="2150" name="Google Shape;2150;p197"/>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51" name="Google Shape;2151;p197"/>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52" name="Google Shape;2152;p197"/>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53" name="Google Shape;2153;p197"/>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54" name="Google Shape;2154;p197"/>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55" name="Google Shape;2155;p197"/>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56" name="Google Shape;2156;p197"/>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57" name="Google Shape;2157;p197"/>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Scenario 1: The Base Case</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158" name="Google Shape;2158;p197"/>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59" name="Google Shape;2159;p197"/>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160" name="Google Shape;2160;p197"/>
          <p:cNvSpPr txBox="1"/>
          <p:nvPr/>
        </p:nvSpPr>
        <p:spPr>
          <a:xfrm>
            <a:off x="240000" y="948875"/>
            <a:ext cx="8685900" cy="3756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rgbClr val="1B3E6D"/>
                </a:solidFill>
                <a:latin typeface="Montserrat"/>
                <a:ea typeface="Montserrat"/>
                <a:cs typeface="Montserrat"/>
                <a:sym typeface="Montserrat"/>
              </a:rPr>
              <a:t>Your manufacturing plant has a strict corporate target to reach 100% renewable energy consumption by 2030. To achieve this, your team wants to sign a DPPA via National Grid (Virtual DPPA) with a large solar developer.</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200" b="1">
                <a:solidFill>
                  <a:srgbClr val="1B3E6D"/>
                </a:solidFill>
                <a:latin typeface="Montserrat"/>
                <a:ea typeface="Montserrat"/>
                <a:cs typeface="Montserrat"/>
                <a:sym typeface="Montserrat"/>
              </a:rPr>
              <a:t>Operational issue:</a:t>
            </a:r>
            <a:r>
              <a:rPr lang="en" sz="1200">
                <a:solidFill>
                  <a:srgbClr val="1B3E6D"/>
                </a:solidFill>
                <a:latin typeface="Montserrat"/>
                <a:ea typeface="Montserrat"/>
                <a:cs typeface="Montserrat"/>
                <a:sym typeface="Montserrat"/>
              </a:rPr>
              <a:t> Your factory doesn’t buy electricity directly from EVN. Instead, you pay your monthly electricity bill to the private Industrial Park Management Board, who buys bulk power from EVN and resells it to you through their internal grid.</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200" b="1">
                <a:solidFill>
                  <a:srgbClr val="1B3E6D"/>
                </a:solidFill>
                <a:latin typeface="Montserrat"/>
                <a:ea typeface="Montserrat"/>
                <a:cs typeface="Montserrat"/>
                <a:sym typeface="Montserrat"/>
              </a:rPr>
              <a:t>Questions:</a:t>
            </a:r>
            <a:endParaRPr sz="1200" b="1">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Under Decree 57, an Electricity Buyer must consume ≥200,000 kWh/month. If the IP lumps your factory into their master EVN meter, how do you accurately track and prove your specific energy use to qualify?</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A standard Virtual PPA is a bilateral agreement (Between Buyer and Seller). However, since electricity delivery is controlled by the IP (Retailer), who actually needs to be at the negotiation table to make this work?</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What happens if the IP demands a new, non-negotiable "infrastructure fee" to facilitate this DPPA setup? How does that impact your budget forecasting and management buy-in over a typical 15-to-20-year PPA Contract Term?</a:t>
            </a:r>
            <a:endParaRPr sz="12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200" b="1">
              <a:solidFill>
                <a:srgbClr val="1B3E6D"/>
              </a:solidFill>
              <a:latin typeface="Montserrat"/>
              <a:ea typeface="Montserrat"/>
              <a:cs typeface="Montserrat"/>
              <a:sym typeface="Montserrat"/>
            </a:endParaRPr>
          </a:p>
          <a:p>
            <a:pPr marL="0" lvl="0" indent="0" algn="l" rtl="0">
              <a:spcBef>
                <a:spcPts val="0"/>
              </a:spcBef>
              <a:spcAft>
                <a:spcPts val="0"/>
              </a:spcAft>
              <a:buNone/>
            </a:pPr>
            <a:endParaRPr sz="1200">
              <a:solidFill>
                <a:srgbClr val="1B3E6D"/>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164"/>
        <p:cNvGrpSpPr/>
        <p:nvPr/>
      </p:nvGrpSpPr>
      <p:grpSpPr>
        <a:xfrm>
          <a:off x="0" y="0"/>
          <a:ext cx="0" cy="0"/>
          <a:chOff x="0" y="0"/>
          <a:chExt cx="0" cy="0"/>
        </a:xfrm>
      </p:grpSpPr>
      <p:grpSp>
        <p:nvGrpSpPr>
          <p:cNvPr id="2165" name="Google Shape;2165;p198"/>
          <p:cNvGrpSpPr/>
          <p:nvPr/>
        </p:nvGrpSpPr>
        <p:grpSpPr>
          <a:xfrm>
            <a:off x="239992" y="63853"/>
            <a:ext cx="8728050" cy="745997"/>
            <a:chOff x="236700" y="63853"/>
            <a:chExt cx="8728050" cy="745997"/>
          </a:xfrm>
        </p:grpSpPr>
        <p:sp>
          <p:nvSpPr>
            <p:cNvPr id="2166" name="Google Shape;2166;p198"/>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167" name="Google Shape;2167;p198"/>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168" name="Google Shape;2168;p198"/>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169" name="Google Shape;2169;p198"/>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170" name="Google Shape;2170;p198"/>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171" name="Google Shape;2171;p198"/>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172" name="Google Shape;2172;p198"/>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173" name="Google Shape;2173;p198"/>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(1)</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1000" b="1">
                <a:solidFill>
                  <a:schemeClr val="lt1"/>
                </a:solidFill>
                <a:latin typeface="Montserrat"/>
                <a:ea typeface="Montserrat"/>
                <a:cs typeface="Montserrat"/>
                <a:sym typeface="Montserrat"/>
              </a:endParaRPr>
            </a:p>
          </p:txBody>
        </p:sp>
        <p:cxnSp>
          <p:nvCxnSpPr>
            <p:cNvPr id="2174" name="Google Shape;2174;p198"/>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175" name="Google Shape;2175;p198"/>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176" name="Google Shape;2176;p198"/>
          <p:cNvSpPr txBox="1"/>
          <p:nvPr/>
        </p:nvSpPr>
        <p:spPr>
          <a:xfrm>
            <a:off x="2619700" y="1563575"/>
            <a:ext cx="6470400" cy="2589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5-Line Bill</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1. Market electricity energy cost</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5,000,000 kWh * 1,150 VND/kWh * 1.026 * 1.008 = </a:t>
            </a:r>
            <a:r>
              <a:rPr lang="en" sz="1100" b="1">
                <a:solidFill>
                  <a:srgbClr val="E77A10"/>
                </a:solidFill>
                <a:latin typeface="Montserrat"/>
                <a:ea typeface="Montserrat"/>
                <a:cs typeface="Montserrat"/>
                <a:sym typeface="Montserrat"/>
              </a:rPr>
              <a:t>5,946,696,000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2. System service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DPPA</a:t>
            </a:r>
            <a:r>
              <a:rPr lang="en" sz="1300">
                <a:solidFill>
                  <a:srgbClr val="1B3E6D"/>
                </a:solidFill>
                <a:latin typeface="Montserrat"/>
                <a:ea typeface="Montserrat"/>
                <a:cs typeface="Montserrat"/>
                <a:sym typeface="Montserrat"/>
              </a:rPr>
              <a:t> </a:t>
            </a:r>
            <a:r>
              <a:rPr lang="en" sz="1100">
                <a:solidFill>
                  <a:srgbClr val="1B3E6D"/>
                </a:solidFill>
                <a:latin typeface="Montserrat"/>
                <a:ea typeface="Montserrat"/>
                <a:cs typeface="Montserrat"/>
                <a:sym typeface="Montserrat"/>
              </a:rPr>
              <a:t>= 5,000,000 kWh * 360 VND/kWh = </a:t>
            </a:r>
            <a:r>
              <a:rPr lang="en" sz="1100" b="1">
                <a:solidFill>
                  <a:srgbClr val="E77A10"/>
                </a:solidFill>
                <a:latin typeface="Montserrat"/>
                <a:ea typeface="Montserrat"/>
                <a:cs typeface="Montserrat"/>
                <a:sym typeface="Montserrat"/>
              </a:rPr>
              <a:t>1,800,000,000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3. Difference clearing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CL</a:t>
            </a:r>
            <a:r>
              <a:rPr lang="en" sz="1100">
                <a:solidFill>
                  <a:srgbClr val="1B3E6D"/>
                </a:solidFill>
                <a:latin typeface="Montserrat"/>
                <a:ea typeface="Montserrat"/>
                <a:cs typeface="Montserrat"/>
                <a:sym typeface="Montserrat"/>
              </a:rPr>
              <a:t> = 5,000,000 kWh * 163.30 VND/kWh = </a:t>
            </a:r>
            <a:r>
              <a:rPr lang="en" sz="1100" b="1">
                <a:solidFill>
                  <a:srgbClr val="E77A10"/>
                </a:solidFill>
                <a:latin typeface="Montserrat"/>
                <a:ea typeface="Montserrat"/>
                <a:cs typeface="Montserrat"/>
                <a:sym typeface="Montserrat"/>
              </a:rPr>
              <a:t>816,500,000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4. Additional electricity purchase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BL</a:t>
            </a:r>
            <a:r>
              <a:rPr lang="en" sz="1100">
                <a:solidFill>
                  <a:srgbClr val="1B3E6D"/>
                </a:solidFill>
                <a:latin typeface="Montserrat"/>
                <a:ea typeface="Montserrat"/>
                <a:cs typeface="Montserrat"/>
                <a:sym typeface="Montserrat"/>
              </a:rPr>
              <a:t>= (QKH - Qkhhc)* P1 = 0 kWh * 2,204 VND/kWh = </a:t>
            </a:r>
            <a:r>
              <a:rPr lang="en" sz="1100" b="1">
                <a:solidFill>
                  <a:srgbClr val="E77A10"/>
                </a:solidFill>
                <a:latin typeface="Montserrat"/>
                <a:ea typeface="Montserrat"/>
                <a:cs typeface="Montserrat"/>
                <a:sym typeface="Montserrat"/>
              </a:rPr>
              <a:t>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p:txBody>
      </p:sp>
      <p:pic>
        <p:nvPicPr>
          <p:cNvPr id="2177" name="Google Shape;2177;p198"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178" name="Google Shape;2178;p198"/>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179" name="Google Shape;2179;p198"/>
          <p:cNvSpPr txBox="1"/>
          <p:nvPr/>
        </p:nvSpPr>
        <p:spPr>
          <a:xfrm>
            <a:off x="2619700" y="901912"/>
            <a:ext cx="3047400" cy="4857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Difference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a:t>
            </a:r>
            <a:r>
              <a:rPr lang="en">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KHhc</a:t>
            </a:r>
            <a:r>
              <a:rPr lang="en" sz="1200">
                <a:solidFill>
                  <a:srgbClr val="1B3E6D"/>
                </a:solidFill>
                <a:latin typeface="Montserrat"/>
                <a:ea typeface="Montserrat"/>
                <a:cs typeface="Montserrat"/>
                <a:sym typeface="Montserrat"/>
              </a:rPr>
              <a:t> = 0 MWh</a:t>
            </a:r>
            <a:endParaRPr sz="1200">
              <a:solidFill>
                <a:srgbClr val="1B3E6D"/>
              </a:solidFill>
              <a:latin typeface="Montserrat"/>
              <a:ea typeface="Montserrat"/>
              <a:cs typeface="Montserrat"/>
              <a:sym typeface="Montserrat"/>
            </a:endParaRPr>
          </a:p>
        </p:txBody>
      </p:sp>
      <p:sp>
        <p:nvSpPr>
          <p:cNvPr id="2180" name="Google Shape;2180;p198"/>
          <p:cNvSpPr txBox="1"/>
          <p:nvPr/>
        </p:nvSpPr>
        <p:spPr>
          <a:xfrm>
            <a:off x="5920650" y="901912"/>
            <a:ext cx="3047400" cy="485700"/>
          </a:xfrm>
          <a:prstGeom prst="rect">
            <a:avLst/>
          </a:prstGeom>
          <a:noFill/>
          <a:ln w="9525"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The customer doesn’t need additional electricity from EVN</a:t>
            </a:r>
            <a:endParaRPr sz="1200">
              <a:solidFill>
                <a:srgbClr val="1B3E6D"/>
              </a:solidFill>
              <a:latin typeface="Montserrat"/>
              <a:ea typeface="Montserrat"/>
              <a:cs typeface="Montserrat"/>
              <a:sym typeface="Montserrat"/>
            </a:endParaRPr>
          </a:p>
        </p:txBody>
      </p:sp>
      <p:cxnSp>
        <p:nvCxnSpPr>
          <p:cNvPr id="2181" name="Google Shape;2181;p198"/>
          <p:cNvCxnSpPr>
            <a:stCxn id="2179" idx="3"/>
            <a:endCxn id="2180" idx="1"/>
          </p:cNvCxnSpPr>
          <p:nvPr/>
        </p:nvCxnSpPr>
        <p:spPr>
          <a:xfrm>
            <a:off x="5667100" y="1144762"/>
            <a:ext cx="253500" cy="0"/>
          </a:xfrm>
          <a:prstGeom prst="straightConnector1">
            <a:avLst/>
          </a:prstGeom>
          <a:noFill/>
          <a:ln w="9525" cap="flat" cmpd="sng">
            <a:solidFill>
              <a:schemeClr val="dk2"/>
            </a:solidFill>
            <a:prstDash val="solid"/>
            <a:round/>
            <a:headEnd type="none" w="med" len="med"/>
            <a:tailEnd type="triangle" w="med" len="med"/>
          </a:ln>
        </p:spPr>
      </p:cxnSp>
      <p:sp>
        <p:nvSpPr>
          <p:cNvPr id="2182" name="Google Shape;2182;p198"/>
          <p:cNvSpPr/>
          <p:nvPr/>
        </p:nvSpPr>
        <p:spPr>
          <a:xfrm>
            <a:off x="2373900" y="4354425"/>
            <a:ext cx="6702000" cy="485700"/>
          </a:xfrm>
          <a:prstGeom prst="rect">
            <a:avLst/>
          </a:prstGeom>
          <a:solidFill>
            <a:srgbClr val="D9EAD3"/>
          </a:solidFill>
          <a:ln w="19050" cap="flat" cmpd="sng">
            <a:solidFill>
              <a:srgbClr val="1B786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cost collected by EVN </a:t>
            </a:r>
            <a:endParaRPr sz="1100" b="1">
              <a:solidFill>
                <a:srgbClr val="1B3E6D"/>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5,946,696,000 + 1,800,000,000 + 816,500,000 + 0 = </a:t>
            </a:r>
            <a:r>
              <a:rPr lang="en" sz="1100" b="1">
                <a:solidFill>
                  <a:srgbClr val="E77A10"/>
                </a:solidFill>
                <a:latin typeface="Montserrat"/>
                <a:ea typeface="Montserrat"/>
                <a:cs typeface="Montserrat"/>
                <a:sym typeface="Montserrat"/>
              </a:rPr>
              <a:t>8,563,196,000 VND</a:t>
            </a:r>
            <a:endParaRPr sz="1300"/>
          </a:p>
        </p:txBody>
      </p:sp>
      <p:grpSp>
        <p:nvGrpSpPr>
          <p:cNvPr id="2183" name="Google Shape;2183;p198"/>
          <p:cNvGrpSpPr/>
          <p:nvPr/>
        </p:nvGrpSpPr>
        <p:grpSpPr>
          <a:xfrm>
            <a:off x="76778" y="939562"/>
            <a:ext cx="2543025" cy="3723037"/>
            <a:chOff x="76784" y="895150"/>
            <a:chExt cx="2573391" cy="3767493"/>
          </a:xfrm>
        </p:grpSpPr>
        <p:grpSp>
          <p:nvGrpSpPr>
            <p:cNvPr id="2184" name="Google Shape;2184;p198"/>
            <p:cNvGrpSpPr/>
            <p:nvPr/>
          </p:nvGrpSpPr>
          <p:grpSpPr>
            <a:xfrm>
              <a:off x="76784" y="895150"/>
              <a:ext cx="2573391" cy="3767493"/>
              <a:chOff x="133650" y="895150"/>
              <a:chExt cx="2573391" cy="3767493"/>
            </a:xfrm>
          </p:grpSpPr>
          <p:pic>
            <p:nvPicPr>
              <p:cNvPr id="2185" name="Google Shape;2185;p198" title="factory.png"/>
              <p:cNvPicPr preferRelativeResize="0"/>
              <p:nvPr/>
            </p:nvPicPr>
            <p:blipFill>
              <a:blip r:embed="rId5">
                <a:alphaModFix/>
              </a:blip>
              <a:stretch>
                <a:fillRect/>
              </a:stretch>
            </p:blipFill>
            <p:spPr>
              <a:xfrm>
                <a:off x="464809" y="3459544"/>
                <a:ext cx="894925" cy="894925"/>
              </a:xfrm>
              <a:prstGeom prst="rect">
                <a:avLst/>
              </a:prstGeom>
              <a:noFill/>
              <a:ln>
                <a:noFill/>
              </a:ln>
            </p:spPr>
          </p:pic>
          <p:cxnSp>
            <p:nvCxnSpPr>
              <p:cNvPr id="2186" name="Google Shape;2186;p198"/>
              <p:cNvCxnSpPr>
                <a:stCxn id="2187" idx="2"/>
                <a:endCxn id="2185" idx="0"/>
              </p:cNvCxnSpPr>
              <p:nvPr/>
            </p:nvCxnSpPr>
            <p:spPr>
              <a:xfrm>
                <a:off x="912271" y="2193844"/>
                <a:ext cx="0" cy="1265700"/>
              </a:xfrm>
              <a:prstGeom prst="straightConnector1">
                <a:avLst/>
              </a:prstGeom>
              <a:noFill/>
              <a:ln w="9425" cap="flat" cmpd="sng">
                <a:solidFill>
                  <a:schemeClr val="dk2"/>
                </a:solidFill>
                <a:prstDash val="solid"/>
                <a:round/>
                <a:headEnd type="triangle" w="med" len="med"/>
                <a:tailEnd type="triangle" w="med" len="med"/>
              </a:ln>
            </p:spPr>
          </p:cxnSp>
          <p:sp>
            <p:nvSpPr>
              <p:cNvPr id="2188" name="Google Shape;2188;p198"/>
              <p:cNvSpPr txBox="1"/>
              <p:nvPr/>
            </p:nvSpPr>
            <p:spPr>
              <a:xfrm>
                <a:off x="282650" y="895150"/>
                <a:ext cx="13959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285" b="1">
                    <a:solidFill>
                      <a:srgbClr val="71C285"/>
                    </a:solidFill>
                    <a:latin typeface="Montserrat"/>
                    <a:ea typeface="Montserrat"/>
                    <a:cs typeface="Montserrat"/>
                    <a:sym typeface="Montserrat"/>
                  </a:rPr>
                  <a:t>Solar Plant 45MW</a:t>
                </a:r>
                <a:endParaRPr sz="1285" b="1">
                  <a:solidFill>
                    <a:srgbClr val="71C285"/>
                  </a:solidFill>
                  <a:latin typeface="Montserrat"/>
                  <a:ea typeface="Montserrat"/>
                  <a:cs typeface="Montserrat"/>
                  <a:sym typeface="Montserrat"/>
                </a:endParaRPr>
              </a:p>
            </p:txBody>
          </p:sp>
          <p:sp>
            <p:nvSpPr>
              <p:cNvPr id="2189" name="Google Shape;2189;p198"/>
              <p:cNvSpPr txBox="1"/>
              <p:nvPr/>
            </p:nvSpPr>
            <p:spPr>
              <a:xfrm>
                <a:off x="133650" y="4227643"/>
                <a:ext cx="14802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384" b="1">
                    <a:solidFill>
                      <a:srgbClr val="4A86E8"/>
                    </a:solidFill>
                    <a:latin typeface="Montserrat"/>
                    <a:ea typeface="Montserrat"/>
                    <a:cs typeface="Montserrat"/>
                    <a:sym typeface="Montserrat"/>
                  </a:rPr>
                  <a:t>Large Customer</a:t>
                </a:r>
                <a:endParaRPr sz="1384" b="1">
                  <a:solidFill>
                    <a:srgbClr val="4A86E8"/>
                  </a:solidFill>
                  <a:latin typeface="Montserrat"/>
                  <a:ea typeface="Montserrat"/>
                  <a:cs typeface="Montserrat"/>
                  <a:sym typeface="Montserrat"/>
                </a:endParaRPr>
              </a:p>
            </p:txBody>
          </p:sp>
          <p:sp>
            <p:nvSpPr>
              <p:cNvPr id="2190" name="Google Shape;2190;p198"/>
              <p:cNvSpPr txBox="1"/>
              <p:nvPr/>
            </p:nvSpPr>
            <p:spPr>
              <a:xfrm>
                <a:off x="1311141" y="1519463"/>
                <a:ext cx="13959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71C285"/>
                    </a:solidFill>
                    <a:latin typeface="Montserrat"/>
                    <a:ea typeface="Montserrat"/>
                    <a:cs typeface="Montserrat"/>
                    <a:sym typeface="Montserrat"/>
                  </a:rPr>
                  <a:t>Q_khhc = 5,000 MWh/month</a:t>
                </a:r>
                <a:endParaRPr sz="791" b="1">
                  <a:solidFill>
                    <a:srgbClr val="71C285"/>
                  </a:solidFill>
                  <a:latin typeface="Montserrat"/>
                  <a:ea typeface="Montserrat"/>
                  <a:cs typeface="Montserrat"/>
                  <a:sym typeface="Montserrat"/>
                </a:endParaRPr>
              </a:p>
            </p:txBody>
          </p:sp>
          <p:sp>
            <p:nvSpPr>
              <p:cNvPr id="2191" name="Google Shape;2191;p198"/>
              <p:cNvSpPr txBox="1"/>
              <p:nvPr/>
            </p:nvSpPr>
            <p:spPr>
              <a:xfrm>
                <a:off x="1401653" y="3704975"/>
                <a:ext cx="12330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4A86E8"/>
                    </a:solidFill>
                    <a:latin typeface="Montserrat"/>
                    <a:ea typeface="Montserrat"/>
                    <a:cs typeface="Montserrat"/>
                    <a:sym typeface="Montserrat"/>
                  </a:rPr>
                  <a:t>Q_KH = 5,000 MWh/month</a:t>
                </a:r>
                <a:endParaRPr sz="791" b="1">
                  <a:solidFill>
                    <a:srgbClr val="4A86E8"/>
                  </a:solidFill>
                  <a:latin typeface="Montserrat"/>
                  <a:ea typeface="Montserrat"/>
                  <a:cs typeface="Montserrat"/>
                  <a:sym typeface="Montserrat"/>
                </a:endParaRPr>
              </a:p>
            </p:txBody>
          </p:sp>
          <p:sp>
            <p:nvSpPr>
              <p:cNvPr id="2192" name="Google Shape;2192;p198"/>
              <p:cNvSpPr txBox="1"/>
              <p:nvPr/>
            </p:nvSpPr>
            <p:spPr>
              <a:xfrm>
                <a:off x="912266" y="2449449"/>
                <a:ext cx="1741200" cy="824700"/>
              </a:xfrm>
              <a:prstGeom prst="rect">
                <a:avLst/>
              </a:prstGeom>
              <a:noFill/>
              <a:ln>
                <a:noFill/>
              </a:ln>
            </p:spPr>
            <p:txBody>
              <a:bodyPr spcFirstLastPara="1" wrap="square" lIns="90350" tIns="90350" rIns="90350" bIns="90350" anchor="t" anchorCtr="0">
                <a:noAutofit/>
              </a:bodyPr>
              <a:lstStyle/>
              <a:p>
                <a:pPr marL="0" lvl="0" indent="0" algn="l" rtl="0">
                  <a:spcBef>
                    <a:spcPts val="0"/>
                  </a:spcBef>
                  <a:spcAft>
                    <a:spcPts val="0"/>
                  </a:spcAft>
                  <a:buNone/>
                </a:pPr>
                <a:r>
                  <a:rPr lang="en" sz="791" b="1">
                    <a:solidFill>
                      <a:schemeClr val="dk2"/>
                    </a:solidFill>
                    <a:latin typeface="Montserrat"/>
                    <a:ea typeface="Montserrat"/>
                    <a:cs typeface="Montserrat"/>
                    <a:sym typeface="Montserrat"/>
                  </a:rPr>
                  <a:t>CfD</a:t>
                </a:r>
                <a:endParaRPr sz="791"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QC = 5,000 MWh/month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PC = 1,250 VND/kWh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chemeClr val="dk2"/>
                    </a:solidFill>
                    <a:latin typeface="Montserrat"/>
                    <a:ea typeface="Montserrat"/>
                    <a:cs typeface="Montserrat"/>
                    <a:sym typeface="Montserrat"/>
                  </a:rPr>
                  <a:t>FMP = 1,150 VND/kWh</a:t>
                </a:r>
                <a:endParaRPr sz="791" b="1">
                  <a:solidFill>
                    <a:schemeClr val="dk2"/>
                  </a:solidFill>
                  <a:latin typeface="Montserrat"/>
                  <a:ea typeface="Montserrat"/>
                  <a:cs typeface="Montserrat"/>
                  <a:sym typeface="Montserrat"/>
                </a:endParaRPr>
              </a:p>
            </p:txBody>
          </p:sp>
        </p:grpSp>
        <p:pic>
          <p:nvPicPr>
            <p:cNvPr id="2193" name="Google Shape;2193;p198" title="handshake (1).png"/>
            <p:cNvPicPr preferRelativeResize="0"/>
            <p:nvPr/>
          </p:nvPicPr>
          <p:blipFill>
            <a:blip r:embed="rId6">
              <a:alphaModFix/>
            </a:blip>
            <a:stretch>
              <a:fillRect/>
            </a:stretch>
          </p:blipFill>
          <p:spPr>
            <a:xfrm>
              <a:off x="374375" y="2524688"/>
              <a:ext cx="441524" cy="441524"/>
            </a:xfrm>
            <a:prstGeom prst="rect">
              <a:avLst/>
            </a:prstGeom>
            <a:noFill/>
            <a:ln>
              <a:noFill/>
            </a:ln>
          </p:spPr>
        </p:pic>
      </p:grpSp>
      <p:pic>
        <p:nvPicPr>
          <p:cNvPr id="2194" name="Google Shape;2194;p198" title="solar-panel (1).png"/>
          <p:cNvPicPr preferRelativeResize="0"/>
          <p:nvPr/>
        </p:nvPicPr>
        <p:blipFill>
          <a:blip r:embed="rId7">
            <a:alphaModFix/>
          </a:blip>
          <a:stretch>
            <a:fillRect/>
          </a:stretch>
        </p:blipFill>
        <p:spPr>
          <a:xfrm>
            <a:off x="510946" y="1465037"/>
            <a:ext cx="699954" cy="69995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198"/>
        <p:cNvGrpSpPr/>
        <p:nvPr/>
      </p:nvGrpSpPr>
      <p:grpSpPr>
        <a:xfrm>
          <a:off x="0" y="0"/>
          <a:ext cx="0" cy="0"/>
          <a:chOff x="0" y="0"/>
          <a:chExt cx="0" cy="0"/>
        </a:xfrm>
      </p:grpSpPr>
      <p:grpSp>
        <p:nvGrpSpPr>
          <p:cNvPr id="2199" name="Google Shape;2199;p199"/>
          <p:cNvGrpSpPr/>
          <p:nvPr/>
        </p:nvGrpSpPr>
        <p:grpSpPr>
          <a:xfrm>
            <a:off x="239992" y="63853"/>
            <a:ext cx="8728050" cy="745997"/>
            <a:chOff x="236700" y="63853"/>
            <a:chExt cx="8728050" cy="745997"/>
          </a:xfrm>
        </p:grpSpPr>
        <p:sp>
          <p:nvSpPr>
            <p:cNvPr id="2200" name="Google Shape;2200;p199"/>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01" name="Google Shape;2201;p199"/>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02" name="Google Shape;2202;p199"/>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03" name="Google Shape;2203;p199"/>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04" name="Google Shape;2204;p199"/>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05" name="Google Shape;2205;p199"/>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06" name="Google Shape;2206;p199"/>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07" name="Google Shape;2207;p199"/>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(2)</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endParaRPr sz="10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208" name="Google Shape;2208;p199"/>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09" name="Google Shape;2209;p199"/>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10" name="Google Shape;2210;p199"/>
          <p:cNvSpPr txBox="1"/>
          <p:nvPr/>
        </p:nvSpPr>
        <p:spPr>
          <a:xfrm>
            <a:off x="2673600" y="949625"/>
            <a:ext cx="6470400" cy="74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 CfD Contract Cost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(1,250 - 1,150) VND/kWh * 5,000,000 kWh = </a:t>
            </a:r>
            <a:r>
              <a:rPr lang="en" sz="1100" b="1">
                <a:solidFill>
                  <a:srgbClr val="E77A10"/>
                </a:solidFill>
                <a:latin typeface="Montserrat"/>
                <a:ea typeface="Montserrat"/>
                <a:cs typeface="Montserrat"/>
                <a:sym typeface="Montserrat"/>
              </a:rPr>
              <a:t>500,000,000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3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100" b="1">
              <a:solidFill>
                <a:srgbClr val="1B3E6D"/>
              </a:solidFill>
              <a:latin typeface="Montserrat"/>
              <a:ea typeface="Montserrat"/>
              <a:cs typeface="Montserrat"/>
              <a:sym typeface="Montserrat"/>
            </a:endParaRPr>
          </a:p>
        </p:txBody>
      </p:sp>
      <p:pic>
        <p:nvPicPr>
          <p:cNvPr id="2211" name="Google Shape;2211;p199"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12" name="Google Shape;2212;p199"/>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213" name="Google Shape;2213;p199"/>
          <p:cNvSpPr/>
          <p:nvPr/>
        </p:nvSpPr>
        <p:spPr>
          <a:xfrm>
            <a:off x="2722275" y="1673625"/>
            <a:ext cx="6245700" cy="520200"/>
          </a:xfrm>
          <a:prstGeom prst="rect">
            <a:avLst/>
          </a:prstGeom>
          <a:solidFill>
            <a:srgbClr val="FCE5CD"/>
          </a:solidFill>
          <a:ln w="19050" cap="flat" cmpd="sng">
            <a:solidFill>
              <a:srgbClr val="E77A1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100" b="1">
                <a:solidFill>
                  <a:srgbClr val="176B62"/>
                </a:solidFill>
                <a:latin typeface="Montserrat"/>
                <a:ea typeface="Montserrat"/>
                <a:cs typeface="Montserrat"/>
                <a:sym typeface="Montserrat"/>
              </a:rPr>
              <a:t>Total Customer Cost (</a:t>
            </a:r>
            <a:r>
              <a:rPr lang="en" sz="1300" b="1">
                <a:solidFill>
                  <a:srgbClr val="176B62"/>
                </a:solidFill>
                <a:latin typeface="Montserrat"/>
                <a:ea typeface="Montserrat"/>
                <a:cs typeface="Montserrat"/>
                <a:sym typeface="Montserrat"/>
              </a:rPr>
              <a:t>C</a:t>
            </a:r>
            <a:r>
              <a:rPr lang="en" sz="1300" b="1" baseline="-25000">
                <a:solidFill>
                  <a:srgbClr val="176B62"/>
                </a:solidFill>
                <a:latin typeface="Montserrat"/>
                <a:ea typeface="Montserrat"/>
                <a:cs typeface="Montserrat"/>
                <a:sym typeface="Montserrat"/>
              </a:rPr>
              <a:t>KH </a:t>
            </a:r>
            <a:r>
              <a:rPr lang="en" sz="1100" b="1">
                <a:solidFill>
                  <a:srgbClr val="176B62"/>
                </a:solidFill>
                <a:latin typeface="Montserrat"/>
                <a:ea typeface="Montserrat"/>
                <a:cs typeface="Montserrat"/>
                <a:sym typeface="Montserrat"/>
              </a:rPr>
              <a:t>)</a:t>
            </a:r>
            <a:endParaRPr sz="1100" b="1">
              <a:solidFill>
                <a:srgbClr val="176B62"/>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KH </a:t>
            </a:r>
            <a:r>
              <a:rPr lang="en" sz="1100">
                <a:solidFill>
                  <a:srgbClr val="1B3E6D"/>
                </a:solidFill>
                <a:latin typeface="Montserrat"/>
                <a:ea typeface="Montserrat"/>
                <a:cs typeface="Montserrat"/>
                <a:sym typeface="Montserrat"/>
              </a:rPr>
              <a:t>=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8,563,196,000 + 500,000,000 = </a:t>
            </a:r>
            <a:r>
              <a:rPr lang="en" sz="1100" b="1">
                <a:solidFill>
                  <a:srgbClr val="176B62"/>
                </a:solidFill>
                <a:latin typeface="Montserrat"/>
                <a:ea typeface="Montserrat"/>
                <a:cs typeface="Montserrat"/>
                <a:sym typeface="Montserrat"/>
              </a:rPr>
              <a:t>9,063,196,000 VND</a:t>
            </a:r>
            <a:endParaRPr b="1">
              <a:solidFill>
                <a:srgbClr val="176B62"/>
              </a:solidFill>
            </a:endParaRPr>
          </a:p>
        </p:txBody>
      </p:sp>
      <p:sp>
        <p:nvSpPr>
          <p:cNvPr id="2214" name="Google Shape;2214;p199"/>
          <p:cNvSpPr txBox="1"/>
          <p:nvPr/>
        </p:nvSpPr>
        <p:spPr>
          <a:xfrm>
            <a:off x="2722275" y="2397700"/>
            <a:ext cx="6470400" cy="24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Power Plant Revenue</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the market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300">
                <a:solidFill>
                  <a:srgbClr val="1B3E6D"/>
                </a:solidFill>
                <a:latin typeface="Montserrat"/>
                <a:ea typeface="Montserrat"/>
                <a:cs typeface="Montserrat"/>
                <a:sym typeface="Montserrat"/>
              </a:rPr>
              <a:t>:</a:t>
            </a:r>
            <a:r>
              <a:rPr lang="en" sz="1100">
                <a:solidFill>
                  <a:srgbClr val="1B3E6D"/>
                </a:solidFill>
                <a:latin typeface="Montserrat"/>
                <a:ea typeface="Montserrat"/>
                <a:cs typeface="Montserrat"/>
                <a:sym typeface="Montserrat"/>
              </a:rPr>
              <a:t> The plant generates the full </a:t>
            </a:r>
            <a:r>
              <a:rPr lang="en" sz="1100" b="1">
                <a:solidFill>
                  <a:srgbClr val="1B3E6D"/>
                </a:solidFill>
                <a:latin typeface="Montserrat"/>
                <a:ea typeface="Montserrat"/>
                <a:cs typeface="Montserrat"/>
                <a:sym typeface="Montserrat"/>
              </a:rPr>
              <a:t>5,000 MWh</a:t>
            </a:r>
            <a:r>
              <a:rPr lang="en" sz="1100">
                <a:solidFill>
                  <a:srgbClr val="1B3E6D"/>
                </a:solidFill>
                <a:latin typeface="Montserrat"/>
                <a:ea typeface="Montserrat"/>
                <a:cs typeface="Montserrat"/>
                <a:sym typeface="Montserrat"/>
              </a:rPr>
              <a:t> (after loss ~5,040,000 kWh at the generator)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100">
                <a:solidFill>
                  <a:srgbClr val="1B3E6D"/>
                </a:solidFill>
                <a:latin typeface="Montserrat"/>
                <a:ea typeface="Montserrat"/>
                <a:cs typeface="Montserrat"/>
                <a:sym typeface="Montserrat"/>
              </a:rPr>
              <a:t>= (Qm * FMP) = 5,040,000 kWh * 1,150 VND/kWh = </a:t>
            </a:r>
            <a:r>
              <a:rPr lang="en" sz="1100" b="1">
                <a:solidFill>
                  <a:srgbClr val="E77A10"/>
                </a:solidFill>
                <a:latin typeface="Montserrat"/>
                <a:ea typeface="Montserrat"/>
                <a:cs typeface="Montserrat"/>
                <a:sym typeface="Montserrat"/>
              </a:rPr>
              <a:t>5,796,000,000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CfD contract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5,000,000 kWh * (1,250 - 1,150) = </a:t>
            </a:r>
            <a:r>
              <a:rPr lang="en" sz="1100" b="1">
                <a:solidFill>
                  <a:srgbClr val="E77A10"/>
                </a:solidFill>
                <a:latin typeface="Montserrat"/>
                <a:ea typeface="Montserrat"/>
                <a:cs typeface="Montserrat"/>
                <a:sym typeface="Montserrat"/>
              </a:rPr>
              <a:t>500,000,000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plant revenue</a:t>
            </a:r>
            <a:r>
              <a:rPr lang="en" sz="1100">
                <a:solidFill>
                  <a:srgbClr val="1B3E6D"/>
                </a:solidFill>
                <a:latin typeface="Montserrat"/>
                <a:ea typeface="Montserrat"/>
                <a:cs typeface="Montserrat"/>
                <a:sym typeface="Montserrat"/>
              </a:rPr>
              <a:t> is 5,796,000,000 + 500,000,000 = </a:t>
            </a:r>
            <a:r>
              <a:rPr lang="en" sz="1100" b="1">
                <a:solidFill>
                  <a:srgbClr val="E77A10"/>
                </a:solidFill>
                <a:latin typeface="Montserrat"/>
                <a:ea typeface="Montserrat"/>
                <a:cs typeface="Montserrat"/>
                <a:sym typeface="Montserrat"/>
              </a:rPr>
              <a:t>6,296,000,000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p:txBody>
      </p:sp>
      <p:grpSp>
        <p:nvGrpSpPr>
          <p:cNvPr id="2215" name="Google Shape;2215;p199"/>
          <p:cNvGrpSpPr/>
          <p:nvPr/>
        </p:nvGrpSpPr>
        <p:grpSpPr>
          <a:xfrm>
            <a:off x="76778" y="939562"/>
            <a:ext cx="2543025" cy="3723037"/>
            <a:chOff x="76784" y="895150"/>
            <a:chExt cx="2573391" cy="3767493"/>
          </a:xfrm>
        </p:grpSpPr>
        <p:grpSp>
          <p:nvGrpSpPr>
            <p:cNvPr id="2216" name="Google Shape;2216;p199"/>
            <p:cNvGrpSpPr/>
            <p:nvPr/>
          </p:nvGrpSpPr>
          <p:grpSpPr>
            <a:xfrm>
              <a:off x="76784" y="895150"/>
              <a:ext cx="2573391" cy="3767493"/>
              <a:chOff x="133650" y="895150"/>
              <a:chExt cx="2573391" cy="3767493"/>
            </a:xfrm>
          </p:grpSpPr>
          <p:pic>
            <p:nvPicPr>
              <p:cNvPr id="2217" name="Google Shape;2217;p199" title="factory.png"/>
              <p:cNvPicPr preferRelativeResize="0"/>
              <p:nvPr/>
            </p:nvPicPr>
            <p:blipFill>
              <a:blip r:embed="rId5">
                <a:alphaModFix/>
              </a:blip>
              <a:stretch>
                <a:fillRect/>
              </a:stretch>
            </p:blipFill>
            <p:spPr>
              <a:xfrm>
                <a:off x="464809" y="3459544"/>
                <a:ext cx="894925" cy="894925"/>
              </a:xfrm>
              <a:prstGeom prst="rect">
                <a:avLst/>
              </a:prstGeom>
              <a:noFill/>
              <a:ln>
                <a:noFill/>
              </a:ln>
            </p:spPr>
          </p:pic>
          <p:cxnSp>
            <p:nvCxnSpPr>
              <p:cNvPr id="2218" name="Google Shape;2218;p199"/>
              <p:cNvCxnSpPr>
                <a:endCxn id="2217" idx="0"/>
              </p:cNvCxnSpPr>
              <p:nvPr/>
            </p:nvCxnSpPr>
            <p:spPr>
              <a:xfrm>
                <a:off x="912271" y="2193844"/>
                <a:ext cx="0" cy="1265700"/>
              </a:xfrm>
              <a:prstGeom prst="straightConnector1">
                <a:avLst/>
              </a:prstGeom>
              <a:noFill/>
              <a:ln w="9425" cap="flat" cmpd="sng">
                <a:solidFill>
                  <a:schemeClr val="dk2"/>
                </a:solidFill>
                <a:prstDash val="solid"/>
                <a:round/>
                <a:headEnd type="triangle" w="med" len="med"/>
                <a:tailEnd type="triangle" w="med" len="med"/>
              </a:ln>
            </p:spPr>
          </p:cxnSp>
          <p:sp>
            <p:nvSpPr>
              <p:cNvPr id="2219" name="Google Shape;2219;p199"/>
              <p:cNvSpPr txBox="1"/>
              <p:nvPr/>
            </p:nvSpPr>
            <p:spPr>
              <a:xfrm>
                <a:off x="282650" y="895150"/>
                <a:ext cx="13959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285" b="1">
                    <a:solidFill>
                      <a:srgbClr val="71C285"/>
                    </a:solidFill>
                    <a:latin typeface="Montserrat"/>
                    <a:ea typeface="Montserrat"/>
                    <a:cs typeface="Montserrat"/>
                    <a:sym typeface="Montserrat"/>
                  </a:rPr>
                  <a:t>Solar Plant 45MW</a:t>
                </a:r>
                <a:endParaRPr sz="1285" b="1">
                  <a:solidFill>
                    <a:srgbClr val="71C285"/>
                  </a:solidFill>
                  <a:latin typeface="Montserrat"/>
                  <a:ea typeface="Montserrat"/>
                  <a:cs typeface="Montserrat"/>
                  <a:sym typeface="Montserrat"/>
                </a:endParaRPr>
              </a:p>
            </p:txBody>
          </p:sp>
          <p:sp>
            <p:nvSpPr>
              <p:cNvPr id="2220" name="Google Shape;2220;p199"/>
              <p:cNvSpPr txBox="1"/>
              <p:nvPr/>
            </p:nvSpPr>
            <p:spPr>
              <a:xfrm>
                <a:off x="133650" y="4227643"/>
                <a:ext cx="1480200" cy="4350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1384" b="1">
                    <a:solidFill>
                      <a:srgbClr val="4A86E8"/>
                    </a:solidFill>
                    <a:latin typeface="Montserrat"/>
                    <a:ea typeface="Montserrat"/>
                    <a:cs typeface="Montserrat"/>
                    <a:sym typeface="Montserrat"/>
                  </a:rPr>
                  <a:t>Large Customer</a:t>
                </a:r>
                <a:endParaRPr sz="1384" b="1">
                  <a:solidFill>
                    <a:srgbClr val="4A86E8"/>
                  </a:solidFill>
                  <a:latin typeface="Montserrat"/>
                  <a:ea typeface="Montserrat"/>
                  <a:cs typeface="Montserrat"/>
                  <a:sym typeface="Montserrat"/>
                </a:endParaRPr>
              </a:p>
            </p:txBody>
          </p:sp>
          <p:sp>
            <p:nvSpPr>
              <p:cNvPr id="2221" name="Google Shape;2221;p199"/>
              <p:cNvSpPr txBox="1"/>
              <p:nvPr/>
            </p:nvSpPr>
            <p:spPr>
              <a:xfrm>
                <a:off x="1311141" y="1519463"/>
                <a:ext cx="13959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71C285"/>
                    </a:solidFill>
                    <a:latin typeface="Montserrat"/>
                    <a:ea typeface="Montserrat"/>
                    <a:cs typeface="Montserrat"/>
                    <a:sym typeface="Montserrat"/>
                  </a:rPr>
                  <a:t>Q_khhc = 5,000 MWh/month</a:t>
                </a:r>
                <a:endParaRPr sz="791" b="1">
                  <a:solidFill>
                    <a:srgbClr val="71C285"/>
                  </a:solidFill>
                  <a:latin typeface="Montserrat"/>
                  <a:ea typeface="Montserrat"/>
                  <a:cs typeface="Montserrat"/>
                  <a:sym typeface="Montserrat"/>
                </a:endParaRPr>
              </a:p>
            </p:txBody>
          </p:sp>
          <p:sp>
            <p:nvSpPr>
              <p:cNvPr id="2222" name="Google Shape;2222;p199"/>
              <p:cNvSpPr txBox="1"/>
              <p:nvPr/>
            </p:nvSpPr>
            <p:spPr>
              <a:xfrm>
                <a:off x="1401653" y="3704975"/>
                <a:ext cx="1233000" cy="649500"/>
              </a:xfrm>
              <a:prstGeom prst="rect">
                <a:avLst/>
              </a:prstGeom>
              <a:noFill/>
              <a:ln>
                <a:noFill/>
              </a:ln>
            </p:spPr>
            <p:txBody>
              <a:bodyPr spcFirstLastPara="1" wrap="square" lIns="90350" tIns="90350" rIns="90350" bIns="90350" anchor="t" anchorCtr="0">
                <a:noAutofit/>
              </a:bodyPr>
              <a:lstStyle/>
              <a:p>
                <a:pPr marL="0" lvl="0" indent="0" algn="ctr" rtl="0">
                  <a:spcBef>
                    <a:spcPts val="0"/>
                  </a:spcBef>
                  <a:spcAft>
                    <a:spcPts val="0"/>
                  </a:spcAft>
                  <a:buNone/>
                </a:pPr>
                <a:r>
                  <a:rPr lang="en" sz="791" b="1">
                    <a:solidFill>
                      <a:srgbClr val="4A86E8"/>
                    </a:solidFill>
                    <a:latin typeface="Montserrat"/>
                    <a:ea typeface="Montserrat"/>
                    <a:cs typeface="Montserrat"/>
                    <a:sym typeface="Montserrat"/>
                  </a:rPr>
                  <a:t>Q_KH = 5,000 MWh/month</a:t>
                </a:r>
                <a:endParaRPr sz="791" b="1">
                  <a:solidFill>
                    <a:srgbClr val="4A86E8"/>
                  </a:solidFill>
                  <a:latin typeface="Montserrat"/>
                  <a:ea typeface="Montserrat"/>
                  <a:cs typeface="Montserrat"/>
                  <a:sym typeface="Montserrat"/>
                </a:endParaRPr>
              </a:p>
            </p:txBody>
          </p:sp>
          <p:sp>
            <p:nvSpPr>
              <p:cNvPr id="2223" name="Google Shape;2223;p199"/>
              <p:cNvSpPr txBox="1"/>
              <p:nvPr/>
            </p:nvSpPr>
            <p:spPr>
              <a:xfrm>
                <a:off x="912266" y="2449449"/>
                <a:ext cx="1741200" cy="824700"/>
              </a:xfrm>
              <a:prstGeom prst="rect">
                <a:avLst/>
              </a:prstGeom>
              <a:noFill/>
              <a:ln>
                <a:noFill/>
              </a:ln>
            </p:spPr>
            <p:txBody>
              <a:bodyPr spcFirstLastPara="1" wrap="square" lIns="90350" tIns="90350" rIns="90350" bIns="90350" anchor="t" anchorCtr="0">
                <a:noAutofit/>
              </a:bodyPr>
              <a:lstStyle/>
              <a:p>
                <a:pPr marL="0" lvl="0" indent="0" algn="l" rtl="0">
                  <a:spcBef>
                    <a:spcPts val="0"/>
                  </a:spcBef>
                  <a:spcAft>
                    <a:spcPts val="0"/>
                  </a:spcAft>
                  <a:buNone/>
                </a:pPr>
                <a:r>
                  <a:rPr lang="en" sz="791" b="1">
                    <a:solidFill>
                      <a:schemeClr val="dk2"/>
                    </a:solidFill>
                    <a:latin typeface="Montserrat"/>
                    <a:ea typeface="Montserrat"/>
                    <a:cs typeface="Montserrat"/>
                    <a:sym typeface="Montserrat"/>
                  </a:rPr>
                  <a:t>CfD</a:t>
                </a:r>
                <a:endParaRPr sz="791"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QC = 5,000 MWh/month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rgbClr val="E06666"/>
                    </a:solidFill>
                    <a:latin typeface="Montserrat"/>
                    <a:ea typeface="Montserrat"/>
                    <a:cs typeface="Montserrat"/>
                    <a:sym typeface="Montserrat"/>
                  </a:rPr>
                  <a:t>PC = 1,250 VND/kWh</a:t>
                </a:r>
                <a:endParaRPr sz="791"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791" b="1">
                    <a:solidFill>
                      <a:schemeClr val="dk2"/>
                    </a:solidFill>
                    <a:latin typeface="Montserrat"/>
                    <a:ea typeface="Montserrat"/>
                    <a:cs typeface="Montserrat"/>
                    <a:sym typeface="Montserrat"/>
                  </a:rPr>
                  <a:t>FMP = 1,150 VND/kWh</a:t>
                </a:r>
                <a:endParaRPr sz="791" b="1">
                  <a:solidFill>
                    <a:schemeClr val="dk2"/>
                  </a:solidFill>
                  <a:latin typeface="Montserrat"/>
                  <a:ea typeface="Montserrat"/>
                  <a:cs typeface="Montserrat"/>
                  <a:sym typeface="Montserrat"/>
                </a:endParaRPr>
              </a:p>
            </p:txBody>
          </p:sp>
        </p:grpSp>
        <p:pic>
          <p:nvPicPr>
            <p:cNvPr id="2224" name="Google Shape;2224;p199" title="handshake (1).png"/>
            <p:cNvPicPr preferRelativeResize="0"/>
            <p:nvPr/>
          </p:nvPicPr>
          <p:blipFill>
            <a:blip r:embed="rId6">
              <a:alphaModFix/>
            </a:blip>
            <a:stretch>
              <a:fillRect/>
            </a:stretch>
          </p:blipFill>
          <p:spPr>
            <a:xfrm>
              <a:off x="374375" y="2524688"/>
              <a:ext cx="441524" cy="441524"/>
            </a:xfrm>
            <a:prstGeom prst="rect">
              <a:avLst/>
            </a:prstGeom>
            <a:noFill/>
            <a:ln>
              <a:noFill/>
            </a:ln>
          </p:spPr>
        </p:pic>
      </p:grpSp>
      <p:pic>
        <p:nvPicPr>
          <p:cNvPr id="2225" name="Google Shape;2225;p199" title="solar-panel (1).png"/>
          <p:cNvPicPr preferRelativeResize="0"/>
          <p:nvPr/>
        </p:nvPicPr>
        <p:blipFill>
          <a:blip r:embed="rId7">
            <a:alphaModFix/>
          </a:blip>
          <a:stretch>
            <a:fillRect/>
          </a:stretch>
        </p:blipFill>
        <p:spPr>
          <a:xfrm>
            <a:off x="510946" y="1465037"/>
            <a:ext cx="699954" cy="69995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29"/>
        <p:cNvGrpSpPr/>
        <p:nvPr/>
      </p:nvGrpSpPr>
      <p:grpSpPr>
        <a:xfrm>
          <a:off x="0" y="0"/>
          <a:ext cx="0" cy="0"/>
          <a:chOff x="0" y="0"/>
          <a:chExt cx="0" cy="0"/>
        </a:xfrm>
      </p:grpSpPr>
      <p:grpSp>
        <p:nvGrpSpPr>
          <p:cNvPr id="2230" name="Google Shape;2230;p200"/>
          <p:cNvGrpSpPr/>
          <p:nvPr/>
        </p:nvGrpSpPr>
        <p:grpSpPr>
          <a:xfrm>
            <a:off x="239992" y="63853"/>
            <a:ext cx="8728050" cy="745997"/>
            <a:chOff x="236700" y="63853"/>
            <a:chExt cx="8728050" cy="745997"/>
          </a:xfrm>
        </p:grpSpPr>
        <p:sp>
          <p:nvSpPr>
            <p:cNvPr id="2231" name="Google Shape;2231;p200"/>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32" name="Google Shape;2232;p200"/>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33" name="Google Shape;2233;p200"/>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34" name="Google Shape;2234;p200"/>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35" name="Google Shape;2235;p200"/>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36" name="Google Shape;2236;p200"/>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37" name="Google Shape;2237;p200"/>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38" name="Google Shape;2238;p200"/>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1: The Base Case</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Consumption = DPPA Volume (3)</a:t>
              </a:r>
              <a:endParaRPr sz="2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1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Clr>
                  <a:schemeClr val="dk1"/>
                </a:buClr>
                <a:buSzPts val="1100"/>
                <a:buFont typeface="Arial"/>
                <a:buNone/>
              </a:pP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239" name="Google Shape;2239;p200"/>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40" name="Google Shape;2240;p200"/>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2241" name="Google Shape;2241;p200"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42" name="Google Shape;2242;p200"/>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2243" name="Google Shape;2243;p200" title="factory.png"/>
          <p:cNvPicPr preferRelativeResize="0"/>
          <p:nvPr/>
        </p:nvPicPr>
        <p:blipFill>
          <a:blip r:embed="rId5">
            <a:alphaModFix/>
          </a:blip>
          <a:stretch>
            <a:fillRect/>
          </a:stretch>
        </p:blipFill>
        <p:spPr>
          <a:xfrm>
            <a:off x="1405450" y="1656806"/>
            <a:ext cx="1064475" cy="1064475"/>
          </a:xfrm>
          <a:prstGeom prst="rect">
            <a:avLst/>
          </a:prstGeom>
          <a:noFill/>
          <a:ln>
            <a:noFill/>
          </a:ln>
        </p:spPr>
      </p:pic>
      <p:pic>
        <p:nvPicPr>
          <p:cNvPr id="2244" name="Google Shape;2244;p200"/>
          <p:cNvPicPr preferRelativeResize="0"/>
          <p:nvPr/>
        </p:nvPicPr>
        <p:blipFill>
          <a:blip r:embed="rId6">
            <a:alphaModFix/>
          </a:blip>
          <a:stretch>
            <a:fillRect/>
          </a:stretch>
        </p:blipFill>
        <p:spPr>
          <a:xfrm>
            <a:off x="6744360" y="1741588"/>
            <a:ext cx="894924" cy="894924"/>
          </a:xfrm>
          <a:prstGeom prst="rect">
            <a:avLst/>
          </a:prstGeom>
          <a:noFill/>
          <a:ln>
            <a:noFill/>
          </a:ln>
        </p:spPr>
      </p:pic>
      <p:cxnSp>
        <p:nvCxnSpPr>
          <p:cNvPr id="2245" name="Google Shape;2245;p200"/>
          <p:cNvCxnSpPr>
            <a:stCxn id="2243" idx="3"/>
            <a:endCxn id="2244" idx="1"/>
          </p:cNvCxnSpPr>
          <p:nvPr/>
        </p:nvCxnSpPr>
        <p:spPr>
          <a:xfrm>
            <a:off x="2469925" y="2189043"/>
            <a:ext cx="4274400" cy="0"/>
          </a:xfrm>
          <a:prstGeom prst="straightConnector1">
            <a:avLst/>
          </a:prstGeom>
          <a:noFill/>
          <a:ln w="28575" cap="flat" cmpd="sng">
            <a:solidFill>
              <a:srgbClr val="4A86E8"/>
            </a:solidFill>
            <a:prstDash val="solid"/>
            <a:round/>
            <a:headEnd type="none" w="med" len="med"/>
            <a:tailEnd type="triangle" w="med" len="med"/>
          </a:ln>
        </p:spPr>
      </p:cxnSp>
      <p:cxnSp>
        <p:nvCxnSpPr>
          <p:cNvPr id="2246" name="Google Shape;2246;p200"/>
          <p:cNvCxnSpPr>
            <a:stCxn id="2243" idx="2"/>
            <a:endCxn id="2247" idx="1"/>
          </p:cNvCxnSpPr>
          <p:nvPr/>
        </p:nvCxnSpPr>
        <p:spPr>
          <a:xfrm>
            <a:off x="1937687" y="2721280"/>
            <a:ext cx="1972500" cy="1247700"/>
          </a:xfrm>
          <a:prstGeom prst="straightConnector1">
            <a:avLst/>
          </a:prstGeom>
          <a:noFill/>
          <a:ln w="28575" cap="flat" cmpd="sng">
            <a:solidFill>
              <a:srgbClr val="4B9641"/>
            </a:solidFill>
            <a:prstDash val="solid"/>
            <a:round/>
            <a:headEnd type="triangle" w="med" len="med"/>
            <a:tailEnd type="none" w="med" len="med"/>
          </a:ln>
        </p:spPr>
      </p:cxnSp>
      <p:cxnSp>
        <p:nvCxnSpPr>
          <p:cNvPr id="2248" name="Google Shape;2248;p200"/>
          <p:cNvCxnSpPr>
            <a:stCxn id="2247" idx="3"/>
            <a:endCxn id="2244" idx="2"/>
          </p:cNvCxnSpPr>
          <p:nvPr/>
        </p:nvCxnSpPr>
        <p:spPr>
          <a:xfrm rot="10800000" flipH="1">
            <a:off x="4974822" y="2636512"/>
            <a:ext cx="2217000" cy="1332600"/>
          </a:xfrm>
          <a:prstGeom prst="straightConnector1">
            <a:avLst/>
          </a:prstGeom>
          <a:noFill/>
          <a:ln w="28575" cap="flat" cmpd="sng">
            <a:solidFill>
              <a:srgbClr val="FF0000"/>
            </a:solidFill>
            <a:prstDash val="solid"/>
            <a:round/>
            <a:headEnd type="triangle" w="med" len="med"/>
            <a:tailEnd type="none" w="med" len="med"/>
          </a:ln>
        </p:spPr>
      </p:cxnSp>
      <p:sp>
        <p:nvSpPr>
          <p:cNvPr id="2249" name="Google Shape;2249;p200"/>
          <p:cNvSpPr txBox="1"/>
          <p:nvPr/>
        </p:nvSpPr>
        <p:spPr>
          <a:xfrm>
            <a:off x="9551" y="1939801"/>
            <a:ext cx="1395900" cy="435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700" b="1">
                <a:solidFill>
                  <a:srgbClr val="4A86E8"/>
                </a:solidFill>
                <a:latin typeface="Montserrat"/>
                <a:ea typeface="Montserrat"/>
                <a:cs typeface="Montserrat"/>
                <a:sym typeface="Montserrat"/>
              </a:rPr>
              <a:t>Large Customer</a:t>
            </a:r>
            <a:endParaRPr sz="1700" b="1">
              <a:solidFill>
                <a:srgbClr val="4A86E8"/>
              </a:solidFill>
              <a:latin typeface="Montserrat"/>
              <a:ea typeface="Montserrat"/>
              <a:cs typeface="Montserrat"/>
              <a:sym typeface="Montserrat"/>
            </a:endParaRPr>
          </a:p>
        </p:txBody>
      </p:sp>
      <p:sp>
        <p:nvSpPr>
          <p:cNvPr id="2250" name="Google Shape;2250;p200"/>
          <p:cNvSpPr txBox="1"/>
          <p:nvPr/>
        </p:nvSpPr>
        <p:spPr>
          <a:xfrm>
            <a:off x="7734751" y="1971538"/>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FF0000"/>
                </a:solidFill>
                <a:latin typeface="Montserrat"/>
                <a:ea typeface="Montserrat"/>
                <a:cs typeface="Montserrat"/>
                <a:sym typeface="Montserrat"/>
              </a:rPr>
              <a:t>EVN</a:t>
            </a:r>
            <a:endParaRPr sz="1700" b="1">
              <a:solidFill>
                <a:srgbClr val="FF0000"/>
              </a:solidFill>
              <a:latin typeface="Montserrat"/>
              <a:ea typeface="Montserrat"/>
              <a:cs typeface="Montserrat"/>
              <a:sym typeface="Montserrat"/>
            </a:endParaRPr>
          </a:p>
        </p:txBody>
      </p:sp>
      <p:sp>
        <p:nvSpPr>
          <p:cNvPr id="2251" name="Google Shape;2251;p200"/>
          <p:cNvSpPr txBox="1"/>
          <p:nvPr/>
        </p:nvSpPr>
        <p:spPr>
          <a:xfrm>
            <a:off x="3884527" y="4570900"/>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4B9641"/>
                </a:solidFill>
                <a:latin typeface="Montserrat"/>
                <a:ea typeface="Montserrat"/>
                <a:cs typeface="Montserrat"/>
                <a:sym typeface="Montserrat"/>
              </a:rPr>
              <a:t>RE GENCO</a:t>
            </a:r>
            <a:endParaRPr sz="1700" b="1">
              <a:solidFill>
                <a:srgbClr val="4B9641"/>
              </a:solidFill>
              <a:latin typeface="Montserrat"/>
              <a:ea typeface="Montserrat"/>
              <a:cs typeface="Montserrat"/>
              <a:sym typeface="Montserrat"/>
            </a:endParaRPr>
          </a:p>
        </p:txBody>
      </p:sp>
      <p:sp>
        <p:nvSpPr>
          <p:cNvPr id="2252" name="Google Shape;2252;p200"/>
          <p:cNvSpPr txBox="1"/>
          <p:nvPr/>
        </p:nvSpPr>
        <p:spPr>
          <a:xfrm>
            <a:off x="2449625" y="947723"/>
            <a:ext cx="45387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4A86E8"/>
                </a:solidFill>
                <a:latin typeface="Montserrat"/>
                <a:ea typeface="Montserrat"/>
                <a:cs typeface="Montserrat"/>
                <a:sym typeface="Montserrat"/>
              </a:rPr>
              <a:t>8.5 billion VND = 5,9 billion VND for market electricity energy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+ 1,8 billion VND service fee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+ 0.8 billion VND difference fee </a:t>
            </a:r>
            <a:endParaRPr sz="12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200">
                <a:solidFill>
                  <a:srgbClr val="4A86E8"/>
                </a:solidFill>
                <a:latin typeface="Montserrat"/>
                <a:ea typeface="Montserrat"/>
                <a:cs typeface="Montserrat"/>
                <a:sym typeface="Montserrat"/>
              </a:rPr>
              <a:t>+ 0 VND additional electricity purchase fee</a:t>
            </a:r>
            <a:endParaRPr sz="1200">
              <a:solidFill>
                <a:srgbClr val="4A86E8"/>
              </a:solidFill>
              <a:latin typeface="Montserrat"/>
              <a:ea typeface="Montserrat"/>
              <a:cs typeface="Montserrat"/>
              <a:sym typeface="Montserrat"/>
            </a:endParaRPr>
          </a:p>
        </p:txBody>
      </p:sp>
      <p:sp>
        <p:nvSpPr>
          <p:cNvPr id="2253" name="Google Shape;2253;p200"/>
          <p:cNvSpPr txBox="1"/>
          <p:nvPr/>
        </p:nvSpPr>
        <p:spPr>
          <a:xfrm>
            <a:off x="1239725" y="3281875"/>
            <a:ext cx="1619700" cy="1374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rgbClr val="4B9641"/>
                </a:solidFill>
                <a:latin typeface="Montserrat"/>
                <a:ea typeface="Montserrat"/>
                <a:cs typeface="Montserrat"/>
                <a:sym typeface="Montserrat"/>
              </a:rPr>
              <a:t>0.5 billion VND</a:t>
            </a:r>
            <a:r>
              <a:rPr lang="en" sz="1300">
                <a:solidFill>
                  <a:schemeClr val="dk2"/>
                </a:solidFill>
                <a:latin typeface="Montserrat"/>
                <a:ea typeface="Montserrat"/>
                <a:cs typeface="Montserrat"/>
                <a:sym typeface="Montserrat"/>
              </a:rPr>
              <a:t> according to the CfD contract</a:t>
            </a:r>
            <a:endParaRPr sz="1300">
              <a:solidFill>
                <a:schemeClr val="dk2"/>
              </a:solidFill>
              <a:latin typeface="Montserrat"/>
              <a:ea typeface="Montserrat"/>
              <a:cs typeface="Montserrat"/>
              <a:sym typeface="Montserrat"/>
            </a:endParaRPr>
          </a:p>
        </p:txBody>
      </p:sp>
      <p:sp>
        <p:nvSpPr>
          <p:cNvPr id="2254" name="Google Shape;2254;p200"/>
          <p:cNvSpPr txBox="1"/>
          <p:nvPr/>
        </p:nvSpPr>
        <p:spPr>
          <a:xfrm>
            <a:off x="6183612" y="3387558"/>
            <a:ext cx="18336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latin typeface="Montserrat"/>
                <a:ea typeface="Montserrat"/>
                <a:cs typeface="Montserrat"/>
                <a:sym typeface="Montserrat"/>
              </a:rPr>
              <a:t>5.8 billion VND </a:t>
            </a:r>
            <a:r>
              <a:rPr lang="en" sz="1300">
                <a:solidFill>
                  <a:schemeClr val="dk2"/>
                </a:solidFill>
                <a:latin typeface="Montserrat"/>
                <a:ea typeface="Montserrat"/>
                <a:cs typeface="Montserrat"/>
                <a:sym typeface="Montserrat"/>
              </a:rPr>
              <a:t>on the spot market</a:t>
            </a:r>
            <a:endParaRPr sz="1300">
              <a:solidFill>
                <a:schemeClr val="dk2"/>
              </a:solidFill>
              <a:latin typeface="Montserrat"/>
              <a:ea typeface="Montserrat"/>
              <a:cs typeface="Montserrat"/>
              <a:sym typeface="Montserrat"/>
            </a:endParaRPr>
          </a:p>
        </p:txBody>
      </p:sp>
      <p:pic>
        <p:nvPicPr>
          <p:cNvPr id="2255" name="Google Shape;2255;p200" title="solar-panel (1).png"/>
          <p:cNvPicPr preferRelativeResize="0"/>
          <p:nvPr/>
        </p:nvPicPr>
        <p:blipFill>
          <a:blip r:embed="rId7">
            <a:alphaModFix/>
          </a:blip>
          <a:stretch>
            <a:fillRect/>
          </a:stretch>
        </p:blipFill>
        <p:spPr>
          <a:xfrm>
            <a:off x="3995576" y="3683396"/>
            <a:ext cx="894925" cy="894957"/>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259"/>
        <p:cNvGrpSpPr/>
        <p:nvPr/>
      </p:nvGrpSpPr>
      <p:grpSpPr>
        <a:xfrm>
          <a:off x="0" y="0"/>
          <a:ext cx="0" cy="0"/>
          <a:chOff x="0" y="0"/>
          <a:chExt cx="0" cy="0"/>
        </a:xfrm>
      </p:grpSpPr>
      <p:grpSp>
        <p:nvGrpSpPr>
          <p:cNvPr id="2260" name="Google Shape;2260;p201"/>
          <p:cNvGrpSpPr/>
          <p:nvPr/>
        </p:nvGrpSpPr>
        <p:grpSpPr>
          <a:xfrm>
            <a:off x="239992" y="63853"/>
            <a:ext cx="8728050" cy="745997"/>
            <a:chOff x="236700" y="63853"/>
            <a:chExt cx="8728050" cy="745997"/>
          </a:xfrm>
        </p:grpSpPr>
        <p:sp>
          <p:nvSpPr>
            <p:cNvPr id="2261" name="Google Shape;2261;p201"/>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62" name="Google Shape;2262;p201"/>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63" name="Google Shape;2263;p201"/>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64" name="Google Shape;2264;p201"/>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65" name="Google Shape;2265;p201"/>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66" name="Google Shape;2266;p201"/>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67" name="Google Shape;2267;p201"/>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68" name="Google Shape;2268;p201"/>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2100" b="1">
                  <a:solidFill>
                    <a:schemeClr val="lt1"/>
                  </a:solidFill>
                  <a:latin typeface="Montserrat"/>
                  <a:ea typeface="Montserrat"/>
                  <a:cs typeface="Montserrat"/>
                  <a:sym typeface="Montserrat"/>
                </a:rPr>
                <a:t>Scenario 2: The "Duck Curve" &amp; Price Crashes</a:t>
              </a:r>
              <a:endParaRPr sz="21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100">
                <a:solidFill>
                  <a:srgbClr val="FFFFFF"/>
                </a:solidFill>
                <a:latin typeface="Montserrat ExtraBold"/>
                <a:ea typeface="Montserrat ExtraBold"/>
                <a:cs typeface="Montserrat ExtraBold"/>
                <a:sym typeface="Montserrat ExtraBold"/>
              </a:endParaRPr>
            </a:p>
          </p:txBody>
        </p:sp>
        <p:cxnSp>
          <p:nvCxnSpPr>
            <p:cNvPr id="2269" name="Google Shape;2269;p201"/>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70" name="Google Shape;2270;p201"/>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71" name="Google Shape;2271;p201"/>
          <p:cNvSpPr txBox="1"/>
          <p:nvPr/>
        </p:nvSpPr>
        <p:spPr>
          <a:xfrm>
            <a:off x="240000" y="873763"/>
            <a:ext cx="8904000" cy="395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rgbClr val="1B3E6D"/>
                </a:solidFill>
                <a:latin typeface="Montserrat"/>
                <a:ea typeface="Montserrat"/>
                <a:cs typeface="Montserrat"/>
                <a:sym typeface="Montserrat"/>
              </a:rPr>
              <a:t>Your factory agrees to a </a:t>
            </a:r>
            <a:r>
              <a:rPr lang="en" sz="1200" b="1">
                <a:solidFill>
                  <a:srgbClr val="1B3E6D"/>
                </a:solidFill>
                <a:latin typeface="Montserrat"/>
                <a:ea typeface="Montserrat"/>
                <a:cs typeface="Montserrat"/>
                <a:sym typeface="Montserrat"/>
              </a:rPr>
              <a:t>Virtual DPPA</a:t>
            </a:r>
            <a:r>
              <a:rPr lang="en" sz="1200">
                <a:solidFill>
                  <a:srgbClr val="1B3E6D"/>
                </a:solidFill>
                <a:latin typeface="Montserrat"/>
                <a:ea typeface="Montserrat"/>
                <a:cs typeface="Montserrat"/>
                <a:sym typeface="Montserrat"/>
              </a:rPr>
              <a:t> (grid-connected) with a solar developer</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Fixed </a:t>
            </a:r>
            <a:r>
              <a:rPr lang="en" sz="1200" b="1">
                <a:solidFill>
                  <a:srgbClr val="1B3E6D"/>
                </a:solidFill>
                <a:latin typeface="Montserrat"/>
                <a:ea typeface="Montserrat"/>
                <a:cs typeface="Montserrat"/>
                <a:sym typeface="Montserrat"/>
              </a:rPr>
              <a:t>"Strike Price" of 1,800 VND/kWh.</a:t>
            </a:r>
            <a:r>
              <a:rPr lang="en" sz="1200">
                <a:solidFill>
                  <a:srgbClr val="1B3E6D"/>
                </a:solidFill>
                <a:latin typeface="Montserrat"/>
                <a:ea typeface="Montserrat"/>
                <a:cs typeface="Montserrat"/>
                <a:sym typeface="Montserrat"/>
              </a:rPr>
              <a:t>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Factory continues to pay local utility for the physical electricity you consume to keep the machines running.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Factory &amp; developer settle the difference between the Strike Price &amp; the wholesale spot market floating price (FMP) </a:t>
            </a:r>
            <a:endParaRPr sz="1200">
              <a:solidFill>
                <a:srgbClr val="1B3E6D"/>
              </a:solidFill>
              <a:latin typeface="Montserrat"/>
              <a:ea typeface="Montserrat"/>
              <a:cs typeface="Montserrat"/>
              <a:sym typeface="Montserrat"/>
            </a:endParaRPr>
          </a:p>
          <a:p>
            <a:pPr marL="457200" lvl="0" indent="-304800" algn="l" rtl="0">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Sunny month: solar energy floods </a:t>
            </a:r>
            <a:r>
              <a:rPr lang="en" sz="1200" b="1">
                <a:solidFill>
                  <a:srgbClr val="1B3E6D"/>
                </a:solidFill>
                <a:latin typeface="Montserrat"/>
                <a:ea typeface="Montserrat"/>
                <a:cs typeface="Montserrat"/>
                <a:sym typeface="Montserrat"/>
              </a:rPr>
              <a:t>the national grid &amp; the midday FMP drops to 800 VND/kWh.</a:t>
            </a:r>
            <a:endParaRPr sz="1200" b="1">
              <a:solidFill>
                <a:srgbClr val="1B3E6D"/>
              </a:solidFill>
              <a:latin typeface="Montserrat"/>
              <a:ea typeface="Montserrat"/>
              <a:cs typeface="Montserrat"/>
              <a:sym typeface="Montserrat"/>
            </a:endParaRPr>
          </a:p>
        </p:txBody>
      </p:sp>
      <p:pic>
        <p:nvPicPr>
          <p:cNvPr id="2272" name="Google Shape;2272;p201"/>
          <p:cNvPicPr preferRelativeResize="0"/>
          <p:nvPr/>
        </p:nvPicPr>
        <p:blipFill>
          <a:blip r:embed="rId3">
            <a:alphaModFix/>
          </a:blip>
          <a:stretch>
            <a:fillRect/>
          </a:stretch>
        </p:blipFill>
        <p:spPr>
          <a:xfrm>
            <a:off x="4326350" y="2127675"/>
            <a:ext cx="4760074" cy="2798400"/>
          </a:xfrm>
          <a:prstGeom prst="rect">
            <a:avLst/>
          </a:prstGeom>
          <a:noFill/>
          <a:ln>
            <a:noFill/>
          </a:ln>
        </p:spPr>
      </p:pic>
      <p:sp>
        <p:nvSpPr>
          <p:cNvPr id="2273" name="Google Shape;2273;p201"/>
          <p:cNvSpPr txBox="1"/>
          <p:nvPr/>
        </p:nvSpPr>
        <p:spPr>
          <a:xfrm>
            <a:off x="236692" y="2078829"/>
            <a:ext cx="4138500" cy="2935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200" b="1">
                <a:solidFill>
                  <a:srgbClr val="1B3E6D"/>
                </a:solidFill>
                <a:latin typeface="Montserrat"/>
                <a:ea typeface="Montserrat"/>
                <a:cs typeface="Montserrat"/>
                <a:sym typeface="Montserrat"/>
              </a:rPr>
              <a:t>Questions:</a:t>
            </a:r>
            <a:endParaRPr sz="1200" b="1">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Who owes money to whom? Since you are essentially paying two bills, how does this complicate your factory's monthly operational costs?</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Imagine a severe heat wave causes a power shortage, and the FMP spikes to 2,500 VND/kWh. How does the VPPA financially protect your factory's budget in this situation?</a:t>
            </a:r>
            <a:endParaRPr sz="1200">
              <a:solidFill>
                <a:srgbClr val="1B3E6D"/>
              </a:solidFill>
              <a:latin typeface="Montserrat"/>
              <a:ea typeface="Montserrat"/>
              <a:cs typeface="Montserrat"/>
              <a:sym typeface="Montserrat"/>
            </a:endParaRPr>
          </a:p>
          <a:p>
            <a:pPr marL="457200" lvl="0" indent="-304800" algn="l" rtl="0">
              <a:lnSpc>
                <a:spcPct val="115000"/>
              </a:lnSpc>
              <a:spcBef>
                <a:spcPts val="0"/>
              </a:spcBef>
              <a:spcAft>
                <a:spcPts val="0"/>
              </a:spcAft>
              <a:buClr>
                <a:srgbClr val="1B3E6D"/>
              </a:buClr>
              <a:buSzPts val="1200"/>
              <a:buFont typeface="Montserrat"/>
              <a:buChar char="●"/>
            </a:pPr>
            <a:r>
              <a:rPr lang="en" sz="1200">
                <a:solidFill>
                  <a:srgbClr val="1B3E6D"/>
                </a:solidFill>
                <a:latin typeface="Montserrat"/>
                <a:ea typeface="Montserrat"/>
                <a:cs typeface="Montserrat"/>
                <a:sym typeface="Montserrat"/>
              </a:rPr>
              <a:t>If EVN raises the DPPA fees next year, your overall energy costs go up. How do you communicate this ongoing regulatory risk to your CFO for DPPA approval?</a:t>
            </a:r>
            <a:endParaRPr sz="1200">
              <a:solidFill>
                <a:srgbClr val="1B3E6D"/>
              </a:solidFill>
              <a:latin typeface="Montserrat"/>
              <a:ea typeface="Montserrat"/>
              <a:cs typeface="Montserrat"/>
              <a:sym typeface="Montserrat"/>
            </a:endParaRPr>
          </a:p>
          <a:p>
            <a:pPr marL="0" lvl="0" indent="0" algn="l" rtl="0">
              <a:spcBef>
                <a:spcPts val="0"/>
              </a:spcBef>
              <a:spcAft>
                <a:spcPts val="0"/>
              </a:spcAft>
              <a:buNone/>
            </a:pPr>
            <a:endParaRPr sz="1200">
              <a:solidFill>
                <a:srgbClr val="1B3E6D"/>
              </a:solidFill>
              <a:latin typeface="Montserrat"/>
              <a:ea typeface="Montserrat"/>
              <a:cs typeface="Montserrat"/>
              <a:sym typeface="Montserrat"/>
            </a:endParaRPr>
          </a:p>
        </p:txBody>
      </p:sp>
      <p:pic>
        <p:nvPicPr>
          <p:cNvPr id="2274" name="Google Shape;2274;p201" title="CEBA new logo.png"/>
          <p:cNvPicPr preferRelativeResize="0"/>
          <p:nvPr/>
        </p:nvPicPr>
        <p:blipFill>
          <a:blip r:embed="rId4">
            <a:alphaModFix/>
          </a:blip>
          <a:stretch>
            <a:fillRect/>
          </a:stretch>
        </p:blipFill>
        <p:spPr>
          <a:xfrm>
            <a:off x="8367598" y="4881212"/>
            <a:ext cx="708296" cy="211825"/>
          </a:xfrm>
          <a:prstGeom prst="rect">
            <a:avLst/>
          </a:prstGeom>
          <a:noFill/>
          <a:ln>
            <a:noFill/>
          </a:ln>
        </p:spPr>
      </p:pic>
      <p:pic>
        <p:nvPicPr>
          <p:cNvPr id="2275" name="Google Shape;2275;p201"/>
          <p:cNvPicPr preferRelativeResize="0"/>
          <p:nvPr/>
        </p:nvPicPr>
        <p:blipFill>
          <a:blip r:embed="rId5">
            <a:alphaModFix/>
          </a:blip>
          <a:stretch>
            <a:fillRect/>
          </a:stretch>
        </p:blipFill>
        <p:spPr>
          <a:xfrm>
            <a:off x="7472673" y="4830726"/>
            <a:ext cx="894924" cy="3127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279"/>
        <p:cNvGrpSpPr/>
        <p:nvPr/>
      </p:nvGrpSpPr>
      <p:grpSpPr>
        <a:xfrm>
          <a:off x="0" y="0"/>
          <a:ext cx="0" cy="0"/>
          <a:chOff x="0" y="0"/>
          <a:chExt cx="0" cy="0"/>
        </a:xfrm>
      </p:grpSpPr>
      <p:grpSp>
        <p:nvGrpSpPr>
          <p:cNvPr id="2280" name="Google Shape;2280;p202"/>
          <p:cNvGrpSpPr/>
          <p:nvPr/>
        </p:nvGrpSpPr>
        <p:grpSpPr>
          <a:xfrm>
            <a:off x="239992" y="63853"/>
            <a:ext cx="8728050" cy="745997"/>
            <a:chOff x="236700" y="63853"/>
            <a:chExt cx="8728050" cy="745997"/>
          </a:xfrm>
        </p:grpSpPr>
        <p:sp>
          <p:nvSpPr>
            <p:cNvPr id="2281" name="Google Shape;2281;p202"/>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282" name="Google Shape;2282;p202"/>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283" name="Google Shape;2283;p202"/>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284" name="Google Shape;2284;p202"/>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285" name="Google Shape;2285;p202"/>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286" name="Google Shape;2286;p202"/>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287" name="Google Shape;2287;p202"/>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288" name="Google Shape;2288;p202"/>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None/>
              </a:pPr>
              <a:r>
                <a:rPr lang="en" sz="2000" b="1">
                  <a:solidFill>
                    <a:schemeClr val="lt1"/>
                  </a:solidFill>
                  <a:latin typeface="Montserrat"/>
                  <a:ea typeface="Montserrat"/>
                  <a:cs typeface="Montserrat"/>
                  <a:sym typeface="Montserrat"/>
                </a:rPr>
                <a:t>Actual Consumption Exceeds Contract Output (1)</a:t>
              </a:r>
              <a:endParaRPr sz="2000" b="1">
                <a:solidFill>
                  <a:schemeClr val="lt1"/>
                </a:solidFill>
                <a:latin typeface="Montserrat"/>
                <a:ea typeface="Montserrat"/>
                <a:cs typeface="Montserrat"/>
                <a:sym typeface="Montserrat"/>
              </a:endParaRPr>
            </a:p>
            <a:p>
              <a:pPr marL="0" lvl="0" indent="0" algn="l" rtl="0">
                <a:spcBef>
                  <a:spcPts val="0"/>
                </a:spcBef>
                <a:spcAft>
                  <a:spcPts val="0"/>
                </a:spcAft>
                <a:buNone/>
              </a:pPr>
              <a:endParaRPr sz="2000" b="1">
                <a:solidFill>
                  <a:schemeClr val="lt1"/>
                </a:solidFill>
                <a:latin typeface="Montserrat"/>
                <a:ea typeface="Montserrat"/>
                <a:cs typeface="Montserrat"/>
                <a:sym typeface="Montserrat"/>
              </a:endParaRPr>
            </a:p>
          </p:txBody>
        </p:sp>
        <p:cxnSp>
          <p:nvCxnSpPr>
            <p:cNvPr id="2289" name="Google Shape;2289;p202"/>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290" name="Google Shape;2290;p202"/>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291" name="Google Shape;2291;p202"/>
          <p:cNvSpPr txBox="1"/>
          <p:nvPr/>
        </p:nvSpPr>
        <p:spPr>
          <a:xfrm>
            <a:off x="2619700" y="1558200"/>
            <a:ext cx="6470400" cy="266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1. Market electricity energy cost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8,000,000 kWh * 1,600 VND/kWh * 1.026 * 1.008 = </a:t>
            </a:r>
            <a:r>
              <a:rPr lang="en" sz="1100" b="1">
                <a:solidFill>
                  <a:srgbClr val="E77A10"/>
                </a:solidFill>
                <a:latin typeface="Montserrat"/>
                <a:ea typeface="Montserrat"/>
                <a:cs typeface="Montserrat"/>
                <a:sym typeface="Montserrat"/>
              </a:rPr>
              <a:t>13,237,862,400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2. System service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DPPA</a:t>
            </a:r>
            <a:r>
              <a:rPr lang="en" sz="1300">
                <a:solidFill>
                  <a:srgbClr val="1B3E6D"/>
                </a:solidFill>
                <a:latin typeface="Montserrat"/>
                <a:ea typeface="Montserrat"/>
                <a:cs typeface="Montserrat"/>
                <a:sym typeface="Montserrat"/>
              </a:rPr>
              <a:t> </a:t>
            </a:r>
            <a:r>
              <a:rPr lang="en" sz="1100">
                <a:solidFill>
                  <a:srgbClr val="1B3E6D"/>
                </a:solidFill>
                <a:latin typeface="Montserrat"/>
                <a:ea typeface="Montserrat"/>
                <a:cs typeface="Montserrat"/>
                <a:sym typeface="Montserrat"/>
              </a:rPr>
              <a:t>= 8,000,000 kWh * 360 VND/kWh = </a:t>
            </a:r>
            <a:r>
              <a:rPr lang="en" sz="1100" b="1">
                <a:solidFill>
                  <a:srgbClr val="E77A10"/>
                </a:solidFill>
                <a:latin typeface="Montserrat"/>
                <a:ea typeface="Montserrat"/>
                <a:cs typeface="Montserrat"/>
                <a:sym typeface="Montserrat"/>
              </a:rPr>
              <a:t>2,880,000,000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3. Difference clearing fee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CL</a:t>
            </a:r>
            <a:r>
              <a:rPr lang="en" sz="1100">
                <a:solidFill>
                  <a:srgbClr val="1B3E6D"/>
                </a:solidFill>
                <a:latin typeface="Montserrat"/>
                <a:ea typeface="Montserrat"/>
                <a:cs typeface="Montserrat"/>
                <a:sym typeface="Montserrat"/>
              </a:rPr>
              <a:t> = 8,000,000 kWh * 163.30 VND/kWh = </a:t>
            </a:r>
            <a:r>
              <a:rPr lang="en" sz="1100" b="1">
                <a:solidFill>
                  <a:srgbClr val="E77A10"/>
                </a:solidFill>
                <a:latin typeface="Montserrat"/>
                <a:ea typeface="Montserrat"/>
                <a:cs typeface="Montserrat"/>
                <a:sym typeface="Montserrat"/>
              </a:rPr>
              <a:t>1,306,400,000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4. Additional electricity purchase </a:t>
            </a:r>
            <a:endParaRPr sz="1100" b="1">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BL</a:t>
            </a:r>
            <a:r>
              <a:rPr lang="en" sz="1100">
                <a:solidFill>
                  <a:srgbClr val="1B3E6D"/>
                </a:solidFill>
                <a:latin typeface="Montserrat"/>
                <a:ea typeface="Montserrat"/>
                <a:cs typeface="Montserrat"/>
                <a:sym typeface="Montserrat"/>
              </a:rPr>
              <a:t>= (QKH - Qkhhc)* P1 = 1,000,000 kWh * 2,204 VND/kWh = </a:t>
            </a:r>
            <a:r>
              <a:rPr lang="en" sz="1100" b="1">
                <a:solidFill>
                  <a:srgbClr val="E77A10"/>
                </a:solidFill>
                <a:latin typeface="Montserrat"/>
                <a:ea typeface="Montserrat"/>
                <a:cs typeface="Montserrat"/>
                <a:sym typeface="Montserrat"/>
              </a:rPr>
              <a:t>2,204,000,000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p:txBody>
      </p:sp>
      <p:pic>
        <p:nvPicPr>
          <p:cNvPr id="2292" name="Google Shape;2292;p202"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293" name="Google Shape;2293;p202"/>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294" name="Google Shape;2294;p202"/>
          <p:cNvSpPr txBox="1"/>
          <p:nvPr/>
        </p:nvSpPr>
        <p:spPr>
          <a:xfrm>
            <a:off x="2619700" y="941175"/>
            <a:ext cx="3047400" cy="485700"/>
          </a:xfrm>
          <a:prstGeom prst="rect">
            <a:avLst/>
          </a:prstGeom>
          <a:noFill/>
          <a:ln w="9525" cap="flat" cmpd="sng">
            <a:solidFill>
              <a:srgbClr val="88888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Difference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a:t>
            </a:r>
            <a:r>
              <a:rPr lang="en">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 </a:t>
            </a:r>
            <a:r>
              <a:rPr lang="en">
                <a:solidFill>
                  <a:srgbClr val="1B3E6D"/>
                </a:solidFill>
                <a:latin typeface="Montserrat"/>
                <a:ea typeface="Montserrat"/>
                <a:cs typeface="Montserrat"/>
                <a:sym typeface="Montserrat"/>
              </a:rPr>
              <a:t>Q</a:t>
            </a:r>
            <a:r>
              <a:rPr lang="en" baseline="-25000">
                <a:solidFill>
                  <a:srgbClr val="1B3E6D"/>
                </a:solidFill>
                <a:latin typeface="Montserrat"/>
                <a:ea typeface="Montserrat"/>
                <a:cs typeface="Montserrat"/>
                <a:sym typeface="Montserrat"/>
              </a:rPr>
              <a:t>KHhc</a:t>
            </a:r>
            <a:r>
              <a:rPr lang="en" sz="1200">
                <a:solidFill>
                  <a:srgbClr val="1B3E6D"/>
                </a:solidFill>
                <a:latin typeface="Montserrat"/>
                <a:ea typeface="Montserrat"/>
                <a:cs typeface="Montserrat"/>
                <a:sym typeface="Montserrat"/>
              </a:rPr>
              <a:t> = 1000 MWh</a:t>
            </a:r>
            <a:endParaRPr sz="1200">
              <a:solidFill>
                <a:srgbClr val="1B3E6D"/>
              </a:solidFill>
              <a:latin typeface="Montserrat"/>
              <a:ea typeface="Montserrat"/>
              <a:cs typeface="Montserrat"/>
              <a:sym typeface="Montserrat"/>
            </a:endParaRPr>
          </a:p>
        </p:txBody>
      </p:sp>
      <p:sp>
        <p:nvSpPr>
          <p:cNvPr id="2295" name="Google Shape;2295;p202"/>
          <p:cNvSpPr txBox="1"/>
          <p:nvPr/>
        </p:nvSpPr>
        <p:spPr>
          <a:xfrm>
            <a:off x="5920650" y="941175"/>
            <a:ext cx="3047400" cy="485700"/>
          </a:xfrm>
          <a:prstGeom prst="rect">
            <a:avLst/>
          </a:prstGeom>
          <a:noFill/>
          <a:ln w="9525" cap="flat" cmpd="sng">
            <a:solidFill>
              <a:srgbClr val="2B9C8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1B3E6D"/>
                </a:solidFill>
                <a:latin typeface="Montserrat"/>
                <a:ea typeface="Montserrat"/>
                <a:cs typeface="Montserrat"/>
                <a:sym typeface="Montserrat"/>
              </a:rPr>
              <a:t>The customer must purchase additional electricity from EVN</a:t>
            </a:r>
            <a:endParaRPr sz="1200">
              <a:solidFill>
                <a:srgbClr val="1B3E6D"/>
              </a:solidFill>
              <a:latin typeface="Montserrat"/>
              <a:ea typeface="Montserrat"/>
              <a:cs typeface="Montserrat"/>
              <a:sym typeface="Montserrat"/>
            </a:endParaRPr>
          </a:p>
        </p:txBody>
      </p:sp>
      <p:cxnSp>
        <p:nvCxnSpPr>
          <p:cNvPr id="2296" name="Google Shape;2296;p202"/>
          <p:cNvCxnSpPr>
            <a:stCxn id="2294" idx="3"/>
            <a:endCxn id="2295" idx="1"/>
          </p:cNvCxnSpPr>
          <p:nvPr/>
        </p:nvCxnSpPr>
        <p:spPr>
          <a:xfrm>
            <a:off x="5667100" y="1184025"/>
            <a:ext cx="253500" cy="0"/>
          </a:xfrm>
          <a:prstGeom prst="straightConnector1">
            <a:avLst/>
          </a:prstGeom>
          <a:noFill/>
          <a:ln w="9525" cap="flat" cmpd="sng">
            <a:solidFill>
              <a:schemeClr val="dk2"/>
            </a:solidFill>
            <a:prstDash val="solid"/>
            <a:round/>
            <a:headEnd type="none" w="med" len="med"/>
            <a:tailEnd type="triangle" w="med" len="med"/>
          </a:ln>
        </p:spPr>
      </p:cxnSp>
      <p:sp>
        <p:nvSpPr>
          <p:cNvPr id="2297" name="Google Shape;2297;p202"/>
          <p:cNvSpPr/>
          <p:nvPr/>
        </p:nvSpPr>
        <p:spPr>
          <a:xfrm>
            <a:off x="2388525" y="4098575"/>
            <a:ext cx="6702000" cy="485700"/>
          </a:xfrm>
          <a:prstGeom prst="rect">
            <a:avLst/>
          </a:prstGeom>
          <a:solidFill>
            <a:srgbClr val="D9EAD3"/>
          </a:solidFill>
          <a:ln w="19050" cap="flat" cmpd="sng">
            <a:solidFill>
              <a:srgbClr val="1B786E"/>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cost collected by EVN </a:t>
            </a:r>
            <a:endParaRPr sz="1100" b="1">
              <a:solidFill>
                <a:srgbClr val="1B3E6D"/>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13,237,862,400 + 2,880,000,000 + 1,306,400,000 + 2,204,000,000 = </a:t>
            </a:r>
            <a:r>
              <a:rPr lang="en" sz="1100" b="1">
                <a:solidFill>
                  <a:srgbClr val="E77A10"/>
                </a:solidFill>
                <a:latin typeface="Montserrat"/>
                <a:ea typeface="Montserrat"/>
                <a:cs typeface="Montserrat"/>
                <a:sym typeface="Montserrat"/>
              </a:rPr>
              <a:t>19,628,262,400 VND</a:t>
            </a:r>
            <a:endParaRPr sz="1300"/>
          </a:p>
        </p:txBody>
      </p:sp>
      <p:grpSp>
        <p:nvGrpSpPr>
          <p:cNvPr id="2298" name="Google Shape;2298;p202"/>
          <p:cNvGrpSpPr/>
          <p:nvPr/>
        </p:nvGrpSpPr>
        <p:grpSpPr>
          <a:xfrm>
            <a:off x="76784" y="895150"/>
            <a:ext cx="2573391" cy="3767493"/>
            <a:chOff x="76784" y="895150"/>
            <a:chExt cx="2573391" cy="3767493"/>
          </a:xfrm>
        </p:grpSpPr>
        <p:grpSp>
          <p:nvGrpSpPr>
            <p:cNvPr id="2299" name="Google Shape;2299;p202"/>
            <p:cNvGrpSpPr/>
            <p:nvPr/>
          </p:nvGrpSpPr>
          <p:grpSpPr>
            <a:xfrm>
              <a:off x="76784" y="895150"/>
              <a:ext cx="2573391" cy="3767493"/>
              <a:chOff x="133650" y="895150"/>
              <a:chExt cx="2573391" cy="3767493"/>
            </a:xfrm>
          </p:grpSpPr>
          <p:pic>
            <p:nvPicPr>
              <p:cNvPr id="2300" name="Google Shape;2300;p202" title="wind-turbine.png"/>
              <p:cNvPicPr preferRelativeResize="0"/>
              <p:nvPr/>
            </p:nvPicPr>
            <p:blipFill>
              <a:blip r:embed="rId5">
                <a:alphaModFix/>
              </a:blip>
              <a:stretch>
                <a:fillRect/>
              </a:stretch>
            </p:blipFill>
            <p:spPr>
              <a:xfrm>
                <a:off x="539275" y="1447826"/>
                <a:ext cx="745979" cy="745999"/>
              </a:xfrm>
              <a:prstGeom prst="rect">
                <a:avLst/>
              </a:prstGeom>
              <a:noFill/>
              <a:ln>
                <a:noFill/>
              </a:ln>
            </p:spPr>
          </p:pic>
          <p:pic>
            <p:nvPicPr>
              <p:cNvPr id="2301" name="Google Shape;2301;p202" title="factory.png"/>
              <p:cNvPicPr preferRelativeResize="0"/>
              <p:nvPr/>
            </p:nvPicPr>
            <p:blipFill>
              <a:blip r:embed="rId6">
                <a:alphaModFix/>
              </a:blip>
              <a:stretch>
                <a:fillRect/>
              </a:stretch>
            </p:blipFill>
            <p:spPr>
              <a:xfrm>
                <a:off x="464809" y="3459544"/>
                <a:ext cx="894925" cy="894925"/>
              </a:xfrm>
              <a:prstGeom prst="rect">
                <a:avLst/>
              </a:prstGeom>
              <a:noFill/>
              <a:ln>
                <a:noFill/>
              </a:ln>
            </p:spPr>
          </p:pic>
          <p:cxnSp>
            <p:nvCxnSpPr>
              <p:cNvPr id="2302" name="Google Shape;2302;p202"/>
              <p:cNvCxnSpPr>
                <a:stCxn id="2300" idx="2"/>
                <a:endCxn id="2301" idx="0"/>
              </p:cNvCxnSpPr>
              <p:nvPr/>
            </p:nvCxnSpPr>
            <p:spPr>
              <a:xfrm>
                <a:off x="912264" y="2193825"/>
                <a:ext cx="0" cy="1265700"/>
              </a:xfrm>
              <a:prstGeom prst="straightConnector1">
                <a:avLst/>
              </a:prstGeom>
              <a:noFill/>
              <a:ln w="9525" cap="flat" cmpd="sng">
                <a:solidFill>
                  <a:schemeClr val="dk2"/>
                </a:solidFill>
                <a:prstDash val="solid"/>
                <a:round/>
                <a:headEnd type="triangle" w="med" len="med"/>
                <a:tailEnd type="triangle" w="med" len="med"/>
              </a:ln>
            </p:spPr>
          </p:cxnSp>
          <p:sp>
            <p:nvSpPr>
              <p:cNvPr id="2303" name="Google Shape;2303;p202"/>
              <p:cNvSpPr txBox="1"/>
              <p:nvPr/>
            </p:nvSpPr>
            <p:spPr>
              <a:xfrm>
                <a:off x="282650" y="895150"/>
                <a:ext cx="13959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71C285"/>
                    </a:solidFill>
                    <a:latin typeface="Montserrat"/>
                    <a:ea typeface="Montserrat"/>
                    <a:cs typeface="Montserrat"/>
                    <a:sym typeface="Montserrat"/>
                  </a:rPr>
                  <a:t>Wind Plant 30MW</a:t>
                </a:r>
                <a:endParaRPr sz="1300" b="1">
                  <a:solidFill>
                    <a:srgbClr val="71C285"/>
                  </a:solidFill>
                  <a:latin typeface="Montserrat"/>
                  <a:ea typeface="Montserrat"/>
                  <a:cs typeface="Montserrat"/>
                  <a:sym typeface="Montserrat"/>
                </a:endParaRPr>
              </a:p>
            </p:txBody>
          </p:sp>
          <p:sp>
            <p:nvSpPr>
              <p:cNvPr id="2304" name="Google Shape;2304;p202"/>
              <p:cNvSpPr txBox="1"/>
              <p:nvPr/>
            </p:nvSpPr>
            <p:spPr>
              <a:xfrm>
                <a:off x="133650" y="4227643"/>
                <a:ext cx="14802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4A86E8"/>
                    </a:solidFill>
                    <a:latin typeface="Montserrat"/>
                    <a:ea typeface="Montserrat"/>
                    <a:cs typeface="Montserrat"/>
                    <a:sym typeface="Montserrat"/>
                  </a:rPr>
                  <a:t>Large Customer</a:t>
                </a:r>
                <a:endParaRPr b="1">
                  <a:solidFill>
                    <a:srgbClr val="4A86E8"/>
                  </a:solidFill>
                  <a:latin typeface="Montserrat"/>
                  <a:ea typeface="Montserrat"/>
                  <a:cs typeface="Montserrat"/>
                  <a:sym typeface="Montserrat"/>
                </a:endParaRPr>
              </a:p>
            </p:txBody>
          </p:sp>
          <p:sp>
            <p:nvSpPr>
              <p:cNvPr id="2305" name="Google Shape;2305;p202"/>
              <p:cNvSpPr txBox="1"/>
              <p:nvPr/>
            </p:nvSpPr>
            <p:spPr>
              <a:xfrm>
                <a:off x="1311141" y="1519463"/>
                <a:ext cx="13959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71C285"/>
                    </a:solidFill>
                    <a:latin typeface="Montserrat"/>
                    <a:ea typeface="Montserrat"/>
                    <a:cs typeface="Montserrat"/>
                    <a:sym typeface="Montserrat"/>
                  </a:rPr>
                  <a:t>Actual Delivered Quantity = 8,000 MWh/month</a:t>
                </a:r>
                <a:endParaRPr sz="800" b="1">
                  <a:solidFill>
                    <a:srgbClr val="71C285"/>
                  </a:solidFill>
                  <a:latin typeface="Montserrat"/>
                  <a:ea typeface="Montserrat"/>
                  <a:cs typeface="Montserrat"/>
                  <a:sym typeface="Montserrat"/>
                </a:endParaRPr>
              </a:p>
            </p:txBody>
          </p:sp>
          <p:sp>
            <p:nvSpPr>
              <p:cNvPr id="2306" name="Google Shape;2306;p202"/>
              <p:cNvSpPr txBox="1"/>
              <p:nvPr/>
            </p:nvSpPr>
            <p:spPr>
              <a:xfrm>
                <a:off x="1401653" y="3704975"/>
                <a:ext cx="12330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4A86E8"/>
                    </a:solidFill>
                    <a:latin typeface="Montserrat"/>
                    <a:ea typeface="Montserrat"/>
                    <a:cs typeface="Montserrat"/>
                    <a:sym typeface="Montserrat"/>
                  </a:rPr>
                  <a:t>Consumption = 9,000 MWh/month</a:t>
                </a:r>
                <a:endParaRPr sz="800" b="1">
                  <a:solidFill>
                    <a:srgbClr val="4A86E8"/>
                  </a:solidFill>
                  <a:latin typeface="Montserrat"/>
                  <a:ea typeface="Montserrat"/>
                  <a:cs typeface="Montserrat"/>
                  <a:sym typeface="Montserrat"/>
                </a:endParaRPr>
              </a:p>
            </p:txBody>
          </p:sp>
          <p:sp>
            <p:nvSpPr>
              <p:cNvPr id="2307" name="Google Shape;2307;p202"/>
              <p:cNvSpPr txBox="1"/>
              <p:nvPr/>
            </p:nvSpPr>
            <p:spPr>
              <a:xfrm>
                <a:off x="912266" y="2449449"/>
                <a:ext cx="1741200" cy="8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latin typeface="Montserrat"/>
                    <a:ea typeface="Montserrat"/>
                    <a:cs typeface="Montserrat"/>
                    <a:sym typeface="Montserrat"/>
                  </a:rPr>
                  <a:t>CfD</a:t>
                </a:r>
                <a:endParaRPr sz="800"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QC = 8,000 MWh/month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PC = 1,500 VND/kWh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chemeClr val="dk2"/>
                    </a:solidFill>
                    <a:latin typeface="Montserrat"/>
                    <a:ea typeface="Montserrat"/>
                    <a:cs typeface="Montserrat"/>
                    <a:sym typeface="Montserrat"/>
                  </a:rPr>
                  <a:t>FMP = 1,600 VND/kWh</a:t>
                </a:r>
                <a:endParaRPr sz="800" b="1">
                  <a:solidFill>
                    <a:schemeClr val="dk2"/>
                  </a:solidFill>
                  <a:latin typeface="Montserrat"/>
                  <a:ea typeface="Montserrat"/>
                  <a:cs typeface="Montserrat"/>
                  <a:sym typeface="Montserrat"/>
                </a:endParaRPr>
              </a:p>
            </p:txBody>
          </p:sp>
        </p:grpSp>
        <p:pic>
          <p:nvPicPr>
            <p:cNvPr id="2308" name="Google Shape;2308;p202" title="handshake (1).png"/>
            <p:cNvPicPr preferRelativeResize="0"/>
            <p:nvPr/>
          </p:nvPicPr>
          <p:blipFill>
            <a:blip r:embed="rId7">
              <a:alphaModFix/>
            </a:blip>
            <a:stretch>
              <a:fillRect/>
            </a:stretch>
          </p:blipFill>
          <p:spPr>
            <a:xfrm>
              <a:off x="374375" y="2524688"/>
              <a:ext cx="441524" cy="441524"/>
            </a:xfrm>
            <a:prstGeom prst="rect">
              <a:avLst/>
            </a:prstGeom>
            <a:noFill/>
            <a:ln>
              <a:noFill/>
            </a:ln>
          </p:spPr>
        </p:pic>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12"/>
        <p:cNvGrpSpPr/>
        <p:nvPr/>
      </p:nvGrpSpPr>
      <p:grpSpPr>
        <a:xfrm>
          <a:off x="0" y="0"/>
          <a:ext cx="0" cy="0"/>
          <a:chOff x="0" y="0"/>
          <a:chExt cx="0" cy="0"/>
        </a:xfrm>
      </p:grpSpPr>
      <p:grpSp>
        <p:nvGrpSpPr>
          <p:cNvPr id="2313" name="Google Shape;2313;p203"/>
          <p:cNvGrpSpPr/>
          <p:nvPr/>
        </p:nvGrpSpPr>
        <p:grpSpPr>
          <a:xfrm>
            <a:off x="239992" y="63853"/>
            <a:ext cx="8728050" cy="745997"/>
            <a:chOff x="236700" y="63853"/>
            <a:chExt cx="8728050" cy="745997"/>
          </a:xfrm>
        </p:grpSpPr>
        <p:sp>
          <p:nvSpPr>
            <p:cNvPr id="2314" name="Google Shape;2314;p203"/>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315" name="Google Shape;2315;p203"/>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316" name="Google Shape;2316;p203"/>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317" name="Google Shape;2317;p203"/>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318" name="Google Shape;2318;p203"/>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319" name="Google Shape;2319;p203"/>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320" name="Google Shape;2320;p203"/>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321" name="Google Shape;2321;p203"/>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Actual Consumption Exceeds Contract Output (2)</a:t>
              </a:r>
              <a:endParaRPr sz="2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322" name="Google Shape;2322;p203"/>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323" name="Google Shape;2323;p203"/>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sp>
        <p:nvSpPr>
          <p:cNvPr id="2324" name="Google Shape;2324;p203"/>
          <p:cNvSpPr txBox="1"/>
          <p:nvPr/>
        </p:nvSpPr>
        <p:spPr>
          <a:xfrm>
            <a:off x="2673600" y="949625"/>
            <a:ext cx="6470400" cy="74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5. CfD Contract Cost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DN </a:t>
            </a:r>
            <a:r>
              <a:rPr lang="en" sz="1100">
                <a:solidFill>
                  <a:srgbClr val="1B3E6D"/>
                </a:solidFill>
                <a:latin typeface="Montserrat"/>
                <a:ea typeface="Montserrat"/>
                <a:cs typeface="Montserrat"/>
                <a:sym typeface="Montserrat"/>
              </a:rPr>
              <a:t>=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(1,500 - 1,600) VND/kWh * 8,000,000 kWh = -</a:t>
            </a:r>
            <a:r>
              <a:rPr lang="en" sz="1100" b="1">
                <a:solidFill>
                  <a:srgbClr val="E77A10"/>
                </a:solidFill>
                <a:latin typeface="Montserrat"/>
                <a:ea typeface="Montserrat"/>
                <a:cs typeface="Montserrat"/>
                <a:sym typeface="Montserrat"/>
              </a:rPr>
              <a:t>800,000,000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3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endParaRPr sz="1100" b="1">
              <a:solidFill>
                <a:srgbClr val="1B3E6D"/>
              </a:solidFill>
              <a:latin typeface="Montserrat"/>
              <a:ea typeface="Montserrat"/>
              <a:cs typeface="Montserrat"/>
              <a:sym typeface="Montserrat"/>
            </a:endParaRPr>
          </a:p>
        </p:txBody>
      </p:sp>
      <p:pic>
        <p:nvPicPr>
          <p:cNvPr id="2325" name="Google Shape;2325;p203"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326" name="Google Shape;2326;p203"/>
          <p:cNvPicPr preferRelativeResize="0"/>
          <p:nvPr/>
        </p:nvPicPr>
        <p:blipFill>
          <a:blip r:embed="rId4">
            <a:alphaModFix/>
          </a:blip>
          <a:stretch>
            <a:fillRect/>
          </a:stretch>
        </p:blipFill>
        <p:spPr>
          <a:xfrm>
            <a:off x="7472673" y="4830726"/>
            <a:ext cx="894924" cy="312775"/>
          </a:xfrm>
          <a:prstGeom prst="rect">
            <a:avLst/>
          </a:prstGeom>
          <a:noFill/>
          <a:ln>
            <a:noFill/>
          </a:ln>
        </p:spPr>
      </p:pic>
      <p:sp>
        <p:nvSpPr>
          <p:cNvPr id="2327" name="Google Shape;2327;p203"/>
          <p:cNvSpPr/>
          <p:nvPr/>
        </p:nvSpPr>
        <p:spPr>
          <a:xfrm>
            <a:off x="2722275" y="1673625"/>
            <a:ext cx="6245700" cy="520200"/>
          </a:xfrm>
          <a:prstGeom prst="rect">
            <a:avLst/>
          </a:prstGeom>
          <a:solidFill>
            <a:srgbClr val="FCE5CD"/>
          </a:solidFill>
          <a:ln w="19050" cap="flat" cmpd="sng">
            <a:solidFill>
              <a:srgbClr val="E77A1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lnSpc>
                <a:spcPct val="115000"/>
              </a:lnSpc>
              <a:spcBef>
                <a:spcPts val="0"/>
              </a:spcBef>
              <a:spcAft>
                <a:spcPts val="0"/>
              </a:spcAft>
              <a:buClr>
                <a:schemeClr val="dk1"/>
              </a:buClr>
              <a:buSzPts val="1100"/>
              <a:buFont typeface="Arial"/>
              <a:buNone/>
            </a:pPr>
            <a:r>
              <a:rPr lang="en" sz="1100" b="1">
                <a:solidFill>
                  <a:srgbClr val="176B62"/>
                </a:solidFill>
                <a:latin typeface="Montserrat"/>
                <a:ea typeface="Montserrat"/>
                <a:cs typeface="Montserrat"/>
                <a:sym typeface="Montserrat"/>
              </a:rPr>
              <a:t>Total Customer Cost (</a:t>
            </a:r>
            <a:r>
              <a:rPr lang="en" sz="1300" b="1">
                <a:solidFill>
                  <a:srgbClr val="176B62"/>
                </a:solidFill>
                <a:latin typeface="Montserrat"/>
                <a:ea typeface="Montserrat"/>
                <a:cs typeface="Montserrat"/>
                <a:sym typeface="Montserrat"/>
              </a:rPr>
              <a:t>C</a:t>
            </a:r>
            <a:r>
              <a:rPr lang="en" sz="1300" b="1" baseline="-25000">
                <a:solidFill>
                  <a:srgbClr val="176B62"/>
                </a:solidFill>
                <a:latin typeface="Montserrat"/>
                <a:ea typeface="Montserrat"/>
                <a:cs typeface="Montserrat"/>
                <a:sym typeface="Montserrat"/>
              </a:rPr>
              <a:t>KH </a:t>
            </a:r>
            <a:r>
              <a:rPr lang="en" sz="1100" b="1">
                <a:solidFill>
                  <a:srgbClr val="176B62"/>
                </a:solidFill>
                <a:latin typeface="Montserrat"/>
                <a:ea typeface="Montserrat"/>
                <a:cs typeface="Montserrat"/>
                <a:sym typeface="Montserrat"/>
              </a:rPr>
              <a:t>)</a:t>
            </a:r>
            <a:endParaRPr sz="1100" b="1">
              <a:solidFill>
                <a:srgbClr val="176B62"/>
              </a:solidFill>
              <a:latin typeface="Montserrat"/>
              <a:ea typeface="Montserrat"/>
              <a:cs typeface="Montserrat"/>
              <a:sym typeface="Montserrat"/>
            </a:endParaRPr>
          </a:p>
          <a:p>
            <a:pPr marL="0" lvl="0" indent="0" algn="ctr"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KH </a:t>
            </a:r>
            <a:r>
              <a:rPr lang="en" sz="1100">
                <a:solidFill>
                  <a:srgbClr val="1B3E6D"/>
                </a:solidFill>
                <a:latin typeface="Montserrat"/>
                <a:ea typeface="Montserrat"/>
                <a:cs typeface="Montserrat"/>
                <a:sym typeface="Montserrat"/>
              </a:rPr>
              <a:t>=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EVN</a:t>
            </a:r>
            <a:r>
              <a:rPr lang="en" sz="1100">
                <a:solidFill>
                  <a:srgbClr val="1B3E6D"/>
                </a:solidFill>
                <a:latin typeface="Montserrat"/>
                <a:ea typeface="Montserrat"/>
                <a:cs typeface="Montserrat"/>
                <a:sym typeface="Montserrat"/>
              </a:rPr>
              <a:t> +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19,628,262,400 + (-800,000,000) = </a:t>
            </a:r>
            <a:r>
              <a:rPr lang="en" sz="1100" b="1">
                <a:solidFill>
                  <a:srgbClr val="176B62"/>
                </a:solidFill>
                <a:latin typeface="Montserrat"/>
                <a:ea typeface="Montserrat"/>
                <a:cs typeface="Montserrat"/>
                <a:sym typeface="Montserrat"/>
              </a:rPr>
              <a:t>18,828,262,400 VND</a:t>
            </a:r>
            <a:endParaRPr b="1">
              <a:solidFill>
                <a:srgbClr val="176B62"/>
              </a:solidFill>
            </a:endParaRPr>
          </a:p>
        </p:txBody>
      </p:sp>
      <p:sp>
        <p:nvSpPr>
          <p:cNvPr id="2328" name="Google Shape;2328;p203"/>
          <p:cNvSpPr txBox="1"/>
          <p:nvPr/>
        </p:nvSpPr>
        <p:spPr>
          <a:xfrm>
            <a:off x="2722275" y="2397700"/>
            <a:ext cx="6470400" cy="2433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Power Plant Revenue</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the market</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300">
                <a:solidFill>
                  <a:srgbClr val="1B3E6D"/>
                </a:solidFill>
                <a:latin typeface="Montserrat"/>
                <a:ea typeface="Montserrat"/>
                <a:cs typeface="Montserrat"/>
                <a:sym typeface="Montserrat"/>
              </a:rPr>
              <a:t>:</a:t>
            </a:r>
            <a:r>
              <a:rPr lang="en" sz="1100">
                <a:solidFill>
                  <a:srgbClr val="1B3E6D"/>
                </a:solidFill>
                <a:latin typeface="Montserrat"/>
                <a:ea typeface="Montserrat"/>
                <a:cs typeface="Montserrat"/>
                <a:sym typeface="Montserrat"/>
              </a:rPr>
              <a:t> The plant generates the full </a:t>
            </a:r>
            <a:r>
              <a:rPr lang="en" sz="1100" b="1">
                <a:solidFill>
                  <a:srgbClr val="1B3E6D"/>
                </a:solidFill>
                <a:latin typeface="Montserrat"/>
                <a:ea typeface="Montserrat"/>
                <a:cs typeface="Montserrat"/>
                <a:sym typeface="Montserrat"/>
              </a:rPr>
              <a:t>8,000 MWh</a:t>
            </a:r>
            <a:r>
              <a:rPr lang="en" sz="1100">
                <a:solidFill>
                  <a:srgbClr val="1B3E6D"/>
                </a:solidFill>
                <a:latin typeface="Montserrat"/>
                <a:ea typeface="Montserrat"/>
                <a:cs typeface="Montserrat"/>
                <a:sym typeface="Montserrat"/>
              </a:rPr>
              <a:t> (after loss ~8,064,000 kWh at the generator)  </a:t>
            </a: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TTD</a:t>
            </a:r>
            <a:r>
              <a:rPr lang="en" sz="1100">
                <a:solidFill>
                  <a:srgbClr val="1B3E6D"/>
                </a:solidFill>
                <a:latin typeface="Montserrat"/>
                <a:ea typeface="Montserrat"/>
                <a:cs typeface="Montserrat"/>
                <a:sym typeface="Montserrat"/>
              </a:rPr>
              <a:t>= 8,064,000 kWh * 1,600 VND/kWh = </a:t>
            </a:r>
            <a:r>
              <a:rPr lang="en" sz="1100" b="1">
                <a:solidFill>
                  <a:srgbClr val="E77A10"/>
                </a:solidFill>
                <a:latin typeface="Montserrat"/>
                <a:ea typeface="Montserrat"/>
                <a:cs typeface="Montserrat"/>
                <a:sym typeface="Montserrat"/>
              </a:rPr>
              <a:t>12,902,400,000 VND </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a:solidFill>
                  <a:srgbClr val="1B3E6D"/>
                </a:solidFill>
                <a:latin typeface="Montserrat"/>
                <a:ea typeface="Montserrat"/>
                <a:cs typeface="Montserrat"/>
                <a:sym typeface="Montserrat"/>
              </a:rPr>
              <a:t>Revenue from CfD contract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300">
                <a:solidFill>
                  <a:srgbClr val="1B3E6D"/>
                </a:solidFill>
                <a:latin typeface="Montserrat"/>
                <a:ea typeface="Montserrat"/>
                <a:cs typeface="Montserrat"/>
                <a:sym typeface="Montserrat"/>
              </a:rPr>
              <a:t>C</a:t>
            </a:r>
            <a:r>
              <a:rPr lang="en" sz="1300" baseline="-25000">
                <a:solidFill>
                  <a:srgbClr val="1B3E6D"/>
                </a:solidFill>
                <a:latin typeface="Montserrat"/>
                <a:ea typeface="Montserrat"/>
                <a:cs typeface="Montserrat"/>
                <a:sym typeface="Montserrat"/>
              </a:rPr>
              <a:t>CfD</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QC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PC</a:t>
            </a:r>
            <a:r>
              <a:rPr lang="en" sz="1100">
                <a:solidFill>
                  <a:srgbClr val="1B3E6D"/>
                </a:solidFill>
                <a:latin typeface="Montserrat"/>
                <a:ea typeface="Montserrat"/>
                <a:cs typeface="Montserrat"/>
                <a:sym typeface="Montserrat"/>
              </a:rPr>
              <a:t> - </a:t>
            </a:r>
            <a:r>
              <a:rPr lang="en" sz="1200">
                <a:solidFill>
                  <a:srgbClr val="1B3E6D"/>
                </a:solidFill>
                <a:latin typeface="Montserrat"/>
                <a:ea typeface="Montserrat"/>
                <a:cs typeface="Montserrat"/>
                <a:sym typeface="Montserrat"/>
              </a:rPr>
              <a:t>FMP</a:t>
            </a:r>
            <a:r>
              <a:rPr lang="en" sz="1100">
                <a:solidFill>
                  <a:srgbClr val="1B3E6D"/>
                </a:solidFill>
                <a:latin typeface="Montserrat"/>
                <a:ea typeface="Montserrat"/>
                <a:cs typeface="Montserrat"/>
                <a:sym typeface="Montserrat"/>
              </a:rPr>
              <a:t>) = 8,000,000 kWh * (1,500 - 1,600) = </a:t>
            </a:r>
            <a:r>
              <a:rPr lang="en" sz="1100" b="1">
                <a:solidFill>
                  <a:srgbClr val="E77A10"/>
                </a:solidFill>
                <a:latin typeface="Montserrat"/>
                <a:ea typeface="Montserrat"/>
                <a:cs typeface="Montserrat"/>
                <a:sym typeface="Montserrat"/>
              </a:rPr>
              <a:t>-800,000,000 VND</a:t>
            </a:r>
            <a:r>
              <a:rPr lang="en" sz="1100">
                <a:solidFill>
                  <a:srgbClr val="1B3E6D"/>
                </a:solidFill>
                <a:latin typeface="Montserrat"/>
                <a:ea typeface="Montserrat"/>
                <a:cs typeface="Montserrat"/>
                <a:sym typeface="Montserrat"/>
              </a:rPr>
              <a:t>  </a:t>
            </a: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a:solidFill>
                <a:srgbClr val="1B3E6D"/>
              </a:solidFill>
              <a:latin typeface="Montserrat"/>
              <a:ea typeface="Montserrat"/>
              <a:cs typeface="Montserrat"/>
              <a:sym typeface="Montserrat"/>
            </a:endParaRPr>
          </a:p>
          <a:p>
            <a:pPr marL="0" lvl="0" indent="0" algn="l" rtl="0">
              <a:lnSpc>
                <a:spcPct val="115000"/>
              </a:lnSpc>
              <a:spcBef>
                <a:spcPts val="0"/>
              </a:spcBef>
              <a:spcAft>
                <a:spcPts val="0"/>
              </a:spcAft>
              <a:buNone/>
            </a:pPr>
            <a:r>
              <a:rPr lang="en" sz="1100" b="1">
                <a:solidFill>
                  <a:srgbClr val="1B3E6D"/>
                </a:solidFill>
                <a:latin typeface="Montserrat"/>
                <a:ea typeface="Montserrat"/>
                <a:cs typeface="Montserrat"/>
                <a:sym typeface="Montserrat"/>
              </a:rPr>
              <a:t>Total plant revenue</a:t>
            </a:r>
            <a:r>
              <a:rPr lang="en" sz="1100">
                <a:solidFill>
                  <a:srgbClr val="1B3E6D"/>
                </a:solidFill>
                <a:latin typeface="Montserrat"/>
                <a:ea typeface="Montserrat"/>
                <a:cs typeface="Montserrat"/>
                <a:sym typeface="Montserrat"/>
              </a:rPr>
              <a:t> is 12,902,400,000 + (-800,000,000) = </a:t>
            </a:r>
            <a:r>
              <a:rPr lang="en" sz="1100" b="1">
                <a:solidFill>
                  <a:srgbClr val="E77A10"/>
                </a:solidFill>
                <a:latin typeface="Montserrat"/>
                <a:ea typeface="Montserrat"/>
                <a:cs typeface="Montserrat"/>
                <a:sym typeface="Montserrat"/>
              </a:rPr>
              <a:t>12,102,400,000 VND</a:t>
            </a: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E77A10"/>
              </a:solidFill>
              <a:latin typeface="Montserrat"/>
              <a:ea typeface="Montserrat"/>
              <a:cs typeface="Montserrat"/>
              <a:sym typeface="Montserrat"/>
            </a:endParaRPr>
          </a:p>
          <a:p>
            <a:pPr marL="0" lvl="0" indent="0" algn="l" rtl="0">
              <a:lnSpc>
                <a:spcPct val="115000"/>
              </a:lnSpc>
              <a:spcBef>
                <a:spcPts val="0"/>
              </a:spcBef>
              <a:spcAft>
                <a:spcPts val="0"/>
              </a:spcAft>
              <a:buNone/>
            </a:pPr>
            <a:endParaRPr sz="1100" b="1">
              <a:solidFill>
                <a:srgbClr val="1B3E6D"/>
              </a:solidFill>
              <a:latin typeface="Montserrat"/>
              <a:ea typeface="Montserrat"/>
              <a:cs typeface="Montserrat"/>
              <a:sym typeface="Montserrat"/>
            </a:endParaRPr>
          </a:p>
        </p:txBody>
      </p:sp>
      <p:grpSp>
        <p:nvGrpSpPr>
          <p:cNvPr id="2329" name="Google Shape;2329;p203"/>
          <p:cNvGrpSpPr/>
          <p:nvPr/>
        </p:nvGrpSpPr>
        <p:grpSpPr>
          <a:xfrm>
            <a:off x="76784" y="895150"/>
            <a:ext cx="2573391" cy="3767493"/>
            <a:chOff x="76784" y="895150"/>
            <a:chExt cx="2573391" cy="3767493"/>
          </a:xfrm>
        </p:grpSpPr>
        <p:grpSp>
          <p:nvGrpSpPr>
            <p:cNvPr id="2330" name="Google Shape;2330;p203"/>
            <p:cNvGrpSpPr/>
            <p:nvPr/>
          </p:nvGrpSpPr>
          <p:grpSpPr>
            <a:xfrm>
              <a:off x="76784" y="895150"/>
              <a:ext cx="2573391" cy="3767493"/>
              <a:chOff x="133650" y="895150"/>
              <a:chExt cx="2573391" cy="3767493"/>
            </a:xfrm>
          </p:grpSpPr>
          <p:pic>
            <p:nvPicPr>
              <p:cNvPr id="2331" name="Google Shape;2331;p203" title="wind-turbine.png"/>
              <p:cNvPicPr preferRelativeResize="0"/>
              <p:nvPr/>
            </p:nvPicPr>
            <p:blipFill>
              <a:blip r:embed="rId5">
                <a:alphaModFix/>
              </a:blip>
              <a:stretch>
                <a:fillRect/>
              </a:stretch>
            </p:blipFill>
            <p:spPr>
              <a:xfrm>
                <a:off x="539275" y="1447826"/>
                <a:ext cx="745979" cy="745999"/>
              </a:xfrm>
              <a:prstGeom prst="rect">
                <a:avLst/>
              </a:prstGeom>
              <a:noFill/>
              <a:ln>
                <a:noFill/>
              </a:ln>
            </p:spPr>
          </p:pic>
          <p:pic>
            <p:nvPicPr>
              <p:cNvPr id="2332" name="Google Shape;2332;p203" title="factory.png"/>
              <p:cNvPicPr preferRelativeResize="0"/>
              <p:nvPr/>
            </p:nvPicPr>
            <p:blipFill>
              <a:blip r:embed="rId6">
                <a:alphaModFix/>
              </a:blip>
              <a:stretch>
                <a:fillRect/>
              </a:stretch>
            </p:blipFill>
            <p:spPr>
              <a:xfrm>
                <a:off x="464809" y="3459544"/>
                <a:ext cx="894925" cy="894925"/>
              </a:xfrm>
              <a:prstGeom prst="rect">
                <a:avLst/>
              </a:prstGeom>
              <a:noFill/>
              <a:ln>
                <a:noFill/>
              </a:ln>
            </p:spPr>
          </p:pic>
          <p:cxnSp>
            <p:nvCxnSpPr>
              <p:cNvPr id="2333" name="Google Shape;2333;p203"/>
              <p:cNvCxnSpPr>
                <a:stCxn id="2331" idx="2"/>
                <a:endCxn id="2332" idx="0"/>
              </p:cNvCxnSpPr>
              <p:nvPr/>
            </p:nvCxnSpPr>
            <p:spPr>
              <a:xfrm>
                <a:off x="912264" y="2193825"/>
                <a:ext cx="0" cy="1265700"/>
              </a:xfrm>
              <a:prstGeom prst="straightConnector1">
                <a:avLst/>
              </a:prstGeom>
              <a:noFill/>
              <a:ln w="9525" cap="flat" cmpd="sng">
                <a:solidFill>
                  <a:schemeClr val="dk2"/>
                </a:solidFill>
                <a:prstDash val="solid"/>
                <a:round/>
                <a:headEnd type="triangle" w="med" len="med"/>
                <a:tailEnd type="triangle" w="med" len="med"/>
              </a:ln>
            </p:spPr>
          </p:cxnSp>
          <p:sp>
            <p:nvSpPr>
              <p:cNvPr id="2334" name="Google Shape;2334;p203"/>
              <p:cNvSpPr txBox="1"/>
              <p:nvPr/>
            </p:nvSpPr>
            <p:spPr>
              <a:xfrm>
                <a:off x="282650" y="895150"/>
                <a:ext cx="13959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300" b="1">
                    <a:solidFill>
                      <a:srgbClr val="71C285"/>
                    </a:solidFill>
                    <a:latin typeface="Montserrat"/>
                    <a:ea typeface="Montserrat"/>
                    <a:cs typeface="Montserrat"/>
                    <a:sym typeface="Montserrat"/>
                  </a:rPr>
                  <a:t>Wind Plant 30MW</a:t>
                </a:r>
                <a:endParaRPr sz="1300" b="1">
                  <a:solidFill>
                    <a:srgbClr val="71C285"/>
                  </a:solidFill>
                  <a:latin typeface="Montserrat"/>
                  <a:ea typeface="Montserrat"/>
                  <a:cs typeface="Montserrat"/>
                  <a:sym typeface="Montserrat"/>
                </a:endParaRPr>
              </a:p>
            </p:txBody>
          </p:sp>
          <p:sp>
            <p:nvSpPr>
              <p:cNvPr id="2335" name="Google Shape;2335;p203"/>
              <p:cNvSpPr txBox="1"/>
              <p:nvPr/>
            </p:nvSpPr>
            <p:spPr>
              <a:xfrm>
                <a:off x="133650" y="4227643"/>
                <a:ext cx="1480200" cy="435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b="1">
                    <a:solidFill>
                      <a:srgbClr val="4A86E8"/>
                    </a:solidFill>
                    <a:latin typeface="Montserrat"/>
                    <a:ea typeface="Montserrat"/>
                    <a:cs typeface="Montserrat"/>
                    <a:sym typeface="Montserrat"/>
                  </a:rPr>
                  <a:t>Large Customer</a:t>
                </a:r>
                <a:endParaRPr b="1">
                  <a:solidFill>
                    <a:srgbClr val="4A86E8"/>
                  </a:solidFill>
                  <a:latin typeface="Montserrat"/>
                  <a:ea typeface="Montserrat"/>
                  <a:cs typeface="Montserrat"/>
                  <a:sym typeface="Montserrat"/>
                </a:endParaRPr>
              </a:p>
            </p:txBody>
          </p:sp>
          <p:sp>
            <p:nvSpPr>
              <p:cNvPr id="2336" name="Google Shape;2336;p203"/>
              <p:cNvSpPr txBox="1"/>
              <p:nvPr/>
            </p:nvSpPr>
            <p:spPr>
              <a:xfrm>
                <a:off x="1311141" y="1519463"/>
                <a:ext cx="13959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71C285"/>
                    </a:solidFill>
                    <a:latin typeface="Montserrat"/>
                    <a:ea typeface="Montserrat"/>
                    <a:cs typeface="Montserrat"/>
                    <a:sym typeface="Montserrat"/>
                  </a:rPr>
                  <a:t>Actual Delivered Quantity = 8,000 MWh/month</a:t>
                </a:r>
                <a:endParaRPr sz="800" b="1">
                  <a:solidFill>
                    <a:srgbClr val="71C285"/>
                  </a:solidFill>
                  <a:latin typeface="Montserrat"/>
                  <a:ea typeface="Montserrat"/>
                  <a:cs typeface="Montserrat"/>
                  <a:sym typeface="Montserrat"/>
                </a:endParaRPr>
              </a:p>
            </p:txBody>
          </p:sp>
          <p:sp>
            <p:nvSpPr>
              <p:cNvPr id="2337" name="Google Shape;2337;p203"/>
              <p:cNvSpPr txBox="1"/>
              <p:nvPr/>
            </p:nvSpPr>
            <p:spPr>
              <a:xfrm>
                <a:off x="1359716" y="3785775"/>
                <a:ext cx="1233000" cy="649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800" b="1">
                    <a:solidFill>
                      <a:srgbClr val="4A86E8"/>
                    </a:solidFill>
                    <a:latin typeface="Montserrat"/>
                    <a:ea typeface="Montserrat"/>
                    <a:cs typeface="Montserrat"/>
                    <a:sym typeface="Montserrat"/>
                  </a:rPr>
                  <a:t>Consumption = 9,000 MWh/month</a:t>
                </a:r>
                <a:endParaRPr sz="800" b="1">
                  <a:solidFill>
                    <a:srgbClr val="4A86E8"/>
                  </a:solidFill>
                  <a:latin typeface="Montserrat"/>
                  <a:ea typeface="Montserrat"/>
                  <a:cs typeface="Montserrat"/>
                  <a:sym typeface="Montserrat"/>
                </a:endParaRPr>
              </a:p>
            </p:txBody>
          </p:sp>
          <p:sp>
            <p:nvSpPr>
              <p:cNvPr id="2338" name="Google Shape;2338;p203"/>
              <p:cNvSpPr txBox="1"/>
              <p:nvPr/>
            </p:nvSpPr>
            <p:spPr>
              <a:xfrm>
                <a:off x="912266" y="2449449"/>
                <a:ext cx="1741200" cy="824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b="1">
                    <a:solidFill>
                      <a:schemeClr val="dk2"/>
                    </a:solidFill>
                    <a:latin typeface="Montserrat"/>
                    <a:ea typeface="Montserrat"/>
                    <a:cs typeface="Montserrat"/>
                    <a:sym typeface="Montserrat"/>
                  </a:rPr>
                  <a:t>CfD</a:t>
                </a:r>
                <a:endParaRPr sz="800" b="1">
                  <a:solidFill>
                    <a:schemeClr val="dk2"/>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QC = 8,000 MWh/month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rgbClr val="E06666"/>
                    </a:solidFill>
                    <a:latin typeface="Montserrat"/>
                    <a:ea typeface="Montserrat"/>
                    <a:cs typeface="Montserrat"/>
                    <a:sym typeface="Montserrat"/>
                  </a:rPr>
                  <a:t>PC = 1,500 VND/kWh</a:t>
                </a:r>
                <a:endParaRPr sz="800" b="1">
                  <a:solidFill>
                    <a:srgbClr val="E06666"/>
                  </a:solidFill>
                  <a:latin typeface="Montserrat"/>
                  <a:ea typeface="Montserrat"/>
                  <a:cs typeface="Montserrat"/>
                  <a:sym typeface="Montserrat"/>
                </a:endParaRPr>
              </a:p>
              <a:p>
                <a:pPr marL="0" lvl="0" indent="0" algn="l" rtl="0">
                  <a:spcBef>
                    <a:spcPts val="0"/>
                  </a:spcBef>
                  <a:spcAft>
                    <a:spcPts val="0"/>
                  </a:spcAft>
                  <a:buNone/>
                </a:pPr>
                <a:r>
                  <a:rPr lang="en" sz="800" b="1">
                    <a:solidFill>
                      <a:schemeClr val="dk2"/>
                    </a:solidFill>
                    <a:latin typeface="Montserrat"/>
                    <a:ea typeface="Montserrat"/>
                    <a:cs typeface="Montserrat"/>
                    <a:sym typeface="Montserrat"/>
                  </a:rPr>
                  <a:t>FMP = 1,600 VND/kWh</a:t>
                </a:r>
                <a:endParaRPr sz="800" b="1">
                  <a:solidFill>
                    <a:schemeClr val="dk2"/>
                  </a:solidFill>
                  <a:latin typeface="Montserrat"/>
                  <a:ea typeface="Montserrat"/>
                  <a:cs typeface="Montserrat"/>
                  <a:sym typeface="Montserrat"/>
                </a:endParaRPr>
              </a:p>
            </p:txBody>
          </p:sp>
        </p:grpSp>
        <p:pic>
          <p:nvPicPr>
            <p:cNvPr id="2339" name="Google Shape;2339;p203" title="handshake (1).png"/>
            <p:cNvPicPr preferRelativeResize="0"/>
            <p:nvPr/>
          </p:nvPicPr>
          <p:blipFill>
            <a:blip r:embed="rId7">
              <a:alphaModFix/>
            </a:blip>
            <a:stretch>
              <a:fillRect/>
            </a:stretch>
          </p:blipFill>
          <p:spPr>
            <a:xfrm>
              <a:off x="374375" y="2524688"/>
              <a:ext cx="441524" cy="441524"/>
            </a:xfrm>
            <a:prstGeom prst="rect">
              <a:avLst/>
            </a:prstGeom>
            <a:noFill/>
            <a:ln>
              <a:noFill/>
            </a:ln>
          </p:spPr>
        </p:pic>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43"/>
        <p:cNvGrpSpPr/>
        <p:nvPr/>
      </p:nvGrpSpPr>
      <p:grpSpPr>
        <a:xfrm>
          <a:off x="0" y="0"/>
          <a:ext cx="0" cy="0"/>
          <a:chOff x="0" y="0"/>
          <a:chExt cx="0" cy="0"/>
        </a:xfrm>
      </p:grpSpPr>
      <p:grpSp>
        <p:nvGrpSpPr>
          <p:cNvPr id="2344" name="Google Shape;2344;p204"/>
          <p:cNvGrpSpPr/>
          <p:nvPr/>
        </p:nvGrpSpPr>
        <p:grpSpPr>
          <a:xfrm>
            <a:off x="239992" y="63853"/>
            <a:ext cx="8728050" cy="745997"/>
            <a:chOff x="236700" y="63853"/>
            <a:chExt cx="8728050" cy="745997"/>
          </a:xfrm>
        </p:grpSpPr>
        <p:sp>
          <p:nvSpPr>
            <p:cNvPr id="2345" name="Google Shape;2345;p204"/>
            <p:cNvSpPr/>
            <p:nvPr/>
          </p:nvSpPr>
          <p:spPr>
            <a:xfrm>
              <a:off x="458250" y="141150"/>
              <a:ext cx="8506500" cy="668700"/>
            </a:xfrm>
            <a:prstGeom prst="homePlate">
              <a:avLst>
                <a:gd name="adj" fmla="val 50000"/>
              </a:avLst>
            </a:prstGeom>
            <a:solidFill>
              <a:srgbClr val="176B6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cxnSp>
          <p:nvCxnSpPr>
            <p:cNvPr id="2346" name="Google Shape;2346;p204"/>
            <p:cNvCxnSpPr/>
            <p:nvPr/>
          </p:nvCxnSpPr>
          <p:spPr>
            <a:xfrm>
              <a:off x="308388" y="496283"/>
              <a:ext cx="0" cy="216000"/>
            </a:xfrm>
            <a:prstGeom prst="straightConnector1">
              <a:avLst/>
            </a:prstGeom>
            <a:noFill/>
            <a:ln w="19050" cap="flat" cmpd="sng">
              <a:solidFill>
                <a:srgbClr val="1B3E6D"/>
              </a:solidFill>
              <a:prstDash val="solid"/>
              <a:round/>
              <a:headEnd type="none" w="med" len="med"/>
              <a:tailEnd type="none" w="med" len="med"/>
            </a:ln>
          </p:spPr>
        </p:cxnSp>
        <p:cxnSp>
          <p:nvCxnSpPr>
            <p:cNvPr id="2347" name="Google Shape;2347;p204"/>
            <p:cNvCxnSpPr/>
            <p:nvPr/>
          </p:nvCxnSpPr>
          <p:spPr>
            <a:xfrm rot="10800000">
              <a:off x="300375" y="712275"/>
              <a:ext cx="3647400" cy="0"/>
            </a:xfrm>
            <a:prstGeom prst="straightConnector1">
              <a:avLst/>
            </a:prstGeom>
            <a:noFill/>
            <a:ln w="19050" cap="flat" cmpd="sng">
              <a:solidFill>
                <a:srgbClr val="1B3E6D"/>
              </a:solidFill>
              <a:prstDash val="solid"/>
              <a:round/>
              <a:headEnd type="none" w="med" len="med"/>
              <a:tailEnd type="none" w="med" len="med"/>
            </a:ln>
          </p:spPr>
        </p:cxnSp>
        <p:cxnSp>
          <p:nvCxnSpPr>
            <p:cNvPr id="2348" name="Google Shape;2348;p204"/>
            <p:cNvCxnSpPr/>
            <p:nvPr/>
          </p:nvCxnSpPr>
          <p:spPr>
            <a:xfrm>
              <a:off x="242375" y="450675"/>
              <a:ext cx="243900" cy="141000"/>
            </a:xfrm>
            <a:prstGeom prst="straightConnector1">
              <a:avLst/>
            </a:prstGeom>
            <a:noFill/>
            <a:ln w="19050" cap="flat" cmpd="sng">
              <a:solidFill>
                <a:srgbClr val="1B3E6D"/>
              </a:solidFill>
              <a:prstDash val="solid"/>
              <a:round/>
              <a:headEnd type="none" w="med" len="med"/>
              <a:tailEnd type="none" w="med" len="med"/>
            </a:ln>
          </p:spPr>
        </p:cxnSp>
        <p:cxnSp>
          <p:nvCxnSpPr>
            <p:cNvPr id="2349" name="Google Shape;2349;p204"/>
            <p:cNvCxnSpPr/>
            <p:nvPr/>
          </p:nvCxnSpPr>
          <p:spPr>
            <a:xfrm rot="10800000">
              <a:off x="246162" y="75156"/>
              <a:ext cx="0" cy="382200"/>
            </a:xfrm>
            <a:prstGeom prst="straightConnector1">
              <a:avLst/>
            </a:prstGeom>
            <a:noFill/>
            <a:ln w="19050" cap="flat" cmpd="sng">
              <a:solidFill>
                <a:srgbClr val="1B3E6D"/>
              </a:solidFill>
              <a:prstDash val="solid"/>
              <a:round/>
              <a:headEnd type="none" w="med" len="med"/>
              <a:tailEnd type="none" w="med" len="med"/>
            </a:ln>
          </p:spPr>
        </p:cxnSp>
        <p:cxnSp>
          <p:nvCxnSpPr>
            <p:cNvPr id="2350" name="Google Shape;2350;p204"/>
            <p:cNvCxnSpPr/>
            <p:nvPr/>
          </p:nvCxnSpPr>
          <p:spPr>
            <a:xfrm rot="10800000">
              <a:off x="236700" y="66250"/>
              <a:ext cx="2423100" cy="0"/>
            </a:xfrm>
            <a:prstGeom prst="straightConnector1">
              <a:avLst/>
            </a:prstGeom>
            <a:noFill/>
            <a:ln w="19050" cap="flat" cmpd="sng">
              <a:solidFill>
                <a:srgbClr val="1B3E6D"/>
              </a:solidFill>
              <a:prstDash val="solid"/>
              <a:round/>
              <a:headEnd type="none" w="med" len="med"/>
              <a:tailEnd type="none" w="med" len="med"/>
            </a:ln>
          </p:spPr>
        </p:cxnSp>
        <p:cxnSp>
          <p:nvCxnSpPr>
            <p:cNvPr id="2351" name="Google Shape;2351;p204"/>
            <p:cNvCxnSpPr/>
            <p:nvPr/>
          </p:nvCxnSpPr>
          <p:spPr>
            <a:xfrm>
              <a:off x="2652343" y="63853"/>
              <a:ext cx="191400" cy="191400"/>
            </a:xfrm>
            <a:prstGeom prst="straightConnector1">
              <a:avLst/>
            </a:prstGeom>
            <a:noFill/>
            <a:ln w="19050" cap="flat" cmpd="sng">
              <a:solidFill>
                <a:srgbClr val="1B3E6D"/>
              </a:solidFill>
              <a:prstDash val="solid"/>
              <a:round/>
              <a:headEnd type="none" w="med" len="med"/>
              <a:tailEnd type="none" w="med" len="med"/>
            </a:ln>
          </p:spPr>
        </p:cxnSp>
        <p:sp>
          <p:nvSpPr>
            <p:cNvPr id="2352" name="Google Shape;2352;p204"/>
            <p:cNvSpPr txBox="1"/>
            <p:nvPr/>
          </p:nvSpPr>
          <p:spPr>
            <a:xfrm>
              <a:off x="669250" y="205988"/>
              <a:ext cx="8255400" cy="461700"/>
            </a:xfrm>
            <a:prstGeom prst="rect">
              <a:avLst/>
            </a:prstGeom>
            <a:noFill/>
            <a:ln>
              <a:noFill/>
            </a:ln>
          </p:spPr>
          <p:txBody>
            <a:bodyPr spcFirstLastPara="1" wrap="square" lIns="68575" tIns="34275" rIns="68575" bIns="34275" anchor="t" anchorCtr="0">
              <a:noAutofit/>
            </a:bodyPr>
            <a:lstStyle/>
            <a:p>
              <a:pPr marL="0" lvl="0" indent="0" algn="l" rtl="0">
                <a:spcBef>
                  <a:spcPts val="0"/>
                </a:spcBef>
                <a:spcAft>
                  <a:spcPts val="0"/>
                </a:spcAft>
                <a:buClr>
                  <a:schemeClr val="dk1"/>
                </a:buClr>
                <a:buSzPts val="1100"/>
                <a:buFont typeface="Arial"/>
                <a:buNone/>
              </a:pPr>
              <a:r>
                <a:rPr lang="en" sz="1000" b="1">
                  <a:solidFill>
                    <a:schemeClr val="lt1"/>
                  </a:solidFill>
                  <a:latin typeface="Montserrat"/>
                  <a:ea typeface="Montserrat"/>
                  <a:cs typeface="Montserrat"/>
                  <a:sym typeface="Montserrat"/>
                </a:rPr>
                <a:t>Scenario 3</a:t>
              </a:r>
              <a:endParaRPr sz="1000" b="1">
                <a:solidFill>
                  <a:schemeClr val="lt1"/>
                </a:solidFill>
                <a:latin typeface="Montserrat"/>
                <a:ea typeface="Montserrat"/>
                <a:cs typeface="Montserrat"/>
                <a:sym typeface="Montserrat"/>
              </a:endParaRPr>
            </a:p>
            <a:p>
              <a:pPr marL="0" lvl="0" indent="0" algn="l" rtl="0">
                <a:spcBef>
                  <a:spcPts val="0"/>
                </a:spcBef>
                <a:spcAft>
                  <a:spcPts val="0"/>
                </a:spcAft>
                <a:buClr>
                  <a:schemeClr val="dk1"/>
                </a:buClr>
                <a:buSzPts val="1100"/>
                <a:buFont typeface="Arial"/>
                <a:buNone/>
              </a:pPr>
              <a:r>
                <a:rPr lang="en" sz="2000" b="1">
                  <a:solidFill>
                    <a:schemeClr val="lt1"/>
                  </a:solidFill>
                  <a:latin typeface="Montserrat"/>
                  <a:ea typeface="Montserrat"/>
                  <a:cs typeface="Montserrat"/>
                  <a:sym typeface="Montserrat"/>
                </a:rPr>
                <a:t>Actual Consumption Exceeds Contract Output (3)</a:t>
              </a:r>
              <a:endParaRPr sz="2000">
                <a:solidFill>
                  <a:schemeClr val="lt1"/>
                </a:solidFill>
                <a:latin typeface="Montserrat ExtraBold"/>
                <a:ea typeface="Montserrat ExtraBold"/>
                <a:cs typeface="Montserrat ExtraBold"/>
                <a:sym typeface="Montserrat ExtraBold"/>
              </a:endParaRPr>
            </a:p>
            <a:p>
              <a:pPr marL="0" lvl="0" indent="0" algn="l" rtl="0">
                <a:spcBef>
                  <a:spcPts val="0"/>
                </a:spcBef>
                <a:spcAft>
                  <a:spcPts val="0"/>
                </a:spcAft>
                <a:buNone/>
              </a:pPr>
              <a:endParaRPr sz="2100" b="1">
                <a:solidFill>
                  <a:schemeClr val="lt1"/>
                </a:solidFill>
                <a:latin typeface="Montserrat"/>
                <a:ea typeface="Montserrat"/>
                <a:cs typeface="Montserrat"/>
                <a:sym typeface="Montserrat"/>
              </a:endParaRPr>
            </a:p>
          </p:txBody>
        </p:sp>
        <p:cxnSp>
          <p:nvCxnSpPr>
            <p:cNvPr id="2353" name="Google Shape;2353;p204"/>
            <p:cNvCxnSpPr/>
            <p:nvPr/>
          </p:nvCxnSpPr>
          <p:spPr>
            <a:xfrm rot="10800000">
              <a:off x="458250" y="707800"/>
              <a:ext cx="3647400" cy="0"/>
            </a:xfrm>
            <a:prstGeom prst="straightConnector1">
              <a:avLst/>
            </a:prstGeom>
            <a:noFill/>
            <a:ln w="19050" cap="flat" cmpd="sng">
              <a:solidFill>
                <a:srgbClr val="FFFFFF"/>
              </a:solidFill>
              <a:prstDash val="solid"/>
              <a:round/>
              <a:headEnd type="none" w="med" len="med"/>
              <a:tailEnd type="none" w="med" len="med"/>
            </a:ln>
          </p:spPr>
        </p:cxnSp>
        <p:cxnSp>
          <p:nvCxnSpPr>
            <p:cNvPr id="2354" name="Google Shape;2354;p204"/>
            <p:cNvCxnSpPr/>
            <p:nvPr/>
          </p:nvCxnSpPr>
          <p:spPr>
            <a:xfrm>
              <a:off x="2731248" y="141150"/>
              <a:ext cx="112500" cy="112500"/>
            </a:xfrm>
            <a:prstGeom prst="straightConnector1">
              <a:avLst/>
            </a:prstGeom>
            <a:noFill/>
            <a:ln w="19050" cap="flat" cmpd="sng">
              <a:solidFill>
                <a:srgbClr val="FFFFFF"/>
              </a:solidFill>
              <a:prstDash val="solid"/>
              <a:round/>
              <a:headEnd type="none" w="med" len="med"/>
              <a:tailEnd type="none" w="med" len="med"/>
            </a:ln>
          </p:spPr>
        </p:cxnSp>
      </p:grpSp>
      <p:pic>
        <p:nvPicPr>
          <p:cNvPr id="2355" name="Google Shape;2355;p204" title="CEBA new logo.png"/>
          <p:cNvPicPr preferRelativeResize="0"/>
          <p:nvPr/>
        </p:nvPicPr>
        <p:blipFill>
          <a:blip r:embed="rId3">
            <a:alphaModFix/>
          </a:blip>
          <a:stretch>
            <a:fillRect/>
          </a:stretch>
        </p:blipFill>
        <p:spPr>
          <a:xfrm>
            <a:off x="8367598" y="4881212"/>
            <a:ext cx="708296" cy="211825"/>
          </a:xfrm>
          <a:prstGeom prst="rect">
            <a:avLst/>
          </a:prstGeom>
          <a:noFill/>
          <a:ln>
            <a:noFill/>
          </a:ln>
        </p:spPr>
      </p:pic>
      <p:pic>
        <p:nvPicPr>
          <p:cNvPr id="2356" name="Google Shape;2356;p204"/>
          <p:cNvPicPr preferRelativeResize="0"/>
          <p:nvPr/>
        </p:nvPicPr>
        <p:blipFill>
          <a:blip r:embed="rId4">
            <a:alphaModFix/>
          </a:blip>
          <a:stretch>
            <a:fillRect/>
          </a:stretch>
        </p:blipFill>
        <p:spPr>
          <a:xfrm>
            <a:off x="7472673" y="4830726"/>
            <a:ext cx="894924" cy="312775"/>
          </a:xfrm>
          <a:prstGeom prst="rect">
            <a:avLst/>
          </a:prstGeom>
          <a:noFill/>
          <a:ln>
            <a:noFill/>
          </a:ln>
        </p:spPr>
      </p:pic>
      <p:pic>
        <p:nvPicPr>
          <p:cNvPr id="2357" name="Google Shape;2357;p204" title="factory.png"/>
          <p:cNvPicPr preferRelativeResize="0"/>
          <p:nvPr/>
        </p:nvPicPr>
        <p:blipFill>
          <a:blip r:embed="rId5">
            <a:alphaModFix/>
          </a:blip>
          <a:stretch>
            <a:fillRect/>
          </a:stretch>
        </p:blipFill>
        <p:spPr>
          <a:xfrm>
            <a:off x="1405450" y="1656806"/>
            <a:ext cx="1064475" cy="1064475"/>
          </a:xfrm>
          <a:prstGeom prst="rect">
            <a:avLst/>
          </a:prstGeom>
          <a:noFill/>
          <a:ln>
            <a:noFill/>
          </a:ln>
        </p:spPr>
      </p:pic>
      <p:pic>
        <p:nvPicPr>
          <p:cNvPr id="2358" name="Google Shape;2358;p204"/>
          <p:cNvPicPr preferRelativeResize="0"/>
          <p:nvPr/>
        </p:nvPicPr>
        <p:blipFill>
          <a:blip r:embed="rId6">
            <a:alphaModFix/>
          </a:blip>
          <a:stretch>
            <a:fillRect/>
          </a:stretch>
        </p:blipFill>
        <p:spPr>
          <a:xfrm>
            <a:off x="6744360" y="1741588"/>
            <a:ext cx="894924" cy="894924"/>
          </a:xfrm>
          <a:prstGeom prst="rect">
            <a:avLst/>
          </a:prstGeom>
          <a:noFill/>
          <a:ln>
            <a:noFill/>
          </a:ln>
        </p:spPr>
      </p:pic>
      <p:pic>
        <p:nvPicPr>
          <p:cNvPr id="2359" name="Google Shape;2359;p204" title="renewable-energy.png"/>
          <p:cNvPicPr preferRelativeResize="0"/>
          <p:nvPr/>
        </p:nvPicPr>
        <p:blipFill>
          <a:blip r:embed="rId7">
            <a:alphaModFix/>
          </a:blip>
          <a:stretch>
            <a:fillRect/>
          </a:stretch>
        </p:blipFill>
        <p:spPr>
          <a:xfrm>
            <a:off x="3910239" y="3436770"/>
            <a:ext cx="1064475" cy="1064504"/>
          </a:xfrm>
          <a:prstGeom prst="rect">
            <a:avLst/>
          </a:prstGeom>
          <a:noFill/>
          <a:ln>
            <a:noFill/>
          </a:ln>
        </p:spPr>
      </p:pic>
      <p:cxnSp>
        <p:nvCxnSpPr>
          <p:cNvPr id="2360" name="Google Shape;2360;p204"/>
          <p:cNvCxnSpPr>
            <a:stCxn id="2357" idx="3"/>
            <a:endCxn id="2358" idx="1"/>
          </p:cNvCxnSpPr>
          <p:nvPr/>
        </p:nvCxnSpPr>
        <p:spPr>
          <a:xfrm>
            <a:off x="2469925" y="2189043"/>
            <a:ext cx="4274400" cy="0"/>
          </a:xfrm>
          <a:prstGeom prst="straightConnector1">
            <a:avLst/>
          </a:prstGeom>
          <a:noFill/>
          <a:ln w="28575" cap="flat" cmpd="sng">
            <a:solidFill>
              <a:srgbClr val="4A86E8"/>
            </a:solidFill>
            <a:prstDash val="solid"/>
            <a:round/>
            <a:headEnd type="none" w="med" len="med"/>
            <a:tailEnd type="triangle" w="med" len="med"/>
          </a:ln>
        </p:spPr>
      </p:cxnSp>
      <p:cxnSp>
        <p:nvCxnSpPr>
          <p:cNvPr id="2361" name="Google Shape;2361;p204"/>
          <p:cNvCxnSpPr>
            <a:stCxn id="2357" idx="2"/>
            <a:endCxn id="2359" idx="1"/>
          </p:cNvCxnSpPr>
          <p:nvPr/>
        </p:nvCxnSpPr>
        <p:spPr>
          <a:xfrm>
            <a:off x="1937687" y="2721280"/>
            <a:ext cx="1972500" cy="1247700"/>
          </a:xfrm>
          <a:prstGeom prst="straightConnector1">
            <a:avLst/>
          </a:prstGeom>
          <a:noFill/>
          <a:ln w="28575" cap="flat" cmpd="sng">
            <a:solidFill>
              <a:srgbClr val="4B9641"/>
            </a:solidFill>
            <a:prstDash val="solid"/>
            <a:round/>
            <a:headEnd type="triangle" w="med" len="med"/>
            <a:tailEnd type="none" w="med" len="med"/>
          </a:ln>
        </p:spPr>
      </p:cxnSp>
      <p:cxnSp>
        <p:nvCxnSpPr>
          <p:cNvPr id="2362" name="Google Shape;2362;p204"/>
          <p:cNvCxnSpPr>
            <a:stCxn id="2359" idx="3"/>
            <a:endCxn id="2358" idx="2"/>
          </p:cNvCxnSpPr>
          <p:nvPr/>
        </p:nvCxnSpPr>
        <p:spPr>
          <a:xfrm rot="10800000" flipH="1">
            <a:off x="4974714" y="2636422"/>
            <a:ext cx="2217000" cy="1332600"/>
          </a:xfrm>
          <a:prstGeom prst="straightConnector1">
            <a:avLst/>
          </a:prstGeom>
          <a:noFill/>
          <a:ln w="28575" cap="flat" cmpd="sng">
            <a:solidFill>
              <a:srgbClr val="FF0000"/>
            </a:solidFill>
            <a:prstDash val="solid"/>
            <a:round/>
            <a:headEnd type="triangle" w="med" len="med"/>
            <a:tailEnd type="none" w="med" len="med"/>
          </a:ln>
        </p:spPr>
      </p:cxnSp>
      <p:sp>
        <p:nvSpPr>
          <p:cNvPr id="2363" name="Google Shape;2363;p204"/>
          <p:cNvSpPr txBox="1"/>
          <p:nvPr/>
        </p:nvSpPr>
        <p:spPr>
          <a:xfrm>
            <a:off x="9551" y="1939801"/>
            <a:ext cx="1395900" cy="435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700" b="1">
                <a:solidFill>
                  <a:srgbClr val="4A86E8"/>
                </a:solidFill>
                <a:latin typeface="Montserrat"/>
                <a:ea typeface="Montserrat"/>
                <a:cs typeface="Montserrat"/>
                <a:sym typeface="Montserrat"/>
              </a:rPr>
              <a:t>Large Customer</a:t>
            </a:r>
            <a:endParaRPr sz="1700" b="1">
              <a:solidFill>
                <a:srgbClr val="4A86E8"/>
              </a:solidFill>
              <a:latin typeface="Montserrat"/>
              <a:ea typeface="Montserrat"/>
              <a:cs typeface="Montserrat"/>
              <a:sym typeface="Montserrat"/>
            </a:endParaRPr>
          </a:p>
        </p:txBody>
      </p:sp>
      <p:sp>
        <p:nvSpPr>
          <p:cNvPr id="2364" name="Google Shape;2364;p204"/>
          <p:cNvSpPr txBox="1"/>
          <p:nvPr/>
        </p:nvSpPr>
        <p:spPr>
          <a:xfrm>
            <a:off x="7734751" y="1971538"/>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FF0000"/>
                </a:solidFill>
                <a:latin typeface="Montserrat"/>
                <a:ea typeface="Montserrat"/>
                <a:cs typeface="Montserrat"/>
                <a:sym typeface="Montserrat"/>
              </a:rPr>
              <a:t>EVN</a:t>
            </a:r>
            <a:endParaRPr sz="1700" b="1">
              <a:solidFill>
                <a:srgbClr val="FF0000"/>
              </a:solidFill>
              <a:latin typeface="Montserrat"/>
              <a:ea typeface="Montserrat"/>
              <a:cs typeface="Montserrat"/>
              <a:sym typeface="Montserrat"/>
            </a:endParaRPr>
          </a:p>
        </p:txBody>
      </p:sp>
      <p:sp>
        <p:nvSpPr>
          <p:cNvPr id="2365" name="Google Shape;2365;p204"/>
          <p:cNvSpPr txBox="1"/>
          <p:nvPr/>
        </p:nvSpPr>
        <p:spPr>
          <a:xfrm>
            <a:off x="3884527" y="4570900"/>
            <a:ext cx="1395900" cy="43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b="1">
                <a:solidFill>
                  <a:srgbClr val="4B9641"/>
                </a:solidFill>
                <a:latin typeface="Montserrat"/>
                <a:ea typeface="Montserrat"/>
                <a:cs typeface="Montserrat"/>
                <a:sym typeface="Montserrat"/>
              </a:rPr>
              <a:t>RE GENCO</a:t>
            </a:r>
            <a:endParaRPr sz="1700" b="1">
              <a:solidFill>
                <a:srgbClr val="4B9641"/>
              </a:solidFill>
              <a:latin typeface="Montserrat"/>
              <a:ea typeface="Montserrat"/>
              <a:cs typeface="Montserrat"/>
              <a:sym typeface="Montserrat"/>
            </a:endParaRPr>
          </a:p>
        </p:txBody>
      </p:sp>
      <p:sp>
        <p:nvSpPr>
          <p:cNvPr id="2366" name="Google Shape;2366;p204"/>
          <p:cNvSpPr txBox="1"/>
          <p:nvPr/>
        </p:nvSpPr>
        <p:spPr>
          <a:xfrm>
            <a:off x="2449625" y="947728"/>
            <a:ext cx="4538700" cy="662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4A86E8"/>
                </a:solidFill>
                <a:latin typeface="Montserrat"/>
                <a:ea typeface="Montserrat"/>
                <a:cs typeface="Montserrat"/>
                <a:sym typeface="Montserrat"/>
              </a:rPr>
              <a:t>19.628 billion VND = 13.238 billion for market electricity energy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+ 2.880 billion service fee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+ 1.306 billion difference fee </a:t>
            </a:r>
            <a:endParaRPr sz="1300">
              <a:solidFill>
                <a:srgbClr val="4A86E8"/>
              </a:solidFill>
              <a:latin typeface="Montserrat"/>
              <a:ea typeface="Montserrat"/>
              <a:cs typeface="Montserrat"/>
              <a:sym typeface="Montserrat"/>
            </a:endParaRPr>
          </a:p>
          <a:p>
            <a:pPr marL="0" lvl="0" indent="0" algn="l" rtl="0">
              <a:spcBef>
                <a:spcPts val="0"/>
              </a:spcBef>
              <a:spcAft>
                <a:spcPts val="0"/>
              </a:spcAft>
              <a:buNone/>
            </a:pPr>
            <a:r>
              <a:rPr lang="en" sz="1300">
                <a:solidFill>
                  <a:srgbClr val="4A86E8"/>
                </a:solidFill>
                <a:latin typeface="Montserrat"/>
                <a:ea typeface="Montserrat"/>
                <a:cs typeface="Montserrat"/>
                <a:sym typeface="Montserrat"/>
              </a:rPr>
              <a:t>+ 2.204 billion additional electricity purchase fee</a:t>
            </a:r>
            <a:endParaRPr sz="1300">
              <a:solidFill>
                <a:srgbClr val="4A86E8"/>
              </a:solidFill>
              <a:latin typeface="Montserrat"/>
              <a:ea typeface="Montserrat"/>
              <a:cs typeface="Montserrat"/>
              <a:sym typeface="Montserrat"/>
            </a:endParaRPr>
          </a:p>
        </p:txBody>
      </p:sp>
      <p:sp>
        <p:nvSpPr>
          <p:cNvPr id="2367" name="Google Shape;2367;p204"/>
          <p:cNvSpPr txBox="1"/>
          <p:nvPr/>
        </p:nvSpPr>
        <p:spPr>
          <a:xfrm>
            <a:off x="1239725" y="3281875"/>
            <a:ext cx="1619700" cy="13743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300">
                <a:solidFill>
                  <a:srgbClr val="4B9641"/>
                </a:solidFill>
                <a:latin typeface="Montserrat"/>
                <a:ea typeface="Montserrat"/>
                <a:cs typeface="Montserrat"/>
                <a:sym typeface="Montserrat"/>
              </a:rPr>
              <a:t>0.800 billion VND</a:t>
            </a:r>
            <a:r>
              <a:rPr lang="en" sz="1300">
                <a:solidFill>
                  <a:schemeClr val="dk2"/>
                </a:solidFill>
                <a:latin typeface="Montserrat"/>
                <a:ea typeface="Montserrat"/>
                <a:cs typeface="Montserrat"/>
                <a:sym typeface="Montserrat"/>
              </a:rPr>
              <a:t> according to the CfD contract</a:t>
            </a:r>
            <a:endParaRPr sz="1300">
              <a:solidFill>
                <a:schemeClr val="dk2"/>
              </a:solidFill>
              <a:latin typeface="Montserrat"/>
              <a:ea typeface="Montserrat"/>
              <a:cs typeface="Montserrat"/>
              <a:sym typeface="Montserrat"/>
            </a:endParaRPr>
          </a:p>
        </p:txBody>
      </p:sp>
      <p:sp>
        <p:nvSpPr>
          <p:cNvPr id="2368" name="Google Shape;2368;p204"/>
          <p:cNvSpPr txBox="1"/>
          <p:nvPr/>
        </p:nvSpPr>
        <p:spPr>
          <a:xfrm>
            <a:off x="6183612" y="3387558"/>
            <a:ext cx="1833600" cy="106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latin typeface="Montserrat"/>
                <a:ea typeface="Montserrat"/>
                <a:cs typeface="Montserrat"/>
                <a:sym typeface="Montserrat"/>
              </a:rPr>
              <a:t>12.902 billion VND </a:t>
            </a:r>
            <a:r>
              <a:rPr lang="en" sz="1300">
                <a:solidFill>
                  <a:schemeClr val="dk2"/>
                </a:solidFill>
                <a:latin typeface="Montserrat"/>
                <a:ea typeface="Montserrat"/>
                <a:cs typeface="Montserrat"/>
                <a:sym typeface="Montserrat"/>
              </a:rPr>
              <a:t>on the spot market</a:t>
            </a:r>
            <a:endParaRPr sz="1300">
              <a:solidFill>
                <a:schemeClr val="dk2"/>
              </a:solidFill>
              <a:latin typeface="Montserrat"/>
              <a:ea typeface="Montserrat"/>
              <a:cs typeface="Montserrat"/>
              <a:sym typeface="Montserrat"/>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4338</Words>
  <Application>Microsoft Office PowerPoint</Application>
  <PresentationFormat>On-screen Show (16:9)</PresentationFormat>
  <Paragraphs>635</Paragraphs>
  <Slides>35</Slides>
  <Notes>35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Quattrocento Sans</vt:lpstr>
      <vt:lpstr>Geo</vt:lpstr>
      <vt:lpstr>Roboto</vt:lpstr>
      <vt:lpstr>Be Vietnam Pro</vt:lpstr>
      <vt:lpstr>Arial</vt:lpstr>
      <vt:lpstr>Be Vietnam Pro SemiBold</vt:lpstr>
      <vt:lpstr>Consolas</vt:lpstr>
      <vt:lpstr>Calibri</vt:lpstr>
      <vt:lpstr>Montserrat</vt:lpstr>
      <vt:lpstr>Montserrat ExtraBold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Tung Ho</cp:lastModifiedBy>
  <cp:revision>4</cp:revision>
  <dcterms:modified xsi:type="dcterms:W3CDTF">2026-06-26T08:43:02Z</dcterms:modified>
</cp:coreProperties>
</file>